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yg0vLUJJl5Btgz59FwXXnV2kR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Slaydı" showMasterSp="0" type="title">
  <p:cSld name="TITLE">
    <p:spTree>
      <p:nvGrpSpPr>
        <p:cNvPr id="14" name="Shape 14"/>
        <p:cNvGrpSpPr/>
        <p:nvPr/>
      </p:nvGrpSpPr>
      <p:grpSpPr>
        <a:xfrm>
          <a:off x="0" y="0"/>
          <a:ext cx="0" cy="0"/>
          <a:chOff x="0" y="0"/>
          <a:chExt cx="0" cy="0"/>
        </a:xfrm>
      </p:grpSpPr>
      <p:sp>
        <p:nvSpPr>
          <p:cNvPr id="15" name="Google Shape;15;p18"/>
          <p:cNvSpPr/>
          <p:nvPr/>
        </p:nvSpPr>
        <p:spPr>
          <a:xfrm>
            <a:off x="3175" y="6400800"/>
            <a:ext cx="12188825" cy="457200"/>
          </a:xfrm>
          <a:prstGeom prst="rect">
            <a:avLst/>
          </a:prstGeom>
          <a:solidFill>
            <a:srgbClr val="5934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6" name="Google Shape;16;p18"/>
          <p:cNvSpPr/>
          <p:nvPr/>
        </p:nvSpPr>
        <p:spPr>
          <a:xfrm>
            <a:off x="15" y="6334316"/>
            <a:ext cx="12188825" cy="64008"/>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17" name="Google Shape;17;p18"/>
          <p:cNvSpPr txBox="1"/>
          <p:nvPr>
            <p:ph type="ctr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4C4C4C"/>
              </a:buClr>
              <a:buSzPts val="8000"/>
              <a:buFont typeface="Calibri"/>
              <a:buNone/>
              <a:defRPr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8"/>
          <p:cNvSpPr txBox="1"/>
          <p:nvPr>
            <p:ph idx="1" type="subTitle"/>
          </p:nvPr>
        </p:nvSpPr>
        <p:spPr>
          <a:xfrm>
            <a:off x="1100051" y="4455621"/>
            <a:ext cx="10058400" cy="1143000"/>
          </a:xfrm>
          <a:prstGeom prst="rect">
            <a:avLst/>
          </a:prstGeom>
          <a:noFill/>
          <a:ln>
            <a:noFill/>
          </a:ln>
        </p:spPr>
        <p:txBody>
          <a:bodyPr anchorCtr="0" anchor="t" bIns="45700" lIns="91425" spcFirstLastPara="1" rIns="91425" wrap="square" tIns="45700">
            <a:normAutofit/>
          </a:bodyPr>
          <a:lstStyle>
            <a:lvl1pPr lvl="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19" name="Google Shape;19;p1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22" name="Google Shape;22;p18"/>
          <p:cNvCxnSpPr/>
          <p:nvPr/>
        </p:nvCxnSpPr>
        <p:spPr>
          <a:xfrm>
            <a:off x="1207658" y="4343400"/>
            <a:ext cx="9875520" cy="0"/>
          </a:xfrm>
          <a:prstGeom prst="straightConnector1">
            <a:avLst/>
          </a:prstGeom>
          <a:noFill/>
          <a:ln cap="flat" cmpd="sng" w="9525">
            <a:solidFill>
              <a:srgbClr val="959595"/>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ş" showMasterSp="0" type="blank">
  <p:cSld name="BLANK">
    <p:spTree>
      <p:nvGrpSpPr>
        <p:cNvPr id="23" name="Shape 23"/>
        <p:cNvGrpSpPr/>
        <p:nvPr/>
      </p:nvGrpSpPr>
      <p:grpSpPr>
        <a:xfrm>
          <a:off x="0" y="0"/>
          <a:ext cx="0" cy="0"/>
          <a:chOff x="0" y="0"/>
          <a:chExt cx="0" cy="0"/>
        </a:xfrm>
      </p:grpSpPr>
      <p:sp>
        <p:nvSpPr>
          <p:cNvPr id="24" name="Google Shape;24;p19"/>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9"/>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9"/>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9"/>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İçerik" type="obj">
  <p:cSld name="OBJECT">
    <p:spTree>
      <p:nvGrpSpPr>
        <p:cNvPr id="29" name="Shape 29"/>
        <p:cNvGrpSpPr/>
        <p:nvPr/>
      </p:nvGrpSpPr>
      <p:grpSpPr>
        <a:xfrm>
          <a:off x="0" y="0"/>
          <a:ext cx="0" cy="0"/>
          <a:chOff x="0" y="0"/>
          <a:chExt cx="0" cy="0"/>
        </a:xfrm>
      </p:grpSpPr>
      <p:sp>
        <p:nvSpPr>
          <p:cNvPr id="30" name="Google Shape;30;p20"/>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0"/>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32" name="Google Shape;32;p20"/>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ölüm Üst Bilgisi" showMasterSp="0" type="secHead">
  <p:cSld name="SECTION_HEADER">
    <p:spTree>
      <p:nvGrpSpPr>
        <p:cNvPr id="35" name="Shape 35"/>
        <p:cNvGrpSpPr/>
        <p:nvPr/>
      </p:nvGrpSpPr>
      <p:grpSpPr>
        <a:xfrm>
          <a:off x="0" y="0"/>
          <a:ext cx="0" cy="0"/>
          <a:chOff x="0" y="0"/>
          <a:chExt cx="0" cy="0"/>
        </a:xfrm>
      </p:grpSpPr>
      <p:sp>
        <p:nvSpPr>
          <p:cNvPr id="36" name="Google Shape;36;p21"/>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1"/>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1"/>
          <p:cNvSpPr txBox="1"/>
          <p:nvPr>
            <p:ph type="title"/>
          </p:nvPr>
        </p:nvSpPr>
        <p:spPr>
          <a:xfrm>
            <a:off x="1097280" y="758952"/>
            <a:ext cx="10058400" cy="356616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4C4C4C"/>
              </a:buClr>
              <a:buSzPts val="8000"/>
              <a:buFont typeface="Calibri"/>
              <a:buNone/>
              <a:defRPr b="0" sz="8000">
                <a:solidFill>
                  <a:srgbClr val="4C4C4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1"/>
          <p:cNvSpPr txBox="1"/>
          <p:nvPr>
            <p:ph idx="1" type="body"/>
          </p:nvPr>
        </p:nvSpPr>
        <p:spPr>
          <a:xfrm>
            <a:off x="1097280" y="4453128"/>
            <a:ext cx="10058400" cy="11430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2400"/>
              <a:buNone/>
              <a:defRPr sz="2400" cap="none">
                <a:solidFill>
                  <a:schemeClr val="lt2"/>
                </a:solidFill>
                <a:latin typeface="Calibri"/>
                <a:ea typeface="Calibri"/>
                <a:cs typeface="Calibri"/>
                <a:sym typeface="Calibri"/>
              </a:defRPr>
            </a:lvl1pPr>
            <a:lvl2pPr indent="-228600" lvl="1" marL="914400" algn="l">
              <a:lnSpc>
                <a:spcPct val="90000"/>
              </a:lnSpc>
              <a:spcBef>
                <a:spcPts val="200"/>
              </a:spcBef>
              <a:spcAft>
                <a:spcPts val="0"/>
              </a:spcAft>
              <a:buSzPts val="1800"/>
              <a:buNone/>
              <a:defRPr sz="1800">
                <a:solidFill>
                  <a:srgbClr val="8C8C8C"/>
                </a:solidFill>
              </a:defRPr>
            </a:lvl2pPr>
            <a:lvl3pPr indent="-228600" lvl="2" marL="1371600" algn="l">
              <a:lnSpc>
                <a:spcPct val="90000"/>
              </a:lnSpc>
              <a:spcBef>
                <a:spcPts val="400"/>
              </a:spcBef>
              <a:spcAft>
                <a:spcPts val="0"/>
              </a:spcAft>
              <a:buSzPts val="1600"/>
              <a:buNone/>
              <a:defRPr sz="1600">
                <a:solidFill>
                  <a:srgbClr val="8C8C8C"/>
                </a:solidFill>
              </a:defRPr>
            </a:lvl3pPr>
            <a:lvl4pPr indent="-228600" lvl="3" marL="1828800" algn="l">
              <a:lnSpc>
                <a:spcPct val="90000"/>
              </a:lnSpc>
              <a:spcBef>
                <a:spcPts val="400"/>
              </a:spcBef>
              <a:spcAft>
                <a:spcPts val="0"/>
              </a:spcAft>
              <a:buSzPts val="1400"/>
              <a:buNone/>
              <a:defRPr sz="1400">
                <a:solidFill>
                  <a:srgbClr val="8C8C8C"/>
                </a:solidFill>
              </a:defRPr>
            </a:lvl4pPr>
            <a:lvl5pPr indent="-228600" lvl="4" marL="2286000" algn="l">
              <a:lnSpc>
                <a:spcPct val="90000"/>
              </a:lnSpc>
              <a:spcBef>
                <a:spcPts val="400"/>
              </a:spcBef>
              <a:spcAft>
                <a:spcPts val="0"/>
              </a:spcAft>
              <a:buSzPts val="1400"/>
              <a:buNone/>
              <a:defRPr sz="1400">
                <a:solidFill>
                  <a:srgbClr val="8C8C8C"/>
                </a:solidFill>
              </a:defRPr>
            </a:lvl5pPr>
            <a:lvl6pPr indent="-228600" lvl="5" marL="2743200" algn="l">
              <a:lnSpc>
                <a:spcPct val="90000"/>
              </a:lnSpc>
              <a:spcBef>
                <a:spcPts val="400"/>
              </a:spcBef>
              <a:spcAft>
                <a:spcPts val="0"/>
              </a:spcAft>
              <a:buSzPts val="1400"/>
              <a:buNone/>
              <a:defRPr sz="1400">
                <a:solidFill>
                  <a:srgbClr val="8C8C8C"/>
                </a:solidFill>
              </a:defRPr>
            </a:lvl6pPr>
            <a:lvl7pPr indent="-228600" lvl="6" marL="3200400" algn="l">
              <a:lnSpc>
                <a:spcPct val="90000"/>
              </a:lnSpc>
              <a:spcBef>
                <a:spcPts val="400"/>
              </a:spcBef>
              <a:spcAft>
                <a:spcPts val="0"/>
              </a:spcAft>
              <a:buSzPts val="1400"/>
              <a:buNone/>
              <a:defRPr sz="1400">
                <a:solidFill>
                  <a:srgbClr val="8C8C8C"/>
                </a:solidFill>
              </a:defRPr>
            </a:lvl7pPr>
            <a:lvl8pPr indent="-228600" lvl="7" marL="3657600" algn="l">
              <a:lnSpc>
                <a:spcPct val="90000"/>
              </a:lnSpc>
              <a:spcBef>
                <a:spcPts val="400"/>
              </a:spcBef>
              <a:spcAft>
                <a:spcPts val="0"/>
              </a:spcAft>
              <a:buSzPts val="1400"/>
              <a:buNone/>
              <a:defRPr sz="1400">
                <a:solidFill>
                  <a:srgbClr val="8C8C8C"/>
                </a:solidFill>
              </a:defRPr>
            </a:lvl8pPr>
            <a:lvl9pPr indent="-228600" lvl="8" marL="4114800" algn="l">
              <a:lnSpc>
                <a:spcPct val="90000"/>
              </a:lnSpc>
              <a:spcBef>
                <a:spcPts val="400"/>
              </a:spcBef>
              <a:spcAft>
                <a:spcPts val="400"/>
              </a:spcAft>
              <a:buSzPts val="1400"/>
              <a:buNone/>
              <a:defRPr sz="1400">
                <a:solidFill>
                  <a:srgbClr val="8C8C8C"/>
                </a:solidFill>
              </a:defRPr>
            </a:lvl9pPr>
          </a:lstStyle>
          <a:p/>
        </p:txBody>
      </p:sp>
      <p:sp>
        <p:nvSpPr>
          <p:cNvPr id="40" name="Google Shape;40;p21"/>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1"/>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cxnSp>
        <p:nvCxnSpPr>
          <p:cNvPr id="43" name="Google Shape;43;p21"/>
          <p:cNvCxnSpPr/>
          <p:nvPr/>
        </p:nvCxnSpPr>
        <p:spPr>
          <a:xfrm>
            <a:off x="1207658" y="4343400"/>
            <a:ext cx="9875520" cy="0"/>
          </a:xfrm>
          <a:prstGeom prst="straightConnector1">
            <a:avLst/>
          </a:prstGeom>
          <a:noFill/>
          <a:ln cap="flat" cmpd="sng" w="9525">
            <a:solidFill>
              <a:srgbClr val="959595"/>
            </a:solidFill>
            <a:prstDash val="solid"/>
            <a:round/>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ki İçerik" type="twoObj">
  <p:cSld name="TWO_OBJECTS">
    <p:spTree>
      <p:nvGrpSpPr>
        <p:cNvPr id="44" name="Shape 44"/>
        <p:cNvGrpSpPr/>
        <p:nvPr/>
      </p:nvGrpSpPr>
      <p:grpSpPr>
        <a:xfrm>
          <a:off x="0" y="0"/>
          <a:ext cx="0" cy="0"/>
          <a:chOff x="0" y="0"/>
          <a:chExt cx="0" cy="0"/>
        </a:xfrm>
      </p:grpSpPr>
      <p:sp>
        <p:nvSpPr>
          <p:cNvPr id="45" name="Google Shape;45;p22"/>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2"/>
          <p:cNvSpPr txBox="1"/>
          <p:nvPr>
            <p:ph idx="1" type="body"/>
          </p:nvPr>
        </p:nvSpPr>
        <p:spPr>
          <a:xfrm>
            <a:off x="1097278" y="1845734"/>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7" name="Google Shape;47;p22"/>
          <p:cNvSpPr txBox="1"/>
          <p:nvPr>
            <p:ph idx="2" type="body"/>
          </p:nvPr>
        </p:nvSpPr>
        <p:spPr>
          <a:xfrm>
            <a:off x="6217920" y="1845735"/>
            <a:ext cx="4937760" cy="402336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8" name="Google Shape;48;p22"/>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2"/>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2"/>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arşılaştırma" type="twoTxTwoObj">
  <p:cSld name="TWO_OBJECTS_WITH_TEXT">
    <p:spTree>
      <p:nvGrpSpPr>
        <p:cNvPr id="51" name="Shape 51"/>
        <p:cNvGrpSpPr/>
        <p:nvPr/>
      </p:nvGrpSpPr>
      <p:grpSpPr>
        <a:xfrm>
          <a:off x="0" y="0"/>
          <a:ext cx="0" cy="0"/>
          <a:chOff x="0" y="0"/>
          <a:chExt cx="0" cy="0"/>
        </a:xfrm>
      </p:grpSpPr>
      <p:sp>
        <p:nvSpPr>
          <p:cNvPr id="52" name="Google Shape;52;p23"/>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3"/>
          <p:cNvSpPr txBox="1"/>
          <p:nvPr>
            <p:ph idx="1" type="body"/>
          </p:nvPr>
        </p:nvSpPr>
        <p:spPr>
          <a:xfrm>
            <a:off x="109728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lt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4" name="Google Shape;54;p23"/>
          <p:cNvSpPr txBox="1"/>
          <p:nvPr>
            <p:ph idx="2" type="body"/>
          </p:nvPr>
        </p:nvSpPr>
        <p:spPr>
          <a:xfrm>
            <a:off x="109728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5" name="Google Shape;55;p23"/>
          <p:cNvSpPr txBox="1"/>
          <p:nvPr>
            <p:ph idx="3" type="body"/>
          </p:nvPr>
        </p:nvSpPr>
        <p:spPr>
          <a:xfrm>
            <a:off x="6217920" y="1846052"/>
            <a:ext cx="4937760" cy="736282"/>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200"/>
              </a:spcBef>
              <a:spcAft>
                <a:spcPts val="0"/>
              </a:spcAft>
              <a:buSzPts val="2000"/>
              <a:buNone/>
              <a:defRPr b="0" sz="2000" cap="none">
                <a:solidFill>
                  <a:schemeClr val="lt2"/>
                </a:solidFill>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6" name="Google Shape;56;p23"/>
          <p:cNvSpPr txBox="1"/>
          <p:nvPr>
            <p:ph idx="4" type="body"/>
          </p:nvPr>
        </p:nvSpPr>
        <p:spPr>
          <a:xfrm>
            <a:off x="6217920" y="2582334"/>
            <a:ext cx="4937760" cy="33782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7" name="Google Shape;57;p23"/>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3"/>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3"/>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Yalnızca Başlık" type="titleOnly">
  <p:cSld name="TITLE_ONLY">
    <p:spTree>
      <p:nvGrpSpPr>
        <p:cNvPr id="60" name="Shape 60"/>
        <p:cNvGrpSpPr/>
        <p:nvPr/>
      </p:nvGrpSpPr>
      <p:grpSpPr>
        <a:xfrm>
          <a:off x="0" y="0"/>
          <a:ext cx="0" cy="0"/>
          <a:chOff x="0" y="0"/>
          <a:chExt cx="0" cy="0"/>
        </a:xfrm>
      </p:grpSpPr>
      <p:sp>
        <p:nvSpPr>
          <p:cNvPr id="61" name="Google Shape;61;p24"/>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24"/>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İçerik" showMasterSp="0" type="objTx">
  <p:cSld name="OBJECT_WITH_CAPTION_TEXT">
    <p:spTree>
      <p:nvGrpSpPr>
        <p:cNvPr id="65" name="Shape 65"/>
        <p:cNvGrpSpPr/>
        <p:nvPr/>
      </p:nvGrpSpPr>
      <p:grpSpPr>
        <a:xfrm>
          <a:off x="0" y="0"/>
          <a:ext cx="0" cy="0"/>
          <a:chOff x="0" y="0"/>
          <a:chExt cx="0" cy="0"/>
        </a:xfrm>
      </p:grpSpPr>
      <p:sp>
        <p:nvSpPr>
          <p:cNvPr id="66" name="Google Shape;66;p25"/>
          <p:cNvSpPr/>
          <p:nvPr/>
        </p:nvSpPr>
        <p:spPr>
          <a:xfrm>
            <a:off x="16" y="0"/>
            <a:ext cx="4050791" cy="68580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5"/>
          <p:cNvSpPr/>
          <p:nvPr/>
        </p:nvSpPr>
        <p:spPr>
          <a:xfrm>
            <a:off x="4040071" y="0"/>
            <a:ext cx="64008" cy="6858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5"/>
          <p:cNvSpPr txBox="1"/>
          <p:nvPr>
            <p:ph type="title"/>
          </p:nvPr>
        </p:nvSpPr>
        <p:spPr>
          <a:xfrm>
            <a:off x="457200" y="594359"/>
            <a:ext cx="3200400" cy="22860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25"/>
          <p:cNvSpPr txBox="1"/>
          <p:nvPr>
            <p:ph idx="1" type="body"/>
          </p:nvPr>
        </p:nvSpPr>
        <p:spPr>
          <a:xfrm>
            <a:off x="4800600" y="731520"/>
            <a:ext cx="6492240" cy="5257800"/>
          </a:xfrm>
          <a:prstGeom prst="rect">
            <a:avLst/>
          </a:prstGeom>
          <a:noFill/>
          <a:ln>
            <a:noFill/>
          </a:ln>
        </p:spPr>
        <p:txBody>
          <a:bodyPr anchorCtr="0" anchor="t" bIns="45700" lIns="0" spcFirstLastPara="1" rIns="0" wrap="square" tIns="4570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70" name="Google Shape;70;p25"/>
          <p:cNvSpPr txBox="1"/>
          <p:nvPr>
            <p:ph idx="2" type="body"/>
          </p:nvPr>
        </p:nvSpPr>
        <p:spPr>
          <a:xfrm>
            <a:off x="457200" y="2926080"/>
            <a:ext cx="3200400" cy="3379124"/>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200"/>
              </a:spcBef>
              <a:spcAft>
                <a:spcPts val="0"/>
              </a:spcAft>
              <a:buSzPts val="1500"/>
              <a:buNone/>
              <a:defRPr sz="1500">
                <a:solidFill>
                  <a:srgbClr val="FFFFFF"/>
                </a:solidFill>
              </a:defRPr>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71" name="Google Shape;71;p25"/>
          <p:cNvSpPr txBox="1"/>
          <p:nvPr>
            <p:ph idx="10" type="dt"/>
          </p:nvPr>
        </p:nvSpPr>
        <p:spPr>
          <a:xfrm>
            <a:off x="465512" y="6459785"/>
            <a:ext cx="261851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5"/>
          <p:cNvSpPr txBox="1"/>
          <p:nvPr>
            <p:ph idx="11" type="ftr"/>
          </p:nvPr>
        </p:nvSpPr>
        <p:spPr>
          <a:xfrm>
            <a:off x="4800600" y="6459785"/>
            <a:ext cx="4648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5"/>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050">
                <a:solidFill>
                  <a:schemeClr val="lt2"/>
                </a:solidFill>
                <a:latin typeface="Calibri"/>
                <a:ea typeface="Calibri"/>
                <a:cs typeface="Calibri"/>
                <a:sym typeface="Calibri"/>
              </a:defRPr>
            </a:lvl1pPr>
            <a:lvl2pPr indent="0" lvl="1" marL="0" algn="r">
              <a:spcBef>
                <a:spcPts val="0"/>
              </a:spcBef>
              <a:buNone/>
              <a:defRPr sz="1050">
                <a:solidFill>
                  <a:schemeClr val="lt2"/>
                </a:solidFill>
                <a:latin typeface="Calibri"/>
                <a:ea typeface="Calibri"/>
                <a:cs typeface="Calibri"/>
                <a:sym typeface="Calibri"/>
              </a:defRPr>
            </a:lvl2pPr>
            <a:lvl3pPr indent="0" lvl="2" marL="0" algn="r">
              <a:spcBef>
                <a:spcPts val="0"/>
              </a:spcBef>
              <a:buNone/>
              <a:defRPr sz="1050">
                <a:solidFill>
                  <a:schemeClr val="lt2"/>
                </a:solidFill>
                <a:latin typeface="Calibri"/>
                <a:ea typeface="Calibri"/>
                <a:cs typeface="Calibri"/>
                <a:sym typeface="Calibri"/>
              </a:defRPr>
            </a:lvl3pPr>
            <a:lvl4pPr indent="0" lvl="3" marL="0" algn="r">
              <a:spcBef>
                <a:spcPts val="0"/>
              </a:spcBef>
              <a:buNone/>
              <a:defRPr sz="1050">
                <a:solidFill>
                  <a:schemeClr val="lt2"/>
                </a:solidFill>
                <a:latin typeface="Calibri"/>
                <a:ea typeface="Calibri"/>
                <a:cs typeface="Calibri"/>
                <a:sym typeface="Calibri"/>
              </a:defRPr>
            </a:lvl4pPr>
            <a:lvl5pPr indent="0" lvl="4" marL="0" algn="r">
              <a:spcBef>
                <a:spcPts val="0"/>
              </a:spcBef>
              <a:buNone/>
              <a:defRPr sz="1050">
                <a:solidFill>
                  <a:schemeClr val="lt2"/>
                </a:solidFill>
                <a:latin typeface="Calibri"/>
                <a:ea typeface="Calibri"/>
                <a:cs typeface="Calibri"/>
                <a:sym typeface="Calibri"/>
              </a:defRPr>
            </a:lvl5pPr>
            <a:lvl6pPr indent="0" lvl="5" marL="0" algn="r">
              <a:spcBef>
                <a:spcPts val="0"/>
              </a:spcBef>
              <a:buNone/>
              <a:defRPr sz="1050">
                <a:solidFill>
                  <a:schemeClr val="lt2"/>
                </a:solidFill>
                <a:latin typeface="Calibri"/>
                <a:ea typeface="Calibri"/>
                <a:cs typeface="Calibri"/>
                <a:sym typeface="Calibri"/>
              </a:defRPr>
            </a:lvl6pPr>
            <a:lvl7pPr indent="0" lvl="6" marL="0" algn="r">
              <a:spcBef>
                <a:spcPts val="0"/>
              </a:spcBef>
              <a:buNone/>
              <a:defRPr sz="1050">
                <a:solidFill>
                  <a:schemeClr val="lt2"/>
                </a:solidFill>
                <a:latin typeface="Calibri"/>
                <a:ea typeface="Calibri"/>
                <a:cs typeface="Calibri"/>
                <a:sym typeface="Calibri"/>
              </a:defRPr>
            </a:lvl7pPr>
            <a:lvl8pPr indent="0" lvl="7" marL="0" algn="r">
              <a:spcBef>
                <a:spcPts val="0"/>
              </a:spcBef>
              <a:buNone/>
              <a:defRPr sz="1050">
                <a:solidFill>
                  <a:schemeClr val="lt2"/>
                </a:solidFill>
                <a:latin typeface="Calibri"/>
                <a:ea typeface="Calibri"/>
                <a:cs typeface="Calibri"/>
                <a:sym typeface="Calibri"/>
              </a:defRPr>
            </a:lvl8pPr>
            <a:lvl9pPr indent="0" lvl="8" marL="0" algn="r">
              <a:spcBef>
                <a:spcPts val="0"/>
              </a:spcBef>
              <a:buNone/>
              <a:defRPr sz="1050">
                <a:solidFill>
                  <a:schemeClr val="lt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lı Resim" showMasterSp="0" type="picTx">
  <p:cSld name="PICTURE_WITH_CAPTION_TEXT">
    <p:spTree>
      <p:nvGrpSpPr>
        <p:cNvPr id="74" name="Shape 74"/>
        <p:cNvGrpSpPr/>
        <p:nvPr/>
      </p:nvGrpSpPr>
      <p:grpSpPr>
        <a:xfrm>
          <a:off x="0" y="0"/>
          <a:ext cx="0" cy="0"/>
          <a:chOff x="0" y="0"/>
          <a:chExt cx="0" cy="0"/>
        </a:xfrm>
      </p:grpSpPr>
      <p:sp>
        <p:nvSpPr>
          <p:cNvPr id="75" name="Google Shape;75;p26"/>
          <p:cNvSpPr/>
          <p:nvPr/>
        </p:nvSpPr>
        <p:spPr>
          <a:xfrm>
            <a:off x="0" y="4953000"/>
            <a:ext cx="12188825" cy="19050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6"/>
          <p:cNvSpPr/>
          <p:nvPr/>
        </p:nvSpPr>
        <p:spPr>
          <a:xfrm>
            <a:off x="15" y="491507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26"/>
          <p:cNvSpPr txBox="1"/>
          <p:nvPr>
            <p:ph type="title"/>
          </p:nvPr>
        </p:nvSpPr>
        <p:spPr>
          <a:xfrm>
            <a:off x="1097280" y="5074920"/>
            <a:ext cx="10113645" cy="822960"/>
          </a:xfrm>
          <a:prstGeom prst="rect">
            <a:avLst/>
          </a:prstGeom>
          <a:noFill/>
          <a:ln>
            <a:noFill/>
          </a:ln>
        </p:spPr>
        <p:txBody>
          <a:bodyPr anchorCtr="0" anchor="b" bIns="0" lIns="91425" spcFirstLastPara="1" rIns="91425" wrap="square" tIns="0">
            <a:noAutofit/>
          </a:bodyPr>
          <a:lstStyle>
            <a:lvl1pPr lvl="0" algn="l">
              <a:lnSpc>
                <a:spcPct val="85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6"/>
          <p:cNvSpPr/>
          <p:nvPr>
            <p:ph idx="2" type="pic"/>
          </p:nvPr>
        </p:nvSpPr>
        <p:spPr>
          <a:xfrm>
            <a:off x="15" y="0"/>
            <a:ext cx="12191985" cy="4915076"/>
          </a:xfrm>
          <a:prstGeom prst="rect">
            <a:avLst/>
          </a:prstGeom>
          <a:solidFill>
            <a:srgbClr val="E5E5E5"/>
          </a:solidFill>
          <a:ln>
            <a:noFill/>
          </a:ln>
        </p:spPr>
      </p:sp>
      <p:sp>
        <p:nvSpPr>
          <p:cNvPr id="79" name="Google Shape;79;p26"/>
          <p:cNvSpPr txBox="1"/>
          <p:nvPr>
            <p:ph idx="1" type="body"/>
          </p:nvPr>
        </p:nvSpPr>
        <p:spPr>
          <a:xfrm>
            <a:off x="1097280" y="5907024"/>
            <a:ext cx="10113264" cy="594360"/>
          </a:xfrm>
          <a:prstGeom prst="rect">
            <a:avLst/>
          </a:prstGeom>
          <a:noFill/>
          <a:ln>
            <a:noFill/>
          </a:ln>
        </p:spPr>
        <p:txBody>
          <a:bodyPr anchorCtr="0" anchor="t" bIns="0" lIns="91425" spcFirstLastPara="1" rIns="91425" wrap="square" tIns="0">
            <a:normAutofit/>
          </a:bodyPr>
          <a:lstStyle>
            <a:lvl1pPr indent="-228600" lvl="0" marL="457200" algn="l">
              <a:lnSpc>
                <a:spcPct val="90000"/>
              </a:lnSpc>
              <a:spcBef>
                <a:spcPts val="0"/>
              </a:spcBef>
              <a:spcAft>
                <a:spcPts val="0"/>
              </a:spcAft>
              <a:buSzPts val="1500"/>
              <a:buNone/>
              <a:defRPr sz="1500">
                <a:solidFill>
                  <a:srgbClr val="FFFFFF"/>
                </a:solidFill>
              </a:defRPr>
            </a:lvl1pPr>
            <a:lvl2pPr indent="-228600" lvl="1" marL="914400" algn="l">
              <a:lnSpc>
                <a:spcPct val="90000"/>
              </a:lnSpc>
              <a:spcBef>
                <a:spcPts val="6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0" name="Google Shape;80;p26"/>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6"/>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6"/>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şlık ve Dikey Metin" type="vertTx">
  <p:cSld name="VERTICAL_TEXT">
    <p:spTree>
      <p:nvGrpSpPr>
        <p:cNvPr id="83" name="Shape 83"/>
        <p:cNvGrpSpPr/>
        <p:nvPr/>
      </p:nvGrpSpPr>
      <p:grpSpPr>
        <a:xfrm>
          <a:off x="0" y="0"/>
          <a:ext cx="0" cy="0"/>
          <a:chOff x="0" y="0"/>
          <a:chExt cx="0" cy="0"/>
        </a:xfrm>
      </p:grpSpPr>
      <p:sp>
        <p:nvSpPr>
          <p:cNvPr id="84" name="Google Shape;84;p2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27"/>
          <p:cNvSpPr txBox="1"/>
          <p:nvPr>
            <p:ph idx="1" type="body"/>
          </p:nvPr>
        </p:nvSpPr>
        <p:spPr>
          <a:xfrm rot="5400000">
            <a:off x="4114800" y="-1171786"/>
            <a:ext cx="4023360" cy="100584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6" name="Google Shape;86;p2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2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2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key Başlık ve Metin" showMasterSp="0" type="vertTitleAndTx">
  <p:cSld name="VERTICAL_TITLE_AND_VERTICAL_TEXT">
    <p:spTree>
      <p:nvGrpSpPr>
        <p:cNvPr id="89" name="Shape 89"/>
        <p:cNvGrpSpPr/>
        <p:nvPr/>
      </p:nvGrpSpPr>
      <p:grpSpPr>
        <a:xfrm>
          <a:off x="0" y="0"/>
          <a:ext cx="0" cy="0"/>
          <a:chOff x="0" y="0"/>
          <a:chExt cx="0" cy="0"/>
        </a:xfrm>
      </p:grpSpPr>
      <p:sp>
        <p:nvSpPr>
          <p:cNvPr id="90" name="Google Shape;90;p28"/>
          <p:cNvSpPr/>
          <p:nvPr/>
        </p:nvSpPr>
        <p:spPr>
          <a:xfrm>
            <a:off x="3175" y="6400800"/>
            <a:ext cx="12188825" cy="457200"/>
          </a:xfrm>
          <a:prstGeom prst="rect">
            <a:avLst/>
          </a:prstGeom>
          <a:solidFill>
            <a:srgbClr val="5934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8"/>
          <p:cNvSpPr/>
          <p:nvPr/>
        </p:nvSpPr>
        <p:spPr>
          <a:xfrm>
            <a:off x="15" y="6334316"/>
            <a:ext cx="12188825" cy="64008"/>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8"/>
          <p:cNvSpPr txBox="1"/>
          <p:nvPr>
            <p:ph type="title"/>
          </p:nvPr>
        </p:nvSpPr>
        <p:spPr>
          <a:xfrm rot="5400000">
            <a:off x="7159401" y="1977801"/>
            <a:ext cx="5759898" cy="2628900"/>
          </a:xfrm>
          <a:prstGeom prst="rect">
            <a:avLst/>
          </a:prstGeom>
          <a:noFill/>
          <a:ln>
            <a:noFill/>
          </a:ln>
        </p:spPr>
        <p:txBody>
          <a:bodyPr anchorCtr="0" anchor="b" bIns="45700" lIns="91425" spcFirstLastPara="1" rIns="91425" wrap="square" tIns="45700">
            <a:normAutofit/>
          </a:bodyPr>
          <a:lstStyle>
            <a:lvl1pPr lvl="0" algn="l">
              <a:lnSpc>
                <a:spcPct val="85000"/>
              </a:lnSpc>
              <a:spcBef>
                <a:spcPts val="0"/>
              </a:spcBef>
              <a:spcAft>
                <a:spcPts val="0"/>
              </a:spcAft>
              <a:buClr>
                <a:srgbClr val="60606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3" name="Google Shape;93;p28"/>
          <p:cNvSpPr txBox="1"/>
          <p:nvPr>
            <p:ph idx="1" type="body"/>
          </p:nvPr>
        </p:nvSpPr>
        <p:spPr>
          <a:xfrm rot="5400000">
            <a:off x="1825401" y="-574899"/>
            <a:ext cx="5759898" cy="7734300"/>
          </a:xfrm>
          <a:prstGeom prst="rect">
            <a:avLst/>
          </a:prstGeom>
          <a:noFill/>
          <a:ln>
            <a:noFill/>
          </a:ln>
        </p:spPr>
        <p:txBody>
          <a:bodyPr anchorCtr="0" anchor="t" bIns="0" lIns="45700" spcFirstLastPara="1" rIns="45700" wrap="square" tIns="0">
            <a:norm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4" name="Google Shape;94;p28"/>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8"/>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28"/>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tr-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7"/>
          <p:cNvSpPr/>
          <p:nvPr/>
        </p:nvSpPr>
        <p:spPr>
          <a:xfrm>
            <a:off x="1" y="6400800"/>
            <a:ext cx="12192000" cy="457200"/>
          </a:xfrm>
          <a:prstGeom prst="rect">
            <a:avLst/>
          </a:prstGeom>
          <a:solidFill>
            <a:srgbClr val="59347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7" name="Google Shape;7;p17"/>
          <p:cNvSpPr/>
          <p:nvPr/>
        </p:nvSpPr>
        <p:spPr>
          <a:xfrm>
            <a:off x="15" y="6334316"/>
            <a:ext cx="12191985" cy="66484"/>
          </a:xfrm>
          <a:prstGeom prst="rect">
            <a:avLst/>
          </a:pr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8" name="Google Shape;8;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marR="0" rtl="0" algn="l">
              <a:lnSpc>
                <a:spcPct val="85000"/>
              </a:lnSpc>
              <a:spcBef>
                <a:spcPts val="0"/>
              </a:spcBef>
              <a:spcAft>
                <a:spcPts val="0"/>
              </a:spcAft>
              <a:buClr>
                <a:srgbClr val="606060"/>
              </a:buClr>
              <a:buSzPts val="4800"/>
              <a:buFont typeface="Calibri"/>
              <a:buNone/>
              <a:defRPr b="0" i="0" sz="4800" u="none" cap="none" strike="noStrike">
                <a:solidFill>
                  <a:srgbClr val="60606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7"/>
          <p:cNvSpPr txBox="1"/>
          <p:nvPr>
            <p:ph idx="1" type="body"/>
          </p:nvPr>
        </p:nvSpPr>
        <p:spPr>
          <a:xfrm>
            <a:off x="1097280" y="1845734"/>
            <a:ext cx="10058400" cy="4023360"/>
          </a:xfrm>
          <a:prstGeom prst="rect">
            <a:avLst/>
          </a:prstGeom>
          <a:noFill/>
          <a:ln>
            <a:noFill/>
          </a:ln>
        </p:spPr>
        <p:txBody>
          <a:bodyPr anchorCtr="0" anchor="t" bIns="45700" lIns="0" spcFirstLastPara="1" rIns="0" wrap="square" tIns="45700">
            <a:normAutofit/>
          </a:bodyPr>
          <a:lstStyle>
            <a:lvl1pPr indent="-355600" lvl="0" marL="457200" marR="0" rtl="0" algn="l">
              <a:lnSpc>
                <a:spcPct val="90000"/>
              </a:lnSpc>
              <a:spcBef>
                <a:spcPts val="1200"/>
              </a:spcBef>
              <a:spcAft>
                <a:spcPts val="0"/>
              </a:spcAft>
              <a:buClr>
                <a:schemeClr val="accent1"/>
              </a:buClr>
              <a:buSzPts val="2000"/>
              <a:buFont typeface="Calibri"/>
              <a:buChar char=" "/>
              <a:defRPr b="0" i="0" sz="2000" u="none" cap="none" strike="noStrike">
                <a:solidFill>
                  <a:srgbClr val="606060"/>
                </a:solidFill>
                <a:latin typeface="Calibri"/>
                <a:ea typeface="Calibri"/>
                <a:cs typeface="Calibri"/>
                <a:sym typeface="Calibri"/>
              </a:defRPr>
            </a:lvl1pPr>
            <a:lvl2pPr indent="-342900" lvl="1" marL="914400" marR="0" rtl="0" algn="l">
              <a:lnSpc>
                <a:spcPct val="90000"/>
              </a:lnSpc>
              <a:spcBef>
                <a:spcPts val="200"/>
              </a:spcBef>
              <a:spcAft>
                <a:spcPts val="0"/>
              </a:spcAft>
              <a:buClr>
                <a:schemeClr val="accent1"/>
              </a:buClr>
              <a:buSzPts val="1800"/>
              <a:buFont typeface="Calibri"/>
              <a:buChar char="◦"/>
              <a:defRPr b="0" i="0" sz="1800" u="none" cap="none" strike="noStrike">
                <a:solidFill>
                  <a:srgbClr val="606060"/>
                </a:solidFill>
                <a:latin typeface="Calibri"/>
                <a:ea typeface="Calibri"/>
                <a:cs typeface="Calibri"/>
                <a:sym typeface="Calibri"/>
              </a:defRPr>
            </a:lvl2pPr>
            <a:lvl3pPr indent="-317500" lvl="2" marL="13716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606060"/>
                </a:solidFill>
                <a:latin typeface="Calibri"/>
                <a:ea typeface="Calibri"/>
                <a:cs typeface="Calibri"/>
                <a:sym typeface="Calibri"/>
              </a:defRPr>
            </a:lvl9pPr>
          </a:lstStyle>
          <a:p/>
        </p:txBody>
      </p:sp>
      <p:sp>
        <p:nvSpPr>
          <p:cNvPr id="10" name="Google Shape;10;p17"/>
          <p:cNvSpPr txBox="1"/>
          <p:nvPr>
            <p:ph idx="10" type="dt"/>
          </p:nvPr>
        </p:nvSpPr>
        <p:spPr>
          <a:xfrm>
            <a:off x="1097280" y="6459785"/>
            <a:ext cx="247227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1" name="Google Shape;11;p17"/>
          <p:cNvSpPr txBox="1"/>
          <p:nvPr>
            <p:ph idx="11" type="ftr"/>
          </p:nvPr>
        </p:nvSpPr>
        <p:spPr>
          <a:xfrm>
            <a:off x="3686185" y="6459785"/>
            <a:ext cx="4822804"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cap="none">
                <a:solidFill>
                  <a:srgbClr val="FFFFF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9pPr>
          </a:lstStyle>
          <a:p/>
        </p:txBody>
      </p:sp>
      <p:sp>
        <p:nvSpPr>
          <p:cNvPr id="12" name="Google Shape;12;p17"/>
          <p:cNvSpPr txBox="1"/>
          <p:nvPr>
            <p:ph idx="12" type="sldNum"/>
          </p:nvPr>
        </p:nvSpPr>
        <p:spPr>
          <a:xfrm>
            <a:off x="9900458" y="6459785"/>
            <a:ext cx="131202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1050" u="none">
                <a:solidFill>
                  <a:srgbClr val="FFFFFF"/>
                </a:solidFill>
                <a:latin typeface="Calibri"/>
                <a:ea typeface="Calibri"/>
                <a:cs typeface="Calibri"/>
                <a:sym typeface="Calibri"/>
              </a:defRPr>
            </a:lvl1pPr>
            <a:lvl2pPr indent="0" lvl="1" marL="0" marR="0" rtl="0" algn="r">
              <a:spcBef>
                <a:spcPts val="0"/>
              </a:spcBef>
              <a:buNone/>
              <a:defRPr b="0" sz="1050" u="none">
                <a:solidFill>
                  <a:srgbClr val="FFFFFF"/>
                </a:solidFill>
                <a:latin typeface="Calibri"/>
                <a:ea typeface="Calibri"/>
                <a:cs typeface="Calibri"/>
                <a:sym typeface="Calibri"/>
              </a:defRPr>
            </a:lvl2pPr>
            <a:lvl3pPr indent="0" lvl="2" marL="0" marR="0" rtl="0" algn="r">
              <a:spcBef>
                <a:spcPts val="0"/>
              </a:spcBef>
              <a:buNone/>
              <a:defRPr b="0" sz="1050" u="none">
                <a:solidFill>
                  <a:srgbClr val="FFFFFF"/>
                </a:solidFill>
                <a:latin typeface="Calibri"/>
                <a:ea typeface="Calibri"/>
                <a:cs typeface="Calibri"/>
                <a:sym typeface="Calibri"/>
              </a:defRPr>
            </a:lvl3pPr>
            <a:lvl4pPr indent="0" lvl="3" marL="0" marR="0" rtl="0" algn="r">
              <a:spcBef>
                <a:spcPts val="0"/>
              </a:spcBef>
              <a:buNone/>
              <a:defRPr b="0" sz="1050" u="none">
                <a:solidFill>
                  <a:srgbClr val="FFFFFF"/>
                </a:solidFill>
                <a:latin typeface="Calibri"/>
                <a:ea typeface="Calibri"/>
                <a:cs typeface="Calibri"/>
                <a:sym typeface="Calibri"/>
              </a:defRPr>
            </a:lvl4pPr>
            <a:lvl5pPr indent="0" lvl="4" marL="0" marR="0" rtl="0" algn="r">
              <a:spcBef>
                <a:spcPts val="0"/>
              </a:spcBef>
              <a:buNone/>
              <a:defRPr b="0" sz="1050" u="none">
                <a:solidFill>
                  <a:srgbClr val="FFFFFF"/>
                </a:solidFill>
                <a:latin typeface="Calibri"/>
                <a:ea typeface="Calibri"/>
                <a:cs typeface="Calibri"/>
                <a:sym typeface="Calibri"/>
              </a:defRPr>
            </a:lvl5pPr>
            <a:lvl6pPr indent="0" lvl="5" marL="0" marR="0" rtl="0" algn="r">
              <a:spcBef>
                <a:spcPts val="0"/>
              </a:spcBef>
              <a:buNone/>
              <a:defRPr b="0" sz="1050" u="none">
                <a:solidFill>
                  <a:srgbClr val="FFFFFF"/>
                </a:solidFill>
                <a:latin typeface="Calibri"/>
                <a:ea typeface="Calibri"/>
                <a:cs typeface="Calibri"/>
                <a:sym typeface="Calibri"/>
              </a:defRPr>
            </a:lvl6pPr>
            <a:lvl7pPr indent="0" lvl="6" marL="0" marR="0" rtl="0" algn="r">
              <a:spcBef>
                <a:spcPts val="0"/>
              </a:spcBef>
              <a:buNone/>
              <a:defRPr b="0" sz="1050" u="none">
                <a:solidFill>
                  <a:srgbClr val="FFFFFF"/>
                </a:solidFill>
                <a:latin typeface="Calibri"/>
                <a:ea typeface="Calibri"/>
                <a:cs typeface="Calibri"/>
                <a:sym typeface="Calibri"/>
              </a:defRPr>
            </a:lvl7pPr>
            <a:lvl8pPr indent="0" lvl="7" marL="0" marR="0" rtl="0" algn="r">
              <a:spcBef>
                <a:spcPts val="0"/>
              </a:spcBef>
              <a:buNone/>
              <a:defRPr b="0" sz="1050" u="none">
                <a:solidFill>
                  <a:srgbClr val="FFFFFF"/>
                </a:solidFill>
                <a:latin typeface="Calibri"/>
                <a:ea typeface="Calibri"/>
                <a:cs typeface="Calibri"/>
                <a:sym typeface="Calibri"/>
              </a:defRPr>
            </a:lvl8pPr>
            <a:lvl9pPr indent="0" lvl="8" marL="0" marR="0" rtl="0" algn="r">
              <a:spcBef>
                <a:spcPts val="0"/>
              </a:spcBef>
              <a:buNone/>
              <a:defRPr b="0" sz="1050" u="non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tr-TR"/>
              <a:t>‹#›</a:t>
            </a:fld>
            <a:endParaRPr/>
          </a:p>
        </p:txBody>
      </p:sp>
      <p:cxnSp>
        <p:nvCxnSpPr>
          <p:cNvPr id="13" name="Google Shape;13;p17"/>
          <p:cNvCxnSpPr/>
          <p:nvPr/>
        </p:nvCxnSpPr>
        <p:spPr>
          <a:xfrm>
            <a:off x="1193532" y="1737845"/>
            <a:ext cx="9966960" cy="0"/>
          </a:xfrm>
          <a:prstGeom prst="straightConnector1">
            <a:avLst/>
          </a:prstGeom>
          <a:noFill/>
          <a:ln cap="flat" cmpd="sng" w="9525">
            <a:solidFill>
              <a:srgbClr val="959595"/>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7.png"/><Relationship Id="rId5" Type="http://schemas.openxmlformats.org/officeDocument/2006/relationships/image" Target="../media/image19.png"/><Relationship Id="rId6"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
          <p:cNvSpPr txBox="1"/>
          <p:nvPr>
            <p:ph type="ctrTitle"/>
          </p:nvPr>
        </p:nvSpPr>
        <p:spPr>
          <a:xfrm>
            <a:off x="0" y="3162968"/>
            <a:ext cx="12192000" cy="823667"/>
          </a:xfrm>
          <a:prstGeom prst="rect">
            <a:avLst/>
          </a:prstGeom>
          <a:noFill/>
          <a:ln>
            <a:noFill/>
          </a:ln>
        </p:spPr>
        <p:txBody>
          <a:bodyPr anchorCtr="0" anchor="b" bIns="45700" lIns="91425" spcFirstLastPara="1" rIns="91425" wrap="square" tIns="45700">
            <a:normAutofit/>
          </a:bodyPr>
          <a:lstStyle/>
          <a:p>
            <a:pPr indent="0" lvl="0" marL="0" rtl="0" algn="ctr">
              <a:lnSpc>
                <a:spcPct val="85000"/>
              </a:lnSpc>
              <a:spcBef>
                <a:spcPts val="0"/>
              </a:spcBef>
              <a:spcAft>
                <a:spcPts val="0"/>
              </a:spcAft>
              <a:buClr>
                <a:schemeClr val="dk1"/>
              </a:buClr>
              <a:buSzPts val="4000"/>
              <a:buFont typeface="Times New Roman"/>
              <a:buNone/>
            </a:pPr>
            <a:r>
              <a:rPr lang="tr-TR" sz="4000">
                <a:solidFill>
                  <a:schemeClr val="dk1"/>
                </a:solidFill>
                <a:latin typeface="Times New Roman"/>
                <a:ea typeface="Times New Roman"/>
                <a:cs typeface="Times New Roman"/>
                <a:sym typeface="Times New Roman"/>
              </a:rPr>
              <a:t>BM0102</a:t>
            </a:r>
            <a:r>
              <a:rPr lang="tr-TR" sz="4000">
                <a:solidFill>
                  <a:schemeClr val="dk1"/>
                </a:solidFill>
                <a:latin typeface="Times New Roman"/>
                <a:ea typeface="Times New Roman"/>
                <a:cs typeface="Times New Roman"/>
                <a:sym typeface="Times New Roman"/>
              </a:rPr>
              <a:t>-ALGORİTMA ve PROGRAMLAMA II</a:t>
            </a:r>
            <a:endParaRPr/>
          </a:p>
        </p:txBody>
      </p:sp>
      <p:sp>
        <p:nvSpPr>
          <p:cNvPr id="102" name="Google Shape;102;p1"/>
          <p:cNvSpPr txBox="1"/>
          <p:nvPr>
            <p:ph idx="1" type="subTitle"/>
          </p:nvPr>
        </p:nvSpPr>
        <p:spPr>
          <a:xfrm>
            <a:off x="1" y="2036685"/>
            <a:ext cx="12192000" cy="1126283"/>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SzPts val="3000"/>
              <a:buNone/>
            </a:pPr>
            <a:r>
              <a:rPr lang="tr-TR" sz="3000">
                <a:solidFill>
                  <a:schemeClr val="dk1"/>
                </a:solidFill>
                <a:latin typeface="Times New Roman"/>
                <a:ea typeface="Times New Roman"/>
                <a:cs typeface="Times New Roman"/>
                <a:sym typeface="Times New Roman"/>
              </a:rPr>
              <a:t>MÜHENDİSLİK FAKÜLTESİ </a:t>
            </a:r>
            <a:endParaRPr/>
          </a:p>
          <a:p>
            <a:pPr indent="0" lvl="0" marL="0" rtl="0" algn="ctr">
              <a:lnSpc>
                <a:spcPct val="90000"/>
              </a:lnSpc>
              <a:spcBef>
                <a:spcPts val="1400"/>
              </a:spcBef>
              <a:spcAft>
                <a:spcPts val="0"/>
              </a:spcAft>
              <a:buSzPts val="3000"/>
              <a:buNone/>
            </a:pPr>
            <a:r>
              <a:rPr lang="tr-TR" sz="3000">
                <a:solidFill>
                  <a:schemeClr val="dk1"/>
                </a:solidFill>
                <a:latin typeface="Times New Roman"/>
                <a:ea typeface="Times New Roman"/>
                <a:cs typeface="Times New Roman"/>
                <a:sym typeface="Times New Roman"/>
              </a:rPr>
              <a:t>BİLGİSAYAR MÜHENDİSLİĞİ BÖLÜMÜ</a:t>
            </a:r>
            <a:endParaRPr/>
          </a:p>
        </p:txBody>
      </p:sp>
      <p:pic>
        <p:nvPicPr>
          <p:cNvPr descr="Amasya Üniversitesi Logo Vector (.AI) Free Download" id="103" name="Google Shape;103;p1"/>
          <p:cNvPicPr preferRelativeResize="0"/>
          <p:nvPr/>
        </p:nvPicPr>
        <p:blipFill rotWithShape="1">
          <a:blip r:embed="rId3">
            <a:alphaModFix/>
          </a:blip>
          <a:srcRect b="0" l="0" r="0" t="0"/>
          <a:stretch/>
        </p:blipFill>
        <p:spPr>
          <a:xfrm>
            <a:off x="5199293" y="159026"/>
            <a:ext cx="1889990" cy="1656891"/>
          </a:xfrm>
          <a:prstGeom prst="rect">
            <a:avLst/>
          </a:prstGeom>
          <a:noFill/>
          <a:ln>
            <a:noFill/>
          </a:ln>
        </p:spPr>
      </p:pic>
      <p:sp>
        <p:nvSpPr>
          <p:cNvPr id="104" name="Google Shape;104;p1"/>
          <p:cNvSpPr txBox="1"/>
          <p:nvPr/>
        </p:nvSpPr>
        <p:spPr>
          <a:xfrm>
            <a:off x="0" y="4432605"/>
            <a:ext cx="12192000" cy="1398569"/>
          </a:xfrm>
          <a:prstGeom prst="rect">
            <a:avLst/>
          </a:prstGeom>
          <a:noFill/>
          <a:ln>
            <a:noFill/>
          </a:ln>
        </p:spPr>
        <p:txBody>
          <a:bodyPr anchorCtr="0" anchor="b" bIns="45700" lIns="91425" spcFirstLastPara="1" rIns="91425" wrap="square" tIns="45700">
            <a:normAutofit/>
          </a:bodyPr>
          <a:lstStyle/>
          <a:p>
            <a:pPr indent="0" lvl="0" marL="0" marR="0" rtl="0" algn="ctr">
              <a:spcBef>
                <a:spcPts val="0"/>
              </a:spcBef>
              <a:spcAft>
                <a:spcPts val="0"/>
              </a:spcAft>
              <a:buClr>
                <a:schemeClr val="dk1"/>
              </a:buClr>
              <a:buSzPts val="2500"/>
              <a:buFont typeface="Times New Roman"/>
              <a:buNone/>
            </a:pPr>
            <a:r>
              <a:rPr lang="tr-TR" sz="2500">
                <a:solidFill>
                  <a:schemeClr val="dk1"/>
                </a:solidFill>
                <a:latin typeface="Times New Roman"/>
                <a:ea typeface="Times New Roman"/>
                <a:cs typeface="Times New Roman"/>
                <a:sym typeface="Times New Roman"/>
              </a:rPr>
              <a:t>Hafta 5</a:t>
            </a:r>
            <a:endParaRPr/>
          </a:p>
          <a:p>
            <a:pPr indent="0" lvl="0" marL="0" marR="0" rtl="0" algn="ctr">
              <a:spcBef>
                <a:spcPts val="0"/>
              </a:spcBef>
              <a:spcAft>
                <a:spcPts val="0"/>
              </a:spcAft>
              <a:buClr>
                <a:schemeClr val="dk1"/>
              </a:buClr>
              <a:buSzPts val="4000"/>
              <a:buFont typeface="Times New Roman"/>
              <a:buNone/>
            </a:pPr>
            <a:r>
              <a:rPr lang="tr-TR" sz="4000">
                <a:solidFill>
                  <a:schemeClr val="dk1"/>
                </a:solidFill>
                <a:latin typeface="Times New Roman"/>
                <a:ea typeface="Times New Roman"/>
                <a:cs typeface="Times New Roman"/>
                <a:sym typeface="Times New Roman"/>
              </a:rPr>
              <a:t>Yapıcılar (Constructors)</a:t>
            </a:r>
            <a:endParaRPr/>
          </a:p>
        </p:txBody>
      </p:sp>
      <p:sp>
        <p:nvSpPr>
          <p:cNvPr id="105" name="Google Shape;105;p1"/>
          <p:cNvSpPr txBox="1"/>
          <p:nvPr/>
        </p:nvSpPr>
        <p:spPr>
          <a:xfrm>
            <a:off x="0" y="5831174"/>
            <a:ext cx="12191999" cy="507484"/>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2400"/>
              <a:buFont typeface="Noto Sans Symbols"/>
              <a:buNone/>
            </a:pPr>
            <a:r>
              <a:rPr lang="tr-TR" sz="2400">
                <a:solidFill>
                  <a:schemeClr val="dk1"/>
                </a:solidFill>
                <a:latin typeface="Times New Roman"/>
                <a:ea typeface="Times New Roman"/>
                <a:cs typeface="Times New Roman"/>
                <a:sym typeface="Times New Roman"/>
              </a:rPr>
              <a:t>Doç. Dr. Funda KUTLU ONAY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Yapıcılar (Constructors)</a:t>
            </a:r>
            <a:endParaRPr b="1" i="0" sz="2000" u="none" cap="none" strike="noStrike">
              <a:solidFill>
                <a:schemeClr val="lt1"/>
              </a:solidFill>
              <a:latin typeface="Times New Roman"/>
              <a:ea typeface="Times New Roman"/>
              <a:cs typeface="Times New Roman"/>
              <a:sym typeface="Times New Roman"/>
            </a:endParaRPr>
          </a:p>
        </p:txBody>
      </p:sp>
      <p:sp>
        <p:nvSpPr>
          <p:cNvPr id="111" name="Google Shape;111;p2"/>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Bir sınıfın tüm üyeleri </a:t>
            </a:r>
            <a:r>
              <a:rPr b="1" i="0" lang="tr-TR" sz="1800" u="none" cap="none" strike="noStrike">
                <a:solidFill>
                  <a:srgbClr val="593470"/>
                </a:solidFill>
                <a:latin typeface="Times New Roman"/>
                <a:ea typeface="Times New Roman"/>
                <a:cs typeface="Times New Roman"/>
                <a:sym typeface="Times New Roman"/>
              </a:rPr>
              <a:t>public</a:t>
            </a:r>
            <a:r>
              <a:rPr b="0" i="0" lang="tr-TR" sz="1800" u="none" cap="none" strike="noStrike">
                <a:solidFill>
                  <a:srgbClr val="444444"/>
                </a:solidFill>
                <a:latin typeface="Times New Roman"/>
                <a:ea typeface="Times New Roman"/>
                <a:cs typeface="Times New Roman"/>
                <a:sym typeface="Times New Roman"/>
              </a:rPr>
              <a:t> olduğunda, sınıf üyeleri için main() içerisinde doğrudan bir başlatma listesi veya uniform ilk değer ataması ile toplu bir şekilde ilk değer ataması yapılabilir. </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Ancak herhangi bir sınıf değişkeni </a:t>
            </a:r>
            <a:r>
              <a:rPr b="1" i="0" lang="tr-TR" sz="1800" u="none" cap="none" strike="noStrike">
                <a:solidFill>
                  <a:srgbClr val="593470"/>
                </a:solidFill>
                <a:latin typeface="Times New Roman"/>
                <a:ea typeface="Times New Roman"/>
                <a:cs typeface="Times New Roman"/>
                <a:sym typeface="Times New Roman"/>
              </a:rPr>
              <a:t>private</a:t>
            </a:r>
            <a:r>
              <a:rPr b="0" i="0" lang="tr-TR" sz="1800" u="none" cap="none" strike="noStrike">
                <a:solidFill>
                  <a:srgbClr val="444444"/>
                </a:solidFill>
                <a:latin typeface="Times New Roman"/>
                <a:ea typeface="Times New Roman"/>
                <a:cs typeface="Times New Roman"/>
                <a:sym typeface="Times New Roman"/>
              </a:rPr>
              <a:t> ise, artık bu şekilde ilk değer ataması yapılamaz. Yani bir değişkene doğrudan erişemiyorsak, ona ilk değer de atayamayız! </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Bu durumda, </a:t>
            </a:r>
            <a:r>
              <a:rPr b="1" i="0" lang="tr-TR" sz="1800" u="none" cap="none" strike="noStrike">
                <a:solidFill>
                  <a:srgbClr val="593470"/>
                </a:solidFill>
                <a:latin typeface="Times New Roman"/>
                <a:ea typeface="Times New Roman"/>
                <a:cs typeface="Times New Roman"/>
                <a:sym typeface="Times New Roman"/>
              </a:rPr>
              <a:t>private</a:t>
            </a:r>
            <a:r>
              <a:rPr b="0" i="0" lang="tr-TR" sz="1800" u="none" cap="none" strike="noStrike">
                <a:solidFill>
                  <a:srgbClr val="444444"/>
                </a:solidFill>
                <a:latin typeface="Times New Roman"/>
                <a:ea typeface="Times New Roman"/>
                <a:cs typeface="Times New Roman"/>
                <a:sym typeface="Times New Roman"/>
              </a:rPr>
              <a:t> üye değişkenleri başlatmak yani ilk değer ataması yapmak için yapıcı (kurucu) fonksiyonlardan faydalanılır. </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000000"/>
              </a:solidFill>
              <a:latin typeface="Consolas"/>
              <a:ea typeface="Consolas"/>
              <a:cs typeface="Consolas"/>
              <a:sym typeface="Consolas"/>
            </a:endParaRPr>
          </a:p>
        </p:txBody>
      </p:sp>
      <p:pic>
        <p:nvPicPr>
          <p:cNvPr id="112" name="Google Shape;112;p2"/>
          <p:cNvPicPr preferRelativeResize="0"/>
          <p:nvPr/>
        </p:nvPicPr>
        <p:blipFill rotWithShape="1">
          <a:blip r:embed="rId3">
            <a:alphaModFix/>
          </a:blip>
          <a:srcRect b="0" l="0" r="0" t="0"/>
          <a:stretch/>
        </p:blipFill>
        <p:spPr>
          <a:xfrm>
            <a:off x="802706" y="1501639"/>
            <a:ext cx="4496657" cy="27554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3"/>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Yapıcılar (Constructors)</a:t>
            </a:r>
            <a:endParaRPr b="1" i="0" sz="2000" u="none" cap="none" strike="noStrike">
              <a:solidFill>
                <a:schemeClr val="lt1"/>
              </a:solidFill>
              <a:latin typeface="Times New Roman"/>
              <a:ea typeface="Times New Roman"/>
              <a:cs typeface="Times New Roman"/>
              <a:sym typeface="Times New Roman"/>
            </a:endParaRPr>
          </a:p>
        </p:txBody>
      </p:sp>
      <p:sp>
        <p:nvSpPr>
          <p:cNvPr id="118" name="Google Shape;118;p3"/>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Bir sınıfın nesnesi başlatıldığında otomatik olarak çağrılan özel bir tür sınıf üye fonksiyondur. </a:t>
            </a:r>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Yapıcılar, tipik olarak, sınıfın üye değişkenlerini uygun varsayılan veya kullanıcı tarafından sağlanan değerlerlee başlatmak için veya kullanılacak sınıf için gerekli olan herhangi bir kurulum adımını gerçekleştirmek (örneğin, bir dosya veya veritabanı açmak) için kullanılırlar. </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Normal üye fonksiyonlarından farklı olarak, yapıcılar şu kurallara göre adlandırılmalıdır:</a:t>
            </a:r>
            <a:endParaRPr/>
          </a:p>
          <a:p>
            <a:pPr indent="-182880" lvl="2" marL="566928" marR="0" rtl="0" algn="just">
              <a:lnSpc>
                <a:spcPct val="100000"/>
              </a:lnSpc>
              <a:spcBef>
                <a:spcPts val="600"/>
              </a:spcBef>
              <a:spcAft>
                <a:spcPts val="0"/>
              </a:spcAft>
              <a:buClr>
                <a:schemeClr val="accent1"/>
              </a:buClr>
              <a:buSzPts val="1800"/>
              <a:buFont typeface="Noto Sans Symbols"/>
              <a:buChar char="⮚"/>
            </a:pPr>
            <a:r>
              <a:rPr b="0" i="0" lang="tr-TR" sz="1800" u="none" cap="none" strike="noStrike">
                <a:solidFill>
                  <a:srgbClr val="444444"/>
                </a:solidFill>
                <a:latin typeface="Times New Roman"/>
                <a:ea typeface="Times New Roman"/>
                <a:cs typeface="Times New Roman"/>
                <a:sym typeface="Times New Roman"/>
              </a:rPr>
              <a:t>Yapıcılar, sınıfla aynı ada sahip olmalıdır.</a:t>
            </a:r>
            <a:endParaRPr/>
          </a:p>
          <a:p>
            <a:pPr indent="-182880" lvl="2" marL="566928" marR="0" rtl="0" algn="just">
              <a:lnSpc>
                <a:spcPct val="100000"/>
              </a:lnSpc>
              <a:spcBef>
                <a:spcPts val="600"/>
              </a:spcBef>
              <a:spcAft>
                <a:spcPts val="0"/>
              </a:spcAft>
              <a:buClr>
                <a:schemeClr val="accent1"/>
              </a:buClr>
              <a:buSzPts val="1800"/>
              <a:buFont typeface="Noto Sans Symbols"/>
              <a:buChar char="⮚"/>
            </a:pPr>
            <a:r>
              <a:rPr b="0" i="0" lang="tr-TR" sz="1800" u="none" cap="none" strike="noStrike">
                <a:solidFill>
                  <a:srgbClr val="444444"/>
                </a:solidFill>
                <a:latin typeface="Times New Roman"/>
                <a:ea typeface="Times New Roman"/>
                <a:cs typeface="Times New Roman"/>
                <a:sym typeface="Times New Roman"/>
              </a:rPr>
              <a:t>Yapıcıların dönüş türü yoktur.</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Yapıcı türleri aşağıdaki gibidir: </a:t>
            </a:r>
            <a:endParaRPr/>
          </a:p>
          <a:p>
            <a:pPr indent="-182880" lvl="2" marL="566928" marR="0" rtl="0" algn="just">
              <a:lnSpc>
                <a:spcPct val="100000"/>
              </a:lnSpc>
              <a:spcBef>
                <a:spcPts val="600"/>
              </a:spcBef>
              <a:spcAft>
                <a:spcPts val="0"/>
              </a:spcAft>
              <a:buClr>
                <a:schemeClr val="accent1"/>
              </a:buClr>
              <a:buSzPts val="1800"/>
              <a:buFont typeface="Noto Sans Symbols"/>
              <a:buChar char="⮚"/>
            </a:pPr>
            <a:r>
              <a:rPr b="0" i="0" lang="tr-TR" sz="1800" u="none" cap="none" strike="noStrike">
                <a:solidFill>
                  <a:srgbClr val="444444"/>
                </a:solidFill>
                <a:latin typeface="Times New Roman"/>
                <a:ea typeface="Times New Roman"/>
                <a:cs typeface="Times New Roman"/>
                <a:sym typeface="Times New Roman"/>
              </a:rPr>
              <a:t>Varsayılan (Default) yapıcı</a:t>
            </a:r>
            <a:endParaRPr/>
          </a:p>
          <a:p>
            <a:pPr indent="-182880" lvl="2" marL="566928" marR="0" rtl="0" algn="just">
              <a:lnSpc>
                <a:spcPct val="100000"/>
              </a:lnSpc>
              <a:spcBef>
                <a:spcPts val="600"/>
              </a:spcBef>
              <a:spcAft>
                <a:spcPts val="0"/>
              </a:spcAft>
              <a:buClr>
                <a:schemeClr val="accent1"/>
              </a:buClr>
              <a:buSzPts val="1800"/>
              <a:buFont typeface="Noto Sans Symbols"/>
              <a:buChar char="⮚"/>
            </a:pPr>
            <a:r>
              <a:rPr b="0" i="0" lang="tr-TR" sz="1800" u="none" cap="none" strike="noStrike">
                <a:solidFill>
                  <a:srgbClr val="444444"/>
                </a:solidFill>
                <a:latin typeface="Times New Roman"/>
                <a:ea typeface="Times New Roman"/>
                <a:cs typeface="Times New Roman"/>
                <a:sym typeface="Times New Roman"/>
              </a:rPr>
              <a:t>Parametreli yapıcı</a:t>
            </a:r>
            <a:endParaRPr/>
          </a:p>
          <a:p>
            <a:pPr indent="-182880" lvl="2" marL="566928" marR="0" rtl="0" algn="just">
              <a:lnSpc>
                <a:spcPct val="100000"/>
              </a:lnSpc>
              <a:spcBef>
                <a:spcPts val="600"/>
              </a:spcBef>
              <a:spcAft>
                <a:spcPts val="0"/>
              </a:spcAft>
              <a:buClr>
                <a:schemeClr val="accent1"/>
              </a:buClr>
              <a:buSzPts val="1800"/>
              <a:buFont typeface="Noto Sans Symbols"/>
              <a:buChar char="⮚"/>
            </a:pPr>
            <a:r>
              <a:rPr b="0" i="0" lang="tr-TR" sz="1800" u="none" cap="none" strike="noStrike">
                <a:solidFill>
                  <a:srgbClr val="444444"/>
                </a:solidFill>
                <a:latin typeface="Times New Roman"/>
                <a:ea typeface="Times New Roman"/>
                <a:cs typeface="Times New Roman"/>
                <a:sym typeface="Times New Roman"/>
              </a:rPr>
              <a:t>Kopya yapıcı</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4"/>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Yapıcılar (Constructors)</a:t>
            </a:r>
            <a:endParaRPr b="1" i="0" sz="2000" u="none" cap="none" strike="noStrike">
              <a:solidFill>
                <a:schemeClr val="lt1"/>
              </a:solidFill>
              <a:latin typeface="Times New Roman"/>
              <a:ea typeface="Times New Roman"/>
              <a:cs typeface="Times New Roman"/>
              <a:sym typeface="Times New Roman"/>
            </a:endParaRPr>
          </a:p>
        </p:txBody>
      </p:sp>
      <p:sp>
        <p:nvSpPr>
          <p:cNvPr id="124" name="Google Shape;124;p4"/>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1" i="1" lang="tr-TR" sz="1800" u="none" cap="none" strike="noStrike">
                <a:solidFill>
                  <a:srgbClr val="444444"/>
                </a:solidFill>
                <a:latin typeface="Times New Roman"/>
                <a:ea typeface="Times New Roman"/>
                <a:cs typeface="Times New Roman"/>
                <a:sym typeface="Times New Roman"/>
              </a:rPr>
              <a:t>Varsayılan Yapıcı : </a:t>
            </a:r>
            <a:r>
              <a:rPr b="0" i="0" lang="tr-TR" sz="1800" u="none" cap="none" strike="noStrike">
                <a:solidFill>
                  <a:srgbClr val="444444"/>
                </a:solidFill>
                <a:latin typeface="Times New Roman"/>
                <a:ea typeface="Times New Roman"/>
                <a:cs typeface="Times New Roman"/>
                <a:sym typeface="Times New Roman"/>
              </a:rPr>
              <a:t>Parametre kabul etmeyen bir yapıcı, varsayılan yapıcı olarak bilinir. Hiçbir yapıcı tanımlanmamışsa, derleyici varsayılan bir yapıcı sağlar.</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rPr b="1" i="1" lang="tr-TR" sz="1800" u="none" cap="none" strike="noStrike">
                <a:solidFill>
                  <a:srgbClr val="444444"/>
                </a:solidFill>
                <a:latin typeface="Times New Roman"/>
                <a:ea typeface="Times New Roman"/>
                <a:cs typeface="Times New Roman"/>
                <a:sym typeface="Times New Roman"/>
              </a:rPr>
              <a:t>Parametreli yapıcı: </a:t>
            </a:r>
            <a:r>
              <a:rPr b="0" i="0" lang="tr-TR" sz="1800" u="none" cap="none" strike="noStrike">
                <a:solidFill>
                  <a:srgbClr val="444444"/>
                </a:solidFill>
                <a:latin typeface="Times New Roman"/>
                <a:ea typeface="Times New Roman"/>
                <a:cs typeface="Times New Roman"/>
                <a:sym typeface="Times New Roman"/>
              </a:rPr>
              <a:t>Bağımsız değişkenleri/parametreleri alan bir yapıcıdır. </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1" i="1"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rPr b="1" i="1" lang="tr-TR" sz="1800" u="none" cap="none" strike="noStrike">
                <a:solidFill>
                  <a:srgbClr val="444444"/>
                </a:solidFill>
                <a:latin typeface="Times New Roman"/>
                <a:ea typeface="Times New Roman"/>
                <a:cs typeface="Times New Roman"/>
                <a:sym typeface="Times New Roman"/>
              </a:rPr>
              <a:t>Kopya Yapıcı: </a:t>
            </a:r>
            <a:r>
              <a:rPr b="0" i="0" lang="tr-TR" sz="1800" u="none" cap="none" strike="noStrike">
                <a:solidFill>
                  <a:srgbClr val="444444"/>
                </a:solidFill>
                <a:latin typeface="Times New Roman"/>
                <a:ea typeface="Times New Roman"/>
                <a:cs typeface="Times New Roman"/>
                <a:sym typeface="Times New Roman"/>
              </a:rPr>
              <a:t>Bir nesneyi parametre olarak kendisine iletilen başka bir nesnenin değerlerini kullanarak başlatan bir yapıcıya kopya yapıcı denir. Aktarılan nesnenin kopyasını oluşturur.</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Farklı özelliklere sahip olmaları koşuluyla, aynı sınıfın birden çok yapıcısı olabilir.</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125" name="Google Shape;125;p4"/>
          <p:cNvSpPr txBox="1"/>
          <p:nvPr/>
        </p:nvSpPr>
        <p:spPr>
          <a:xfrm>
            <a:off x="1775626" y="1272948"/>
            <a:ext cx="194204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400">
                <a:solidFill>
                  <a:srgbClr val="2B91AF"/>
                </a:solidFill>
                <a:latin typeface="Consolas"/>
                <a:ea typeface="Consolas"/>
                <a:cs typeface="Consolas"/>
                <a:sym typeface="Consolas"/>
              </a:rPr>
              <a:t>daire</a:t>
            </a:r>
            <a:r>
              <a:rPr lang="tr-TR" sz="1400">
                <a:solidFill>
                  <a:srgbClr val="000000"/>
                </a:solidFill>
                <a:latin typeface="Consolas"/>
                <a:ea typeface="Consolas"/>
                <a:cs typeface="Consolas"/>
                <a:sym typeface="Consolas"/>
              </a:rPr>
              <a:t>::daire()</a:t>
            </a:r>
            <a:endParaRPr/>
          </a:p>
          <a:p>
            <a:pPr indent="0" lvl="0" marL="0" marR="0" rtl="0" algn="l">
              <a:spcBef>
                <a:spcPts val="0"/>
              </a:spcBef>
              <a:spcAft>
                <a:spcPts val="0"/>
              </a:spcAft>
              <a:buNone/>
            </a:pPr>
            <a:r>
              <a:rPr lang="tr-TR" sz="14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tr-TR" sz="1400">
                <a:solidFill>
                  <a:srgbClr val="000000"/>
                </a:solidFill>
                <a:latin typeface="Consolas"/>
                <a:ea typeface="Consolas"/>
                <a:cs typeface="Consolas"/>
                <a:sym typeface="Consolas"/>
              </a:rPr>
              <a:t>	yaricap = 0;</a:t>
            </a:r>
            <a:endParaRPr/>
          </a:p>
          <a:p>
            <a:pPr indent="0" lvl="0" marL="0" marR="0" rtl="0" algn="l">
              <a:spcBef>
                <a:spcPts val="0"/>
              </a:spcBef>
              <a:spcAft>
                <a:spcPts val="0"/>
              </a:spcAft>
              <a:buNone/>
            </a:pPr>
            <a:r>
              <a:rPr lang="tr-TR" sz="1400">
                <a:solidFill>
                  <a:srgbClr val="000000"/>
                </a:solidFill>
                <a:latin typeface="Consolas"/>
                <a:ea typeface="Consolas"/>
                <a:cs typeface="Consolas"/>
                <a:sym typeface="Consolas"/>
              </a:rPr>
              <a:t>}</a:t>
            </a:r>
            <a:endParaRPr sz="1400">
              <a:solidFill>
                <a:schemeClr val="lt1"/>
              </a:solidFill>
              <a:latin typeface="Calibri"/>
              <a:ea typeface="Calibri"/>
              <a:cs typeface="Calibri"/>
              <a:sym typeface="Calibri"/>
            </a:endParaRPr>
          </a:p>
        </p:txBody>
      </p:sp>
      <p:sp>
        <p:nvSpPr>
          <p:cNvPr id="126" name="Google Shape;126;p4"/>
          <p:cNvSpPr txBox="1"/>
          <p:nvPr/>
        </p:nvSpPr>
        <p:spPr>
          <a:xfrm>
            <a:off x="1759199" y="2811866"/>
            <a:ext cx="2739059"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400">
                <a:solidFill>
                  <a:srgbClr val="2B91AF"/>
                </a:solidFill>
                <a:latin typeface="Consolas"/>
                <a:ea typeface="Consolas"/>
                <a:cs typeface="Consolas"/>
                <a:sym typeface="Consolas"/>
              </a:rPr>
              <a:t>daire</a:t>
            </a:r>
            <a:r>
              <a:rPr lang="tr-TR" sz="1400">
                <a:solidFill>
                  <a:srgbClr val="000000"/>
                </a:solidFill>
                <a:latin typeface="Consolas"/>
                <a:ea typeface="Consolas"/>
                <a:cs typeface="Consolas"/>
                <a:sym typeface="Consolas"/>
              </a:rPr>
              <a:t>::daire(</a:t>
            </a:r>
            <a:r>
              <a:rPr lang="tr-TR" sz="1400">
                <a:solidFill>
                  <a:srgbClr val="0000FF"/>
                </a:solidFill>
                <a:latin typeface="Consolas"/>
                <a:ea typeface="Consolas"/>
                <a:cs typeface="Consolas"/>
                <a:sym typeface="Consolas"/>
              </a:rPr>
              <a:t>double</a:t>
            </a:r>
            <a:r>
              <a:rPr lang="tr-TR" sz="1400">
                <a:solidFill>
                  <a:srgbClr val="000000"/>
                </a:solidFill>
                <a:latin typeface="Consolas"/>
                <a:ea typeface="Consolas"/>
                <a:cs typeface="Consolas"/>
                <a:sym typeface="Consolas"/>
              </a:rPr>
              <a:t> </a:t>
            </a:r>
            <a:r>
              <a:rPr lang="tr-TR" sz="1400">
                <a:solidFill>
                  <a:srgbClr val="808080"/>
                </a:solidFill>
                <a:latin typeface="Consolas"/>
                <a:ea typeface="Consolas"/>
                <a:cs typeface="Consolas"/>
                <a:sym typeface="Consolas"/>
              </a:rPr>
              <a:t>r</a:t>
            </a:r>
            <a:r>
              <a:rPr lang="tr-TR" sz="14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tr-TR" sz="14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tr-TR" sz="1400">
                <a:solidFill>
                  <a:srgbClr val="000000"/>
                </a:solidFill>
                <a:latin typeface="Consolas"/>
                <a:ea typeface="Consolas"/>
                <a:cs typeface="Consolas"/>
                <a:sym typeface="Consolas"/>
              </a:rPr>
              <a:t>yaricap = </a:t>
            </a:r>
            <a:r>
              <a:rPr lang="tr-TR" sz="1400">
                <a:solidFill>
                  <a:srgbClr val="808080"/>
                </a:solidFill>
                <a:latin typeface="Consolas"/>
                <a:ea typeface="Consolas"/>
                <a:cs typeface="Consolas"/>
                <a:sym typeface="Consolas"/>
              </a:rPr>
              <a:t>r</a:t>
            </a:r>
            <a:r>
              <a:rPr lang="tr-TR" sz="14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tr-TR" sz="1400">
                <a:solidFill>
                  <a:srgbClr val="000000"/>
                </a:solidFill>
                <a:latin typeface="Consolas"/>
                <a:ea typeface="Consolas"/>
                <a:cs typeface="Consolas"/>
                <a:sym typeface="Consolas"/>
              </a:rPr>
              <a:t>}</a:t>
            </a:r>
            <a:endParaRPr sz="1400">
              <a:solidFill>
                <a:schemeClr val="lt1"/>
              </a:solidFill>
              <a:latin typeface="Calibri"/>
              <a:ea typeface="Calibri"/>
              <a:cs typeface="Calibri"/>
              <a:sym typeface="Calibri"/>
            </a:endParaRPr>
          </a:p>
        </p:txBody>
      </p:sp>
      <p:sp>
        <p:nvSpPr>
          <p:cNvPr id="127" name="Google Shape;127;p4"/>
          <p:cNvSpPr txBox="1"/>
          <p:nvPr/>
        </p:nvSpPr>
        <p:spPr>
          <a:xfrm>
            <a:off x="1759199" y="4681514"/>
            <a:ext cx="6111380" cy="95410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400">
                <a:solidFill>
                  <a:srgbClr val="2B91AF"/>
                </a:solidFill>
                <a:latin typeface="Consolas"/>
                <a:ea typeface="Consolas"/>
                <a:cs typeface="Consolas"/>
                <a:sym typeface="Consolas"/>
              </a:rPr>
              <a:t>daire</a:t>
            </a:r>
            <a:r>
              <a:rPr lang="tr-TR" sz="1400">
                <a:solidFill>
                  <a:srgbClr val="000000"/>
                </a:solidFill>
                <a:latin typeface="Consolas"/>
                <a:ea typeface="Consolas"/>
                <a:cs typeface="Consolas"/>
                <a:sym typeface="Consolas"/>
              </a:rPr>
              <a:t>::daire(</a:t>
            </a:r>
            <a:r>
              <a:rPr lang="tr-TR" sz="1400">
                <a:solidFill>
                  <a:srgbClr val="2B91AF"/>
                </a:solidFill>
                <a:latin typeface="Consolas"/>
                <a:ea typeface="Consolas"/>
                <a:cs typeface="Consolas"/>
                <a:sym typeface="Consolas"/>
              </a:rPr>
              <a:t>daire</a:t>
            </a:r>
            <a:r>
              <a:rPr lang="tr-TR" sz="1400">
                <a:solidFill>
                  <a:srgbClr val="000000"/>
                </a:solidFill>
                <a:latin typeface="Consolas"/>
                <a:ea typeface="Consolas"/>
                <a:cs typeface="Consolas"/>
                <a:sym typeface="Consolas"/>
              </a:rPr>
              <a:t> &amp;</a:t>
            </a:r>
            <a:r>
              <a:rPr lang="tr-TR" sz="1400">
                <a:solidFill>
                  <a:srgbClr val="808080"/>
                </a:solidFill>
                <a:latin typeface="Consolas"/>
                <a:ea typeface="Consolas"/>
                <a:cs typeface="Consolas"/>
                <a:sym typeface="Consolas"/>
              </a:rPr>
              <a:t>t</a:t>
            </a:r>
            <a:r>
              <a:rPr lang="tr-TR" sz="14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tr-TR" sz="14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tr-TR" sz="1400">
                <a:solidFill>
                  <a:srgbClr val="000000"/>
                </a:solidFill>
                <a:latin typeface="Consolas"/>
                <a:ea typeface="Consolas"/>
                <a:cs typeface="Consolas"/>
                <a:sym typeface="Consolas"/>
              </a:rPr>
              <a:t>yaricap = </a:t>
            </a:r>
            <a:r>
              <a:rPr lang="tr-TR" sz="1400">
                <a:solidFill>
                  <a:srgbClr val="808080"/>
                </a:solidFill>
                <a:latin typeface="Consolas"/>
                <a:ea typeface="Consolas"/>
                <a:cs typeface="Consolas"/>
                <a:sym typeface="Consolas"/>
              </a:rPr>
              <a:t>t</a:t>
            </a:r>
            <a:r>
              <a:rPr lang="tr-TR" sz="1400">
                <a:solidFill>
                  <a:srgbClr val="000000"/>
                </a:solidFill>
                <a:latin typeface="Consolas"/>
                <a:ea typeface="Consolas"/>
                <a:cs typeface="Consolas"/>
                <a:sym typeface="Consolas"/>
              </a:rPr>
              <a:t>.yaricap;</a:t>
            </a:r>
            <a:endParaRPr/>
          </a:p>
          <a:p>
            <a:pPr indent="0" lvl="0" marL="0" marR="0" rtl="0" algn="l">
              <a:spcBef>
                <a:spcPts val="0"/>
              </a:spcBef>
              <a:spcAft>
                <a:spcPts val="0"/>
              </a:spcAft>
              <a:buNone/>
            </a:pPr>
            <a:r>
              <a:rPr lang="tr-TR" sz="1400">
                <a:solidFill>
                  <a:srgbClr val="000000"/>
                </a:solidFill>
                <a:latin typeface="Consolas"/>
                <a:ea typeface="Consolas"/>
                <a:cs typeface="Consolas"/>
                <a:sym typeface="Consolas"/>
              </a:rPr>
              <a:t>}</a:t>
            </a:r>
            <a:endParaRPr sz="1400">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Parametreli Yapıcılar Kullanarak Doğrudan ve Tek Tip Başlatma</a:t>
            </a:r>
            <a:endParaRPr b="1" i="0" sz="2000" u="none" cap="none" strike="noStrike">
              <a:solidFill>
                <a:schemeClr val="lt1"/>
              </a:solidFill>
              <a:latin typeface="Times New Roman"/>
              <a:ea typeface="Times New Roman"/>
              <a:cs typeface="Times New Roman"/>
              <a:sym typeface="Times New Roman"/>
            </a:endParaRPr>
          </a:p>
        </p:txBody>
      </p:sp>
      <p:sp>
        <p:nvSpPr>
          <p:cNvPr id="133" name="Google Shape;133;p5"/>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Varsayılan yapıcı, sınıflarımızın makul varsayılan değerlerle başlatılmasını sağlamak için kullanılıyor olsa da, çoğu zaman sınıfın örneklerinin belirli değerlere sahip olmasını isteriz.  </a:t>
            </a:r>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Bir bölme işlemi için pay ve payda ilk değerlerini belirlemek için kullanılan iki tamsayı parametresini alan bir yapıcı örneği aşağıdaki gibidir:</a:t>
            </a:r>
            <a:endParaRPr/>
          </a:p>
        </p:txBody>
      </p:sp>
      <p:sp>
        <p:nvSpPr>
          <p:cNvPr id="134" name="Google Shape;134;p5"/>
          <p:cNvSpPr txBox="1"/>
          <p:nvPr/>
        </p:nvSpPr>
        <p:spPr>
          <a:xfrm>
            <a:off x="6016551" y="2055141"/>
            <a:ext cx="6127954" cy="2585323"/>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Bu örnekte iki yapıcı vardır:  </a:t>
            </a:r>
            <a:endParaRPr/>
          </a:p>
          <a:p>
            <a:pPr indent="-285750" lvl="0" marL="285750" marR="0" rtl="0" algn="just">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varsayılan durumda çağrılacak bir varsayılan yapıcı </a:t>
            </a:r>
            <a:endParaRPr/>
          </a:p>
          <a:p>
            <a:pPr indent="-285750" lvl="0" marL="285750" marR="0" rtl="0" algn="just">
              <a:spcBef>
                <a:spcPts val="0"/>
              </a:spcBef>
              <a:spcAft>
                <a:spcPts val="0"/>
              </a:spcAft>
              <a:buClr>
                <a:schemeClr val="lt1"/>
              </a:buClr>
              <a:buSzPts val="1800"/>
              <a:buFont typeface="Noto Sans Symbols"/>
              <a:buChar char="⮚"/>
            </a:pPr>
            <a:r>
              <a:rPr lang="tr-TR" sz="1800">
                <a:solidFill>
                  <a:schemeClr val="lt1"/>
                </a:solidFill>
                <a:latin typeface="Times New Roman"/>
                <a:ea typeface="Times New Roman"/>
                <a:cs typeface="Times New Roman"/>
                <a:sym typeface="Times New Roman"/>
              </a:rPr>
              <a:t>iki parametre alan ikinci bir yapıcı. </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Bu iki yapıcı, fonksiyon aşırı yüklemesi (bahsedilecek) nedeniyle aynı sınıfta bir arada var olabilir. </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Aslında, her birinin benzersiz bir imzası (parametre sayısı ve türü) olduğu sürece, istediğimiz kadar yapıcı tanımlanabilir.</a:t>
            </a:r>
            <a:endParaRPr/>
          </a:p>
        </p:txBody>
      </p:sp>
      <p:pic>
        <p:nvPicPr>
          <p:cNvPr descr="Download Exclamation Text Brand Encapsulated Mark Postscript Cartoon HQ PNG  Image | FreePNGImg" id="135" name="Google Shape;135;p5"/>
          <p:cNvPicPr preferRelativeResize="0"/>
          <p:nvPr/>
        </p:nvPicPr>
        <p:blipFill rotWithShape="1">
          <a:blip r:embed="rId3">
            <a:alphaModFix/>
          </a:blip>
          <a:srcRect b="0" l="0" r="0" t="0"/>
          <a:stretch/>
        </p:blipFill>
        <p:spPr>
          <a:xfrm>
            <a:off x="5702761" y="4640464"/>
            <a:ext cx="1008168" cy="1008168"/>
          </a:xfrm>
          <a:prstGeom prst="rect">
            <a:avLst/>
          </a:prstGeom>
          <a:noFill/>
          <a:ln>
            <a:noFill/>
          </a:ln>
        </p:spPr>
      </p:pic>
      <p:sp>
        <p:nvSpPr>
          <p:cNvPr id="136" name="Google Shape;136;p5"/>
          <p:cNvSpPr txBox="1"/>
          <p:nvPr/>
        </p:nvSpPr>
        <p:spPr>
          <a:xfrm>
            <a:off x="6710929" y="4682964"/>
            <a:ext cx="5481071"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tr-TR" sz="1800">
                <a:solidFill>
                  <a:srgbClr val="593470"/>
                </a:solidFill>
                <a:latin typeface="Times New Roman"/>
                <a:ea typeface="Times New Roman"/>
                <a:cs typeface="Times New Roman"/>
                <a:sym typeface="Times New Roman"/>
              </a:rPr>
              <a:t>assert() </a:t>
            </a:r>
            <a:r>
              <a:rPr lang="tr-TR" sz="1800">
                <a:solidFill>
                  <a:schemeClr val="lt1"/>
                </a:solidFill>
                <a:latin typeface="Times New Roman"/>
                <a:ea typeface="Times New Roman"/>
                <a:cs typeface="Times New Roman"/>
                <a:sym typeface="Times New Roman"/>
              </a:rPr>
              <a:t>fonksiyonu: programda ayarlanan belirli varsayımları test etmede kullanılan bir makrodur. assert() deyimindeki koşullu ifade true ise, program nıormal olarak devam eder. Aksi halde hata mesajı vererek program sonlanır.  &lt;cassert&gt; başlık dosyası ile çalışır.</a:t>
            </a:r>
            <a:endParaRPr/>
          </a:p>
        </p:txBody>
      </p:sp>
      <p:pic>
        <p:nvPicPr>
          <p:cNvPr id="137" name="Google Shape;137;p5"/>
          <p:cNvPicPr preferRelativeResize="0"/>
          <p:nvPr/>
        </p:nvPicPr>
        <p:blipFill rotWithShape="1">
          <a:blip r:embed="rId4">
            <a:alphaModFix/>
          </a:blip>
          <a:srcRect b="0" l="0" r="0" t="0"/>
          <a:stretch/>
        </p:blipFill>
        <p:spPr>
          <a:xfrm>
            <a:off x="347944" y="2055141"/>
            <a:ext cx="5354817" cy="3960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Parametreli Yapıcılar Kullanarak Doğrudan ve Tek Tip Başlatma</a:t>
            </a:r>
            <a:endParaRPr b="1" i="0" sz="2000" u="none" cap="none" strike="noStrike">
              <a:solidFill>
                <a:schemeClr val="lt1"/>
              </a:solidFill>
              <a:latin typeface="Times New Roman"/>
              <a:ea typeface="Times New Roman"/>
              <a:cs typeface="Times New Roman"/>
              <a:sym typeface="Times New Roman"/>
            </a:endParaRPr>
          </a:p>
        </p:txBody>
      </p:sp>
      <p:sp>
        <p:nvSpPr>
          <p:cNvPr id="143" name="Google Shape;143;p6"/>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Liste veya doğrudan ilk değer atama yoluyla yapıcı fonksiyonları kullanabiliriz. </a:t>
            </a:r>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Bu örnek için, main() fonksiyonu içerisinde aşağıdaki gibi yapıcıları kullanmak mümkündür:</a:t>
            </a:r>
            <a:endParaRPr/>
          </a:p>
        </p:txBody>
      </p:sp>
      <p:sp>
        <p:nvSpPr>
          <p:cNvPr id="144" name="Google Shape;144;p6"/>
          <p:cNvSpPr txBox="1"/>
          <p:nvPr/>
        </p:nvSpPr>
        <p:spPr>
          <a:xfrm>
            <a:off x="1295202" y="5628747"/>
            <a:ext cx="7545262" cy="369332"/>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tr-TR" sz="1800">
                <a:solidFill>
                  <a:srgbClr val="444444"/>
                </a:solidFill>
                <a:latin typeface="Times New Roman"/>
                <a:ea typeface="Times New Roman"/>
                <a:cs typeface="Times New Roman"/>
                <a:sym typeface="Times New Roman"/>
              </a:rPr>
              <a:t>Sınıf nesnelerini başlatmada küme parantezi ile başlatma önerilir. </a:t>
            </a:r>
            <a:endParaRPr/>
          </a:p>
        </p:txBody>
      </p:sp>
      <p:pic>
        <p:nvPicPr>
          <p:cNvPr id="145" name="Google Shape;145;p6"/>
          <p:cNvPicPr preferRelativeResize="0"/>
          <p:nvPr/>
        </p:nvPicPr>
        <p:blipFill rotWithShape="1">
          <a:blip r:embed="rId3">
            <a:alphaModFix/>
          </a:blip>
          <a:srcRect b="0" l="0" r="0" t="0"/>
          <a:stretch/>
        </p:blipFill>
        <p:spPr>
          <a:xfrm>
            <a:off x="2268174" y="1492530"/>
            <a:ext cx="5730368" cy="3783831"/>
          </a:xfrm>
          <a:prstGeom prst="rect">
            <a:avLst/>
          </a:prstGeom>
          <a:noFill/>
          <a:ln>
            <a:noFill/>
          </a:ln>
        </p:spPr>
      </p:pic>
      <p:pic>
        <p:nvPicPr>
          <p:cNvPr descr="Tick Icon Png Transparent Images – Free PNG Images Vector, PSD, Clipart,  Templates" id="146" name="Google Shape;146;p6"/>
          <p:cNvPicPr preferRelativeResize="0"/>
          <p:nvPr/>
        </p:nvPicPr>
        <p:blipFill rotWithShape="1">
          <a:blip r:embed="rId4">
            <a:alphaModFix/>
          </a:blip>
          <a:srcRect b="0" l="0" r="0" t="0"/>
          <a:stretch/>
        </p:blipFill>
        <p:spPr>
          <a:xfrm>
            <a:off x="168378" y="5114110"/>
            <a:ext cx="1056272" cy="1369142"/>
          </a:xfrm>
          <a:prstGeom prst="rect">
            <a:avLst/>
          </a:prstGeom>
          <a:noFill/>
          <a:ln>
            <a:noFill/>
          </a:ln>
        </p:spPr>
      </p:pic>
      <p:pic>
        <p:nvPicPr>
          <p:cNvPr id="147" name="Google Shape;147;p6"/>
          <p:cNvPicPr preferRelativeResize="0"/>
          <p:nvPr/>
        </p:nvPicPr>
        <p:blipFill rotWithShape="1">
          <a:blip r:embed="rId5">
            <a:alphaModFix/>
          </a:blip>
          <a:srcRect b="0" l="8400" r="0" t="0"/>
          <a:stretch/>
        </p:blipFill>
        <p:spPr>
          <a:xfrm>
            <a:off x="8514872" y="2782031"/>
            <a:ext cx="717618" cy="951297"/>
          </a:xfrm>
          <a:prstGeom prst="rect">
            <a:avLst/>
          </a:prstGeom>
          <a:noFill/>
          <a:ln>
            <a:noFill/>
          </a:ln>
        </p:spPr>
      </p:pic>
      <p:sp>
        <p:nvSpPr>
          <p:cNvPr id="148" name="Google Shape;148;p6"/>
          <p:cNvSpPr txBox="1"/>
          <p:nvPr/>
        </p:nvSpPr>
        <p:spPr>
          <a:xfrm>
            <a:off x="8406581" y="2412699"/>
            <a:ext cx="15172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u="sng">
                <a:solidFill>
                  <a:srgbClr val="444444"/>
                </a:solidFill>
                <a:latin typeface="Times New Roman"/>
                <a:ea typeface="Times New Roman"/>
                <a:cs typeface="Times New Roman"/>
                <a:sym typeface="Times New Roman"/>
              </a:rPr>
              <a:t>Ekran çıktısı: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7"/>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Kopya İlk Değer Atama (Copy Initialization)</a:t>
            </a:r>
            <a:endParaRPr b="1" i="0" sz="2000" u="none" cap="none" strike="noStrike">
              <a:solidFill>
                <a:schemeClr val="lt1"/>
              </a:solidFill>
              <a:latin typeface="Times New Roman"/>
              <a:ea typeface="Times New Roman"/>
              <a:cs typeface="Times New Roman"/>
              <a:sym typeface="Times New Roman"/>
            </a:endParaRPr>
          </a:p>
        </p:txBody>
      </p:sp>
      <p:sp>
        <p:nvSpPr>
          <p:cNvPr id="154" name="Google Shape;154;p7"/>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155" name="Google Shape;155;p7"/>
          <p:cNvSpPr txBox="1"/>
          <p:nvPr/>
        </p:nvSpPr>
        <p:spPr>
          <a:xfrm>
            <a:off x="1295202" y="2753659"/>
            <a:ext cx="10804519" cy="92333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tr-TR" sz="1800">
                <a:solidFill>
                  <a:srgbClr val="444444"/>
                </a:solidFill>
                <a:latin typeface="Times New Roman"/>
                <a:ea typeface="Times New Roman"/>
                <a:cs typeface="Times New Roman"/>
                <a:sym typeface="Times New Roman"/>
              </a:rPr>
              <a:t>Bununla birlikte, daha az verimli olabileceğinden, sınıflarla bu başlatma biçiminden kaçınılması önerilir. </a:t>
            </a:r>
            <a:endParaRPr/>
          </a:p>
          <a:p>
            <a:pPr indent="0" lvl="0" marL="0" marR="0" rtl="0" algn="just">
              <a:spcBef>
                <a:spcPts val="0"/>
              </a:spcBef>
              <a:spcAft>
                <a:spcPts val="0"/>
              </a:spcAft>
              <a:buNone/>
            </a:pPr>
            <a:r>
              <a:rPr lang="tr-TR" sz="1800">
                <a:solidFill>
                  <a:srgbClr val="444444"/>
                </a:solidFill>
                <a:latin typeface="Times New Roman"/>
                <a:ea typeface="Times New Roman"/>
                <a:cs typeface="Times New Roman"/>
                <a:sym typeface="Times New Roman"/>
              </a:rPr>
              <a:t>Doğrudan başlatma, tek tip başlatma ve kopya başlatma, temel türlerle aynı şekilde çalışsa da, kopya başlatma sınıflarla aynı şekilde çalışmaz (ancak sonuç genellikle aynıdır). (İlerde değinilecektir)</a:t>
            </a:r>
            <a:endParaRPr/>
          </a:p>
        </p:txBody>
      </p:sp>
      <p:pic>
        <p:nvPicPr>
          <p:cNvPr descr="Tick Icon Png Transparent Images – Free PNG Images Vector, PSD, Clipart,  Templates" id="156" name="Google Shape;156;p7"/>
          <p:cNvPicPr preferRelativeResize="0"/>
          <p:nvPr/>
        </p:nvPicPr>
        <p:blipFill rotWithShape="1">
          <a:blip r:embed="rId3">
            <a:alphaModFix/>
          </a:blip>
          <a:srcRect b="0" l="0" r="0" t="0"/>
          <a:stretch/>
        </p:blipFill>
        <p:spPr>
          <a:xfrm>
            <a:off x="238930" y="2530753"/>
            <a:ext cx="1056272" cy="1369142"/>
          </a:xfrm>
          <a:prstGeom prst="rect">
            <a:avLst/>
          </a:prstGeom>
          <a:noFill/>
          <a:ln>
            <a:noFill/>
          </a:ln>
        </p:spPr>
      </p:pic>
      <p:pic>
        <p:nvPicPr>
          <p:cNvPr id="157" name="Google Shape;157;p7"/>
          <p:cNvPicPr preferRelativeResize="0"/>
          <p:nvPr/>
        </p:nvPicPr>
        <p:blipFill rotWithShape="1">
          <a:blip r:embed="rId4">
            <a:alphaModFix/>
          </a:blip>
          <a:srcRect b="0" l="0" r="0" t="0"/>
          <a:stretch/>
        </p:blipFill>
        <p:spPr>
          <a:xfrm>
            <a:off x="8991143" y="1091239"/>
            <a:ext cx="513134" cy="1092909"/>
          </a:xfrm>
          <a:prstGeom prst="rect">
            <a:avLst/>
          </a:prstGeom>
          <a:noFill/>
          <a:ln>
            <a:noFill/>
          </a:ln>
        </p:spPr>
      </p:pic>
      <p:pic>
        <p:nvPicPr>
          <p:cNvPr id="158" name="Google Shape;158;p7"/>
          <p:cNvPicPr preferRelativeResize="0"/>
          <p:nvPr/>
        </p:nvPicPr>
        <p:blipFill rotWithShape="1">
          <a:blip r:embed="rId5">
            <a:alphaModFix/>
          </a:blip>
          <a:srcRect b="0" l="0" r="0" t="0"/>
          <a:stretch/>
        </p:blipFill>
        <p:spPr>
          <a:xfrm>
            <a:off x="310703" y="655789"/>
            <a:ext cx="8228613" cy="1765957"/>
          </a:xfrm>
          <a:prstGeom prst="rect">
            <a:avLst/>
          </a:prstGeom>
          <a:noFill/>
          <a:ln>
            <a:noFill/>
          </a:ln>
        </p:spPr>
      </p:pic>
      <p:sp>
        <p:nvSpPr>
          <p:cNvPr id="159" name="Google Shape;159;p7"/>
          <p:cNvSpPr txBox="1"/>
          <p:nvPr/>
        </p:nvSpPr>
        <p:spPr>
          <a:xfrm>
            <a:off x="8858407" y="634181"/>
            <a:ext cx="15480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u="sng">
                <a:solidFill>
                  <a:srgbClr val="444444"/>
                </a:solidFill>
                <a:latin typeface="Times New Roman"/>
                <a:ea typeface="Times New Roman"/>
                <a:cs typeface="Times New Roman"/>
                <a:sym typeface="Times New Roman"/>
              </a:rPr>
              <a:t>Ekran çıktısı: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8"/>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Yapıcıları Azaltmak (İndirgemek)</a:t>
            </a:r>
            <a:endParaRPr b="1" i="0" sz="2000" u="none" cap="none" strike="noStrike">
              <a:solidFill>
                <a:schemeClr val="lt1"/>
              </a:solidFill>
              <a:latin typeface="Times New Roman"/>
              <a:ea typeface="Times New Roman"/>
              <a:cs typeface="Times New Roman"/>
              <a:sym typeface="Times New Roman"/>
            </a:endParaRPr>
          </a:p>
        </p:txBody>
      </p:sp>
      <p:sp>
        <p:nvSpPr>
          <p:cNvPr id="165" name="Google Shape;165;p8"/>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166" name="Google Shape;166;p8"/>
          <p:cNvSpPr txBox="1"/>
          <p:nvPr/>
        </p:nvSpPr>
        <p:spPr>
          <a:xfrm>
            <a:off x="-16776" y="634182"/>
            <a:ext cx="12099721" cy="457200"/>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Bölme sınıfının önceki iki yapıcı bildiriminde, varsayılan yapıcı aslında biraz fazladır. Bu sınıfı şu şekilde basitleştirebiliriz:</a:t>
            </a:r>
            <a:endParaRPr b="0" i="0" sz="1800" u="none" cap="none" strike="noStrike">
              <a:solidFill>
                <a:srgbClr val="000000"/>
              </a:solidFill>
              <a:latin typeface="Consolas"/>
              <a:ea typeface="Consolas"/>
              <a:cs typeface="Consolas"/>
              <a:sym typeface="Consolas"/>
            </a:endParaRPr>
          </a:p>
        </p:txBody>
      </p:sp>
      <p:pic>
        <p:nvPicPr>
          <p:cNvPr id="167" name="Google Shape;167;p8"/>
          <p:cNvPicPr preferRelativeResize="0"/>
          <p:nvPr/>
        </p:nvPicPr>
        <p:blipFill rotWithShape="1">
          <a:blip r:embed="rId3">
            <a:alphaModFix/>
          </a:blip>
          <a:srcRect b="0" l="0" r="0" t="0"/>
          <a:stretch/>
        </p:blipFill>
        <p:spPr>
          <a:xfrm>
            <a:off x="315626" y="1091381"/>
            <a:ext cx="5652700" cy="3642851"/>
          </a:xfrm>
          <a:prstGeom prst="rect">
            <a:avLst/>
          </a:prstGeom>
          <a:noFill/>
          <a:ln>
            <a:noFill/>
          </a:ln>
        </p:spPr>
      </p:pic>
      <p:pic>
        <p:nvPicPr>
          <p:cNvPr id="168" name="Google Shape;168;p8"/>
          <p:cNvPicPr preferRelativeResize="0"/>
          <p:nvPr/>
        </p:nvPicPr>
        <p:blipFill rotWithShape="1">
          <a:blip r:embed="rId4">
            <a:alphaModFix/>
          </a:blip>
          <a:srcRect b="0" l="0" r="0" t="0"/>
          <a:stretch/>
        </p:blipFill>
        <p:spPr>
          <a:xfrm>
            <a:off x="6528822" y="1091381"/>
            <a:ext cx="4993627" cy="2768085"/>
          </a:xfrm>
          <a:prstGeom prst="rect">
            <a:avLst/>
          </a:prstGeom>
          <a:noFill/>
          <a:ln>
            <a:noFill/>
          </a:ln>
        </p:spPr>
      </p:pic>
      <p:sp>
        <p:nvSpPr>
          <p:cNvPr id="169" name="Google Shape;169;p8"/>
          <p:cNvSpPr txBox="1"/>
          <p:nvPr/>
        </p:nvSpPr>
        <p:spPr>
          <a:xfrm>
            <a:off x="6528822" y="3990777"/>
            <a:ext cx="15172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u="sng">
                <a:solidFill>
                  <a:srgbClr val="444444"/>
                </a:solidFill>
                <a:latin typeface="Times New Roman"/>
                <a:ea typeface="Times New Roman"/>
                <a:cs typeface="Times New Roman"/>
                <a:sym typeface="Times New Roman"/>
              </a:rPr>
              <a:t>Ekran çıktısı: </a:t>
            </a:r>
            <a:endParaRPr/>
          </a:p>
        </p:txBody>
      </p:sp>
      <p:pic>
        <p:nvPicPr>
          <p:cNvPr id="170" name="Google Shape;170;p8"/>
          <p:cNvPicPr preferRelativeResize="0"/>
          <p:nvPr/>
        </p:nvPicPr>
        <p:blipFill rotWithShape="1">
          <a:blip r:embed="rId5">
            <a:alphaModFix/>
          </a:blip>
          <a:srcRect b="0" l="0" r="0" t="0"/>
          <a:stretch/>
        </p:blipFill>
        <p:spPr>
          <a:xfrm>
            <a:off x="8054455" y="3990777"/>
            <a:ext cx="485843" cy="112410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Varsayılan Parametreler Hakkında Bir Hatırlatma</a:t>
            </a:r>
            <a:endParaRPr b="1" i="0" sz="2000" u="none" cap="none" strike="noStrike">
              <a:solidFill>
                <a:schemeClr val="lt1"/>
              </a:solidFill>
              <a:latin typeface="Times New Roman"/>
              <a:ea typeface="Times New Roman"/>
              <a:cs typeface="Times New Roman"/>
              <a:sym typeface="Times New Roman"/>
            </a:endParaRPr>
          </a:p>
        </p:txBody>
      </p:sp>
      <p:sp>
        <p:nvSpPr>
          <p:cNvPr id="176" name="Google Shape;176;p9"/>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177" name="Google Shape;177;p9"/>
          <p:cNvSpPr txBox="1"/>
          <p:nvPr/>
        </p:nvSpPr>
        <p:spPr>
          <a:xfrm>
            <a:off x="-16776" y="634181"/>
            <a:ext cx="12099721" cy="3834579"/>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Varsayılan parametrelerle bir fonksiyonu tanımlarken, tüm varsayılan parametreler varsayılan olmayan parametreleri izlemelidir, Yani varsayılan bir parametreden sonra varsayılan olmayan bir parametre olamaz.</a:t>
            </a:r>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Bu, farklı türlerde birden çok varsayılan parametresi olan sınıflar için beklenmeyen sonuçlar üretebilir. </a:t>
            </a:r>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Yani;</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000000"/>
              </a:solidFill>
              <a:latin typeface="Consolas"/>
              <a:ea typeface="Consolas"/>
              <a:cs typeface="Consolas"/>
              <a:sym typeface="Consolas"/>
            </a:endParaRPr>
          </a:p>
        </p:txBody>
      </p:sp>
      <p:pic>
        <p:nvPicPr>
          <p:cNvPr id="178" name="Google Shape;178;p9"/>
          <p:cNvPicPr preferRelativeResize="0"/>
          <p:nvPr/>
        </p:nvPicPr>
        <p:blipFill rotWithShape="1">
          <a:blip r:embed="rId3">
            <a:alphaModFix/>
          </a:blip>
          <a:srcRect b="0" l="0" r="0" t="0"/>
          <a:stretch/>
        </p:blipFill>
        <p:spPr>
          <a:xfrm>
            <a:off x="943897" y="2281546"/>
            <a:ext cx="10304205" cy="437442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0"/>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Varsayılan Parametreler Hakkında Bir Hatırlatma</a:t>
            </a:r>
            <a:endParaRPr b="1" i="0" sz="2000" u="none" cap="none" strike="noStrike">
              <a:solidFill>
                <a:schemeClr val="lt1"/>
              </a:solidFill>
              <a:latin typeface="Times New Roman"/>
              <a:ea typeface="Times New Roman"/>
              <a:cs typeface="Times New Roman"/>
              <a:sym typeface="Times New Roman"/>
            </a:endParaRPr>
          </a:p>
        </p:txBody>
      </p:sp>
      <p:sp>
        <p:nvSpPr>
          <p:cNvPr id="184" name="Google Shape;184;p10"/>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185" name="Google Shape;185;p10"/>
          <p:cNvSpPr txBox="1"/>
          <p:nvPr/>
        </p:nvSpPr>
        <p:spPr>
          <a:xfrm>
            <a:off x="-16776" y="634181"/>
            <a:ext cx="12099721" cy="3834579"/>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Bu durumu çözmek için, ikinci bir varsayılan yapıcı eklemek gerekir: </a:t>
            </a:r>
            <a:endParaRPr b="0" i="0" sz="1800" u="none" cap="none" strike="noStrike">
              <a:solidFill>
                <a:srgbClr val="000000"/>
              </a:solidFill>
              <a:latin typeface="Consolas"/>
              <a:ea typeface="Consolas"/>
              <a:cs typeface="Consolas"/>
              <a:sym typeface="Consolas"/>
            </a:endParaRPr>
          </a:p>
        </p:txBody>
      </p:sp>
      <p:pic>
        <p:nvPicPr>
          <p:cNvPr id="186" name="Google Shape;186;p10"/>
          <p:cNvPicPr preferRelativeResize="0"/>
          <p:nvPr/>
        </p:nvPicPr>
        <p:blipFill rotWithShape="1">
          <a:blip r:embed="rId3">
            <a:alphaModFix/>
          </a:blip>
          <a:srcRect b="0" l="0" r="0" t="0"/>
          <a:stretch/>
        </p:blipFill>
        <p:spPr>
          <a:xfrm>
            <a:off x="785670" y="1053336"/>
            <a:ext cx="10201879" cy="5297130"/>
          </a:xfrm>
          <a:prstGeom prst="rect">
            <a:avLst/>
          </a:prstGeom>
          <a:noFill/>
          <a:ln>
            <a:noFill/>
          </a:ln>
        </p:spPr>
      </p:pic>
      <p:sp>
        <p:nvSpPr>
          <p:cNvPr id="187" name="Google Shape;187;p10"/>
          <p:cNvSpPr/>
          <p:nvPr/>
        </p:nvSpPr>
        <p:spPr>
          <a:xfrm>
            <a:off x="1253615" y="3259449"/>
            <a:ext cx="2153265" cy="884903"/>
          </a:xfrm>
          <a:prstGeom prst="rect">
            <a:avLst/>
          </a:prstGeom>
          <a:noFill/>
          <a:ln cap="flat" cmpd="sng" w="381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1"/>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Kapalı Olarak Oluşturulan Varsayılan Yapıcı</a:t>
            </a:r>
            <a:endParaRPr b="1" i="0" sz="2000" u="none" cap="none" strike="noStrike">
              <a:solidFill>
                <a:schemeClr val="lt1"/>
              </a:solidFill>
              <a:latin typeface="Times New Roman"/>
              <a:ea typeface="Times New Roman"/>
              <a:cs typeface="Times New Roman"/>
              <a:sym typeface="Times New Roman"/>
            </a:endParaRPr>
          </a:p>
        </p:txBody>
      </p:sp>
      <p:sp>
        <p:nvSpPr>
          <p:cNvPr id="193" name="Google Shape;193;p11"/>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194" name="Google Shape;194;p11"/>
          <p:cNvSpPr txBox="1"/>
          <p:nvPr/>
        </p:nvSpPr>
        <p:spPr>
          <a:xfrm>
            <a:off x="-16776" y="634181"/>
            <a:ext cx="12099721" cy="3834579"/>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Eğer sınıfımızın bir yapıcısı yoksa, C++ otomatik olarak genel bir varsayılan yapıcı oluşturur. </a:t>
            </a:r>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Buna </a:t>
            </a:r>
            <a:r>
              <a:rPr b="1" i="1" lang="tr-TR" sz="1800" u="none" cap="none" strike="noStrike">
                <a:solidFill>
                  <a:srgbClr val="593470"/>
                </a:solidFill>
                <a:latin typeface="Times New Roman"/>
                <a:ea typeface="Times New Roman"/>
                <a:cs typeface="Times New Roman"/>
                <a:sym typeface="Times New Roman"/>
              </a:rPr>
              <a:t>kapalı (implicit) yapıcı </a:t>
            </a:r>
            <a:r>
              <a:rPr b="0" i="0" lang="tr-TR" sz="1800" u="none" cap="none" strike="noStrike">
                <a:solidFill>
                  <a:srgbClr val="444444"/>
                </a:solidFill>
                <a:latin typeface="Times New Roman"/>
                <a:ea typeface="Times New Roman"/>
                <a:cs typeface="Times New Roman"/>
                <a:sym typeface="Times New Roman"/>
              </a:rPr>
              <a:t>veya </a:t>
            </a:r>
            <a:r>
              <a:rPr b="1" i="1" lang="tr-TR" sz="1800" u="none" cap="none" strike="noStrike">
                <a:solidFill>
                  <a:srgbClr val="593470"/>
                </a:solidFill>
                <a:latin typeface="Times New Roman"/>
                <a:ea typeface="Times New Roman"/>
                <a:cs typeface="Times New Roman"/>
                <a:sym typeface="Times New Roman"/>
              </a:rPr>
              <a:t>kapalı olarak (implicitly) oluşturulmuş yapıcı </a:t>
            </a:r>
            <a:r>
              <a:rPr b="0" i="0" lang="tr-TR" sz="1800" u="none" cap="none" strike="noStrike">
                <a:solidFill>
                  <a:srgbClr val="444444"/>
                </a:solidFill>
                <a:latin typeface="Times New Roman"/>
                <a:ea typeface="Times New Roman"/>
                <a:cs typeface="Times New Roman"/>
                <a:sym typeface="Times New Roman"/>
              </a:rPr>
              <a:t>adı verilir.</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Örneğin; </a:t>
            </a:r>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 </a:t>
            </a:r>
            <a:endParaRPr b="0" i="0" sz="1800" u="none" cap="none" strike="noStrike">
              <a:solidFill>
                <a:srgbClr val="000000"/>
              </a:solidFill>
              <a:latin typeface="Consolas"/>
              <a:ea typeface="Consolas"/>
              <a:cs typeface="Consolas"/>
              <a:sym typeface="Consolas"/>
            </a:endParaRPr>
          </a:p>
        </p:txBody>
      </p:sp>
      <p:pic>
        <p:nvPicPr>
          <p:cNvPr id="195" name="Google Shape;195;p11"/>
          <p:cNvPicPr preferRelativeResize="0"/>
          <p:nvPr/>
        </p:nvPicPr>
        <p:blipFill rotWithShape="1">
          <a:blip r:embed="rId3">
            <a:alphaModFix/>
          </a:blip>
          <a:srcRect b="0" l="0" r="0" t="0"/>
          <a:stretch/>
        </p:blipFill>
        <p:spPr>
          <a:xfrm>
            <a:off x="399560" y="2145256"/>
            <a:ext cx="4832258" cy="2061618"/>
          </a:xfrm>
          <a:prstGeom prst="rect">
            <a:avLst/>
          </a:prstGeom>
          <a:noFill/>
          <a:ln>
            <a:noFill/>
          </a:ln>
        </p:spPr>
      </p:pic>
      <p:sp>
        <p:nvSpPr>
          <p:cNvPr id="196" name="Google Shape;196;p11"/>
          <p:cNvSpPr/>
          <p:nvPr/>
        </p:nvSpPr>
        <p:spPr>
          <a:xfrm>
            <a:off x="6417235" y="2145256"/>
            <a:ext cx="5678292" cy="2457735"/>
          </a:xfrm>
          <a:prstGeom prst="rect">
            <a:avLst/>
          </a:prstGeom>
          <a:solidFill>
            <a:srgbClr val="F8F9FA"/>
          </a:solidFill>
          <a:ln>
            <a:noFill/>
          </a:ln>
        </p:spPr>
        <p:txBody>
          <a:bodyPr anchorCtr="0" anchor="ctr" bIns="0" lIns="0" spcFirstLastPara="1" rIns="0" wrap="square" tIns="0">
            <a:spAutoFit/>
          </a:bodyPr>
          <a:lstStyle/>
          <a:p>
            <a:pPr indent="0" lvl="0" marL="0" marR="0" rtl="0" algn="just">
              <a:lnSpc>
                <a:spcPct val="100000"/>
              </a:lnSpc>
              <a:spcBef>
                <a:spcPts val="0"/>
              </a:spcBef>
              <a:spcAft>
                <a:spcPts val="0"/>
              </a:spcAft>
              <a:buClr>
                <a:srgbClr val="202124"/>
              </a:buClr>
              <a:buSzPts val="1800"/>
              <a:buFont typeface="Times New Roman"/>
              <a:buNone/>
            </a:pPr>
            <a:r>
              <a:rPr b="0" i="0" lang="tr-TR" sz="1800" u="none" cap="none" strike="noStrike">
                <a:solidFill>
                  <a:srgbClr val="202124"/>
                </a:solidFill>
                <a:latin typeface="Times New Roman"/>
                <a:ea typeface="Times New Roman"/>
                <a:cs typeface="Times New Roman"/>
                <a:sym typeface="Times New Roman"/>
              </a:rPr>
              <a:t>Bu sınıfın yapıcısı yoktur. Bu nedenle derleyici, argümanlar olmadan bir Tarih nesnesi oluşturmamıza izin veren bir yapıcı oluşturacaktır.</a:t>
            </a:r>
            <a:r>
              <a:rPr b="0" i="0" lang="tr-TR" sz="1800" u="none" cap="none" strike="noStrike">
                <a:solidFill>
                  <a:schemeClr val="lt1"/>
                </a:solidFill>
                <a:latin typeface="Times New Roman"/>
                <a:ea typeface="Times New Roman"/>
                <a:cs typeface="Times New Roman"/>
                <a:sym typeface="Times New Roman"/>
              </a:rPr>
              <a:t> </a:t>
            </a:r>
            <a:endParaRPr/>
          </a:p>
          <a:p>
            <a:pPr indent="0" lvl="0" marL="0" marR="0" rtl="0" algn="just">
              <a:lnSpc>
                <a:spcPct val="100000"/>
              </a:lnSpc>
              <a:spcBef>
                <a:spcPts val="0"/>
              </a:spcBef>
              <a:spcAft>
                <a:spcPts val="0"/>
              </a:spcAft>
              <a:buClr>
                <a:schemeClr val="lt1"/>
              </a:buClr>
              <a:buSzPts val="1800"/>
              <a:buFont typeface="Calibri"/>
              <a:buNone/>
            </a:pPr>
            <a:r>
              <a:t/>
            </a:r>
            <a:endParaRPr sz="1800">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lt1"/>
              </a:buClr>
              <a:buSzPts val="1800"/>
              <a:buFont typeface="Times New Roman"/>
              <a:buNone/>
            </a:pPr>
            <a:r>
              <a:rPr b="0" i="0" lang="tr-TR" sz="1800" u="none" cap="none" strike="noStrike">
                <a:solidFill>
                  <a:schemeClr val="lt1"/>
                </a:solidFill>
                <a:latin typeface="Times New Roman"/>
                <a:ea typeface="Times New Roman"/>
                <a:cs typeface="Times New Roman"/>
                <a:sym typeface="Times New Roman"/>
              </a:rPr>
              <a:t>Bu </a:t>
            </a:r>
            <a:r>
              <a:rPr lang="tr-TR" sz="1800">
                <a:solidFill>
                  <a:schemeClr val="lt1"/>
                </a:solidFill>
                <a:latin typeface="Times New Roman"/>
                <a:ea typeface="Times New Roman"/>
                <a:cs typeface="Times New Roman"/>
                <a:sym typeface="Times New Roman"/>
              </a:rPr>
              <a:t>kapalı yapıcı, </a:t>
            </a:r>
            <a:r>
              <a:rPr b="0" i="0" lang="tr-TR" sz="1800" u="none" cap="none" strike="noStrike">
                <a:solidFill>
                  <a:schemeClr val="lt1"/>
                </a:solidFill>
                <a:latin typeface="Times New Roman"/>
                <a:ea typeface="Times New Roman"/>
                <a:cs typeface="Times New Roman"/>
                <a:sym typeface="Times New Roman"/>
              </a:rPr>
              <a:t>doğrudan veya liste başlatma ile Tarih nesnesini oluşturmadıkça hiçbir üyeyi başlatmaz.</a:t>
            </a:r>
            <a:endParaRPr/>
          </a:p>
          <a:p>
            <a:pPr indent="0" lvl="0" marL="0" marR="0" rtl="0" algn="just">
              <a:lnSpc>
                <a:spcPct val="100000"/>
              </a:lnSpc>
              <a:spcBef>
                <a:spcPts val="0"/>
              </a:spcBef>
              <a:spcAft>
                <a:spcPts val="0"/>
              </a:spcAft>
              <a:buClr>
                <a:schemeClr val="lt1"/>
              </a:buClr>
              <a:buSzPts val="1800"/>
              <a:buFont typeface="Calibri"/>
              <a:buNone/>
            </a:pPr>
            <a:r>
              <a:t/>
            </a:r>
            <a:endParaRPr b="0" i="0" sz="1800" u="none" cap="none" strike="noStrike">
              <a:solidFill>
                <a:schemeClr val="lt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lt1"/>
              </a:buClr>
              <a:buSzPts val="1800"/>
              <a:buFont typeface="Times New Roman"/>
              <a:buNone/>
            </a:pPr>
            <a:r>
              <a:rPr b="0" i="0" lang="tr-TR" sz="1800" u="none" cap="none" strike="noStrike">
                <a:solidFill>
                  <a:schemeClr val="lt1"/>
                </a:solidFill>
                <a:latin typeface="Times New Roman"/>
                <a:ea typeface="Times New Roman"/>
                <a:cs typeface="Times New Roman"/>
                <a:sym typeface="Times New Roman"/>
              </a:rPr>
              <a:t>Üye değişkenlerinin başlatıldığından emin olmak için, onları sınıf içi bildirimlerinde başlatabiliriz.</a:t>
            </a:r>
            <a:endParaRPr/>
          </a:p>
        </p:txBody>
      </p:sp>
      <p:pic>
        <p:nvPicPr>
          <p:cNvPr descr="Tick Icon Png Transparent Images – Free PNG Images Vector, PSD, Clipart,  Templates" id="197" name="Google Shape;197;p11"/>
          <p:cNvPicPr preferRelativeResize="0"/>
          <p:nvPr/>
        </p:nvPicPr>
        <p:blipFill rotWithShape="1">
          <a:blip r:embed="rId4">
            <a:alphaModFix/>
          </a:blip>
          <a:srcRect b="0" l="0" r="0" t="0"/>
          <a:stretch/>
        </p:blipFill>
        <p:spPr>
          <a:xfrm>
            <a:off x="5341758" y="1890948"/>
            <a:ext cx="836788" cy="1084646"/>
          </a:xfrm>
          <a:prstGeom prst="rect">
            <a:avLst/>
          </a:prstGeom>
          <a:noFill/>
          <a:ln>
            <a:noFill/>
          </a:ln>
        </p:spPr>
      </p:pic>
      <p:pic>
        <p:nvPicPr>
          <p:cNvPr descr="Tick Icon Png Transparent Images – Free PNG Images Vector, PSD, Clipart,  Templates" id="198" name="Google Shape;198;p11"/>
          <p:cNvPicPr preferRelativeResize="0"/>
          <p:nvPr/>
        </p:nvPicPr>
        <p:blipFill rotWithShape="1">
          <a:blip r:embed="rId4">
            <a:alphaModFix/>
          </a:blip>
          <a:srcRect b="0" l="0" r="0" t="0"/>
          <a:stretch/>
        </p:blipFill>
        <p:spPr>
          <a:xfrm>
            <a:off x="5351162" y="2831801"/>
            <a:ext cx="836788" cy="1084646"/>
          </a:xfrm>
          <a:prstGeom prst="rect">
            <a:avLst/>
          </a:prstGeom>
          <a:noFill/>
          <a:ln>
            <a:noFill/>
          </a:ln>
        </p:spPr>
      </p:pic>
      <p:pic>
        <p:nvPicPr>
          <p:cNvPr descr="Tick Icon Png Transparent Images – Free PNG Images Vector, PSD, Clipart,  Templates" id="199" name="Google Shape;199;p11"/>
          <p:cNvPicPr preferRelativeResize="0"/>
          <p:nvPr/>
        </p:nvPicPr>
        <p:blipFill rotWithShape="1">
          <a:blip r:embed="rId4">
            <a:alphaModFix/>
          </a:blip>
          <a:srcRect b="0" l="0" r="0" t="0"/>
          <a:stretch/>
        </p:blipFill>
        <p:spPr>
          <a:xfrm>
            <a:off x="5341758" y="3764849"/>
            <a:ext cx="836788" cy="1084646"/>
          </a:xfrm>
          <a:prstGeom prst="rect">
            <a:avLst/>
          </a:prstGeom>
          <a:noFill/>
          <a:ln>
            <a:noFill/>
          </a:ln>
        </p:spPr>
      </p:pic>
      <p:pic>
        <p:nvPicPr>
          <p:cNvPr id="200" name="Google Shape;200;p11"/>
          <p:cNvPicPr preferRelativeResize="0"/>
          <p:nvPr/>
        </p:nvPicPr>
        <p:blipFill rotWithShape="1">
          <a:blip r:embed="rId5">
            <a:alphaModFix/>
          </a:blip>
          <a:srcRect b="0" l="0" r="0" t="0"/>
          <a:stretch/>
        </p:blipFill>
        <p:spPr>
          <a:xfrm>
            <a:off x="6417235" y="4702209"/>
            <a:ext cx="2095140" cy="152161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2"/>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Kapalı Olarak Oluşturulan Varsayılan Yapıcı</a:t>
            </a:r>
            <a:endParaRPr b="1" i="0" sz="2000" u="none" cap="none" strike="noStrike">
              <a:solidFill>
                <a:schemeClr val="lt1"/>
              </a:solidFill>
              <a:latin typeface="Times New Roman"/>
              <a:ea typeface="Times New Roman"/>
              <a:cs typeface="Times New Roman"/>
              <a:sym typeface="Times New Roman"/>
            </a:endParaRPr>
          </a:p>
        </p:txBody>
      </p:sp>
      <p:sp>
        <p:nvSpPr>
          <p:cNvPr id="206" name="Google Shape;206;p12"/>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207" name="Google Shape;207;p12"/>
          <p:cNvSpPr txBox="1"/>
          <p:nvPr/>
        </p:nvSpPr>
        <p:spPr>
          <a:xfrm>
            <a:off x="-16776" y="634181"/>
            <a:ext cx="12099721" cy="3834579"/>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Kapalı olarak oluşturulan yapıcı göremesek de varlığını ispatlayabiliriz:</a:t>
            </a:r>
            <a:endParaRPr b="0" i="0" sz="1800" u="none" cap="none" strike="noStrike">
              <a:solidFill>
                <a:srgbClr val="000000"/>
              </a:solidFill>
              <a:latin typeface="Consolas"/>
              <a:ea typeface="Consolas"/>
              <a:cs typeface="Consolas"/>
              <a:sym typeface="Consolas"/>
            </a:endParaRPr>
          </a:p>
        </p:txBody>
      </p:sp>
      <p:pic>
        <p:nvPicPr>
          <p:cNvPr id="208" name="Google Shape;208;p12"/>
          <p:cNvPicPr preferRelativeResize="0"/>
          <p:nvPr/>
        </p:nvPicPr>
        <p:blipFill rotWithShape="1">
          <a:blip r:embed="rId3">
            <a:alphaModFix/>
          </a:blip>
          <a:srcRect b="0" l="0" r="0" t="0"/>
          <a:stretch/>
        </p:blipFill>
        <p:spPr>
          <a:xfrm>
            <a:off x="314551" y="1037891"/>
            <a:ext cx="4021475" cy="2859463"/>
          </a:xfrm>
          <a:prstGeom prst="rect">
            <a:avLst/>
          </a:prstGeom>
          <a:noFill/>
          <a:ln>
            <a:noFill/>
          </a:ln>
        </p:spPr>
      </p:pic>
      <p:sp>
        <p:nvSpPr>
          <p:cNvPr id="209" name="Google Shape;209;p12"/>
          <p:cNvSpPr txBox="1"/>
          <p:nvPr/>
        </p:nvSpPr>
        <p:spPr>
          <a:xfrm>
            <a:off x="5202710" y="1109143"/>
            <a:ext cx="6880235" cy="147732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tr-TR" sz="1800">
                <a:solidFill>
                  <a:srgbClr val="444444"/>
                </a:solidFill>
                <a:latin typeface="Times New Roman"/>
                <a:ea typeface="Times New Roman"/>
                <a:cs typeface="Times New Roman"/>
                <a:sym typeface="Times New Roman"/>
              </a:rPr>
              <a:t>Yandaki kod derlenir, çünkü Tarih nesnesi kapalı yapıcıyı kullanır (ki bu public’tir.).</a:t>
            </a:r>
            <a:endParaRPr/>
          </a:p>
          <a:p>
            <a:pPr indent="0" lvl="0" marL="0" marR="0" rtl="0" algn="just">
              <a:spcBef>
                <a:spcPts val="0"/>
              </a:spcBef>
              <a:spcAft>
                <a:spcPts val="0"/>
              </a:spcAft>
              <a:buNone/>
            </a:pPr>
            <a:r>
              <a:t/>
            </a:r>
            <a:endParaRPr sz="1800">
              <a:solidFill>
                <a:srgbClr val="444444"/>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rgbClr val="444444"/>
                </a:solidFill>
                <a:latin typeface="Times New Roman"/>
                <a:ea typeface="Times New Roman"/>
                <a:cs typeface="Times New Roman"/>
                <a:sym typeface="Times New Roman"/>
              </a:rPr>
              <a:t>Ancak Sınıfta başka yapıcılar varsa, kapalı olarak oluşturulan yapıcı sağlanmayacaktır. Örneğin:</a:t>
            </a:r>
            <a:endParaRPr/>
          </a:p>
        </p:txBody>
      </p:sp>
      <p:pic>
        <p:nvPicPr>
          <p:cNvPr id="210" name="Google Shape;210;p12"/>
          <p:cNvPicPr preferRelativeResize="0"/>
          <p:nvPr/>
        </p:nvPicPr>
        <p:blipFill rotWithShape="1">
          <a:blip r:embed="rId4">
            <a:alphaModFix/>
          </a:blip>
          <a:srcRect b="0" l="0" r="0" t="0"/>
          <a:stretch/>
        </p:blipFill>
        <p:spPr>
          <a:xfrm>
            <a:off x="5278520" y="2604899"/>
            <a:ext cx="5154912" cy="4238957"/>
          </a:xfrm>
          <a:prstGeom prst="rect">
            <a:avLst/>
          </a:prstGeom>
          <a:noFill/>
          <a:ln>
            <a:noFill/>
          </a:ln>
        </p:spPr>
      </p:pic>
      <p:cxnSp>
        <p:nvCxnSpPr>
          <p:cNvPr id="211" name="Google Shape;211;p12"/>
          <p:cNvCxnSpPr/>
          <p:nvPr/>
        </p:nvCxnSpPr>
        <p:spPr>
          <a:xfrm flipH="1">
            <a:off x="6282813" y="5368413"/>
            <a:ext cx="309716" cy="398206"/>
          </a:xfrm>
          <a:prstGeom prst="straightConnector1">
            <a:avLst/>
          </a:prstGeom>
          <a:noFill/>
          <a:ln cap="flat" cmpd="sng" w="28575">
            <a:solidFill>
              <a:srgbClr val="FF0000"/>
            </a:solidFill>
            <a:prstDash val="solid"/>
            <a:round/>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3"/>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Kapalı Olarak Oluşturulan Varsayılan Yapıcı</a:t>
            </a:r>
            <a:endParaRPr b="1" i="0" sz="2000" u="none" cap="none" strike="noStrike">
              <a:solidFill>
                <a:schemeClr val="lt1"/>
              </a:solidFill>
              <a:latin typeface="Times New Roman"/>
              <a:ea typeface="Times New Roman"/>
              <a:cs typeface="Times New Roman"/>
              <a:sym typeface="Times New Roman"/>
            </a:endParaRPr>
          </a:p>
        </p:txBody>
      </p:sp>
      <p:sp>
        <p:nvSpPr>
          <p:cNvPr id="217" name="Google Shape;217;p13"/>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218" name="Google Shape;218;p13"/>
          <p:cNvSpPr txBox="1"/>
          <p:nvPr/>
        </p:nvSpPr>
        <p:spPr>
          <a:xfrm>
            <a:off x="-16776" y="634181"/>
            <a:ext cx="12099721" cy="3834579"/>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Tarih nesnesinin argüman (bağımsız değişkenler) almadan oluşturulması için yapıcıya default değere sahip boş bir yapıcı eklenebilir. Yani: </a:t>
            </a:r>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1800"/>
              <a:buFont typeface="Calibri"/>
              <a:buNone/>
            </a:pPr>
            <a:r>
              <a:t/>
            </a:r>
            <a:endParaRPr b="0" i="0" sz="1800" u="none" cap="none" strike="noStrike">
              <a:solidFill>
                <a:srgbClr val="000000"/>
              </a:solidFill>
              <a:latin typeface="Consolas"/>
              <a:ea typeface="Consolas"/>
              <a:cs typeface="Consolas"/>
              <a:sym typeface="Consolas"/>
            </a:endParaRPr>
          </a:p>
        </p:txBody>
      </p:sp>
      <p:pic>
        <p:nvPicPr>
          <p:cNvPr id="219" name="Google Shape;219;p13"/>
          <p:cNvPicPr preferRelativeResize="0"/>
          <p:nvPr/>
        </p:nvPicPr>
        <p:blipFill rotWithShape="1">
          <a:blip r:embed="rId3">
            <a:alphaModFix/>
          </a:blip>
          <a:srcRect b="0" l="0" r="0" t="0"/>
          <a:stretch/>
        </p:blipFill>
        <p:spPr>
          <a:xfrm>
            <a:off x="600631" y="1268362"/>
            <a:ext cx="5432453" cy="4955457"/>
          </a:xfrm>
          <a:prstGeom prst="rect">
            <a:avLst/>
          </a:prstGeom>
          <a:noFill/>
          <a:ln>
            <a:noFill/>
          </a:ln>
        </p:spPr>
      </p:pic>
      <p:cxnSp>
        <p:nvCxnSpPr>
          <p:cNvPr id="220" name="Google Shape;220;p13"/>
          <p:cNvCxnSpPr/>
          <p:nvPr/>
        </p:nvCxnSpPr>
        <p:spPr>
          <a:xfrm flipH="1">
            <a:off x="2595716" y="2551470"/>
            <a:ext cx="398207" cy="235975"/>
          </a:xfrm>
          <a:prstGeom prst="straightConnector1">
            <a:avLst/>
          </a:prstGeom>
          <a:noFill/>
          <a:ln cap="flat" cmpd="sng" w="28575">
            <a:solidFill>
              <a:srgbClr val="FF0000"/>
            </a:solidFill>
            <a:prstDash val="solid"/>
            <a:round/>
            <a:headEnd len="sm" w="sm" type="none"/>
            <a:tailEnd len="med" w="med" type="triangle"/>
          </a:ln>
        </p:spPr>
      </p:cxnSp>
      <p:sp>
        <p:nvSpPr>
          <p:cNvPr id="221" name="Google Shape;221;p13"/>
          <p:cNvSpPr/>
          <p:nvPr/>
        </p:nvSpPr>
        <p:spPr>
          <a:xfrm>
            <a:off x="988142" y="4970206"/>
            <a:ext cx="3539613" cy="619432"/>
          </a:xfrm>
          <a:prstGeom prst="rect">
            <a:avLst/>
          </a:prstGeom>
          <a:noFill/>
          <a:ln cap="flat" cmpd="sng" w="158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2" name="Google Shape;222;p13"/>
          <p:cNvSpPr txBox="1"/>
          <p:nvPr/>
        </p:nvSpPr>
        <p:spPr>
          <a:xfrm>
            <a:off x="7285703" y="1268362"/>
            <a:ext cx="4906297" cy="1754326"/>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tr-TR" sz="1800">
                <a:solidFill>
                  <a:srgbClr val="593470"/>
                </a:solidFill>
                <a:latin typeface="Times New Roman"/>
                <a:ea typeface="Times New Roman"/>
                <a:cs typeface="Times New Roman"/>
                <a:sym typeface="Times New Roman"/>
              </a:rPr>
              <a:t>= default </a:t>
            </a:r>
            <a:r>
              <a:rPr lang="tr-TR" sz="1800">
                <a:solidFill>
                  <a:schemeClr val="lt1"/>
                </a:solidFill>
                <a:latin typeface="Times New Roman"/>
                <a:ea typeface="Times New Roman"/>
                <a:cs typeface="Times New Roman"/>
                <a:sym typeface="Times New Roman"/>
              </a:rPr>
              <a:t>kullanımı, boş bir gövdeye sahip varsayılan bir yapıcı eklemeyle neredeyse aynıdır. </a:t>
            </a:r>
            <a:endParaRPr/>
          </a:p>
          <a:p>
            <a:pPr indent="0" lvl="0" marL="0" marR="0" rtl="0" algn="just">
              <a:spcBef>
                <a:spcPts val="0"/>
              </a:spcBef>
              <a:spcAft>
                <a:spcPts val="0"/>
              </a:spcAft>
              <a:buNone/>
            </a:pPr>
            <a:r>
              <a:t/>
            </a:r>
            <a:endParaRPr sz="1800">
              <a:solidFill>
                <a:schemeClr val="lt1"/>
              </a:solidFill>
              <a:latin typeface="Times New Roman"/>
              <a:ea typeface="Times New Roman"/>
              <a:cs typeface="Times New Roman"/>
              <a:sym typeface="Times New Roman"/>
            </a:endParaRPr>
          </a:p>
          <a:p>
            <a:pPr indent="0" lvl="0" marL="0" marR="0" rtl="0" algn="just">
              <a:spcBef>
                <a:spcPts val="0"/>
              </a:spcBef>
              <a:spcAft>
                <a:spcPts val="0"/>
              </a:spcAft>
              <a:buNone/>
            </a:pPr>
            <a:r>
              <a:rPr lang="tr-TR" sz="1800">
                <a:solidFill>
                  <a:schemeClr val="lt1"/>
                </a:solidFill>
                <a:latin typeface="Times New Roman"/>
                <a:ea typeface="Times New Roman"/>
                <a:cs typeface="Times New Roman"/>
                <a:sym typeface="Times New Roman"/>
              </a:rPr>
              <a:t>Tek fark, </a:t>
            </a:r>
            <a:r>
              <a:rPr b="1" lang="tr-TR" sz="1800">
                <a:solidFill>
                  <a:srgbClr val="593470"/>
                </a:solidFill>
                <a:latin typeface="Times New Roman"/>
                <a:ea typeface="Times New Roman"/>
                <a:cs typeface="Times New Roman"/>
                <a:sym typeface="Times New Roman"/>
              </a:rPr>
              <a:t>= default</a:t>
            </a:r>
            <a:r>
              <a:rPr lang="tr-TR" sz="1800">
                <a:solidFill>
                  <a:schemeClr val="lt1"/>
                </a:solidFill>
                <a:latin typeface="Times New Roman"/>
                <a:ea typeface="Times New Roman"/>
                <a:cs typeface="Times New Roman"/>
                <a:sym typeface="Times New Roman"/>
              </a:rPr>
              <a:t>, bir başlatıcıları olmasa bile üye değişkenleri güvenli bir şekilde başlatmamıza izin vermesidir.</a:t>
            </a:r>
            <a:endParaRPr/>
          </a:p>
        </p:txBody>
      </p:sp>
      <p:pic>
        <p:nvPicPr>
          <p:cNvPr descr="Download Exclamation Text Brand Encapsulated Mark Postscript Cartoon HQ PNG  Image | FreePNGImg" id="223" name="Google Shape;223;p13"/>
          <p:cNvPicPr preferRelativeResize="0"/>
          <p:nvPr/>
        </p:nvPicPr>
        <p:blipFill rotWithShape="1">
          <a:blip r:embed="rId4">
            <a:alphaModFix/>
          </a:blip>
          <a:srcRect b="0" l="0" r="0" t="0"/>
          <a:stretch/>
        </p:blipFill>
        <p:spPr>
          <a:xfrm>
            <a:off x="5778573" y="1380982"/>
            <a:ext cx="1406463" cy="1406463"/>
          </a:xfrm>
          <a:prstGeom prst="rect">
            <a:avLst/>
          </a:prstGeom>
          <a:noFill/>
          <a:ln>
            <a:noFill/>
          </a:ln>
        </p:spPr>
      </p:pic>
      <p:pic>
        <p:nvPicPr>
          <p:cNvPr id="224" name="Google Shape;224;p13"/>
          <p:cNvPicPr preferRelativeResize="0"/>
          <p:nvPr/>
        </p:nvPicPr>
        <p:blipFill rotWithShape="1">
          <a:blip r:embed="rId5">
            <a:alphaModFix/>
          </a:blip>
          <a:srcRect b="0" l="0" r="0" t="0"/>
          <a:stretch/>
        </p:blipFill>
        <p:spPr>
          <a:xfrm>
            <a:off x="7442280" y="3084479"/>
            <a:ext cx="1790950" cy="3286584"/>
          </a:xfrm>
          <a:prstGeom prst="rect">
            <a:avLst/>
          </a:prstGeom>
          <a:noFill/>
          <a:ln>
            <a:noFill/>
          </a:ln>
        </p:spPr>
      </p:pic>
      <p:pic>
        <p:nvPicPr>
          <p:cNvPr id="225" name="Google Shape;225;p13"/>
          <p:cNvPicPr preferRelativeResize="0"/>
          <p:nvPr/>
        </p:nvPicPr>
        <p:blipFill rotWithShape="1">
          <a:blip r:embed="rId6">
            <a:alphaModFix/>
          </a:blip>
          <a:srcRect b="0" l="0" r="0" t="0"/>
          <a:stretch/>
        </p:blipFill>
        <p:spPr>
          <a:xfrm>
            <a:off x="9738334" y="3084479"/>
            <a:ext cx="1314633" cy="10288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4"/>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Sınıfları İçeren Sınıflar</a:t>
            </a:r>
            <a:endParaRPr b="1" i="0" sz="2000" u="none" cap="none" strike="noStrike">
              <a:solidFill>
                <a:schemeClr val="lt1"/>
              </a:solidFill>
              <a:latin typeface="Times New Roman"/>
              <a:ea typeface="Times New Roman"/>
              <a:cs typeface="Times New Roman"/>
              <a:sym typeface="Times New Roman"/>
            </a:endParaRPr>
          </a:p>
        </p:txBody>
      </p:sp>
      <p:sp>
        <p:nvSpPr>
          <p:cNvPr id="231" name="Google Shape;231;p14"/>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232" name="Google Shape;232;p14"/>
          <p:cNvSpPr txBox="1"/>
          <p:nvPr/>
        </p:nvSpPr>
        <p:spPr>
          <a:xfrm>
            <a:off x="-16776" y="634181"/>
            <a:ext cx="12099721" cy="3834579"/>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Bir sınıf, üye değişkenler olarak başka sınıflar içerebilir. Varsayılan olarak, dış sınıf oluşturulduğunda, üye değişkenlerin varsayılan yapıcıları çağrılır. Bu, yapıcının gövdesi çalıştırılmadan önce gerçekleşir.</a:t>
            </a:r>
            <a:endParaRPr/>
          </a:p>
          <a:p>
            <a:pPr indent="0" lvl="2" marL="384048" marR="0" rtl="0" algn="just">
              <a:lnSpc>
                <a:spcPct val="100000"/>
              </a:lnSpc>
              <a:spcBef>
                <a:spcPts val="600"/>
              </a:spcBef>
              <a:spcAft>
                <a:spcPts val="0"/>
              </a:spcAft>
              <a:buClr>
                <a:schemeClr val="accent1"/>
              </a:buClr>
              <a:buSzPts val="1800"/>
              <a:buFont typeface="Calibri"/>
              <a:buNone/>
            </a:pPr>
            <a:r>
              <a:rPr b="0" i="0" lang="tr-TR" sz="1800" u="none" cap="none" strike="noStrike">
                <a:solidFill>
                  <a:srgbClr val="444444"/>
                </a:solidFill>
                <a:latin typeface="Times New Roman"/>
                <a:ea typeface="Times New Roman"/>
                <a:cs typeface="Times New Roman"/>
                <a:sym typeface="Times New Roman"/>
              </a:rPr>
              <a:t>Bu şu şekilde gösterilebilir:</a:t>
            </a:r>
            <a:endParaRPr b="0" i="0" sz="1800" u="none" cap="none" strike="noStrike">
              <a:solidFill>
                <a:srgbClr val="000000"/>
              </a:solidFill>
              <a:latin typeface="Consolas"/>
              <a:ea typeface="Consolas"/>
              <a:cs typeface="Consolas"/>
              <a:sym typeface="Consolas"/>
            </a:endParaRPr>
          </a:p>
        </p:txBody>
      </p:sp>
      <p:pic>
        <p:nvPicPr>
          <p:cNvPr id="233" name="Google Shape;233;p14"/>
          <p:cNvPicPr preferRelativeResize="0"/>
          <p:nvPr/>
        </p:nvPicPr>
        <p:blipFill rotWithShape="1">
          <a:blip r:embed="rId3">
            <a:alphaModFix/>
          </a:blip>
          <a:srcRect b="0" l="0" r="0" t="0"/>
          <a:stretch/>
        </p:blipFill>
        <p:spPr>
          <a:xfrm>
            <a:off x="328428" y="1685855"/>
            <a:ext cx="6031590" cy="3977525"/>
          </a:xfrm>
          <a:prstGeom prst="rect">
            <a:avLst/>
          </a:prstGeom>
          <a:noFill/>
          <a:ln>
            <a:noFill/>
          </a:ln>
        </p:spPr>
      </p:pic>
      <p:pic>
        <p:nvPicPr>
          <p:cNvPr id="234" name="Google Shape;234;p14"/>
          <p:cNvPicPr preferRelativeResize="0"/>
          <p:nvPr/>
        </p:nvPicPr>
        <p:blipFill rotWithShape="1">
          <a:blip r:embed="rId4">
            <a:alphaModFix/>
          </a:blip>
          <a:srcRect b="0" l="0" r="0" t="0"/>
          <a:stretch/>
        </p:blipFill>
        <p:spPr>
          <a:xfrm>
            <a:off x="8461019" y="1731292"/>
            <a:ext cx="390580" cy="647790"/>
          </a:xfrm>
          <a:prstGeom prst="rect">
            <a:avLst/>
          </a:prstGeom>
          <a:noFill/>
          <a:ln>
            <a:noFill/>
          </a:ln>
        </p:spPr>
      </p:pic>
      <p:sp>
        <p:nvSpPr>
          <p:cNvPr id="235" name="Google Shape;235;p14"/>
          <p:cNvSpPr txBox="1"/>
          <p:nvPr/>
        </p:nvSpPr>
        <p:spPr>
          <a:xfrm>
            <a:off x="6948518" y="1685855"/>
            <a:ext cx="15382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u="sng">
                <a:solidFill>
                  <a:srgbClr val="444444"/>
                </a:solidFill>
                <a:latin typeface="Times New Roman"/>
                <a:ea typeface="Times New Roman"/>
                <a:cs typeface="Times New Roman"/>
                <a:sym typeface="Times New Roman"/>
              </a:rPr>
              <a:t>Ekran çıktısı:</a:t>
            </a:r>
            <a:endParaRPr sz="1800" u="sng">
              <a:solidFill>
                <a:schemeClr val="lt1"/>
              </a:solidFill>
              <a:latin typeface="Calibri"/>
              <a:ea typeface="Calibri"/>
              <a:cs typeface="Calibri"/>
              <a:sym typeface="Calibri"/>
            </a:endParaRPr>
          </a:p>
        </p:txBody>
      </p:sp>
      <p:sp>
        <p:nvSpPr>
          <p:cNvPr id="236" name="Google Shape;236;p14"/>
          <p:cNvSpPr/>
          <p:nvPr/>
        </p:nvSpPr>
        <p:spPr>
          <a:xfrm>
            <a:off x="6931742" y="2637542"/>
            <a:ext cx="5151203" cy="3288732"/>
          </a:xfrm>
          <a:prstGeom prst="rect">
            <a:avLst/>
          </a:prstGeom>
          <a:solidFill>
            <a:srgbClr val="F8F9FA"/>
          </a:solidFill>
          <a:ln>
            <a:noFill/>
          </a:ln>
        </p:spPr>
        <p:txBody>
          <a:bodyPr anchorCtr="0" anchor="ctr" bIns="0" lIns="0" spcFirstLastPara="1" rIns="0" wrap="square" tIns="0">
            <a:spAutoFit/>
          </a:bodyPr>
          <a:lstStyle/>
          <a:p>
            <a:pPr indent="-285750" lvl="0" marL="285750" marR="0" rtl="0" algn="just">
              <a:lnSpc>
                <a:spcPct val="100000"/>
              </a:lnSpc>
              <a:spcBef>
                <a:spcPts val="0"/>
              </a:spcBef>
              <a:spcAft>
                <a:spcPts val="0"/>
              </a:spcAft>
              <a:buClr>
                <a:srgbClr val="202124"/>
              </a:buClr>
              <a:buSzPts val="1800"/>
              <a:buFont typeface="Arial"/>
              <a:buChar char="•"/>
            </a:pPr>
            <a:r>
              <a:rPr b="0" i="0" lang="tr-TR" sz="1800" u="none" cap="none" strike="noStrike">
                <a:solidFill>
                  <a:srgbClr val="202124"/>
                </a:solidFill>
                <a:latin typeface="Times New Roman"/>
                <a:ea typeface="Times New Roman"/>
                <a:cs typeface="Times New Roman"/>
                <a:sym typeface="Times New Roman"/>
              </a:rPr>
              <a:t>b değişkeni oluşturulduğunda, B() yapıcısı çağrılır. </a:t>
            </a:r>
            <a:endParaRPr/>
          </a:p>
          <a:p>
            <a:pPr indent="-171450" lvl="0" marL="285750" marR="0" rtl="0" algn="just">
              <a:lnSpc>
                <a:spcPct val="100000"/>
              </a:lnSpc>
              <a:spcBef>
                <a:spcPts val="0"/>
              </a:spcBef>
              <a:spcAft>
                <a:spcPts val="0"/>
              </a:spcAft>
              <a:buClr>
                <a:schemeClr val="lt1"/>
              </a:buClr>
              <a:buSzPts val="1800"/>
              <a:buFont typeface="Arial"/>
              <a:buNone/>
            </a:pPr>
            <a:r>
              <a:t/>
            </a:r>
            <a:endParaRPr b="0" i="0" sz="1800" u="none" cap="none" strike="noStrike">
              <a:solidFill>
                <a:srgbClr val="202124"/>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rgbClr val="202124"/>
              </a:buClr>
              <a:buSzPts val="1800"/>
              <a:buFont typeface="Arial"/>
              <a:buChar char="•"/>
            </a:pPr>
            <a:r>
              <a:rPr b="0" i="0" lang="tr-TR" sz="1800" u="none" cap="none" strike="noStrike">
                <a:solidFill>
                  <a:srgbClr val="202124"/>
                </a:solidFill>
                <a:latin typeface="Times New Roman"/>
                <a:ea typeface="Times New Roman"/>
                <a:cs typeface="Times New Roman"/>
                <a:sym typeface="Times New Roman"/>
              </a:rPr>
              <a:t>Yapıcının gövdesi çalıştırılmadan önce, m_a başlatılır ve A sınıfı varsayılan yapıcıyı çağırır. Bu da ekrana ‘A’ yazdırır. </a:t>
            </a:r>
            <a:endParaRPr/>
          </a:p>
          <a:p>
            <a:pPr indent="-171450" lvl="0" marL="285750" marR="0" rtl="0" algn="just">
              <a:lnSpc>
                <a:spcPct val="100000"/>
              </a:lnSpc>
              <a:spcBef>
                <a:spcPts val="0"/>
              </a:spcBef>
              <a:spcAft>
                <a:spcPts val="0"/>
              </a:spcAft>
              <a:buClr>
                <a:schemeClr val="lt1"/>
              </a:buClr>
              <a:buSzPts val="1800"/>
              <a:buFont typeface="Arial"/>
              <a:buNone/>
            </a:pPr>
            <a:r>
              <a:t/>
            </a:r>
            <a:endParaRPr b="0" i="0" sz="1800" u="none" cap="none" strike="noStrike">
              <a:solidFill>
                <a:srgbClr val="202124"/>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chemeClr val="lt1"/>
              </a:buClr>
              <a:buSzPts val="1800"/>
              <a:buFont typeface="Arial"/>
              <a:buChar char="•"/>
            </a:pPr>
            <a:r>
              <a:rPr b="0" i="0" lang="tr-TR" sz="1800" u="none" cap="none" strike="noStrike">
                <a:solidFill>
                  <a:schemeClr val="lt1"/>
                </a:solidFill>
                <a:latin typeface="Times New Roman"/>
                <a:ea typeface="Times New Roman"/>
                <a:cs typeface="Times New Roman"/>
                <a:sym typeface="Times New Roman"/>
              </a:rPr>
              <a:t>Daha sonra kontrol, B yapıcısına geri döner ve B yapıcısının gövdesi çalıştırılır.</a:t>
            </a:r>
            <a:endParaRPr/>
          </a:p>
          <a:p>
            <a:pPr indent="-171450" lvl="0" marL="285750" marR="0" rtl="0" algn="just">
              <a:lnSpc>
                <a:spcPct val="100000"/>
              </a:lnSpc>
              <a:spcBef>
                <a:spcPts val="0"/>
              </a:spcBef>
              <a:spcAft>
                <a:spcPts val="0"/>
              </a:spcAft>
              <a:buClr>
                <a:schemeClr val="lt1"/>
              </a:buClr>
              <a:buSzPts val="1800"/>
              <a:buFont typeface="Arial"/>
              <a:buNone/>
            </a:pPr>
            <a:r>
              <a:t/>
            </a:r>
            <a:endParaRPr sz="1800">
              <a:solidFill>
                <a:schemeClr val="lt1"/>
              </a:solidFill>
              <a:latin typeface="Times New Roman"/>
              <a:ea typeface="Times New Roman"/>
              <a:cs typeface="Times New Roman"/>
              <a:sym typeface="Times New Roman"/>
            </a:endParaRPr>
          </a:p>
          <a:p>
            <a:pPr indent="-285750" lvl="0" marL="285750" marR="0" rtl="0" algn="just">
              <a:lnSpc>
                <a:spcPct val="100000"/>
              </a:lnSpc>
              <a:spcBef>
                <a:spcPts val="0"/>
              </a:spcBef>
              <a:spcAft>
                <a:spcPts val="0"/>
              </a:spcAft>
              <a:buClr>
                <a:schemeClr val="lt1"/>
              </a:buClr>
              <a:buSzPts val="1800"/>
              <a:buFont typeface="Arial"/>
              <a:buChar char="•"/>
            </a:pPr>
            <a:r>
              <a:rPr b="0" i="0" lang="tr-TR" sz="1800" u="none" cap="none" strike="noStrike">
                <a:solidFill>
                  <a:schemeClr val="lt1"/>
                </a:solidFill>
                <a:latin typeface="Times New Roman"/>
                <a:ea typeface="Times New Roman"/>
                <a:cs typeface="Times New Roman"/>
                <a:sym typeface="Times New Roman"/>
              </a:rPr>
              <a:t>(İlerde detaylandırılacak)</a:t>
            </a:r>
            <a:endParaRPr/>
          </a:p>
          <a:p>
            <a:pPr indent="-171450" lvl="0" marL="285750" marR="0" rtl="0" algn="just">
              <a:lnSpc>
                <a:spcPct val="100000"/>
              </a:lnSpc>
              <a:spcBef>
                <a:spcPts val="0"/>
              </a:spcBef>
              <a:spcAft>
                <a:spcPts val="0"/>
              </a:spcAft>
              <a:buClr>
                <a:schemeClr val="lt1"/>
              </a:buClr>
              <a:buSzPts val="1800"/>
              <a:buFont typeface="Arial"/>
              <a:buNone/>
            </a:pPr>
            <a:r>
              <a:t/>
            </a:r>
            <a:endParaRPr sz="1800">
              <a:solidFill>
                <a:schemeClr val="lt1"/>
              </a:solidFill>
              <a:latin typeface="Times New Roman"/>
              <a:ea typeface="Times New Roman"/>
              <a:cs typeface="Times New Roman"/>
              <a:sym typeface="Times New Roman"/>
            </a:endParaRPr>
          </a:p>
          <a:p>
            <a:pPr indent="-171450" lvl="0" marL="285750" marR="0" rtl="0" algn="just">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5"/>
          <p:cNvSpPr txBox="1"/>
          <p:nvPr/>
        </p:nvSpPr>
        <p:spPr>
          <a:xfrm>
            <a:off x="0" y="0"/>
            <a:ext cx="12099721" cy="634181"/>
          </a:xfrm>
          <a:prstGeom prst="rect">
            <a:avLst/>
          </a:prstGeom>
          <a:noFill/>
          <a:ln>
            <a:noFill/>
          </a:ln>
        </p:spPr>
        <p:txBody>
          <a:bodyPr anchorCtr="0" anchor="ctr" bIns="45700" lIns="0" spcFirstLastPara="1" rIns="0" wrap="square" tIns="45700">
            <a:noAutofit/>
          </a:bodyPr>
          <a:lstStyle/>
          <a:p>
            <a:pPr indent="0" lvl="1" marL="292608" marR="0" rtl="0" algn="l">
              <a:lnSpc>
                <a:spcPct val="9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Ödev Uygulama</a:t>
            </a:r>
            <a:endParaRPr b="1" i="0" sz="2000" u="none" cap="none" strike="noStrike">
              <a:solidFill>
                <a:schemeClr val="lt1"/>
              </a:solidFill>
              <a:latin typeface="Times New Roman"/>
              <a:ea typeface="Times New Roman"/>
              <a:cs typeface="Times New Roman"/>
              <a:sym typeface="Times New Roman"/>
            </a:endParaRPr>
          </a:p>
        </p:txBody>
      </p:sp>
      <p:sp>
        <p:nvSpPr>
          <p:cNvPr id="242" name="Google Shape;242;p15"/>
          <p:cNvSpPr txBox="1"/>
          <p:nvPr/>
        </p:nvSpPr>
        <p:spPr>
          <a:xfrm>
            <a:off x="-8388" y="634181"/>
            <a:ext cx="12099721" cy="5716285"/>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1800"/>
              <a:buFont typeface="Calibri"/>
              <a:buNone/>
            </a:pPr>
            <a:r>
              <a:t/>
            </a:r>
            <a:endParaRPr b="0" i="0" sz="1800" u="none" cap="none" strike="noStrike">
              <a:solidFill>
                <a:srgbClr val="444444"/>
              </a:solidFill>
              <a:latin typeface="Times New Roman"/>
              <a:ea typeface="Times New Roman"/>
              <a:cs typeface="Times New Roman"/>
              <a:sym typeface="Times New Roman"/>
            </a:endParaRPr>
          </a:p>
        </p:txBody>
      </p:sp>
      <p:sp>
        <p:nvSpPr>
          <p:cNvPr id="243" name="Google Shape;243;p15"/>
          <p:cNvSpPr txBox="1"/>
          <p:nvPr/>
        </p:nvSpPr>
        <p:spPr>
          <a:xfrm>
            <a:off x="-16776" y="634181"/>
            <a:ext cx="12099721" cy="3834579"/>
          </a:xfrm>
          <a:prstGeom prst="rect">
            <a:avLst/>
          </a:prstGeom>
          <a:noFill/>
          <a:ln>
            <a:noFill/>
          </a:ln>
        </p:spPr>
        <p:txBody>
          <a:bodyPr anchorCtr="0" anchor="t" bIns="45700" lIns="0" spcFirstLastPara="1" rIns="0" wrap="square" tIns="45700">
            <a:normAutofit/>
          </a:bodyPr>
          <a:lstStyle/>
          <a:p>
            <a:pPr indent="0" lvl="2" marL="384048" marR="0" rtl="0" algn="just">
              <a:lnSpc>
                <a:spcPct val="100000"/>
              </a:lnSpc>
              <a:spcBef>
                <a:spcPts val="0"/>
              </a:spcBef>
              <a:spcAft>
                <a:spcPts val="0"/>
              </a:spcAft>
              <a:buClr>
                <a:schemeClr val="accent1"/>
              </a:buClr>
              <a:buSzPts val="2000"/>
              <a:buFont typeface="Calibri"/>
              <a:buNone/>
            </a:pPr>
            <a:r>
              <a:rPr b="1" i="0" lang="tr-TR" sz="2000" u="none" cap="none" strike="noStrike">
                <a:solidFill>
                  <a:srgbClr val="444444"/>
                </a:solidFill>
                <a:latin typeface="Times New Roman"/>
                <a:ea typeface="Times New Roman"/>
                <a:cs typeface="Times New Roman"/>
                <a:sym typeface="Times New Roman"/>
              </a:rPr>
              <a:t>Top</a:t>
            </a:r>
            <a:r>
              <a:rPr b="0" i="0" lang="tr-TR" sz="2000" u="none" cap="none" strike="noStrike">
                <a:solidFill>
                  <a:srgbClr val="444444"/>
                </a:solidFill>
                <a:latin typeface="Times New Roman"/>
                <a:ea typeface="Times New Roman"/>
                <a:cs typeface="Times New Roman"/>
                <a:sym typeface="Times New Roman"/>
              </a:rPr>
              <a:t> adlı bir sınıf yazın. </a:t>
            </a:r>
            <a:r>
              <a:rPr b="1" i="0" lang="tr-TR" sz="2000" u="none" cap="none" strike="noStrike">
                <a:solidFill>
                  <a:srgbClr val="444444"/>
                </a:solidFill>
                <a:latin typeface="Times New Roman"/>
                <a:ea typeface="Times New Roman"/>
                <a:cs typeface="Times New Roman"/>
                <a:sym typeface="Times New Roman"/>
              </a:rPr>
              <a:t>Top</a:t>
            </a:r>
            <a:r>
              <a:rPr b="0" i="0" lang="tr-TR" sz="2000" u="none" cap="none" strike="noStrike">
                <a:solidFill>
                  <a:srgbClr val="444444"/>
                </a:solidFill>
                <a:latin typeface="Times New Roman"/>
                <a:ea typeface="Times New Roman"/>
                <a:cs typeface="Times New Roman"/>
                <a:sym typeface="Times New Roman"/>
              </a:rPr>
              <a:t> sınıfının iki adet özel değişkeni olmalı: </a:t>
            </a:r>
            <a:r>
              <a:rPr b="0" i="0" lang="tr-TR" sz="2000" u="sng" cap="none" strike="noStrike">
                <a:solidFill>
                  <a:srgbClr val="593470"/>
                </a:solidFill>
                <a:latin typeface="Times New Roman"/>
                <a:ea typeface="Times New Roman"/>
                <a:cs typeface="Times New Roman"/>
                <a:sym typeface="Times New Roman"/>
              </a:rPr>
              <a:t>renk</a:t>
            </a:r>
            <a:r>
              <a:rPr b="0" i="0" lang="tr-TR" sz="2000" u="none" cap="none" strike="noStrike">
                <a:solidFill>
                  <a:srgbClr val="444444"/>
                </a:solidFill>
                <a:latin typeface="Times New Roman"/>
                <a:ea typeface="Times New Roman"/>
                <a:cs typeface="Times New Roman"/>
                <a:sym typeface="Times New Roman"/>
              </a:rPr>
              <a:t> ve </a:t>
            </a:r>
            <a:r>
              <a:rPr b="0" i="0" lang="tr-TR" sz="2000" u="sng" cap="none" strike="noStrike">
                <a:solidFill>
                  <a:srgbClr val="593470"/>
                </a:solidFill>
                <a:latin typeface="Times New Roman"/>
                <a:ea typeface="Times New Roman"/>
                <a:cs typeface="Times New Roman"/>
                <a:sym typeface="Times New Roman"/>
              </a:rPr>
              <a:t>yarıçap</a:t>
            </a:r>
            <a:r>
              <a:rPr b="0" i="0" lang="tr-TR" sz="2000" u="none" cap="none" strike="noStrike">
                <a:solidFill>
                  <a:srgbClr val="444444"/>
                </a:solidFill>
                <a:latin typeface="Times New Roman"/>
                <a:ea typeface="Times New Roman"/>
                <a:cs typeface="Times New Roman"/>
                <a:sym typeface="Times New Roman"/>
              </a:rPr>
              <a:t>. </a:t>
            </a:r>
            <a:endParaRPr/>
          </a:p>
          <a:p>
            <a:pPr indent="0" lvl="2" marL="384048" marR="0" rtl="0" algn="just">
              <a:lnSpc>
                <a:spcPct val="100000"/>
              </a:lnSpc>
              <a:spcBef>
                <a:spcPts val="600"/>
              </a:spcBef>
              <a:spcAft>
                <a:spcPts val="0"/>
              </a:spcAft>
              <a:buClr>
                <a:schemeClr val="accent1"/>
              </a:buClr>
              <a:buSzPts val="2000"/>
              <a:buFont typeface="Calibri"/>
              <a:buNone/>
            </a:pPr>
            <a:r>
              <a:rPr b="0" i="0" lang="tr-TR" sz="2000" u="none" cap="none" strike="noStrike">
                <a:solidFill>
                  <a:srgbClr val="444444"/>
                </a:solidFill>
                <a:latin typeface="Times New Roman"/>
                <a:ea typeface="Times New Roman"/>
                <a:cs typeface="Times New Roman"/>
                <a:sym typeface="Times New Roman"/>
              </a:rPr>
              <a:t>Bunların  varsayılan değerleri sırasıyla </a:t>
            </a:r>
            <a:r>
              <a:rPr b="0" i="0" lang="tr-TR" sz="2000" u="sng" cap="none" strike="noStrike">
                <a:solidFill>
                  <a:srgbClr val="593470"/>
                </a:solidFill>
                <a:latin typeface="Times New Roman"/>
                <a:ea typeface="Times New Roman"/>
                <a:cs typeface="Times New Roman"/>
                <a:sym typeface="Times New Roman"/>
              </a:rPr>
              <a:t>kırmızı</a:t>
            </a:r>
            <a:r>
              <a:rPr b="0" i="0" lang="tr-TR" sz="2000" u="none" cap="none" strike="noStrike">
                <a:solidFill>
                  <a:srgbClr val="444444"/>
                </a:solidFill>
                <a:latin typeface="Times New Roman"/>
                <a:ea typeface="Times New Roman"/>
                <a:cs typeface="Times New Roman"/>
                <a:sym typeface="Times New Roman"/>
              </a:rPr>
              <a:t> ve </a:t>
            </a:r>
            <a:r>
              <a:rPr b="0" i="0" lang="tr-TR" sz="2000" u="sng" cap="none" strike="noStrike">
                <a:solidFill>
                  <a:srgbClr val="593470"/>
                </a:solidFill>
                <a:latin typeface="Times New Roman"/>
                <a:ea typeface="Times New Roman"/>
                <a:cs typeface="Times New Roman"/>
                <a:sym typeface="Times New Roman"/>
              </a:rPr>
              <a:t>5</a:t>
            </a:r>
            <a:r>
              <a:rPr b="0" i="0" lang="tr-TR" sz="2000" u="none" cap="none" strike="noStrike">
                <a:solidFill>
                  <a:srgbClr val="444444"/>
                </a:solidFill>
                <a:latin typeface="Times New Roman"/>
                <a:ea typeface="Times New Roman"/>
                <a:cs typeface="Times New Roman"/>
                <a:sym typeface="Times New Roman"/>
              </a:rPr>
              <a:t> olmalı. </a:t>
            </a:r>
            <a:endParaRPr/>
          </a:p>
          <a:p>
            <a:pPr indent="0" lvl="2" marL="384048" marR="0" rtl="0" algn="just">
              <a:lnSpc>
                <a:spcPct val="100000"/>
              </a:lnSpc>
              <a:spcBef>
                <a:spcPts val="600"/>
              </a:spcBef>
              <a:spcAft>
                <a:spcPts val="0"/>
              </a:spcAft>
              <a:buClr>
                <a:schemeClr val="accent1"/>
              </a:buClr>
              <a:buSzPts val="2000"/>
              <a:buFont typeface="Calibri"/>
              <a:buNone/>
            </a:pPr>
            <a:r>
              <a:rPr b="0" i="0" lang="tr-TR" sz="2000" u="none" cap="none" strike="noStrike">
                <a:solidFill>
                  <a:srgbClr val="444444"/>
                </a:solidFill>
                <a:latin typeface="Times New Roman"/>
                <a:ea typeface="Times New Roman"/>
                <a:cs typeface="Times New Roman"/>
                <a:sym typeface="Times New Roman"/>
              </a:rPr>
              <a:t>Bu sınıf için oluşturulacak yapıcı fonksiyonlar şunları yerine getirmeli:</a:t>
            </a:r>
            <a:endParaRPr/>
          </a:p>
          <a:p>
            <a:pPr indent="-342900" lvl="2" marL="726948" marR="0" rtl="0" algn="just">
              <a:lnSpc>
                <a:spcPct val="100000"/>
              </a:lnSpc>
              <a:spcBef>
                <a:spcPts val="600"/>
              </a:spcBef>
              <a:spcAft>
                <a:spcPts val="0"/>
              </a:spcAft>
              <a:buClr>
                <a:schemeClr val="accent1"/>
              </a:buClr>
              <a:buSzPts val="2000"/>
              <a:buFont typeface="Calibri"/>
              <a:buAutoNum type="arabicPeriod"/>
            </a:pPr>
            <a:r>
              <a:rPr b="0" i="0" lang="tr-TR" sz="2000" u="none" cap="none" strike="noStrike">
                <a:solidFill>
                  <a:schemeClr val="dk1"/>
                </a:solidFill>
                <a:latin typeface="Times New Roman"/>
                <a:ea typeface="Times New Roman"/>
                <a:cs typeface="Times New Roman"/>
                <a:sym typeface="Times New Roman"/>
              </a:rPr>
              <a:t>Yalnızca rengi ayarlamalı</a:t>
            </a:r>
            <a:endParaRPr/>
          </a:p>
          <a:p>
            <a:pPr indent="-342900" lvl="2" marL="726948" marR="0" rtl="0" algn="just">
              <a:lnSpc>
                <a:spcPct val="100000"/>
              </a:lnSpc>
              <a:spcBef>
                <a:spcPts val="600"/>
              </a:spcBef>
              <a:spcAft>
                <a:spcPts val="0"/>
              </a:spcAft>
              <a:buClr>
                <a:schemeClr val="accent1"/>
              </a:buClr>
              <a:buSzPts val="2000"/>
              <a:buFont typeface="Calibri"/>
              <a:buAutoNum type="arabicPeriod"/>
            </a:pPr>
            <a:r>
              <a:rPr b="0" i="0" lang="tr-TR" sz="2000" u="none" cap="none" strike="noStrike">
                <a:solidFill>
                  <a:schemeClr val="dk1"/>
                </a:solidFill>
                <a:latin typeface="Times New Roman"/>
                <a:ea typeface="Times New Roman"/>
                <a:cs typeface="Times New Roman"/>
                <a:sym typeface="Times New Roman"/>
              </a:rPr>
              <a:t>Yalnızca yarıçapı ayarlamalı</a:t>
            </a:r>
            <a:endParaRPr/>
          </a:p>
          <a:p>
            <a:pPr indent="-342900" lvl="2" marL="726948" marR="0" rtl="0" algn="just">
              <a:lnSpc>
                <a:spcPct val="100000"/>
              </a:lnSpc>
              <a:spcBef>
                <a:spcPts val="600"/>
              </a:spcBef>
              <a:spcAft>
                <a:spcPts val="0"/>
              </a:spcAft>
              <a:buClr>
                <a:schemeClr val="accent1"/>
              </a:buClr>
              <a:buSzPts val="2000"/>
              <a:buFont typeface="Calibri"/>
              <a:buAutoNum type="arabicPeriod"/>
            </a:pPr>
            <a:r>
              <a:rPr b="0" i="0" lang="tr-TR" sz="2000" u="none" cap="none" strike="noStrike">
                <a:solidFill>
                  <a:schemeClr val="dk1"/>
                </a:solidFill>
                <a:latin typeface="Times New Roman"/>
                <a:ea typeface="Times New Roman"/>
                <a:cs typeface="Times New Roman"/>
                <a:sym typeface="Times New Roman"/>
              </a:rPr>
              <a:t>Rengi ve yarıçapı birlikte ayarlamalı</a:t>
            </a:r>
            <a:endParaRPr/>
          </a:p>
          <a:p>
            <a:pPr indent="-342900" lvl="2" marL="726948" marR="0" rtl="0" algn="just">
              <a:lnSpc>
                <a:spcPct val="100000"/>
              </a:lnSpc>
              <a:spcBef>
                <a:spcPts val="600"/>
              </a:spcBef>
              <a:spcAft>
                <a:spcPts val="0"/>
              </a:spcAft>
              <a:buClr>
                <a:schemeClr val="accent1"/>
              </a:buClr>
              <a:buSzPts val="2000"/>
              <a:buFont typeface="Calibri"/>
              <a:buAutoNum type="arabicPeriod"/>
            </a:pPr>
            <a:r>
              <a:rPr b="0" i="0" lang="tr-TR" sz="2000" u="none" cap="none" strike="noStrike">
                <a:solidFill>
                  <a:schemeClr val="dk1"/>
                </a:solidFill>
                <a:latin typeface="Times New Roman"/>
                <a:ea typeface="Times New Roman"/>
                <a:cs typeface="Times New Roman"/>
                <a:sym typeface="Times New Roman"/>
              </a:rPr>
              <a:t>Hiçbir değeri ayarlamamalı</a:t>
            </a:r>
            <a:endParaRPr/>
          </a:p>
          <a:p>
            <a:pPr indent="0" lvl="2" marL="384048" marR="0" rtl="0" algn="just">
              <a:lnSpc>
                <a:spcPct val="100000"/>
              </a:lnSpc>
              <a:spcBef>
                <a:spcPts val="600"/>
              </a:spcBef>
              <a:spcAft>
                <a:spcPts val="0"/>
              </a:spcAft>
              <a:buClr>
                <a:schemeClr val="accent1"/>
              </a:buClr>
              <a:buSzPts val="2000"/>
              <a:buFont typeface="Calibri"/>
              <a:buNone/>
            </a:pPr>
            <a:r>
              <a:rPr b="0" i="0" lang="tr-TR" sz="2000" u="none" cap="none" strike="noStrike">
                <a:solidFill>
                  <a:schemeClr val="dk1"/>
                </a:solidFill>
                <a:latin typeface="Times New Roman"/>
                <a:ea typeface="Times New Roman"/>
                <a:cs typeface="Times New Roman"/>
                <a:sym typeface="Times New Roman"/>
              </a:rPr>
              <a:t>Bunların haricinde topun rengini ve yarıçapını ekrana yazdıran bir fonksiyon daha yazılmalı. </a:t>
            </a:r>
            <a:endParaRPr/>
          </a:p>
          <a:p>
            <a:pPr indent="0" lvl="2" marL="384048" marR="0" rtl="0" algn="just">
              <a:lnSpc>
                <a:spcPct val="100000"/>
              </a:lnSpc>
              <a:spcBef>
                <a:spcPts val="600"/>
              </a:spcBef>
              <a:spcAft>
                <a:spcPts val="0"/>
              </a:spcAft>
              <a:buClr>
                <a:schemeClr val="accent1"/>
              </a:buClr>
              <a:buSzPts val="2000"/>
              <a:buFont typeface="Calibri"/>
              <a:buNone/>
            </a:pPr>
            <a:r>
              <a:t/>
            </a:r>
            <a:endParaRPr b="0" i="0" sz="20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2000"/>
              <a:buFont typeface="Calibri"/>
              <a:buNone/>
            </a:pPr>
            <a:r>
              <a:t/>
            </a:r>
            <a:endParaRPr b="0" i="0" sz="2000" u="none" cap="none" strike="noStrike">
              <a:solidFill>
                <a:srgbClr val="444444"/>
              </a:solidFill>
              <a:latin typeface="Times New Roman"/>
              <a:ea typeface="Times New Roman"/>
              <a:cs typeface="Times New Roman"/>
              <a:sym typeface="Times New Roman"/>
            </a:endParaRPr>
          </a:p>
          <a:p>
            <a:pPr indent="0" lvl="2" marL="384048" marR="0" rtl="0" algn="just">
              <a:lnSpc>
                <a:spcPct val="100000"/>
              </a:lnSpc>
              <a:spcBef>
                <a:spcPts val="600"/>
              </a:spcBef>
              <a:spcAft>
                <a:spcPts val="0"/>
              </a:spcAft>
              <a:buClr>
                <a:schemeClr val="accent1"/>
              </a:buClr>
              <a:buSzPts val="2000"/>
              <a:buFont typeface="Calibri"/>
              <a:buNone/>
            </a:pPr>
            <a:r>
              <a:t/>
            </a:r>
            <a:endParaRPr b="0" i="0" sz="2000" u="none" cap="none" strike="noStrike">
              <a:solidFill>
                <a:srgbClr val="444444"/>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6"/>
          <p:cNvSpPr txBox="1"/>
          <p:nvPr/>
        </p:nvSpPr>
        <p:spPr>
          <a:xfrm>
            <a:off x="0" y="0"/>
            <a:ext cx="6094602"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2400">
                <a:solidFill>
                  <a:srgbClr val="7030A0"/>
                </a:solidFill>
                <a:latin typeface="Times New Roman"/>
                <a:ea typeface="Times New Roman"/>
                <a:cs typeface="Times New Roman"/>
                <a:sym typeface="Times New Roman"/>
              </a:rPr>
              <a:t>KAYNAKLAR</a:t>
            </a:r>
            <a:endParaRPr/>
          </a:p>
        </p:txBody>
      </p:sp>
      <p:sp>
        <p:nvSpPr>
          <p:cNvPr id="249" name="Google Shape;249;p16"/>
          <p:cNvSpPr txBox="1"/>
          <p:nvPr/>
        </p:nvSpPr>
        <p:spPr>
          <a:xfrm>
            <a:off x="0" y="461665"/>
            <a:ext cx="121920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[1] M. Zavrak, E. Aksoy, H. N. Karaca, </a:t>
            </a:r>
            <a:r>
              <a:rPr b="1" i="1" lang="tr-TR" sz="1800">
                <a:solidFill>
                  <a:schemeClr val="lt1"/>
                </a:solidFill>
                <a:latin typeface="Times New Roman"/>
                <a:ea typeface="Times New Roman"/>
                <a:cs typeface="Times New Roman"/>
                <a:sym typeface="Times New Roman"/>
              </a:rPr>
              <a:t>C ve C++</a:t>
            </a:r>
            <a:r>
              <a:rPr lang="tr-TR" sz="1800">
                <a:solidFill>
                  <a:schemeClr val="lt1"/>
                </a:solidFill>
                <a:latin typeface="Times New Roman"/>
                <a:ea typeface="Times New Roman"/>
                <a:cs typeface="Times New Roman"/>
                <a:sym typeface="Times New Roman"/>
              </a:rPr>
              <a:t>, Sistem Yayıncılık. </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[2] Prof. Dr. Mustafa Dikici,  </a:t>
            </a:r>
            <a:r>
              <a:rPr b="1" i="1" lang="tr-TR" sz="1800">
                <a:solidFill>
                  <a:schemeClr val="lt1"/>
                </a:solidFill>
                <a:latin typeface="Times New Roman"/>
                <a:ea typeface="Times New Roman"/>
                <a:cs typeface="Times New Roman"/>
                <a:sym typeface="Times New Roman"/>
              </a:rPr>
              <a:t>C++ Programlama Dili</a:t>
            </a:r>
            <a:r>
              <a:rPr lang="tr-TR" sz="1800">
                <a:solidFill>
                  <a:schemeClr val="lt1"/>
                </a:solidFill>
                <a:latin typeface="Times New Roman"/>
                <a:ea typeface="Times New Roman"/>
                <a:cs typeface="Times New Roman"/>
                <a:sym typeface="Times New Roman"/>
              </a:rPr>
              <a:t>, Seçkin Yayıncılık.</a:t>
            </a:r>
            <a:endParaRPr/>
          </a:p>
          <a:p>
            <a:pPr indent="0" lvl="0" marL="0" marR="0" rtl="0" algn="l">
              <a:spcBef>
                <a:spcPts val="0"/>
              </a:spcBef>
              <a:spcAft>
                <a:spcPts val="0"/>
              </a:spcAft>
              <a:buNone/>
            </a:pPr>
            <a:r>
              <a:rPr lang="tr-TR" sz="1800">
                <a:solidFill>
                  <a:schemeClr val="lt1"/>
                </a:solidFill>
                <a:latin typeface="Times New Roman"/>
                <a:ea typeface="Times New Roman"/>
                <a:cs typeface="Times New Roman"/>
                <a:sym typeface="Times New Roman"/>
              </a:rPr>
              <a:t>[3] M. Mastar, S. Eriş, </a:t>
            </a:r>
            <a:r>
              <a:rPr b="1" i="1" lang="tr-TR" sz="1800">
                <a:solidFill>
                  <a:schemeClr val="lt1"/>
                </a:solidFill>
                <a:latin typeface="Times New Roman"/>
                <a:ea typeface="Times New Roman"/>
                <a:cs typeface="Times New Roman"/>
                <a:sym typeface="Times New Roman"/>
              </a:rPr>
              <a:t>C++, </a:t>
            </a:r>
            <a:r>
              <a:rPr lang="tr-TR" sz="1800">
                <a:solidFill>
                  <a:schemeClr val="lt1"/>
                </a:solidFill>
                <a:latin typeface="Times New Roman"/>
                <a:ea typeface="Times New Roman"/>
                <a:cs typeface="Times New Roman"/>
                <a:sym typeface="Times New Roman"/>
              </a:rPr>
              <a:t>Kodlab Yayın Dağıtım.</a:t>
            </a:r>
            <a:endParaRPr sz="18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eçmişe bakış">
  <a:themeElements>
    <a:clrScheme name="Özel 1">
      <a:dk1>
        <a:srgbClr val="2D2D2D"/>
      </a:dk1>
      <a:lt1>
        <a:srgbClr val="2D2D2D"/>
      </a:lt1>
      <a:dk2>
        <a:srgbClr val="FFFFFF"/>
      </a:dk2>
      <a:lt2>
        <a:srgbClr val="FFFFFF"/>
      </a:lt2>
      <a:accent1>
        <a:srgbClr val="AD84C6"/>
      </a:accent1>
      <a:accent2>
        <a:srgbClr val="8784C7"/>
      </a:accent2>
      <a:accent3>
        <a:srgbClr val="5D739A"/>
      </a:accent3>
      <a:accent4>
        <a:srgbClr val="6997AF"/>
      </a:accent4>
      <a:accent5>
        <a:srgbClr val="84ACB6"/>
      </a:accent5>
      <a:accent6>
        <a:srgbClr val="F2F2F2"/>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2021-02-24T12:37:41Z</dcterms:created>
  <dc:creator>FUNDA KUTLU ONAY</dc:creator>
</cp:coreProperties>
</file>