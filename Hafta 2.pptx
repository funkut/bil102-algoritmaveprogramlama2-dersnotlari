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iEdn/pk5q4T6EkISNtoYYaAjW+q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 Slaydı" showMasterSp="0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59347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1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8"/>
          <p:cNvSpPr txBox="1"/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4C4C4C"/>
              </a:buClr>
              <a:buSzPts val="8000"/>
              <a:buFont typeface="Calibri"/>
              <a:buNone/>
              <a:defRPr sz="8000">
                <a:solidFill>
                  <a:srgbClr val="4C4C4C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8"/>
          <p:cNvSpPr txBox="1"/>
          <p:nvPr>
            <p:ph idx="1" type="subTitle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None/>
              <a:defRPr sz="2400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9" name="Google Shape;19;p18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8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8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  <p:cxnSp>
        <p:nvCxnSpPr>
          <p:cNvPr id="22" name="Google Shape;22;p18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cap="flat" cmpd="sng" w="9525">
            <a:solidFill>
              <a:srgbClr val="959595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ş" showMasterSp="0" type="blank">
  <p:cSld name="BLANK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59347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9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19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9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 ve İçerik" type="obj">
  <p:cSld name="OBJEC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60606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0"/>
          <p:cNvSpPr txBox="1"/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32" name="Google Shape;32;p20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0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0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ölüm Üst Bilgisi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59347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1"/>
          <p:cNvSpPr txBox="1"/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4C4C4C"/>
              </a:buClr>
              <a:buSzPts val="8000"/>
              <a:buFont typeface="Calibri"/>
              <a:buNone/>
              <a:defRPr b="0" sz="8000">
                <a:solidFill>
                  <a:srgbClr val="4C4C4C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" type="body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None/>
              <a:defRPr sz="2400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C8C8C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C8C8C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C8C8C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C8C8C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C8C8C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C8C8C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C8C8C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C8C8C"/>
                </a:solidFill>
              </a:defRPr>
            </a:lvl9pPr>
          </a:lstStyle>
          <a:p/>
        </p:txBody>
      </p:sp>
      <p:sp>
        <p:nvSpPr>
          <p:cNvPr id="40" name="Google Shape;40;p21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1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  <p:cxnSp>
        <p:nvCxnSpPr>
          <p:cNvPr id="43" name="Google Shape;43;p21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cap="flat" cmpd="sng" w="9525">
            <a:solidFill>
              <a:srgbClr val="959595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İki İçerik" type="twoObj">
  <p:cSld name="TWO_OBJECT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60606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2"/>
          <p:cNvSpPr txBox="1"/>
          <p:nvPr>
            <p:ph idx="1" type="body"/>
          </p:nvPr>
        </p:nvSpPr>
        <p:spPr>
          <a:xfrm>
            <a:off x="1097278" y="1845734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47" name="Google Shape;47;p22"/>
          <p:cNvSpPr txBox="1"/>
          <p:nvPr>
            <p:ph idx="2" type="body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48" name="Google Shape;48;p22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2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22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arşılaştırma" type="twoTxTwoObj">
  <p:cSld name="TWO_OBJECTS_WITH_TEX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3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60606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3"/>
          <p:cNvSpPr txBox="1"/>
          <p:nvPr>
            <p:ph idx="1" type="body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0" sz="2000" cap="none">
                <a:solidFill>
                  <a:schemeClr val="lt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23"/>
          <p:cNvSpPr txBox="1"/>
          <p:nvPr>
            <p:ph idx="2" type="body"/>
          </p:nvPr>
        </p:nvSpPr>
        <p:spPr>
          <a:xfrm>
            <a:off x="1097280" y="2582334"/>
            <a:ext cx="4937760" cy="33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55" name="Google Shape;55;p23"/>
          <p:cNvSpPr txBox="1"/>
          <p:nvPr>
            <p:ph idx="3" type="body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0" sz="2000" cap="none">
                <a:solidFill>
                  <a:schemeClr val="lt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6" name="Google Shape;56;p23"/>
          <p:cNvSpPr txBox="1"/>
          <p:nvPr>
            <p:ph idx="4" type="body"/>
          </p:nvPr>
        </p:nvSpPr>
        <p:spPr>
          <a:xfrm>
            <a:off x="6217920" y="2582334"/>
            <a:ext cx="4937760" cy="33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57" name="Google Shape;57;p23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3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Yalnızca Başlık" type="titleOnly">
  <p:cSld name="TITLE_ONL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4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60606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4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4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lı İçerik" showMasterSp="0" type="objTx">
  <p:cSld name="OBJECT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rgbClr val="59347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25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25"/>
          <p:cNvSpPr txBox="1"/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b="0"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5"/>
          <p:cNvSpPr txBox="1"/>
          <p:nvPr>
            <p:ph idx="1" type="body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2" type="body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sz="105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spcBef>
                <a:spcPts val="0"/>
              </a:spcBef>
              <a:buNone/>
              <a:defRPr sz="105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spcBef>
                <a:spcPts val="0"/>
              </a:spcBef>
              <a:buNone/>
              <a:defRPr sz="105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spcBef>
                <a:spcPts val="0"/>
              </a:spcBef>
              <a:buNone/>
              <a:defRPr sz="105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spcBef>
                <a:spcPts val="0"/>
              </a:spcBef>
              <a:buNone/>
              <a:defRPr sz="105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spcBef>
                <a:spcPts val="0"/>
              </a:spcBef>
              <a:buNone/>
              <a:defRPr sz="105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spcBef>
                <a:spcPts val="0"/>
              </a:spcBef>
              <a:buNone/>
              <a:defRPr sz="105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spcBef>
                <a:spcPts val="0"/>
              </a:spcBef>
              <a:buNone/>
              <a:defRPr sz="105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spcBef>
                <a:spcPts val="0"/>
              </a:spcBef>
              <a:buNone/>
              <a:defRPr sz="105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lı Resim" showMasterSp="0" type="picTx">
  <p:cSld name="PICTURE_WITH_CAPTION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rgbClr val="59347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26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26"/>
          <p:cNvSpPr txBox="1"/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91425" spcFirstLastPara="1" rIns="91425" wrap="square" tIns="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b="0"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/>
          <p:nvPr>
            <p:ph idx="2" type="pic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E5E5E5"/>
          </a:solidFill>
          <a:ln>
            <a:noFill/>
          </a:ln>
        </p:spPr>
      </p:sp>
      <p:sp>
        <p:nvSpPr>
          <p:cNvPr id="79" name="Google Shape;79;p26"/>
          <p:cNvSpPr txBox="1"/>
          <p:nvPr>
            <p:ph idx="1" type="body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80" name="Google Shape;80;p26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6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6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 ve Dikey Metin" type="vertTx">
  <p:cSld name="VERTICAL_TEX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7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60606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27"/>
          <p:cNvSpPr txBox="1"/>
          <p:nvPr>
            <p:ph idx="1" type="body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700" spcFirstLastPara="1" rIns="4570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86" name="Google Shape;86;p27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7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7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key Başlık ve Metin" showMasterSp="0" type="vertTitleAndTx">
  <p:cSld name="VERTICAL_TITLE_AND_VERTICAL_TEX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59347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8"/>
          <p:cNvSpPr txBox="1"/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60606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28"/>
          <p:cNvSpPr txBox="1"/>
          <p:nvPr>
            <p:ph idx="1" type="body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700" spcFirstLastPara="1" rIns="4570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/>
        </p:txBody>
      </p:sp>
      <p:sp>
        <p:nvSpPr>
          <p:cNvPr id="94" name="Google Shape;94;p28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8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8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rgbClr val="59347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7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" name="Google Shape;8;p17"/>
          <p:cNvSpPr txBox="1"/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606060"/>
              </a:buClr>
              <a:buSzPts val="4800"/>
              <a:buFont typeface="Calibri"/>
              <a:buNone/>
              <a:defRPr b="0" i="0" sz="4800" u="none" cap="none" strike="noStrike">
                <a:solidFill>
                  <a:srgbClr val="60606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" name="Google Shape;9;p17"/>
          <p:cNvSpPr txBox="1"/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rmAutofit/>
          </a:bodyPr>
          <a:lstStyle>
            <a:lvl1pPr indent="-3556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i="0" sz="2000" u="none" cap="none" strike="noStrike">
                <a:solidFill>
                  <a:srgbClr val="60606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i="0" sz="1800" u="none" cap="none" strike="noStrike">
                <a:solidFill>
                  <a:srgbClr val="60606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60606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60606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60606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60606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60606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60606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i="0" sz="1400" u="none" cap="none" strike="noStrike">
                <a:solidFill>
                  <a:srgbClr val="60606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7"/>
          <p:cNvSpPr txBox="1"/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17"/>
          <p:cNvSpPr txBox="1"/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7"/>
          <p:cNvSpPr txBox="1"/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  <p:cxnSp>
        <p:nvCxnSpPr>
          <p:cNvPr id="13" name="Google Shape;13;p17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959595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0.png"/><Relationship Id="rId4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14.png"/><Relationship Id="rId5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"/>
          <p:cNvSpPr txBox="1"/>
          <p:nvPr>
            <p:ph type="ctrTitle"/>
          </p:nvPr>
        </p:nvSpPr>
        <p:spPr>
          <a:xfrm>
            <a:off x="0" y="3162968"/>
            <a:ext cx="12192000" cy="82366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/>
              <a:buNone/>
            </a:pPr>
            <a:r>
              <a:rPr lang="tr-TR" sz="4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BM0102</a:t>
            </a:r>
            <a:r>
              <a:rPr lang="tr-TR" sz="4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-ALGORİTMA ve PROGRAMLAMA II</a:t>
            </a:r>
            <a:endParaRPr/>
          </a:p>
        </p:txBody>
      </p:sp>
      <p:sp>
        <p:nvSpPr>
          <p:cNvPr id="102" name="Google Shape;102;p1"/>
          <p:cNvSpPr txBox="1"/>
          <p:nvPr>
            <p:ph idx="1" type="subTitle"/>
          </p:nvPr>
        </p:nvSpPr>
        <p:spPr>
          <a:xfrm>
            <a:off x="1" y="2036685"/>
            <a:ext cx="12192000" cy="11262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tr-TR" sz="3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MÜHENDİSLİK </a:t>
            </a:r>
            <a:r>
              <a:rPr lang="tr-TR" sz="3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FAKÜLTESİ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tr-TR" sz="3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BİLGİSAYAR MÜHENDİSLİĞİ BÖLÜMÜ</a:t>
            </a:r>
            <a:endParaRPr/>
          </a:p>
        </p:txBody>
      </p:sp>
      <p:pic>
        <p:nvPicPr>
          <p:cNvPr descr="Amasya Üniversitesi Logo Vector (.AI) Free Download" id="103" name="Google Shape;10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99293" y="159026"/>
            <a:ext cx="1889990" cy="165689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/>
          <p:nvPr/>
        </p:nvSpPr>
        <p:spPr>
          <a:xfrm>
            <a:off x="0" y="4432605"/>
            <a:ext cx="12192000" cy="110412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None/>
            </a:pPr>
            <a:r>
              <a:rPr b="0" i="0" lang="tr-TR" sz="25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Hafta 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/>
              <a:buNone/>
            </a:pPr>
            <a:r>
              <a:rPr b="0" i="0" lang="tr-TR" sz="4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C++ Programlama Diline Giriş</a:t>
            </a:r>
            <a:endParaRPr/>
          </a:p>
        </p:txBody>
      </p:sp>
      <p:sp>
        <p:nvSpPr>
          <p:cNvPr id="105" name="Google Shape;105;p1"/>
          <p:cNvSpPr txBox="1"/>
          <p:nvPr/>
        </p:nvSpPr>
        <p:spPr>
          <a:xfrm>
            <a:off x="139485" y="5724630"/>
            <a:ext cx="12191999" cy="5074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</a:pPr>
            <a:r>
              <a:rPr lang="tr-TR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Doç. Dr. </a:t>
            </a:r>
            <a:r>
              <a:rPr b="0" i="0" lang="tr-TR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Funda KUTLU ONAY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 txBox="1"/>
          <p:nvPr>
            <p:ph idx="4294967295" type="subTitle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3175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Font typeface="Calibri"/>
              <a:buChar char=" "/>
            </a:pPr>
            <a:r>
              <a:rPr b="0" i="0" lang="tr-TR" sz="5000" u="none" cap="none" strike="noStrike">
                <a:solidFill>
                  <a:srgbClr val="7030A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ÖRNEKLER</a:t>
            </a:r>
            <a:endParaRPr/>
          </a:p>
          <a:p>
            <a:pPr indent="-127000" lvl="0" marL="91440" marR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</a:pPr>
            <a:r>
              <a:rPr b="0" i="0" lang="tr-TR" sz="2000" u="none" cap="none" strike="noStrike">
                <a:solidFill>
                  <a:srgbClr val="7030A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(Devam)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"/>
          <p:cNvSpPr txBox="1"/>
          <p:nvPr/>
        </p:nvSpPr>
        <p:spPr>
          <a:xfrm>
            <a:off x="-92279" y="0"/>
            <a:ext cx="12192000" cy="36072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Girilen sayının 3′ e </a:t>
            </a:r>
            <a:r>
              <a:rPr b="1" i="0" lang="tr-TR" sz="1800" u="sng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</a:t>
            </a: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5′ e tam bölünüp bölünmediğini gösteren C++ kodu:</a:t>
            </a:r>
            <a:endParaRPr b="1" i="0" sz="18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6" name="Google Shape;11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05545" y="360727"/>
            <a:ext cx="558091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3"/>
          <p:cNvSpPr txBox="1"/>
          <p:nvPr/>
        </p:nvSpPr>
        <p:spPr>
          <a:xfrm>
            <a:off x="0" y="3061090"/>
            <a:ext cx="12192000" cy="36072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Girilen sayının 0-100 aralığında olup olmadığını gösteren C++ kodu:</a:t>
            </a:r>
            <a:endParaRPr b="1" i="0" sz="18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8" name="Google Shape;11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6633" y="3538681"/>
            <a:ext cx="4178734" cy="252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"/>
          <p:cNvSpPr txBox="1"/>
          <p:nvPr/>
        </p:nvSpPr>
        <p:spPr>
          <a:xfrm>
            <a:off x="0" y="106498"/>
            <a:ext cx="12192000" cy="36072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Vize ve final notuna göre dersten geçme/kalma durumunu gösteren C++ kodu:</a:t>
            </a:r>
            <a:endParaRPr b="1" i="0" sz="18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4" name="Google Shape;12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22462" y="692801"/>
            <a:ext cx="5747075" cy="432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"/>
          <p:cNvSpPr txBox="1"/>
          <p:nvPr>
            <p:ph idx="4294967295" type="subTitle"/>
          </p:nvPr>
        </p:nvSpPr>
        <p:spPr>
          <a:xfrm>
            <a:off x="0" y="0"/>
            <a:ext cx="12192000" cy="36072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0-100 aralığındaki sayıları </a:t>
            </a:r>
            <a:r>
              <a:rPr b="1" i="1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</a:t>
            </a: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döngüsü ile gösteren C++ kodu:</a:t>
            </a:r>
            <a:endParaRPr b="1" i="0" sz="18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33338" y="536725"/>
            <a:ext cx="5725324" cy="2257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71443" y="3631830"/>
            <a:ext cx="5649113" cy="2048161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5"/>
          <p:cNvSpPr txBox="1"/>
          <p:nvPr/>
        </p:nvSpPr>
        <p:spPr>
          <a:xfrm>
            <a:off x="-38106" y="3032784"/>
            <a:ext cx="12192000" cy="36072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0-100 aralığındaki çift sayıları listeleyen C++ kodu:</a:t>
            </a:r>
            <a:endParaRPr b="1" i="0" sz="18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"/>
          <p:cNvSpPr txBox="1"/>
          <p:nvPr>
            <p:ph idx="4294967295" type="subTitle"/>
          </p:nvPr>
        </p:nvSpPr>
        <p:spPr>
          <a:xfrm>
            <a:off x="0" y="0"/>
            <a:ext cx="12192000" cy="36072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Kullanıcıdan girilen 5 sayının ortalamasını hesaplayıp ekranda gösteren C++ kodu:</a:t>
            </a:r>
            <a:endParaRPr b="1" i="0" sz="18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8" name="Google Shape;138;p6"/>
          <p:cNvSpPr txBox="1"/>
          <p:nvPr/>
        </p:nvSpPr>
        <p:spPr>
          <a:xfrm>
            <a:off x="0" y="3248636"/>
            <a:ext cx="12192000" cy="36072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Dışardan girilen bir sayının faktöriyelini hesaplayan C++ kodu (</a:t>
            </a:r>
            <a:r>
              <a:rPr b="1" i="1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</a:t>
            </a: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ile):</a:t>
            </a:r>
            <a:endParaRPr b="1" i="0" sz="18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9" name="Google Shape;13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03134" y="512784"/>
            <a:ext cx="5309519" cy="25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6"/>
          <p:cNvPicPr preferRelativeResize="0"/>
          <p:nvPr/>
        </p:nvPicPr>
        <p:blipFill rotWithShape="1">
          <a:blip r:embed="rId4">
            <a:alphaModFix/>
          </a:blip>
          <a:srcRect b="-1" l="0" r="0" t="1062"/>
          <a:stretch/>
        </p:blipFill>
        <p:spPr>
          <a:xfrm>
            <a:off x="3367162" y="3609363"/>
            <a:ext cx="5381461" cy="32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"/>
          <p:cNvSpPr txBox="1"/>
          <p:nvPr>
            <p:ph idx="4294967295" type="subTitle"/>
          </p:nvPr>
        </p:nvSpPr>
        <p:spPr>
          <a:xfrm>
            <a:off x="0" y="0"/>
            <a:ext cx="12192000" cy="36072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Dışardan girilen bir sayının faktöriyelini hesaplayan C++ kodu (</a:t>
            </a:r>
            <a:r>
              <a:rPr b="1" i="1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while</a:t>
            </a: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ile):</a:t>
            </a:r>
            <a:endParaRPr/>
          </a:p>
        </p:txBody>
      </p:sp>
      <p:pic>
        <p:nvPicPr>
          <p:cNvPr id="146" name="Google Shape;14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4339" y="755009"/>
            <a:ext cx="5963322" cy="432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"/>
          <p:cNvSpPr txBox="1"/>
          <p:nvPr>
            <p:ph idx="4294967295" type="subTitle"/>
          </p:nvPr>
        </p:nvSpPr>
        <p:spPr>
          <a:xfrm>
            <a:off x="0" y="0"/>
            <a:ext cx="12192000" cy="5033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Basit hesap makinesi C++ kodu (</a:t>
            </a:r>
            <a:r>
              <a:rPr b="1" i="1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switch-case </a:t>
            </a: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yapısı ile):</a:t>
            </a:r>
            <a:endParaRPr/>
          </a:p>
        </p:txBody>
      </p:sp>
      <p:pic>
        <p:nvPicPr>
          <p:cNvPr id="152" name="Google Shape;15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76318" y="503339"/>
            <a:ext cx="6174924" cy="54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"/>
          <p:cNvSpPr txBox="1"/>
          <p:nvPr>
            <p:ph idx="4294967295" type="subTitle"/>
          </p:nvPr>
        </p:nvSpPr>
        <p:spPr>
          <a:xfrm>
            <a:off x="0" y="0"/>
            <a:ext cx="12192000" cy="5033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Bir sayı dizisinin elemanlarını ekranda gösteren kodu:</a:t>
            </a:r>
            <a:endParaRPr/>
          </a:p>
        </p:txBody>
      </p:sp>
      <p:pic>
        <p:nvPicPr>
          <p:cNvPr id="158" name="Google Shape;15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93012" y="503339"/>
            <a:ext cx="6205971" cy="21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9"/>
          <p:cNvSpPr txBox="1"/>
          <p:nvPr/>
        </p:nvSpPr>
        <p:spPr>
          <a:xfrm>
            <a:off x="0" y="2946537"/>
            <a:ext cx="12192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Bir sayı dizisine klavyeden değer alan ve değerleri ekranda gösteren C++ kodu:</a:t>
            </a:r>
            <a:endParaRPr/>
          </a:p>
        </p:txBody>
      </p:sp>
      <p:pic>
        <p:nvPicPr>
          <p:cNvPr id="160" name="Google Shape;16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28952" y="3429000"/>
            <a:ext cx="5734092" cy="27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"/>
          <p:cNvSpPr txBox="1"/>
          <p:nvPr>
            <p:ph idx="4294967295" type="subTitle"/>
          </p:nvPr>
        </p:nvSpPr>
        <p:spPr>
          <a:xfrm>
            <a:off x="0" y="0"/>
            <a:ext cx="12192000" cy="5033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Değerleri klavyeden girilen bir sayı dizisinin ortalamasını hesaplayan C++ kodu:</a:t>
            </a:r>
            <a:endParaRPr/>
          </a:p>
        </p:txBody>
      </p:sp>
      <p:sp>
        <p:nvSpPr>
          <p:cNvPr id="166" name="Google Shape;166;p10"/>
          <p:cNvSpPr txBox="1"/>
          <p:nvPr/>
        </p:nvSpPr>
        <p:spPr>
          <a:xfrm>
            <a:off x="-4" y="3075457"/>
            <a:ext cx="12192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İki boyutlu dizinin elemanlarını gösteren C++ kodu:</a:t>
            </a:r>
            <a:endParaRPr b="1" i="0" sz="1800" u="none" cap="none" strike="noStrike">
              <a:solidFill>
                <a:srgbClr val="4444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67" name="Google Shape;167;p10"/>
          <p:cNvPicPr preferRelativeResize="0"/>
          <p:nvPr/>
        </p:nvPicPr>
        <p:blipFill rotWithShape="1">
          <a:blip r:embed="rId3">
            <a:alphaModFix/>
          </a:blip>
          <a:srcRect b="-1" l="0" r="0" t="1191"/>
          <a:stretch/>
        </p:blipFill>
        <p:spPr>
          <a:xfrm>
            <a:off x="3751302" y="494950"/>
            <a:ext cx="4689391" cy="2489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20996" y="3535308"/>
            <a:ext cx="6149999" cy="252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1"/>
          <p:cNvSpPr txBox="1"/>
          <p:nvPr>
            <p:ph idx="4294967295" type="subTitle"/>
          </p:nvPr>
        </p:nvSpPr>
        <p:spPr>
          <a:xfrm>
            <a:off x="0" y="0"/>
            <a:ext cx="12192000" cy="5033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-114300" lvl="0" marL="9144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 "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Dışardan girilen karakter dizisini ekranda gösteren C++ kodu (</a:t>
            </a:r>
            <a:r>
              <a:rPr b="1" i="1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cin ve gets_s()</a:t>
            </a: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ile):</a:t>
            </a:r>
            <a:endParaRPr/>
          </a:p>
        </p:txBody>
      </p:sp>
      <p:sp>
        <p:nvSpPr>
          <p:cNvPr id="174" name="Google Shape;174;p11"/>
          <p:cNvSpPr txBox="1"/>
          <p:nvPr/>
        </p:nvSpPr>
        <p:spPr>
          <a:xfrm>
            <a:off x="-4" y="3075457"/>
            <a:ext cx="12192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Dışardan girilen karakter dizilerini birleştirip ekranda gösteren C++ kodu:</a:t>
            </a:r>
            <a:endParaRPr/>
          </a:p>
        </p:txBody>
      </p:sp>
      <p:pic>
        <p:nvPicPr>
          <p:cNvPr id="175" name="Google Shape;175;p11"/>
          <p:cNvPicPr preferRelativeResize="0"/>
          <p:nvPr/>
        </p:nvPicPr>
        <p:blipFill rotWithShape="1">
          <a:blip r:embed="rId3">
            <a:alphaModFix/>
          </a:blip>
          <a:srcRect b="0" l="0" r="0" t="579"/>
          <a:stretch/>
        </p:blipFill>
        <p:spPr>
          <a:xfrm>
            <a:off x="2221033" y="503339"/>
            <a:ext cx="3396991" cy="25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2615" y="503339"/>
            <a:ext cx="3406299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1"/>
          <p:cNvSpPr/>
          <p:nvPr/>
        </p:nvSpPr>
        <p:spPr>
          <a:xfrm>
            <a:off x="4425488" y="1402613"/>
            <a:ext cx="906011" cy="218113"/>
          </a:xfrm>
          <a:prstGeom prst="rect">
            <a:avLst/>
          </a:prstGeom>
          <a:noFill/>
          <a:ln cap="flat" cmpd="sng" w="158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1"/>
          <p:cNvSpPr/>
          <p:nvPr/>
        </p:nvSpPr>
        <p:spPr>
          <a:xfrm>
            <a:off x="8612992" y="1396768"/>
            <a:ext cx="1145922" cy="218113"/>
          </a:xfrm>
          <a:prstGeom prst="rect">
            <a:avLst/>
          </a:prstGeom>
          <a:noFill/>
          <a:ln cap="flat" cmpd="sng" w="158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9" name="Google Shape;179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19528" y="3526678"/>
            <a:ext cx="3815000" cy="252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"/>
          <p:cNvSpPr txBox="1"/>
          <p:nvPr>
            <p:ph idx="4294967295" type="subTitle"/>
          </p:nvPr>
        </p:nvSpPr>
        <p:spPr>
          <a:xfrm>
            <a:off x="0" y="0"/>
            <a:ext cx="12192000" cy="5033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Girilen 3 sayıdan en büyüğünü (fonksiyon yapısı kullanarak) bulan C++ kodu:</a:t>
            </a:r>
            <a:endParaRPr/>
          </a:p>
        </p:txBody>
      </p:sp>
      <p:pic>
        <p:nvPicPr>
          <p:cNvPr id="185" name="Google Shape;18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38142" y="610532"/>
            <a:ext cx="5315716" cy="432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3"/>
          <p:cNvSpPr txBox="1"/>
          <p:nvPr>
            <p:ph idx="4294967295" type="subTitle"/>
          </p:nvPr>
        </p:nvSpPr>
        <p:spPr>
          <a:xfrm>
            <a:off x="0" y="0"/>
            <a:ext cx="12192000" cy="5033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Girilen sayının faktöriyelini (rekürsif fonksiyon yapısı ile) hesaplayan C++ kodu:</a:t>
            </a:r>
            <a:endParaRPr/>
          </a:p>
        </p:txBody>
      </p:sp>
      <p:pic>
        <p:nvPicPr>
          <p:cNvPr id="191" name="Google Shape;19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90117" y="660816"/>
            <a:ext cx="6211765" cy="432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4"/>
          <p:cNvSpPr txBox="1"/>
          <p:nvPr>
            <p:ph idx="4294967295" type="subTitle"/>
          </p:nvPr>
        </p:nvSpPr>
        <p:spPr>
          <a:xfrm>
            <a:off x="0" y="0"/>
            <a:ext cx="12192000" cy="5033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Bir değişkenin değerini ve adresini gösteren C++ kodu:</a:t>
            </a:r>
            <a:endParaRPr/>
          </a:p>
        </p:txBody>
      </p:sp>
      <p:pic>
        <p:nvPicPr>
          <p:cNvPr id="197" name="Google Shape;19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3091" y="615454"/>
            <a:ext cx="5465817" cy="25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31937" y="3722546"/>
            <a:ext cx="4528124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4"/>
          <p:cNvSpPr txBox="1"/>
          <p:nvPr/>
        </p:nvSpPr>
        <p:spPr>
          <a:xfrm>
            <a:off x="0" y="3247569"/>
            <a:ext cx="12192000" cy="5033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C++ ile gösterici aritmetiği: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"/>
          <p:cNvSpPr txBox="1"/>
          <p:nvPr>
            <p:ph idx="4294967295" type="subTitle"/>
          </p:nvPr>
        </p:nvSpPr>
        <p:spPr>
          <a:xfrm>
            <a:off x="0" y="0"/>
            <a:ext cx="12192000" cy="5033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</a:pPr>
            <a:r>
              <a:rPr b="1" i="0" lang="tr-TR" sz="1800" u="none" cap="none" strike="noStrike">
                <a:solidFill>
                  <a:srgbClr val="4444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Girilen karakter dizisini (pointer kullanarak) ekranda gösteren C++ kodu:</a:t>
            </a:r>
            <a:endParaRPr/>
          </a:p>
        </p:txBody>
      </p:sp>
      <p:pic>
        <p:nvPicPr>
          <p:cNvPr id="205" name="Google Shape;20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39079" y="503339"/>
            <a:ext cx="6012000" cy="432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6"/>
          <p:cNvSpPr txBox="1"/>
          <p:nvPr/>
        </p:nvSpPr>
        <p:spPr>
          <a:xfrm>
            <a:off x="0" y="0"/>
            <a:ext cx="6094602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tr-TR" sz="2400" u="none" cap="none" strike="noStrike">
                <a:solidFill>
                  <a:srgbClr val="7030A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KAYNAKLAR</a:t>
            </a:r>
            <a:endParaRPr/>
          </a:p>
        </p:txBody>
      </p:sp>
      <p:sp>
        <p:nvSpPr>
          <p:cNvPr id="211" name="Google Shape;211;p16"/>
          <p:cNvSpPr txBox="1"/>
          <p:nvPr/>
        </p:nvSpPr>
        <p:spPr>
          <a:xfrm>
            <a:off x="0" y="461665"/>
            <a:ext cx="12192000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 M. Zavrak, E. Aksoy, H. N. Karaca, </a:t>
            </a:r>
            <a:r>
              <a:rPr b="1" i="1" lang="tr-TR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 ve C++</a:t>
            </a:r>
            <a:r>
              <a:rPr lang="tr-TR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Sistem Yayıncılık.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[2] Prof. Dr. Mustafa Dikici,  </a:t>
            </a:r>
            <a:r>
              <a:rPr b="1" i="1" lang="tr-TR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C++ Programlama Dili</a:t>
            </a:r>
            <a:r>
              <a:rPr lang="tr-TR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Seçkin Yayıncılık.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[3] M. Mastar, S. Eriş, </a:t>
            </a:r>
            <a:r>
              <a:rPr b="1" i="1" lang="tr-TR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C++, </a:t>
            </a:r>
            <a:r>
              <a:rPr lang="tr-TR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Kodlab Yayın Dağıtım.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çmişe bakış">
  <a:themeElements>
    <a:clrScheme name="Özel 1">
      <a:dk1>
        <a:srgbClr val="2D2D2D"/>
      </a:dk1>
      <a:lt1>
        <a:srgbClr val="2D2D2D"/>
      </a:lt1>
      <a:dk2>
        <a:srgbClr val="FFFFFF"/>
      </a:dk2>
      <a:lt2>
        <a:srgbClr val="FFFFFF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F2F2F2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2021-02-24T12:37:41Z</dcterms:created>
  <dc:creator>FUNDA KUTLU ONAY</dc:creator>
</cp:coreProperties>
</file>