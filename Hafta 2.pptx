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sldIdLst>
    <p:sldId id="256" r:id="rId2"/>
    <p:sldId id="281" r:id="rId3"/>
    <p:sldId id="284" r:id="rId4"/>
    <p:sldId id="285" r:id="rId5"/>
    <p:sldId id="286" r:id="rId6"/>
    <p:sldId id="287" r:id="rId7"/>
    <p:sldId id="283" r:id="rId8"/>
    <p:sldId id="288" r:id="rId9"/>
    <p:sldId id="290" r:id="rId10"/>
    <p:sldId id="291" r:id="rId11"/>
    <p:sldId id="292" r:id="rId12"/>
    <p:sldId id="294" r:id="rId13"/>
    <p:sldId id="295" r:id="rId14"/>
    <p:sldId id="296" r:id="rId15"/>
    <p:sldId id="297" r:id="rId16"/>
    <p:sldId id="2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00FF"/>
    <a:srgbClr val="FF6600"/>
    <a:srgbClr val="FF3399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BİL102-ALGORİTMA ve PROGRAMLAMA II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</a:t>
            </a:r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2</a:t>
            </a:r>
          </a:p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Programlama Diline Giriş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Funda 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tr-TR" sz="5000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ÖRNEKLER</a:t>
            </a:r>
          </a:p>
          <a:p>
            <a:pPr algn="ctr"/>
            <a:r>
              <a:rPr lang="tr-TR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(Devam)</a:t>
            </a:r>
          </a:p>
        </p:txBody>
      </p:sp>
    </p:spTree>
    <p:extLst>
      <p:ext uri="{BB962C8B-B14F-4D97-AF65-F5344CB8AC3E}">
        <p14:creationId xmlns:p14="http://schemas.microsoft.com/office/powerpoint/2010/main" val="240566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lt Başlık 2">
            <a:extLst>
              <a:ext uri="{FF2B5EF4-FFF2-40B4-BE49-F238E27FC236}">
                <a16:creationId xmlns:a16="http://schemas.microsoft.com/office/drawing/2014/main" id="{A9C05B6A-7E44-4414-8745-CFB0773CBA81}"/>
              </a:ext>
            </a:extLst>
          </p:cNvPr>
          <p:cNvSpPr txBox="1">
            <a:spLocks/>
          </p:cNvSpPr>
          <p:nvPr/>
        </p:nvSpPr>
        <p:spPr>
          <a:xfrm>
            <a:off x="-92279" y="0"/>
            <a:ext cx="12192000" cy="36072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Girilen sayının 3′ e </a:t>
            </a:r>
            <a:r>
              <a:rPr lang="tr-TR" sz="1800" b="1" u="sng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5′ e tam bölünüp bölünmediğini gösteren C++ kodu: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B4E38558-0B43-4544-A66F-99A5A8FC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45" y="360727"/>
            <a:ext cx="5580910" cy="2520000"/>
          </a:xfrm>
          <a:prstGeom prst="rect">
            <a:avLst/>
          </a:prstGeom>
        </p:spPr>
      </p:pic>
      <p:sp>
        <p:nvSpPr>
          <p:cNvPr id="7" name="Alt Başlık 2">
            <a:extLst>
              <a:ext uri="{FF2B5EF4-FFF2-40B4-BE49-F238E27FC236}">
                <a16:creationId xmlns:a16="http://schemas.microsoft.com/office/drawing/2014/main" id="{8BE7DD02-D975-4ECE-AA43-BCE8EFA4380F}"/>
              </a:ext>
            </a:extLst>
          </p:cNvPr>
          <p:cNvSpPr txBox="1">
            <a:spLocks/>
          </p:cNvSpPr>
          <p:nvPr/>
        </p:nvSpPr>
        <p:spPr>
          <a:xfrm>
            <a:off x="0" y="3061090"/>
            <a:ext cx="12192000" cy="36072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1800" b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Girilen sayının 0-100 aralığında olup olmadığını gösteren C++ kodu: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F2DF1A8-4349-4A61-90B9-55903AC39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633" y="3538681"/>
            <a:ext cx="417873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0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lt Başlık 2">
            <a:extLst>
              <a:ext uri="{FF2B5EF4-FFF2-40B4-BE49-F238E27FC236}">
                <a16:creationId xmlns:a16="http://schemas.microsoft.com/office/drawing/2014/main" id="{A87EB422-EA03-49C6-9383-3D15A0A40982}"/>
              </a:ext>
            </a:extLst>
          </p:cNvPr>
          <p:cNvSpPr txBox="1">
            <a:spLocks/>
          </p:cNvSpPr>
          <p:nvPr/>
        </p:nvSpPr>
        <p:spPr>
          <a:xfrm>
            <a:off x="0" y="106498"/>
            <a:ext cx="12192000" cy="36072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Vize ve final notuna göre dersten geçme/kalma durumunu gösteren C++ kodu: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A6BB7780-BE76-4503-B3A6-D18B1DAE7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62" y="692801"/>
            <a:ext cx="574707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3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360727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0-100 aralığındaki sayıları </a:t>
            </a:r>
            <a:r>
              <a:rPr lang="tr-TR" sz="1800" b="1" i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döngüsü ile gösteren C++ kodu: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54CE1C6-C475-4464-B9C3-639ACA72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38" y="536725"/>
            <a:ext cx="5725324" cy="225774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A373903B-E50C-4801-8B7D-79764724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443" y="3631830"/>
            <a:ext cx="5649113" cy="2048161"/>
          </a:xfrm>
          <a:prstGeom prst="rect">
            <a:avLst/>
          </a:prstGeom>
        </p:spPr>
      </p:pic>
      <p:sp>
        <p:nvSpPr>
          <p:cNvPr id="8" name="Alt Başlık 2">
            <a:extLst>
              <a:ext uri="{FF2B5EF4-FFF2-40B4-BE49-F238E27FC236}">
                <a16:creationId xmlns:a16="http://schemas.microsoft.com/office/drawing/2014/main" id="{569214F7-79D9-4C95-BF1D-CB545244DB8B}"/>
              </a:ext>
            </a:extLst>
          </p:cNvPr>
          <p:cNvSpPr txBox="1">
            <a:spLocks/>
          </p:cNvSpPr>
          <p:nvPr/>
        </p:nvSpPr>
        <p:spPr>
          <a:xfrm>
            <a:off x="-38106" y="3032784"/>
            <a:ext cx="12192000" cy="36072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0-100 aralığındaki çift sayıları listeleyen C++ kodu: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45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360727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Kullanıcıdan girilen 5 sayının ortalamasını hesaplayıp ekranda gösteren C++ kodu: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lt Başlık 2">
            <a:extLst>
              <a:ext uri="{FF2B5EF4-FFF2-40B4-BE49-F238E27FC236}">
                <a16:creationId xmlns:a16="http://schemas.microsoft.com/office/drawing/2014/main" id="{569214F7-79D9-4C95-BF1D-CB545244DB8B}"/>
              </a:ext>
            </a:extLst>
          </p:cNvPr>
          <p:cNvSpPr txBox="1">
            <a:spLocks/>
          </p:cNvSpPr>
          <p:nvPr/>
        </p:nvSpPr>
        <p:spPr>
          <a:xfrm>
            <a:off x="0" y="3248636"/>
            <a:ext cx="12192000" cy="36072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Dışardan girilen bir sayının faktöriyelini hesaplayan C++ kodu (</a:t>
            </a:r>
            <a:r>
              <a:rPr lang="tr-TR" sz="1800" b="1" i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ile):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88312E42-099A-4C11-BDF0-1BDE78595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134" y="512784"/>
            <a:ext cx="5309519" cy="252000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6E556E2B-51EF-4AA2-9486-9E3F0AECAB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62" b="-1"/>
          <a:stretch/>
        </p:blipFill>
        <p:spPr>
          <a:xfrm>
            <a:off x="3367162" y="3609363"/>
            <a:ext cx="5381461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5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360727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Dışardan girilen bir sayının faktöriyelini hesaplayan C++ kodu (</a:t>
            </a:r>
            <a:r>
              <a:rPr lang="tr-TR" sz="1800" b="1" i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ile):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A697AAF-14CE-4CC0-B483-790025B28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339" y="755009"/>
            <a:ext cx="596332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Basit hesap makinesi C++ kodu (</a:t>
            </a:r>
            <a:r>
              <a:rPr lang="tr-TR" sz="1800" b="1" i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switch-case</a:t>
            </a:r>
            <a:r>
              <a:rPr lang="tr-TR" sz="1800" b="1" i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yapısı ile):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9AE3BD9-9BFB-43DF-879D-978BD6E76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18" y="503339"/>
            <a:ext cx="617492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9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sayı dizisinin elemanlarını ekranda gösteren kodu: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2D418B4-BF23-4EC9-AF24-921B68F82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012" y="503339"/>
            <a:ext cx="6205971" cy="216000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90D9840-C120-417D-A062-3799BEB6C498}"/>
              </a:ext>
            </a:extLst>
          </p:cNvPr>
          <p:cNvSpPr txBox="1"/>
          <p:nvPr/>
        </p:nvSpPr>
        <p:spPr>
          <a:xfrm>
            <a:off x="0" y="294653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sayı dizisine klavyeden değer alan ve değerleri ekranda gösteren C++ kodu: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64CBB913-B326-4802-AB6C-34C91E999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52" y="3429000"/>
            <a:ext cx="5734092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Değerleri klavyeden girilen bir sayı dizisinin ortalamasını hesaplayan C++ kodu: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90D9840-C120-417D-A062-3799BEB6C498}"/>
              </a:ext>
            </a:extLst>
          </p:cNvPr>
          <p:cNvSpPr txBox="1"/>
          <p:nvPr/>
        </p:nvSpPr>
        <p:spPr>
          <a:xfrm>
            <a:off x="-4" y="307545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İki boyutlu dizinin elemanlarını gösteren C++ kodu:</a:t>
            </a:r>
            <a:endParaRPr lang="tr-TR" sz="1800" b="1" dirty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3672CA9-F6A0-427D-B2FE-E5BA59E3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1" b="-1"/>
          <a:stretch/>
        </p:blipFill>
        <p:spPr>
          <a:xfrm>
            <a:off x="3751302" y="494950"/>
            <a:ext cx="4689391" cy="248998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C506B71C-F9C3-4473-85AF-70FB3CA17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996" y="3535308"/>
            <a:ext cx="614999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Dışardan girilen karakter dizisini ekranda gösteren C++ kodu (</a:t>
            </a:r>
            <a:r>
              <a:rPr lang="tr-TR" sz="1800" b="1" i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 ve </a:t>
            </a:r>
            <a:r>
              <a:rPr lang="tr-TR" sz="1800" b="1" i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gets_s</a:t>
            </a:r>
            <a:r>
              <a:rPr lang="tr-TR" sz="1800" b="1" i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ile):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90D9840-C120-417D-A062-3799BEB6C498}"/>
              </a:ext>
            </a:extLst>
          </p:cNvPr>
          <p:cNvSpPr txBox="1"/>
          <p:nvPr/>
        </p:nvSpPr>
        <p:spPr>
          <a:xfrm>
            <a:off x="-4" y="307545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Dışardan girilen karakter dizilerini birleştirip ekranda gösteren C++ kodu: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C9AB97C-2010-426B-B569-B14485BF1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9"/>
          <a:stretch/>
        </p:blipFill>
        <p:spPr>
          <a:xfrm>
            <a:off x="2221033" y="503339"/>
            <a:ext cx="3396991" cy="25200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E4A2D362-26D7-4BA1-B0CE-84D0EFA89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615" y="503339"/>
            <a:ext cx="3406299" cy="2520000"/>
          </a:xfrm>
          <a:prstGeom prst="rect">
            <a:avLst/>
          </a:prstGeom>
        </p:spPr>
      </p:pic>
      <p:sp>
        <p:nvSpPr>
          <p:cNvPr id="10" name="Dikdörtgen 9">
            <a:extLst>
              <a:ext uri="{FF2B5EF4-FFF2-40B4-BE49-F238E27FC236}">
                <a16:creationId xmlns:a16="http://schemas.microsoft.com/office/drawing/2014/main" id="{41FDF3FB-A039-45BD-A673-B9ED2C37B55C}"/>
              </a:ext>
            </a:extLst>
          </p:cNvPr>
          <p:cNvSpPr/>
          <p:nvPr/>
        </p:nvSpPr>
        <p:spPr>
          <a:xfrm>
            <a:off x="4425488" y="1402613"/>
            <a:ext cx="906011" cy="218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F0CCED8-9072-429E-A5D6-212AA204B9E6}"/>
              </a:ext>
            </a:extLst>
          </p:cNvPr>
          <p:cNvSpPr/>
          <p:nvPr/>
        </p:nvSpPr>
        <p:spPr>
          <a:xfrm>
            <a:off x="8612992" y="1396768"/>
            <a:ext cx="1145922" cy="218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1713F2E8-B008-47C6-8BC1-F11028583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528" y="3526678"/>
            <a:ext cx="3815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5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Girilen 3 sayıdan en büyüğünü (fonksiyon yapısı kullanarak) bulan C++ kodu: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F9ACBDE-AA3E-4776-94C4-2F90EE20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2" y="610532"/>
            <a:ext cx="531571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0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Girilen sayının faktöriyelini (</a:t>
            </a:r>
            <a:r>
              <a:rPr lang="tr-TR" sz="1800" b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rekürsif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fonksiyon yapısı ile) hesaplayan C++ kodu: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8DF4527-EAE0-420B-8369-F9F6EA87A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17" y="660816"/>
            <a:ext cx="621176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39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değişkenin değerini ve adresini gösteren C++ kodu: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FE5DACF-C43C-4E19-8818-E35D78D8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091" y="615454"/>
            <a:ext cx="5465817" cy="252000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D63FBC5-6403-493A-9AB5-99B60C19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937" y="3722546"/>
            <a:ext cx="4528124" cy="2520000"/>
          </a:xfrm>
          <a:prstGeom prst="rect">
            <a:avLst/>
          </a:prstGeom>
        </p:spPr>
      </p:pic>
      <p:sp>
        <p:nvSpPr>
          <p:cNvPr id="8" name="Alt Başlık 2">
            <a:extLst>
              <a:ext uri="{FF2B5EF4-FFF2-40B4-BE49-F238E27FC236}">
                <a16:creationId xmlns:a16="http://schemas.microsoft.com/office/drawing/2014/main" id="{E8E44577-D637-4EA5-8182-9956E0843744}"/>
              </a:ext>
            </a:extLst>
          </p:cNvPr>
          <p:cNvSpPr txBox="1">
            <a:spLocks/>
          </p:cNvSpPr>
          <p:nvPr/>
        </p:nvSpPr>
        <p:spPr>
          <a:xfrm>
            <a:off x="0" y="3247569"/>
            <a:ext cx="12192000" cy="50333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ile gösterici aritmetiği:</a:t>
            </a:r>
          </a:p>
        </p:txBody>
      </p:sp>
    </p:spTree>
    <p:extLst>
      <p:ext uri="{BB962C8B-B14F-4D97-AF65-F5344CB8AC3E}">
        <p14:creationId xmlns:p14="http://schemas.microsoft.com/office/powerpoint/2010/main" val="202424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0"/>
            <a:ext cx="12192000" cy="50333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Girilen karakter dizisini (</a:t>
            </a:r>
            <a:r>
              <a:rPr lang="tr-TR" sz="1800" b="1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tr-TR" sz="1800" b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kullanarak) ekranda gösteren C++ kodu: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75F413A-0046-472F-A028-B9D5EC0A9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79" y="503339"/>
            <a:ext cx="6012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1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A0EA809-8B51-429E-A152-9D8B2BA779DD}"/>
              </a:ext>
            </a:extLst>
          </p:cNvPr>
          <p:cNvSpPr txBox="1"/>
          <p:nvPr/>
        </p:nvSpPr>
        <p:spPr>
          <a:xfrm>
            <a:off x="0" y="0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KAYNAKLAR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22223A0-8994-47E7-BA54-4F1B5B6CD81E}"/>
              </a:ext>
            </a:extLst>
          </p:cNvPr>
          <p:cNvSpPr txBox="1"/>
          <p:nvPr/>
        </p:nvSpPr>
        <p:spPr>
          <a:xfrm>
            <a:off x="0" y="46166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M.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Zavrak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Aksoy, H. N. Karaca, </a:t>
            </a:r>
            <a:r>
              <a:rPr lang="tr-T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ve C++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Sistem Yayıncılık.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Prof. Dr. Mustafa Dikici,  </a:t>
            </a:r>
            <a:r>
              <a:rPr lang="tr-T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Programlama Dili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Seçkin Yayıncılık.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Mastar, S. Eriş, </a:t>
            </a:r>
            <a:r>
              <a:rPr lang="tr-T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Kodlab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Yayın Dağıtım.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04374844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2161</TotalTime>
  <Words>329</Words>
  <Application>Microsoft Office PowerPoint</Application>
  <PresentationFormat>Geniş ekran</PresentationFormat>
  <Paragraphs>32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Times New Roman</vt:lpstr>
      <vt:lpstr>Geçmişe bakış</vt:lpstr>
      <vt:lpstr>BİL102-ALGORİTMA ve PROGRAMLAMA II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43</cp:revision>
  <dcterms:created xsi:type="dcterms:W3CDTF">2021-02-24T12:37:41Z</dcterms:created>
  <dcterms:modified xsi:type="dcterms:W3CDTF">2026-02-11T05:45:40Z</dcterms:modified>
</cp:coreProperties>
</file>