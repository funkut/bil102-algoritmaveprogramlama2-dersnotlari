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G0ndfzBiLG3Yrm+y5Uf+OtGnE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9F7A0E-5008-48F6-B7AC-B52BCEE4BE29}">
  <a:tblStyle styleId="{549F7A0E-5008-48F6-B7AC-B52BCEE4BE29}" styleName="Table_0">
    <a:wholeTbl>
      <a:tcTxStyle b="off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Slaydı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59347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8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8000"/>
              <a:buFont typeface="Calibri"/>
              <a:buNone/>
              <a:defRPr sz="8000">
                <a:solidFill>
                  <a:srgbClr val="4C4C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cxnSp>
        <p:nvCxnSpPr>
          <p:cNvPr id="22" name="Google Shape;22;p18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95959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ş" showMasterSp="0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5934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9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İçerik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ölüm Üst Bilgisi" showMasterSp="0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5934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1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8000"/>
              <a:buFont typeface="Calibri"/>
              <a:buNone/>
              <a:defRPr b="0" sz="8000">
                <a:solidFill>
                  <a:srgbClr val="4C4C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C8C8C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C8C8C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C8C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C8C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C8C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C8C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C8C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C8C8C"/>
                </a:solidFill>
              </a:defRPr>
            </a:lvl9pPr>
          </a:lstStyle>
          <a:p/>
        </p:txBody>
      </p:sp>
      <p:sp>
        <p:nvSpPr>
          <p:cNvPr id="40" name="Google Shape;40;p2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cxnSp>
        <p:nvCxnSpPr>
          <p:cNvPr id="43" name="Google Shape;43;p21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95959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İki İçerik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1097278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rşılaştırma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3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23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alnızca Başlık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lı İçerik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rgbClr val="5934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5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5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5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lı Resim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rgbClr val="5934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6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6"/>
          <p:cNvSpPr txBox="1"/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79" name="Google Shape;79;p26"/>
          <p:cNvSpPr txBox="1"/>
          <p:nvPr>
            <p:ph idx="1" type="body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2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Dikey Metin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7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2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key Başlık ve Metin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5934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8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8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2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59347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7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cxnSp>
        <p:nvCxnSpPr>
          <p:cNvPr id="13" name="Google Shape;13;p17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95959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>
            <p:ph type="ctrTitle"/>
          </p:nvPr>
        </p:nvSpPr>
        <p:spPr>
          <a:xfrm>
            <a:off x="0" y="3162968"/>
            <a:ext cx="12192000" cy="8236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tr-TR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BM0102</a:t>
            </a:r>
            <a:r>
              <a:rPr lang="tr-TR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-ALGORİTMA ve PROGRAMLAMA II</a:t>
            </a:r>
            <a:endParaRPr/>
          </a:p>
        </p:txBody>
      </p:sp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1" y="2036685"/>
            <a:ext cx="12192000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tr-TR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MÜHENDİSLİK FAKÜLTESİ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rPr lang="tr-TR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BİLGİSAYAR MÜHENDİSLİĞİ BÖLÜMÜ</a:t>
            </a:r>
            <a:endParaRPr/>
          </a:p>
        </p:txBody>
      </p:sp>
      <p:pic>
        <p:nvPicPr>
          <p:cNvPr descr="Amasya Üniversitesi Logo Vector (.AI) Free Download" id="103" name="Google Shape;10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9293" y="159026"/>
            <a:ext cx="1889990" cy="165689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/>
          <p:nvPr/>
        </p:nvSpPr>
        <p:spPr>
          <a:xfrm>
            <a:off x="0" y="4432605"/>
            <a:ext cx="12192000" cy="1104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None/>
            </a:pPr>
            <a:r>
              <a:rPr lang="tr-TR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Hafta 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tr-TR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NYP Kavramları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139485" y="5724630"/>
            <a:ext cx="12191999" cy="5074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Doç. Dr. Funda KUTLU ONAY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/>
        </p:nvSpPr>
        <p:spPr>
          <a:xfrm>
            <a:off x="0" y="0"/>
            <a:ext cx="12099721" cy="360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1" marL="29260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Nesneye Yönelik Programlama (NYP) Kavramları</a:t>
            </a:r>
            <a:endParaRPr b="1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-8388" y="360727"/>
            <a:ext cx="9051720" cy="5872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82880" lvl="1" marL="384048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İki yaygın programlama yöntemi vardır: </a:t>
            </a:r>
            <a:endParaRPr/>
          </a:p>
          <a:p>
            <a:pPr indent="-182880" lvl="2" marL="566928" marR="0" rtl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Yöntemsel (Procedural) Programlama</a:t>
            </a:r>
            <a:endParaRPr/>
          </a:p>
          <a:p>
            <a:pPr indent="-182880" lvl="2" marL="566928" marR="0" rtl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tr-TR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Nesneye Yönelik (Object Oriented) Programlama</a:t>
            </a:r>
            <a:endParaRPr/>
          </a:p>
          <a:p>
            <a:pPr indent="0" lvl="2" marL="384048" marR="0" rtl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Şu ana kadar gerçekleştirmiş olduğumuz programlama, yöntemsel programlama tekniğiydi. </a:t>
            </a:r>
            <a:endParaRPr/>
          </a:p>
          <a:p>
            <a:pPr indent="0" lvl="2" marL="384048" marR="0" rtl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sng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Yöntemsel programlama: </a:t>
            </a:r>
            <a:endParaRPr/>
          </a:p>
          <a:p>
            <a:pPr indent="-1828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Yöntemsel programlamada veriler değişkenler topluluğu olarak saklanır ve veriler üzerinde işlemler gerçekleştiren bir dizi fonksiyonlar vardır.</a:t>
            </a:r>
            <a:endParaRPr/>
          </a:p>
          <a:p>
            <a:pPr indent="-1828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Veriler ve fonksiyonlar birbirinden ayrı oluşumlardır. Genellikle değişkenler, yapılması istenen işlemleri gerçekleştiren fonksiyonlara aktarılır.</a:t>
            </a:r>
            <a:endParaRPr/>
          </a:p>
          <a:p>
            <a:pPr indent="-1828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Anlaşılacağı gibi, yöntemsel programlamanın odak noktası, programın verileri üzerinde çalışan fonksiyonlar veya prosedürler yaratmaktır. </a:t>
            </a:r>
            <a:endParaRPr/>
          </a:p>
          <a:p>
            <a:pPr indent="-1828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Yöntemsel programlama iyi çalışır. Ancak, programlar büyüdükçe ve daha karmaşık hale geldikçe, bir programın verilerinin ve veriler üzerinde çalışan kodun ayrılması sorunlara yol açabilir.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1" i="0" sz="1600" u="sng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2" name="Google Shape;112;p2"/>
          <p:cNvGrpSpPr/>
          <p:nvPr/>
        </p:nvGrpSpPr>
        <p:grpSpPr>
          <a:xfrm>
            <a:off x="9935344" y="1549228"/>
            <a:ext cx="1538015" cy="2987755"/>
            <a:chOff x="892012" y="1460"/>
            <a:chExt cx="1538015" cy="2987755"/>
          </a:xfrm>
        </p:grpSpPr>
        <p:sp>
          <p:nvSpPr>
            <p:cNvPr id="113" name="Google Shape;113;p2"/>
            <p:cNvSpPr/>
            <p:nvPr/>
          </p:nvSpPr>
          <p:spPr>
            <a:xfrm>
              <a:off x="892012" y="1460"/>
              <a:ext cx="1538015" cy="543228"/>
            </a:xfrm>
            <a:prstGeom prst="roundRect">
              <a:avLst>
                <a:gd fmla="val 10000" name="adj"/>
              </a:avLst>
            </a:prstGeom>
            <a:solidFill>
              <a:srgbClr val="9B76B2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907923" y="17371"/>
              <a:ext cx="1506193" cy="511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tr-TR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Makine Dili (0-1)</a:t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 rot="5400000">
              <a:off x="1559164" y="558269"/>
              <a:ext cx="203710" cy="24445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37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1587684" y="578640"/>
              <a:ext cx="146672" cy="142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Calibri"/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892012" y="816302"/>
              <a:ext cx="1538015" cy="543228"/>
            </a:xfrm>
            <a:prstGeom prst="roundRect">
              <a:avLst>
                <a:gd fmla="val 10000" name="adj"/>
              </a:avLst>
            </a:prstGeom>
            <a:solidFill>
              <a:srgbClr val="AA89BE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907923" y="832213"/>
              <a:ext cx="1506193" cy="511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tr-TR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Assembly Dili</a:t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 rot="5400000">
              <a:off x="1559164" y="1373111"/>
              <a:ext cx="203710" cy="24445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B59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1587684" y="1393482"/>
              <a:ext cx="146672" cy="142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Calibri"/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892012" y="1631145"/>
              <a:ext cx="1538015" cy="543228"/>
            </a:xfrm>
            <a:prstGeom prst="roundRect">
              <a:avLst>
                <a:gd fmla="val 10000" name="adj"/>
              </a:avLst>
            </a:prstGeom>
            <a:solidFill>
              <a:srgbClr val="B99ECB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907923" y="1647056"/>
              <a:ext cx="1506193" cy="511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tr-TR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Yapısal / Yöntemsel Programlama</a:t>
              </a: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 rot="5400000">
              <a:off x="1559164" y="2187954"/>
              <a:ext cx="203710" cy="24445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C8B2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1587684" y="2208325"/>
              <a:ext cx="146672" cy="142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Calibri"/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892012" y="2445987"/>
              <a:ext cx="1538015" cy="543228"/>
            </a:xfrm>
            <a:prstGeom prst="roundRect">
              <a:avLst>
                <a:gd fmla="val 10000" name="adj"/>
              </a:avLst>
            </a:prstGeom>
            <a:solidFill>
              <a:srgbClr val="C8B2D7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907923" y="2461898"/>
              <a:ext cx="1506193" cy="511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tr-TR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Nesneye Yönelik Programlama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/>
          <p:nvPr/>
        </p:nvSpPr>
        <p:spPr>
          <a:xfrm>
            <a:off x="0" y="0"/>
            <a:ext cx="12099721" cy="360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1" marL="29260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Nesneye Yönelik Programlama (NYP) Kavramları</a:t>
            </a:r>
            <a:endParaRPr b="1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-8388" y="360727"/>
            <a:ext cx="8113045" cy="603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2" marL="384048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sng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Nesneye Yönelik Programlama:</a:t>
            </a:r>
            <a:endParaRPr/>
          </a:p>
          <a:p>
            <a:pPr indent="-1828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Nesneye yönelik programlama yaklaşımı, gerçek dünyayı iyi modelleyen ve yöntemsel programlamanın eksikliklerinin üstesinden gelen bir yaklaşımdır. </a:t>
            </a:r>
            <a:endParaRPr/>
          </a:p>
          <a:p>
            <a:pPr indent="-1828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 sorunu nesneler açısından ele alır ve böylece hem prosedürler hem de veriler üzerinde vurgu yapar. </a:t>
            </a:r>
            <a:endParaRPr/>
          </a:p>
          <a:p>
            <a:pPr indent="-1828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Nesne (object)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hem verileri hem de prosedürleri tek bir birimde birleştiren bir varlıktır. </a:t>
            </a:r>
            <a:endParaRPr/>
          </a:p>
          <a:p>
            <a:pPr indent="-1828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 nesnenin veri öğeleri, diğer adıyla </a:t>
            </a: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öznitelikleri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(attributes), 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üye değişkenlerde </a:t>
            </a:r>
            <a:r>
              <a:rPr b="0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(member variables)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depolanır. </a:t>
            </a:r>
            <a:endParaRPr/>
          </a:p>
          <a:p>
            <a:pPr indent="-1828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 nesnenin gerçekleştirdiği prosedürlere </a:t>
            </a: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üye fonksiyonları (member functions) 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denir. </a:t>
            </a:r>
            <a:endParaRPr/>
          </a:p>
          <a:p>
            <a:pPr indent="-1828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 nesnenin verilerinin ve prosedürlerinin birlikte bu şekilde sarmalanmasına </a:t>
            </a: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kapsülleme</a:t>
            </a:r>
            <a:r>
              <a:rPr b="0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(encapsulation) 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denir. </a:t>
            </a:r>
            <a:endParaRPr/>
          </a:p>
          <a:p>
            <a:pPr indent="-1828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Yalnızca nesneler ilişkili verileri ve prosedürleri kapsüllemekle kalmaz, aynı zamanda veri gizlemeye de izin verir. </a:t>
            </a:r>
            <a:endParaRPr/>
          </a:p>
          <a:p>
            <a:pPr indent="-1828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 gizleme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bir nesnenin verilerini nesnenin dışındaki koddan gizleme yeteneğini ifade eder. Yalnızca nesnenin üye işlevleri, nesnenin verilerine doğrudan erişebilir ve bunlarda değişiklik yapabilir. 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Nesne yönelimli programlamanın avantajları:</a:t>
            </a:r>
            <a:endParaRPr/>
          </a:p>
          <a:p>
            <a:pPr indent="-1828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Yazılım karmaşıklığı kolayca yönetilebilir.</a:t>
            </a:r>
            <a:endParaRPr/>
          </a:p>
          <a:p>
            <a:pPr indent="-1828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Nesne yönelimli sistemler kolaylıkla yükseltilebilir ve geliştirilebilir.</a:t>
            </a:r>
            <a:endParaRPr/>
          </a:p>
          <a:p>
            <a:pPr indent="-1828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 projede nesneye dayalı olarak işi bölümlere ayırmak oldukça kolaydır.</a:t>
            </a:r>
            <a:endParaRPr b="1" i="0" sz="1600" u="sng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233216">
            <a:off x="8885298" y="4199536"/>
            <a:ext cx="2433782" cy="149981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"/>
          <p:cNvSpPr txBox="1"/>
          <p:nvPr/>
        </p:nvSpPr>
        <p:spPr>
          <a:xfrm>
            <a:off x="9131878" y="4793135"/>
            <a:ext cx="8627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Metotlar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10161973" y="4790436"/>
            <a:ext cx="109356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Değişkenler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 rot="-5400000">
            <a:off x="9963770" y="4459691"/>
            <a:ext cx="276837" cy="2299147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9831120" y="5743157"/>
            <a:ext cx="5421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Sınıf</a:t>
            </a:r>
            <a:endParaRPr/>
          </a:p>
        </p:txBody>
      </p:sp>
      <p:pic>
        <p:nvPicPr>
          <p:cNvPr descr="Object Oriented Programming concepts - Technology blogs" id="138" name="Google Shape;13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43025" y="779151"/>
            <a:ext cx="2992422" cy="2831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 txBox="1"/>
          <p:nvPr/>
        </p:nvSpPr>
        <p:spPr>
          <a:xfrm>
            <a:off x="0" y="0"/>
            <a:ext cx="12099721" cy="360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1" marL="29260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Sınıf ve Nesne Kavramları</a:t>
            </a:r>
            <a:endParaRPr b="1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-8388" y="360727"/>
            <a:ext cx="12099722" cy="5972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-182880" lvl="2" marL="566928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Verileri ve işlevi tek bir birimde birleştirmenizi sağlayan yapıya </a:t>
            </a:r>
            <a:r>
              <a:rPr b="1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sınıf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denir. </a:t>
            </a:r>
            <a:endParaRPr/>
          </a:p>
          <a:p>
            <a:pPr indent="-1828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 sınıf tanımlandıktan sonra, bu türden değişkenleri bildirilebilir. </a:t>
            </a:r>
            <a:endParaRPr/>
          </a:p>
          <a:p>
            <a:pPr indent="-1828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Sınıf değişkenine </a:t>
            </a: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nesne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veya </a:t>
            </a: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örnek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denir. Başka bir deyişle, sınıf bir veri türü ve nesne ise değişken gibi düşünülebilir. </a:t>
            </a:r>
            <a:endParaRPr/>
          </a:p>
          <a:p>
            <a:pPr indent="-1828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Sınıflar genellikle aşağıdaki formatta anahtar kelime sınıfı kullanılarak bildirilir:</a:t>
            </a:r>
            <a:endParaRPr/>
          </a:p>
          <a:p>
            <a:pPr indent="-812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12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12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12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12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12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12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0" i="0" lang="tr-TR" sz="1200" u="none" cap="none" strike="noStrike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class_name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sınıf için geçerli bir tanımlayıcıdır. Bildirimin gövdesi, veri veya fonksiyon bildirimleri olabilen üyeler içerebilir. </a:t>
            </a:r>
            <a:endParaRPr/>
          </a:p>
          <a:p>
            <a:pPr indent="0" lvl="2" marL="384048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 sınıfın üyeleri üç kategoriye ayrılır: </a:t>
            </a:r>
            <a:r>
              <a:rPr b="0" i="0" lang="tr-TR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private 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(özel), </a:t>
            </a:r>
            <a:r>
              <a:rPr b="0" i="0" lang="tr-TR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(genel) ve </a:t>
            </a:r>
            <a:r>
              <a:rPr b="0" i="0" lang="tr-TR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protected 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(korumalı). Üye erişimi belirleyicileri olarak da adlandırılır ve üyelerin sahip oldukları erişim haklarını değiştirirler.</a:t>
            </a:r>
            <a:endParaRPr/>
          </a:p>
          <a:p>
            <a:pPr indent="0" lvl="2" marL="384048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 sınıfın </a:t>
            </a: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üyelerine yalnızca aynı sınıfın diğer üyeleri içinden erişilebilir, sınıfın dışından erişilemez.</a:t>
            </a:r>
            <a:endParaRPr/>
          </a:p>
          <a:p>
            <a:pPr indent="0" lvl="2" marL="384048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üyelere aynı sınıfın üyelerinden ve ayrıca türetilmiş sınıflarının üyelerinden erişilebilir. (Türetilmiş sınıflardan ilerde bahsedilecek!)</a:t>
            </a:r>
            <a:endParaRPr/>
          </a:p>
          <a:p>
            <a:pPr indent="0" lvl="2" marL="384048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üyelere ise nesnenin göründüğü her yerden erişilebilir. </a:t>
            </a:r>
            <a:endParaRPr/>
          </a:p>
          <a:p>
            <a:pPr indent="0" lvl="2" marL="384048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12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1280" lvl="4" marL="93268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499145" y="1811265"/>
            <a:ext cx="213499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class_name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	private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members1;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	protected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members2;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	public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members3;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9017436" y="1405591"/>
            <a:ext cx="2160000" cy="2160000"/>
          </a:xfrm>
          <a:prstGeom prst="ellipse">
            <a:avLst/>
          </a:prstGeom>
          <a:solidFill>
            <a:srgbClr val="66FF33"/>
          </a:solidFill>
          <a:ln cap="flat" cmpd="sng" w="15875">
            <a:solidFill>
              <a:srgbClr val="7E6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9377436" y="1797663"/>
            <a:ext cx="1440000" cy="1440000"/>
          </a:xfrm>
          <a:prstGeom prst="ellipse">
            <a:avLst/>
          </a:prstGeom>
          <a:solidFill>
            <a:srgbClr val="FFFF00"/>
          </a:solidFill>
          <a:ln cap="flat" cmpd="sng" w="15875">
            <a:solidFill>
              <a:srgbClr val="7E6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9741630" y="2157663"/>
            <a:ext cx="720000" cy="720000"/>
          </a:xfrm>
          <a:prstGeom prst="ellipse">
            <a:avLst/>
          </a:prstGeom>
          <a:solidFill>
            <a:srgbClr val="FF0000"/>
          </a:solidFill>
          <a:ln cap="flat" cmpd="sng" w="15875">
            <a:solidFill>
              <a:srgbClr val="7E6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" name="Google Shape;149;p4"/>
          <p:cNvGraphicFramePr/>
          <p:nvPr/>
        </p:nvGraphicFramePr>
        <p:xfrm>
          <a:off x="7424088" y="19718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{549F7A0E-5008-48F6-B7AC-B52BCEE4BE29}</a:tableStyleId>
              </a:tblPr>
              <a:tblGrid>
                <a:gridCol w="395925"/>
                <a:gridCol w="962975"/>
              </a:tblGrid>
              <a:tr h="36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6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protected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6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private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 txBox="1"/>
          <p:nvPr/>
        </p:nvSpPr>
        <p:spPr>
          <a:xfrm>
            <a:off x="0" y="0"/>
            <a:ext cx="12099721" cy="360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1" marL="29260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Sınıf ve Nesne Kavramları</a:t>
            </a:r>
            <a:endParaRPr b="1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-8388" y="360727"/>
            <a:ext cx="12099722" cy="5972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82880" lvl="2" marL="566928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Varsayılan olarak, </a:t>
            </a: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anahtar sözcüğüyle bildirilen bir sınıfın tüm üyeleri, sınıfın tüm üyeleri için </a:t>
            </a: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erişime sahiptir. Bu nedenle, başka bir sınıf belirticisinden önce bildirilen herhangi bir üye otomatik olarak </a:t>
            </a: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erişime sahip olur.</a:t>
            </a:r>
            <a:endParaRPr/>
          </a:p>
          <a:p>
            <a:pPr indent="-812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12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12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12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12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12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12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12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1280" lvl="2" marL="56692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Nesne Bildirimi :  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 sınıf tanımlandıktan sonra, bu türden nesneleri bildirilebilir. Bir nesneyi bildirmek için sözdizimi (syntax), diğer herhangi bir değişkeni bildirmek için kullanılan sözdizimi ile aynıdır. Aşağıdaki ifadeler, </a:t>
            </a:r>
            <a:r>
              <a:rPr b="0" i="0" lang="tr-TR" sz="1600" u="none" cap="none" strike="noStrike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daire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türünde iki nesneyi bildirir: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	daire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tr-TR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c1,c2;</a:t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Sınıf Üyelerine Erişim: 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 sınıfın bir nesnesi bildirildiğinde, sınıfın </a:t>
            </a: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üyelerine erişebilir.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tr-TR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c1.yaricapBelirle(</a:t>
            </a:r>
            <a:r>
              <a:rPr b="0" i="0" lang="tr-TR" sz="1600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2.5</a:t>
            </a:r>
            <a:r>
              <a:rPr b="0" i="0" lang="tr-TR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 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471881" y="1001322"/>
            <a:ext cx="611138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daire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	private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		double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yaricap;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	public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		void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yaricapBelirle(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	 yaricap =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		double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alanHesapla()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			return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3.14 * yaricap * yaricap;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/>
        </p:nvSpPr>
        <p:spPr>
          <a:xfrm>
            <a:off x="0" y="0"/>
            <a:ext cx="12099721" cy="360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1" marL="29260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Sınıf ve Nesne Kavramları</a:t>
            </a:r>
            <a:endParaRPr b="1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-8388" y="360727"/>
            <a:ext cx="12099722" cy="5972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2" marL="384048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Üye Fonksiyonlarını Tanımlama:  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Fonksiyonları bir önceki örnekte olduğu gibi sınıf içinde tanımlamak mümkündür. 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 şekilde bir sınıf içinde tanımlanan üye fonksiyonları, varsayılan olarak </a:t>
            </a: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satır içi fonksiyonlar (inline functions) 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olarak oluşturulur. 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Ayrıca, bir sınıf içinde bir fonksiyon bildirip başka bir yerde tanımlamak da mümkündür. 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Sınıf dışında tanımlanan fonksiyonlar satır içi değildir. 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Sınıfın dışında bir fonksiyonu tanımladığımızda, onlara sınıfın dışından (doğrudan) erişemeyiz. Bunlara erişebilmek için, kapsam çözümleme operatörünü (::) kullanmak gerekir. 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 örnekte, </a:t>
            </a:r>
            <a:r>
              <a:rPr b="0" i="0" lang="tr-TR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yaricapBelirle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fonksiyonunu sınıfın dışında aşağıdaki gibi tanımlayabiliriz: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1319168" y="3429000"/>
            <a:ext cx="611138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tr-TR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daire</a:t>
            </a:r>
            <a:r>
              <a:rPr lang="tr-TR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::yaricapBelirle(</a:t>
            </a:r>
            <a:r>
              <a:rPr lang="tr-TR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tr-TR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tr-TR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yaricap = </a:t>
            </a:r>
            <a:r>
              <a:rPr lang="tr-TR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tr-TR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/>
          <p:nvPr/>
        </p:nvSpPr>
        <p:spPr>
          <a:xfrm>
            <a:off x="0" y="0"/>
            <a:ext cx="12099721" cy="360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1" marL="29260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Sınıf ve Nesne Kavramları</a:t>
            </a:r>
            <a:endParaRPr b="1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-8388" y="360727"/>
            <a:ext cx="12099722" cy="5972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2" marL="384048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Aşağıdaki program, sınıfların genel özelliklerini göstermektedir. Üye fonksiyonları yaricapBelirle() ve alanHesapla() sınıf dışında tanımlanmıştır.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0" name="Google Shape;1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2117" y="1089000"/>
            <a:ext cx="7638712" cy="46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/>
          <p:nvPr/>
        </p:nvSpPr>
        <p:spPr>
          <a:xfrm>
            <a:off x="0" y="0"/>
            <a:ext cx="12192000" cy="436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1" marL="29260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Örnek 1: 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Kenar bilgileri girilen bir dikdörtgenin çevre ve alanını hesaplayan program:</a:t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-8388" y="360727"/>
            <a:ext cx="12099722" cy="5972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2" marL="384048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7" name="Google Shape;1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666" y="467207"/>
            <a:ext cx="6107865" cy="57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085" y="436228"/>
            <a:ext cx="3628824" cy="414814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 txBox="1"/>
          <p:nvPr/>
        </p:nvSpPr>
        <p:spPr>
          <a:xfrm>
            <a:off x="6762085" y="4735374"/>
            <a:ext cx="526772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Sınıf tanımlamasındaki </a:t>
            </a:r>
            <a:r>
              <a:rPr b="1" lang="tr-TR"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lang="tr-TR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sözcüğü yazılmadığında varsayılan olarak </a:t>
            </a:r>
            <a:r>
              <a:rPr b="1" lang="tr-TR"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</a:t>
            </a:r>
            <a:r>
              <a:rPr lang="tr-TR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olduğundan, derleyici üye değişkene veya üye fonksiyona erişim hatası verir!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Mutlaka erişim izin durumunu belirtmeliyiz!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/>
        </p:nvSpPr>
        <p:spPr>
          <a:xfrm>
            <a:off x="0" y="0"/>
            <a:ext cx="12192000" cy="436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1" marL="29260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Örnek 2: 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Vize ve final notu girilen öğrencinin geçme-kalma durumunu gösteren program. </a:t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-8388" y="360727"/>
            <a:ext cx="12099722" cy="5972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2" marL="384048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86" name="Google Shape;1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035" y="647207"/>
            <a:ext cx="5421104" cy="5107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9"/>
          <p:cNvPicPr preferRelativeResize="0"/>
          <p:nvPr/>
        </p:nvPicPr>
        <p:blipFill rotWithShape="1">
          <a:blip r:embed="rId4">
            <a:alphaModFix/>
          </a:blip>
          <a:srcRect b="0" l="0" r="0" t="1018"/>
          <a:stretch/>
        </p:blipFill>
        <p:spPr>
          <a:xfrm>
            <a:off x="6049562" y="647206"/>
            <a:ext cx="5040684" cy="510722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9"/>
          <p:cNvSpPr txBox="1"/>
          <p:nvPr/>
        </p:nvSpPr>
        <p:spPr>
          <a:xfrm>
            <a:off x="6000661" y="5793616"/>
            <a:ext cx="59955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60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Aynı örnek için, bu defa </a:t>
            </a:r>
            <a:r>
              <a:rPr b="1" i="1" lang="tr-TR"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lang="tr-TR" sz="160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bir fonksiyon içerisinde </a:t>
            </a:r>
            <a:r>
              <a:rPr b="1" i="1" lang="tr-TR"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</a:t>
            </a:r>
            <a:r>
              <a:rPr lang="tr-TR" sz="160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bir üye değişken kullanılarak geri değer döndürüldü.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 txBox="1"/>
          <p:nvPr/>
        </p:nvSpPr>
        <p:spPr>
          <a:xfrm>
            <a:off x="0" y="0"/>
            <a:ext cx="12099721" cy="360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1" marL="29260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Yapıcı ve Yıkıcı Fonksiyonlar (Constructor and Destructor)</a:t>
            </a:r>
            <a:endParaRPr b="1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0"/>
          <p:cNvSpPr txBox="1"/>
          <p:nvPr/>
        </p:nvSpPr>
        <p:spPr>
          <a:xfrm>
            <a:off x="-8388" y="360727"/>
            <a:ext cx="12099722" cy="5989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2" marL="384048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Yapıcı Fonksiyonlar:  </a:t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sng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Sınıfıyla aynı adı taşıyan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 bu sınıf türünün nesnelerini bir başlangıç ​​değeriyle başlatmak için kullanılan bir üye fonksiyondur. 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Yapıcı, nesne oluşturulduğunda otomatik olarak çağrılır.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</a:pPr>
            <a:r>
              <a:rPr b="1" i="0" lang="tr-TR" sz="15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Yapıcı Türleri:</a:t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Varsayılan Yapıcı : 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Parametre kabul etmeyen bir yapıcı, varsayılan yapıcı olarak bilinir. Hiçbir yapıcı tanımlanmamışsa, derleyici varsayılan bir yapıcı sağlar.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Parametreli yapıcı: 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Bağımsız değişkenleri/parametreleri alan bir yapıcıdır. 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Kopya Yapıcı: 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 nesneyi parametre olarak kendisine iletilen başka bir nesnenin değerlerini kullanarak başlatan bir yapıcıya kopya yapıcı denir. Aktarılan nesnenin kopyasını oluşturur.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Farklı özelliklere sahip olmaları koşuluyla, aynı sınıfın birden çok yapıcısı olabilir.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1480659" y="2235477"/>
            <a:ext cx="194204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daire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::daire()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yaricap 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1480659" y="3520697"/>
            <a:ext cx="220420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daire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::daire(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yaricap =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1464232" y="5012233"/>
            <a:ext cx="611138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daire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::daire(</a:t>
            </a:r>
            <a:r>
              <a:rPr lang="tr-TR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daire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&amp;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yaricap =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.yaricap;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/>
          <p:nvPr/>
        </p:nvSpPr>
        <p:spPr>
          <a:xfrm>
            <a:off x="0" y="0"/>
            <a:ext cx="12099721" cy="360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1" marL="29260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Yapıcı ve Yıkıcı Fonksiyonlar (Constructor and Destructor)</a:t>
            </a:r>
            <a:endParaRPr b="1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-8388" y="360727"/>
            <a:ext cx="7784982" cy="5989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2" marL="384048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Yıkıcı Fonksiyonlar:  </a:t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 yıkıcı, bir yapıcı tarafından yaratılan nesneleri yok etmek için kullanılan, sınıfıyla aynı ada sahip olmak ile birlikte önüne </a:t>
            </a:r>
            <a:r>
              <a:rPr b="1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 (tilde) 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işareti eklenerek kullanılan bir üye fonksiyondur. Bir nesnenin kapsamı bittiğinde çağrılır.</a:t>
            </a:r>
            <a:endParaRPr b="0" i="0" sz="13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None/>
            </a:pPr>
            <a:r>
              <a:rPr b="0" i="0" lang="tr-TR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~daire() {}</a:t>
            </a:r>
            <a:endParaRPr b="1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ÖRNEK: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Yandaki örnek programda, yapıcılar, yıkıcı ve diğer üye fonksiyonlar sınıf tanımları içinde tanımlanmıştır. Sınıfta birden çok yapıcı kullanıldığı için, bu örnek aynı zamanda yapıcı aşırı yükleme kavramını da göstermektedir.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(Aşırı yükleme (overloading) kavramından ilerde detaylı olarak bahsedilecektir.)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Yapıcılarda üye ilk değer atamasının başka bir yolu:</a:t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daire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sınıfı için yapıcı, her zamanki gibi şu şekilde tanımlanabilir: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Üye ilk değer ataması kullanılarak şu şekilde de tanımlanabilir: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4" name="Google Shape;20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0263" y="115596"/>
            <a:ext cx="3929458" cy="64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1"/>
          <p:cNvSpPr txBox="1"/>
          <p:nvPr/>
        </p:nvSpPr>
        <p:spPr>
          <a:xfrm>
            <a:off x="717259" y="4223667"/>
            <a:ext cx="609879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daire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::daire(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yaricap =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717259" y="5517899"/>
            <a:ext cx="60987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daire 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 daire(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r) : yaricap(r)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{}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 txBox="1"/>
          <p:nvPr/>
        </p:nvSpPr>
        <p:spPr>
          <a:xfrm>
            <a:off x="0" y="0"/>
            <a:ext cx="12099721" cy="360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1" marL="29260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Zaman Sınıfı - Örnek Durum İncelemesi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-8388" y="360727"/>
            <a:ext cx="12099722" cy="5972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2" marL="384048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 örnek ile şu ana dek anlatılan işlemleri gözden geçirmiş olacağız.</a:t>
            </a:r>
            <a:endParaRPr/>
          </a:p>
        </p:txBody>
      </p:sp>
      <p:pic>
        <p:nvPicPr>
          <p:cNvPr id="213" name="Google Shape;21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806" y="738232"/>
            <a:ext cx="5800189" cy="2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2"/>
          <p:cNvPicPr preferRelativeResize="0"/>
          <p:nvPr/>
        </p:nvPicPr>
        <p:blipFill rotWithShape="1">
          <a:blip r:embed="rId4">
            <a:alphaModFix/>
          </a:blip>
          <a:srcRect b="0" l="-1" r="12774" t="0"/>
          <a:stretch/>
        </p:blipFill>
        <p:spPr>
          <a:xfrm>
            <a:off x="667805" y="3246539"/>
            <a:ext cx="5800189" cy="3082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2"/>
          <p:cNvPicPr preferRelativeResize="0"/>
          <p:nvPr/>
        </p:nvPicPr>
        <p:blipFill rotWithShape="1">
          <a:blip r:embed="rId5">
            <a:alphaModFix/>
          </a:blip>
          <a:srcRect b="0" l="0" r="48263" t="0"/>
          <a:stretch/>
        </p:blipFill>
        <p:spPr>
          <a:xfrm>
            <a:off x="6716786" y="738232"/>
            <a:ext cx="4771894" cy="3926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71241" y="5025006"/>
            <a:ext cx="3011900" cy="949963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"/>
          <p:cNvSpPr txBox="1"/>
          <p:nvPr/>
        </p:nvSpPr>
        <p:spPr>
          <a:xfrm>
            <a:off x="0" y="0"/>
            <a:ext cx="12099721" cy="360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1" marL="29260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Sınıfı - Örnek Durum İncelemesi</a:t>
            </a:r>
            <a:endParaRPr/>
          </a:p>
        </p:txBody>
      </p:sp>
      <p:sp>
        <p:nvSpPr>
          <p:cNvPr id="222" name="Google Shape;222;p13"/>
          <p:cNvSpPr txBox="1"/>
          <p:nvPr/>
        </p:nvSpPr>
        <p:spPr>
          <a:xfrm>
            <a:off x="-8388" y="360727"/>
            <a:ext cx="12099722" cy="5972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2" marL="384048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Varsayılan Argümanlı Yapıcılar: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Daire sınıfında, açık şekilde varsayılan yapıcı ve parametreli yapıcı oluşturduk. Derleyici, durum eşlemesine göre yapıcıyı aşırı yükler. 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sınıfı örneğinde ise her iki yapıcı tek bir ifadede birleştirilmiştir. 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1" i="1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Değişmez (Constant) Fonksiyon:</a:t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Bazı durumlarda üye fonksiyonunun, üye fonksiyonu çağıran nesnenin herhangi bir özel üye değişkenini değiştirmemesi gerekir. 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Bunu, fonksiyon bildiriminin (prototip) sonunda ve fonksiyon tanımlamasında </a:t>
            </a: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ekleyerek yapabiliriz. 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sınıfımızda üye fonksiyonları </a:t>
            </a: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yapalım: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1" sz="1600" u="sng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1" lang="tr-TR" sz="1600" u="sng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Sınıf tanımlamasındaki fonksiyon bildirimi:</a:t>
            </a:r>
            <a:r>
              <a:rPr b="0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1" lang="tr-TR" sz="1600" u="sng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Fonksiyon tanımlaması: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1" sz="1600" u="sng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1115734" y="1482632"/>
            <a:ext cx="4521667" cy="4154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0000"/>
              </a:buClr>
              <a:buSzPts val="1200"/>
              <a:buFont typeface="Consolas"/>
              <a:buNone/>
            </a:pPr>
            <a:r>
              <a:rPr b="0" i="0" lang="tr-TR" sz="1200" u="none" cap="none" strike="noStrike">
                <a:solidFill>
                  <a:srgbClr val="880000"/>
                </a:solidFill>
                <a:latin typeface="Consolas"/>
                <a:ea typeface="Consolas"/>
                <a:cs typeface="Consolas"/>
                <a:sym typeface="Consolas"/>
              </a:rPr>
              <a:t>//varsayılan değere sahip yapıcı</a:t>
            </a:r>
            <a:r>
              <a:rPr b="0" i="0" lang="tr-T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1200"/>
              <a:buFont typeface="Consolas"/>
              <a:buNone/>
            </a:pPr>
            <a:r>
              <a:rPr b="0" i="0" lang="tr-TR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r>
              <a:rPr b="0" i="0" lang="tr-TR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tr-TR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tr-T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h </a:t>
            </a:r>
            <a:r>
              <a:rPr b="0" i="0" lang="tr-TR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tr-T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tr-TR" sz="12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tr-TR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tr-T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tr-TR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tr-T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 </a:t>
            </a:r>
            <a:r>
              <a:rPr b="0" i="0" lang="tr-TR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tr-T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tr-TR" sz="12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tr-TR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tr-T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tr-TR" sz="12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tr-T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 </a:t>
            </a:r>
            <a:r>
              <a:rPr b="0" i="0" lang="tr-TR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tr-T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tr-TR" sz="12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tr-TR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b="0" i="0" lang="tr-TR" sz="12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sp>
        <p:nvSpPr>
          <p:cNvPr id="224" name="Google Shape;224;p13"/>
          <p:cNvSpPr txBox="1"/>
          <p:nvPr/>
        </p:nvSpPr>
        <p:spPr>
          <a:xfrm>
            <a:off x="268445" y="3951405"/>
            <a:ext cx="512707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tr-TR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//hh:mm:ss cinsinden nesnenin açıklamasını yazdır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print()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 txBox="1"/>
          <p:nvPr/>
        </p:nvSpPr>
        <p:spPr>
          <a:xfrm>
            <a:off x="5395516" y="3951405"/>
            <a:ext cx="512707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Time::print()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cout &lt;&lt; setw(2) &lt;&lt; setfill(</a:t>
            </a:r>
            <a:r>
              <a:rPr lang="tr-TR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&lt;&lt; hour &lt;&lt; </a:t>
            </a:r>
            <a:r>
              <a:rPr lang="tr-TR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":"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&lt;&lt; setw(2) &lt;&lt; setfill(</a:t>
            </a:r>
            <a:r>
              <a:rPr lang="tr-TR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&lt;&lt; minute &lt;&lt; </a:t>
            </a:r>
            <a:r>
              <a:rPr lang="tr-TR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":"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&lt;&lt; setw(2) &lt;&lt; setfill(</a:t>
            </a:r>
            <a:r>
              <a:rPr lang="tr-TR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&lt;&lt; second &lt;&lt; </a:t>
            </a:r>
            <a:r>
              <a:rPr lang="tr-TR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"\n"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"/>
          <p:cNvSpPr txBox="1"/>
          <p:nvPr/>
        </p:nvSpPr>
        <p:spPr>
          <a:xfrm>
            <a:off x="0" y="0"/>
            <a:ext cx="12099721" cy="360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1" marL="29260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Sınıfı - Örnek Durum İncelemesi</a:t>
            </a:r>
            <a:endParaRPr/>
          </a:p>
        </p:txBody>
      </p:sp>
      <p:sp>
        <p:nvSpPr>
          <p:cNvPr id="231" name="Google Shape;231;p14"/>
          <p:cNvSpPr txBox="1"/>
          <p:nvPr/>
        </p:nvSpPr>
        <p:spPr>
          <a:xfrm>
            <a:off x="-8388" y="360727"/>
            <a:ext cx="12099722" cy="5972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2" marL="384048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Değişmez Parametreler:</a:t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 fonksiyondaki bir parametreyi, parametre türünden önce kullanılacak </a:t>
            </a: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sözcüğü ile değişmez yapabiliriz. 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sözcüğü, derleyiciye bu parametrenin o fonksiyon içindeki değerini değiştirmesine izin vermediğini söyler. 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 yapı, programcıyı yanlışlıkla yapılan hatalardan korur.</a:t>
            </a:r>
            <a:endParaRPr b="0" i="1" sz="1600" u="sng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1" sz="1600" u="sng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1" lang="tr-TR" sz="1600" u="sng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Sınıf tanımlamasındaki fonksiyon bildirimi:</a:t>
            </a:r>
            <a:r>
              <a:rPr b="0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      </a:t>
            </a:r>
            <a:r>
              <a:rPr b="0" i="1" lang="tr-TR" sz="1600" u="sng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Fonksiyon tanımlaması: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1" sz="1600" u="sng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297809" y="2367400"/>
            <a:ext cx="529764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.....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tr-TR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//varsayılan 0 değeri ile yapıcı fonksiyon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Time(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0,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0,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0);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tr-TR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//baslangıç değeri atayan fonksiyon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setTime(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.....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</p:txBody>
      </p:sp>
      <p:sp>
        <p:nvSpPr>
          <p:cNvPr id="233" name="Google Shape;233;p14"/>
          <p:cNvSpPr txBox="1"/>
          <p:nvPr/>
        </p:nvSpPr>
        <p:spPr>
          <a:xfrm>
            <a:off x="5901654" y="2367400"/>
            <a:ext cx="6098796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::Time(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hour =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minute =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second =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::setTime(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hour =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minute =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second =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"/>
          <p:cNvSpPr txBox="1"/>
          <p:nvPr/>
        </p:nvSpPr>
        <p:spPr>
          <a:xfrm>
            <a:off x="0" y="0"/>
            <a:ext cx="12099721" cy="360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1" marL="29260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Sınıfı - Örnek Durum İncelemesi</a:t>
            </a:r>
            <a:endParaRPr/>
          </a:p>
        </p:txBody>
      </p:sp>
      <p:sp>
        <p:nvSpPr>
          <p:cNvPr id="239" name="Google Shape;239;p15"/>
          <p:cNvSpPr txBox="1"/>
          <p:nvPr/>
        </p:nvSpPr>
        <p:spPr>
          <a:xfrm>
            <a:off x="-8388" y="360727"/>
            <a:ext cx="12099722" cy="5972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2" marL="384048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Nesneleri Fonksiyonlara Geçirme: </a:t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Nesneler değer, referans veya işaretçi yoluyla fonksiyonlara geçirilebilir. 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sınıfımızda nesneyi değer yoluyla fonksiyona geçirdik. 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1" sz="1600" u="sng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1" sz="1600" u="sng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1" sz="1600" u="sng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1" sz="1600" u="sng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1" sz="1600" u="sng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1" sz="1600" u="sng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Bu, </a:t>
            </a:r>
            <a:r>
              <a:rPr b="0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equals() 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fonksiyonunun </a:t>
            </a:r>
            <a:r>
              <a:rPr b="0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otherTime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adıyla </a:t>
            </a:r>
            <a:r>
              <a:rPr b="0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nesnesinin bir kopyasını aldığı anlamına gelir. Bir fonksiyonun, bir nesnenin üye değişkenlerindeki verileri depolaması veya değiştirmesi gerekiyorsa, nesne referans yoluyla fonksiyona geçirilmelidir. </a:t>
            </a:r>
            <a:endParaRPr b="1" i="1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Değişmez Referans Parametreleri: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referansı ile nesne geçirme, değere göre geçirmeye alternatif olarak nesneleri geçirmenin tercih edilen yoludur. 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1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</a:t>
            </a:r>
            <a:r>
              <a:rPr b="0" i="0" lang="tr-TR" sz="16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referansı ile nesne geçtiğimizde, değişkeni referans olarak alırız, ancak orijinal nesnede herhangi bir değişiklik yapılamaz.</a:t>
            </a:r>
            <a:endParaRPr/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38404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1847675" y="1419444"/>
            <a:ext cx="611138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::equals(</a:t>
            </a:r>
            <a:r>
              <a:rPr lang="tr-TR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otherTime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(hour ==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otherTime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.hour &amp;&amp;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minute ==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otherTime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.minute &amp;&amp;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second == </a:t>
            </a:r>
            <a:r>
              <a:rPr lang="tr-TR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otherTime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.second)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1847675" y="4949397"/>
            <a:ext cx="61113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//const parametresiyle referansa göre nesne geçirme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equals(</a:t>
            </a:r>
            <a:r>
              <a:rPr lang="tr-TR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tr-T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Time&amp;);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"/>
          <p:cNvSpPr txBox="1"/>
          <p:nvPr/>
        </p:nvSpPr>
        <p:spPr>
          <a:xfrm>
            <a:off x="0" y="0"/>
            <a:ext cx="60946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KAYNAKLAR</a:t>
            </a:r>
            <a:endParaRPr/>
          </a:p>
        </p:txBody>
      </p:sp>
      <p:sp>
        <p:nvSpPr>
          <p:cNvPr id="247" name="Google Shape;247;p16"/>
          <p:cNvSpPr txBox="1"/>
          <p:nvPr/>
        </p:nvSpPr>
        <p:spPr>
          <a:xfrm>
            <a:off x="0" y="461665"/>
            <a:ext cx="12192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M. Zavrak, E. Aksoy, H. N. Karaca, </a:t>
            </a:r>
            <a:r>
              <a:rPr b="1" i="1" lang="tr-TR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ve C++</a:t>
            </a:r>
            <a:r>
              <a:rPr lang="tr-TR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Sistem Yayıncılık.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Prof. Dr. Mustafa Dikici,  </a:t>
            </a:r>
            <a:r>
              <a:rPr b="1" i="1" lang="tr-TR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C++ Programlama Dili</a:t>
            </a:r>
            <a:r>
              <a:rPr lang="tr-TR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Seçkin Yayıncılık.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M. Mastar, S. Eriş, </a:t>
            </a:r>
            <a:r>
              <a:rPr b="1" i="1" lang="tr-TR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C++, </a:t>
            </a:r>
            <a:r>
              <a:rPr lang="tr-TR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Kodlab Yayın Dağıtım.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çmişe bakış">
  <a:themeElements>
    <a:clrScheme name="Özel 1">
      <a:dk1>
        <a:srgbClr val="2D2D2D"/>
      </a:dk1>
      <a:lt1>
        <a:srgbClr val="2D2D2D"/>
      </a:lt1>
      <a:dk2>
        <a:srgbClr val="FFFFFF"/>
      </a:dk2>
      <a:lt2>
        <a:srgbClr val="FFFFFF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F2F2F2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2021-02-24T12:37:41Z</dcterms:created>
  <dc:creator>FUNDA KUTLU ONAY</dc:creator>
</cp:coreProperties>
</file>