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iEJn8VmWW3rxII88G+PUS1KCUr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Slaydı" showMasterSp="0" type="title">
  <p:cSld name="TITLE">
    <p:spTree>
      <p:nvGrpSpPr>
        <p:cNvPr id="14" name="Shape 14"/>
        <p:cNvGrpSpPr/>
        <p:nvPr/>
      </p:nvGrpSpPr>
      <p:grpSpPr>
        <a:xfrm>
          <a:off x="0" y="0"/>
          <a:ext cx="0" cy="0"/>
          <a:chOff x="0" y="0"/>
          <a:chExt cx="0" cy="0"/>
        </a:xfrm>
      </p:grpSpPr>
      <p:sp>
        <p:nvSpPr>
          <p:cNvPr id="15" name="Google Shape;15;p26"/>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6"/>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4C4C4C"/>
              </a:buClr>
              <a:buSzPts val="8000"/>
              <a:buFont typeface="Calibri"/>
              <a:buNone/>
              <a:defRPr sz="800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6"/>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2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cxnSp>
        <p:nvCxnSpPr>
          <p:cNvPr id="22" name="Google Shape;22;p26"/>
          <p:cNvCxnSpPr/>
          <p:nvPr/>
        </p:nvCxnSpPr>
        <p:spPr>
          <a:xfrm>
            <a:off x="1207658" y="4343400"/>
            <a:ext cx="9875520" cy="0"/>
          </a:xfrm>
          <a:prstGeom prst="straightConnector1">
            <a:avLst/>
          </a:prstGeom>
          <a:noFill/>
          <a:ln cap="flat" cmpd="sng" w="9525">
            <a:solidFill>
              <a:srgbClr val="959595"/>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showMasterSp="0" type="blank">
  <p:cSld name="BLANK">
    <p:spTree>
      <p:nvGrpSpPr>
        <p:cNvPr id="23" name="Shape 23"/>
        <p:cNvGrpSpPr/>
        <p:nvPr/>
      </p:nvGrpSpPr>
      <p:grpSpPr>
        <a:xfrm>
          <a:off x="0" y="0"/>
          <a:ext cx="0" cy="0"/>
          <a:chOff x="0" y="0"/>
          <a:chExt cx="0" cy="0"/>
        </a:xfrm>
      </p:grpSpPr>
      <p:sp>
        <p:nvSpPr>
          <p:cNvPr id="24" name="Google Shape;24;p27"/>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İçerik" type="obj">
  <p:cSld name="OBJECT">
    <p:spTree>
      <p:nvGrpSpPr>
        <p:cNvPr id="29" name="Shape 29"/>
        <p:cNvGrpSpPr/>
        <p:nvPr/>
      </p:nvGrpSpPr>
      <p:grpSpPr>
        <a:xfrm>
          <a:off x="0" y="0"/>
          <a:ext cx="0" cy="0"/>
          <a:chOff x="0" y="0"/>
          <a:chExt cx="0" cy="0"/>
        </a:xfrm>
      </p:grpSpPr>
      <p:sp>
        <p:nvSpPr>
          <p:cNvPr id="30" name="Google Shape;30;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2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ölüm Üst Bilgisi" showMasterSp="0" type="secHead">
  <p:cSld name="SECTION_HEADER">
    <p:spTree>
      <p:nvGrpSpPr>
        <p:cNvPr id="35" name="Shape 35"/>
        <p:cNvGrpSpPr/>
        <p:nvPr/>
      </p:nvGrpSpPr>
      <p:grpSpPr>
        <a:xfrm>
          <a:off x="0" y="0"/>
          <a:ext cx="0" cy="0"/>
          <a:chOff x="0" y="0"/>
          <a:chExt cx="0" cy="0"/>
        </a:xfrm>
      </p:grpSpPr>
      <p:sp>
        <p:nvSpPr>
          <p:cNvPr id="36" name="Google Shape;36;p29"/>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9"/>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9"/>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4C4C4C"/>
              </a:buClr>
              <a:buSzPts val="8000"/>
              <a:buFont typeface="Calibri"/>
              <a:buNone/>
              <a:defRPr b="0" sz="800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9"/>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C8C8C"/>
                </a:solidFill>
              </a:defRPr>
            </a:lvl2pPr>
            <a:lvl3pPr indent="-228600" lvl="2" marL="1371600" algn="l">
              <a:lnSpc>
                <a:spcPct val="90000"/>
              </a:lnSpc>
              <a:spcBef>
                <a:spcPts val="400"/>
              </a:spcBef>
              <a:spcAft>
                <a:spcPts val="0"/>
              </a:spcAft>
              <a:buSzPts val="1600"/>
              <a:buNone/>
              <a:defRPr sz="1600">
                <a:solidFill>
                  <a:srgbClr val="8C8C8C"/>
                </a:solidFill>
              </a:defRPr>
            </a:lvl3pPr>
            <a:lvl4pPr indent="-228600" lvl="3" marL="1828800" algn="l">
              <a:lnSpc>
                <a:spcPct val="90000"/>
              </a:lnSpc>
              <a:spcBef>
                <a:spcPts val="400"/>
              </a:spcBef>
              <a:spcAft>
                <a:spcPts val="0"/>
              </a:spcAft>
              <a:buSzPts val="1400"/>
              <a:buNone/>
              <a:defRPr sz="1400">
                <a:solidFill>
                  <a:srgbClr val="8C8C8C"/>
                </a:solidFill>
              </a:defRPr>
            </a:lvl4pPr>
            <a:lvl5pPr indent="-228600" lvl="4" marL="2286000" algn="l">
              <a:lnSpc>
                <a:spcPct val="90000"/>
              </a:lnSpc>
              <a:spcBef>
                <a:spcPts val="400"/>
              </a:spcBef>
              <a:spcAft>
                <a:spcPts val="0"/>
              </a:spcAft>
              <a:buSzPts val="1400"/>
              <a:buNone/>
              <a:defRPr sz="1400">
                <a:solidFill>
                  <a:srgbClr val="8C8C8C"/>
                </a:solidFill>
              </a:defRPr>
            </a:lvl5pPr>
            <a:lvl6pPr indent="-228600" lvl="5" marL="2743200" algn="l">
              <a:lnSpc>
                <a:spcPct val="90000"/>
              </a:lnSpc>
              <a:spcBef>
                <a:spcPts val="400"/>
              </a:spcBef>
              <a:spcAft>
                <a:spcPts val="0"/>
              </a:spcAft>
              <a:buSzPts val="1400"/>
              <a:buNone/>
              <a:defRPr sz="1400">
                <a:solidFill>
                  <a:srgbClr val="8C8C8C"/>
                </a:solidFill>
              </a:defRPr>
            </a:lvl6pPr>
            <a:lvl7pPr indent="-228600" lvl="6" marL="3200400" algn="l">
              <a:lnSpc>
                <a:spcPct val="90000"/>
              </a:lnSpc>
              <a:spcBef>
                <a:spcPts val="400"/>
              </a:spcBef>
              <a:spcAft>
                <a:spcPts val="0"/>
              </a:spcAft>
              <a:buSzPts val="1400"/>
              <a:buNone/>
              <a:defRPr sz="1400">
                <a:solidFill>
                  <a:srgbClr val="8C8C8C"/>
                </a:solidFill>
              </a:defRPr>
            </a:lvl7pPr>
            <a:lvl8pPr indent="-228600" lvl="7" marL="3657600" algn="l">
              <a:lnSpc>
                <a:spcPct val="90000"/>
              </a:lnSpc>
              <a:spcBef>
                <a:spcPts val="400"/>
              </a:spcBef>
              <a:spcAft>
                <a:spcPts val="0"/>
              </a:spcAft>
              <a:buSzPts val="1400"/>
              <a:buNone/>
              <a:defRPr sz="1400">
                <a:solidFill>
                  <a:srgbClr val="8C8C8C"/>
                </a:solidFill>
              </a:defRPr>
            </a:lvl8pPr>
            <a:lvl9pPr indent="-228600" lvl="8" marL="4114800" algn="l">
              <a:lnSpc>
                <a:spcPct val="90000"/>
              </a:lnSpc>
              <a:spcBef>
                <a:spcPts val="400"/>
              </a:spcBef>
              <a:spcAft>
                <a:spcPts val="400"/>
              </a:spcAft>
              <a:buSzPts val="1400"/>
              <a:buNone/>
              <a:defRPr sz="1400">
                <a:solidFill>
                  <a:srgbClr val="8C8C8C"/>
                </a:solidFill>
              </a:defRPr>
            </a:lvl9pPr>
          </a:lstStyle>
          <a:p/>
        </p:txBody>
      </p:sp>
      <p:sp>
        <p:nvSpPr>
          <p:cNvPr id="40" name="Google Shape;40;p2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cxnSp>
        <p:nvCxnSpPr>
          <p:cNvPr id="43" name="Google Shape;43;p29"/>
          <p:cNvCxnSpPr/>
          <p:nvPr/>
        </p:nvCxnSpPr>
        <p:spPr>
          <a:xfrm>
            <a:off x="1207658" y="4343400"/>
            <a:ext cx="9875520" cy="0"/>
          </a:xfrm>
          <a:prstGeom prst="straightConnector1">
            <a:avLst/>
          </a:prstGeom>
          <a:noFill/>
          <a:ln cap="flat" cmpd="sng" w="9525">
            <a:solidFill>
              <a:srgbClr val="959595"/>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ki İçerik" type="twoObj">
  <p:cSld name="TWO_OBJECTS">
    <p:spTree>
      <p:nvGrpSpPr>
        <p:cNvPr id="44" name="Shape 44"/>
        <p:cNvGrpSpPr/>
        <p:nvPr/>
      </p:nvGrpSpPr>
      <p:grpSpPr>
        <a:xfrm>
          <a:off x="0" y="0"/>
          <a:ext cx="0" cy="0"/>
          <a:chOff x="0" y="0"/>
          <a:chExt cx="0" cy="0"/>
        </a:xfrm>
      </p:grpSpPr>
      <p:sp>
        <p:nvSpPr>
          <p:cNvPr id="45" name="Google Shape;45;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0"/>
          <p:cNvSpPr txBox="1"/>
          <p:nvPr>
            <p:ph idx="1" type="body"/>
          </p:nvPr>
        </p:nvSpPr>
        <p:spPr>
          <a:xfrm>
            <a:off x="1097278"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30"/>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3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rşılaştırma" type="twoTxTwoObj">
  <p:cSld name="TWO_OBJECTS_WITH_TEXT">
    <p:spTree>
      <p:nvGrpSpPr>
        <p:cNvPr id="51" name="Shape 51"/>
        <p:cNvGrpSpPr/>
        <p:nvPr/>
      </p:nvGrpSpPr>
      <p:grpSpPr>
        <a:xfrm>
          <a:off x="0" y="0"/>
          <a:ext cx="0" cy="0"/>
          <a:chOff x="0" y="0"/>
          <a:chExt cx="0" cy="0"/>
        </a:xfrm>
      </p:grpSpPr>
      <p:sp>
        <p:nvSpPr>
          <p:cNvPr id="52" name="Google Shape;52;p3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31"/>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lt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31"/>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31"/>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lt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31"/>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3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alnızca Başlık" type="titleOnly">
  <p:cSld name="TITLE_ONLY">
    <p:spTree>
      <p:nvGrpSpPr>
        <p:cNvPr id="60" name="Shape 60"/>
        <p:cNvGrpSpPr/>
        <p:nvPr/>
      </p:nvGrpSpPr>
      <p:grpSpPr>
        <a:xfrm>
          <a:off x="0" y="0"/>
          <a:ext cx="0" cy="0"/>
          <a:chOff x="0" y="0"/>
          <a:chExt cx="0" cy="0"/>
        </a:xfrm>
      </p:grpSpPr>
      <p:sp>
        <p:nvSpPr>
          <p:cNvPr id="61" name="Google Shape;61;p3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İçerik" showMasterSp="0" type="objTx">
  <p:cSld name="OBJECT_WITH_CAPTION_TEXT">
    <p:spTree>
      <p:nvGrpSpPr>
        <p:cNvPr id="65" name="Shape 65"/>
        <p:cNvGrpSpPr/>
        <p:nvPr/>
      </p:nvGrpSpPr>
      <p:grpSpPr>
        <a:xfrm>
          <a:off x="0" y="0"/>
          <a:ext cx="0" cy="0"/>
          <a:chOff x="0" y="0"/>
          <a:chExt cx="0" cy="0"/>
        </a:xfrm>
      </p:grpSpPr>
      <p:sp>
        <p:nvSpPr>
          <p:cNvPr id="66" name="Google Shape;66;p33"/>
          <p:cNvSpPr/>
          <p:nvPr/>
        </p:nvSpPr>
        <p:spPr>
          <a:xfrm>
            <a:off x="16" y="0"/>
            <a:ext cx="4050791" cy="68580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3"/>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3"/>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3"/>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33"/>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33"/>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lt2"/>
                </a:solidFill>
                <a:latin typeface="Calibri"/>
                <a:ea typeface="Calibri"/>
                <a:cs typeface="Calibri"/>
                <a:sym typeface="Calibri"/>
              </a:defRPr>
            </a:lvl1pPr>
            <a:lvl2pPr indent="0" lvl="1" marL="0" algn="r">
              <a:spcBef>
                <a:spcPts val="0"/>
              </a:spcBef>
              <a:buNone/>
              <a:defRPr sz="1050">
                <a:solidFill>
                  <a:schemeClr val="lt2"/>
                </a:solidFill>
                <a:latin typeface="Calibri"/>
                <a:ea typeface="Calibri"/>
                <a:cs typeface="Calibri"/>
                <a:sym typeface="Calibri"/>
              </a:defRPr>
            </a:lvl2pPr>
            <a:lvl3pPr indent="0" lvl="2" marL="0" algn="r">
              <a:spcBef>
                <a:spcPts val="0"/>
              </a:spcBef>
              <a:buNone/>
              <a:defRPr sz="1050">
                <a:solidFill>
                  <a:schemeClr val="lt2"/>
                </a:solidFill>
                <a:latin typeface="Calibri"/>
                <a:ea typeface="Calibri"/>
                <a:cs typeface="Calibri"/>
                <a:sym typeface="Calibri"/>
              </a:defRPr>
            </a:lvl3pPr>
            <a:lvl4pPr indent="0" lvl="3" marL="0" algn="r">
              <a:spcBef>
                <a:spcPts val="0"/>
              </a:spcBef>
              <a:buNone/>
              <a:defRPr sz="1050">
                <a:solidFill>
                  <a:schemeClr val="lt2"/>
                </a:solidFill>
                <a:latin typeface="Calibri"/>
                <a:ea typeface="Calibri"/>
                <a:cs typeface="Calibri"/>
                <a:sym typeface="Calibri"/>
              </a:defRPr>
            </a:lvl4pPr>
            <a:lvl5pPr indent="0" lvl="4" marL="0" algn="r">
              <a:spcBef>
                <a:spcPts val="0"/>
              </a:spcBef>
              <a:buNone/>
              <a:defRPr sz="1050">
                <a:solidFill>
                  <a:schemeClr val="lt2"/>
                </a:solidFill>
                <a:latin typeface="Calibri"/>
                <a:ea typeface="Calibri"/>
                <a:cs typeface="Calibri"/>
                <a:sym typeface="Calibri"/>
              </a:defRPr>
            </a:lvl5pPr>
            <a:lvl6pPr indent="0" lvl="5" marL="0" algn="r">
              <a:spcBef>
                <a:spcPts val="0"/>
              </a:spcBef>
              <a:buNone/>
              <a:defRPr sz="1050">
                <a:solidFill>
                  <a:schemeClr val="lt2"/>
                </a:solidFill>
                <a:latin typeface="Calibri"/>
                <a:ea typeface="Calibri"/>
                <a:cs typeface="Calibri"/>
                <a:sym typeface="Calibri"/>
              </a:defRPr>
            </a:lvl6pPr>
            <a:lvl7pPr indent="0" lvl="6" marL="0" algn="r">
              <a:spcBef>
                <a:spcPts val="0"/>
              </a:spcBef>
              <a:buNone/>
              <a:defRPr sz="1050">
                <a:solidFill>
                  <a:schemeClr val="lt2"/>
                </a:solidFill>
                <a:latin typeface="Calibri"/>
                <a:ea typeface="Calibri"/>
                <a:cs typeface="Calibri"/>
                <a:sym typeface="Calibri"/>
              </a:defRPr>
            </a:lvl7pPr>
            <a:lvl8pPr indent="0" lvl="7" marL="0" algn="r">
              <a:spcBef>
                <a:spcPts val="0"/>
              </a:spcBef>
              <a:buNone/>
              <a:defRPr sz="1050">
                <a:solidFill>
                  <a:schemeClr val="lt2"/>
                </a:solidFill>
                <a:latin typeface="Calibri"/>
                <a:ea typeface="Calibri"/>
                <a:cs typeface="Calibri"/>
                <a:sym typeface="Calibri"/>
              </a:defRPr>
            </a:lvl8pPr>
            <a:lvl9pPr indent="0" lvl="8" marL="0" algn="r">
              <a:spcBef>
                <a:spcPts val="0"/>
              </a:spcBef>
              <a:buNone/>
              <a:defRPr sz="1050">
                <a:solidFill>
                  <a:schemeClr val="lt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showMasterSp="0" type="picTx">
  <p:cSld name="PICTURE_WITH_CAPTION_TEXT">
    <p:spTree>
      <p:nvGrpSpPr>
        <p:cNvPr id="74" name="Shape 74"/>
        <p:cNvGrpSpPr/>
        <p:nvPr/>
      </p:nvGrpSpPr>
      <p:grpSpPr>
        <a:xfrm>
          <a:off x="0" y="0"/>
          <a:ext cx="0" cy="0"/>
          <a:chOff x="0" y="0"/>
          <a:chExt cx="0" cy="0"/>
        </a:xfrm>
      </p:grpSpPr>
      <p:sp>
        <p:nvSpPr>
          <p:cNvPr id="75" name="Google Shape;75;p34"/>
          <p:cNvSpPr/>
          <p:nvPr/>
        </p:nvSpPr>
        <p:spPr>
          <a:xfrm>
            <a:off x="0" y="4953000"/>
            <a:ext cx="12188825" cy="19050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4"/>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4"/>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4"/>
          <p:cNvSpPr/>
          <p:nvPr>
            <p:ph idx="2" type="pic"/>
          </p:nvPr>
        </p:nvSpPr>
        <p:spPr>
          <a:xfrm>
            <a:off x="15" y="0"/>
            <a:ext cx="12191985" cy="4915076"/>
          </a:xfrm>
          <a:prstGeom prst="rect">
            <a:avLst/>
          </a:prstGeom>
          <a:solidFill>
            <a:srgbClr val="E5E5E5"/>
          </a:solidFill>
          <a:ln>
            <a:noFill/>
          </a:ln>
        </p:spPr>
      </p:sp>
      <p:sp>
        <p:nvSpPr>
          <p:cNvPr id="79" name="Google Shape;79;p34"/>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3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Dikey Metin" type="vertTx">
  <p:cSld name="VERTICAL_TEXT">
    <p:spTree>
      <p:nvGrpSpPr>
        <p:cNvPr id="83" name="Shape 83"/>
        <p:cNvGrpSpPr/>
        <p:nvPr/>
      </p:nvGrpSpPr>
      <p:grpSpPr>
        <a:xfrm>
          <a:off x="0" y="0"/>
          <a:ext cx="0" cy="0"/>
          <a:chOff x="0" y="0"/>
          <a:chExt cx="0" cy="0"/>
        </a:xfrm>
      </p:grpSpPr>
      <p:sp>
        <p:nvSpPr>
          <p:cNvPr id="84" name="Google Shape;84;p3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5"/>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3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key Başlık ve Metin" showMasterSp="0" type="vertTitleAndTx">
  <p:cSld name="VERTICAL_TITLE_AND_VERTICAL_TEXT">
    <p:spTree>
      <p:nvGrpSpPr>
        <p:cNvPr id="89" name="Shape 89"/>
        <p:cNvGrpSpPr/>
        <p:nvPr/>
      </p:nvGrpSpPr>
      <p:grpSpPr>
        <a:xfrm>
          <a:off x="0" y="0"/>
          <a:ext cx="0" cy="0"/>
          <a:chOff x="0" y="0"/>
          <a:chExt cx="0" cy="0"/>
        </a:xfrm>
      </p:grpSpPr>
      <p:sp>
        <p:nvSpPr>
          <p:cNvPr id="90" name="Google Shape;90;p36"/>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6"/>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36"/>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3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25"/>
          <p:cNvSpPr/>
          <p:nvPr/>
        </p:nvSpPr>
        <p:spPr>
          <a:xfrm>
            <a:off x="1" y="6400800"/>
            <a:ext cx="12192000"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25"/>
          <p:cNvSpPr/>
          <p:nvPr/>
        </p:nvSpPr>
        <p:spPr>
          <a:xfrm>
            <a:off x="15" y="6334316"/>
            <a:ext cx="12191985" cy="664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606060"/>
              </a:buClr>
              <a:buSzPts val="4800"/>
              <a:buFont typeface="Calibri"/>
              <a:buNone/>
              <a:defRPr b="0" i="0" sz="4800" u="none" cap="none" strike="noStrike">
                <a:solidFill>
                  <a:srgbClr val="606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60606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60606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9pPr>
          </a:lstStyle>
          <a:p/>
        </p:txBody>
      </p:sp>
      <p:sp>
        <p:nvSpPr>
          <p:cNvPr id="10" name="Google Shape;10;p2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1" name="Google Shape;11;p2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2" name="Google Shape;12;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cxnSp>
        <p:nvCxnSpPr>
          <p:cNvPr id="13" name="Google Shape;13;p25"/>
          <p:cNvCxnSpPr/>
          <p:nvPr/>
        </p:nvCxnSpPr>
        <p:spPr>
          <a:xfrm>
            <a:off x="1193532" y="1737845"/>
            <a:ext cx="9966960" cy="0"/>
          </a:xfrm>
          <a:prstGeom prst="straightConnector1">
            <a:avLst/>
          </a:prstGeom>
          <a:noFill/>
          <a:ln cap="flat" cmpd="sng" w="9525">
            <a:solidFill>
              <a:srgbClr val="959595"/>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6.png"/><Relationship Id="rId5" Type="http://schemas.openxmlformats.org/officeDocument/2006/relationships/image" Target="../media/image14.png"/><Relationship Id="rId6"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0" y="3162968"/>
            <a:ext cx="12192000" cy="82366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000"/>
              <a:buFont typeface="Times New Roman"/>
              <a:buNone/>
            </a:pPr>
            <a:r>
              <a:rPr lang="tr-TR" sz="4000">
                <a:solidFill>
                  <a:schemeClr val="dk1"/>
                </a:solidFill>
                <a:latin typeface="Times New Roman"/>
                <a:ea typeface="Times New Roman"/>
                <a:cs typeface="Times New Roman"/>
                <a:sym typeface="Times New Roman"/>
              </a:rPr>
              <a:t>BİL102-ALGORİTMA ve PROGRAMLAMA II</a:t>
            </a:r>
            <a:endParaRPr/>
          </a:p>
        </p:txBody>
      </p:sp>
      <p:sp>
        <p:nvSpPr>
          <p:cNvPr id="102" name="Google Shape;102;p1"/>
          <p:cNvSpPr txBox="1"/>
          <p:nvPr>
            <p:ph idx="1" type="subTitle"/>
          </p:nvPr>
        </p:nvSpPr>
        <p:spPr>
          <a:xfrm>
            <a:off x="1" y="2036685"/>
            <a:ext cx="12192000" cy="112628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3000"/>
              <a:buNone/>
            </a:pPr>
            <a:r>
              <a:rPr lang="tr-TR" sz="3000">
                <a:solidFill>
                  <a:schemeClr val="dk1"/>
                </a:solidFill>
                <a:latin typeface="Times New Roman"/>
                <a:ea typeface="Times New Roman"/>
                <a:cs typeface="Times New Roman"/>
                <a:sym typeface="Times New Roman"/>
              </a:rPr>
              <a:t>MÜHENDİSLİK FAKÜLTESİ </a:t>
            </a:r>
            <a:endParaRPr/>
          </a:p>
          <a:p>
            <a:pPr indent="0" lvl="0" marL="0" rtl="0" algn="ctr">
              <a:lnSpc>
                <a:spcPct val="90000"/>
              </a:lnSpc>
              <a:spcBef>
                <a:spcPts val="1400"/>
              </a:spcBef>
              <a:spcAft>
                <a:spcPts val="0"/>
              </a:spcAft>
              <a:buSzPts val="3000"/>
              <a:buNone/>
            </a:pPr>
            <a:r>
              <a:rPr lang="tr-TR" sz="3000">
                <a:solidFill>
                  <a:schemeClr val="dk1"/>
                </a:solidFill>
                <a:latin typeface="Times New Roman"/>
                <a:ea typeface="Times New Roman"/>
                <a:cs typeface="Times New Roman"/>
                <a:sym typeface="Times New Roman"/>
              </a:rPr>
              <a:t>BİLGİSAYAR MÜHENDİSLİĞİ BÖLÜMÜ</a:t>
            </a:r>
            <a:endParaRPr/>
          </a:p>
        </p:txBody>
      </p:sp>
      <p:pic>
        <p:nvPicPr>
          <p:cNvPr descr="Amasya Üniversitesi Logo Vector (.AI) Free Download" id="103" name="Google Shape;103;p1"/>
          <p:cNvPicPr preferRelativeResize="0"/>
          <p:nvPr/>
        </p:nvPicPr>
        <p:blipFill rotWithShape="1">
          <a:blip r:embed="rId3">
            <a:alphaModFix/>
          </a:blip>
          <a:srcRect b="0" l="0" r="0" t="0"/>
          <a:stretch/>
        </p:blipFill>
        <p:spPr>
          <a:xfrm>
            <a:off x="5199293" y="159026"/>
            <a:ext cx="1889990" cy="1656891"/>
          </a:xfrm>
          <a:prstGeom prst="rect">
            <a:avLst/>
          </a:prstGeom>
          <a:noFill/>
          <a:ln>
            <a:noFill/>
          </a:ln>
        </p:spPr>
      </p:pic>
      <p:sp>
        <p:nvSpPr>
          <p:cNvPr id="104" name="Google Shape;104;p1"/>
          <p:cNvSpPr txBox="1"/>
          <p:nvPr/>
        </p:nvSpPr>
        <p:spPr>
          <a:xfrm>
            <a:off x="48288" y="4713321"/>
            <a:ext cx="12192000" cy="561431"/>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Clr>
                <a:schemeClr val="dk1"/>
              </a:buClr>
              <a:buSzPts val="2500"/>
              <a:buFont typeface="Times New Roman"/>
              <a:buNone/>
            </a:pPr>
            <a:r>
              <a:rPr b="0" i="0" lang="tr-TR" sz="2500" u="none" cap="none" strike="noStrike">
                <a:solidFill>
                  <a:schemeClr val="dk1"/>
                </a:solidFill>
                <a:latin typeface="Times New Roman"/>
                <a:ea typeface="Times New Roman"/>
                <a:cs typeface="Times New Roman"/>
                <a:sym typeface="Times New Roman"/>
              </a:rPr>
              <a:t>Hafta </a:t>
            </a:r>
            <a:r>
              <a:rPr lang="tr-TR" sz="2500">
                <a:solidFill>
                  <a:schemeClr val="dk1"/>
                </a:solidFill>
                <a:latin typeface="Times New Roman"/>
                <a:ea typeface="Times New Roman"/>
                <a:cs typeface="Times New Roman"/>
                <a:sym typeface="Times New Roman"/>
              </a:rPr>
              <a:t>9</a:t>
            </a:r>
            <a:endParaRPr/>
          </a:p>
        </p:txBody>
      </p:sp>
      <p:sp>
        <p:nvSpPr>
          <p:cNvPr id="105" name="Google Shape;105;p1"/>
          <p:cNvSpPr txBox="1"/>
          <p:nvPr/>
        </p:nvSpPr>
        <p:spPr>
          <a:xfrm>
            <a:off x="48288" y="5536988"/>
            <a:ext cx="12191999" cy="7882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2400"/>
              <a:buFont typeface="Noto Sans Symbols"/>
              <a:buNone/>
            </a:pPr>
            <a:r>
              <a:rPr lang="tr-TR" sz="2400">
                <a:solidFill>
                  <a:schemeClr val="dk1"/>
                </a:solidFill>
                <a:latin typeface="Times New Roman"/>
                <a:ea typeface="Times New Roman"/>
                <a:cs typeface="Times New Roman"/>
                <a:sym typeface="Times New Roman"/>
              </a:rPr>
              <a:t>Doç. Dr. </a:t>
            </a:r>
            <a:r>
              <a:rPr b="0" i="0" lang="tr-TR" sz="2400" u="none" cap="none" strike="noStrike">
                <a:solidFill>
                  <a:schemeClr val="dk1"/>
                </a:solidFill>
                <a:latin typeface="Times New Roman"/>
                <a:ea typeface="Times New Roman"/>
                <a:cs typeface="Times New Roman"/>
                <a:sym typeface="Times New Roman"/>
              </a:rPr>
              <a:t> Funda KUTLU ONAY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nvSpPr>
        <p:spPr>
          <a:xfrm>
            <a:off x="0" y="-1"/>
            <a:ext cx="12099721" cy="1179443"/>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3600"/>
              <a:buFont typeface="Calibri"/>
              <a:buNone/>
            </a:pPr>
            <a:r>
              <a:rPr b="1" i="0" lang="tr-TR" sz="3600" u="none" cap="none" strike="noStrike">
                <a:solidFill>
                  <a:srgbClr val="7030A0"/>
                </a:solidFill>
                <a:latin typeface="Times New Roman"/>
                <a:ea typeface="Times New Roman"/>
                <a:cs typeface="Times New Roman"/>
                <a:sym typeface="Times New Roman"/>
              </a:rPr>
              <a:t>Konu Başlıkları</a:t>
            </a:r>
            <a:endParaRPr/>
          </a:p>
        </p:txBody>
      </p:sp>
      <p:sp>
        <p:nvSpPr>
          <p:cNvPr id="111" name="Google Shape;111;p2"/>
          <p:cNvSpPr txBox="1"/>
          <p:nvPr/>
        </p:nvSpPr>
        <p:spPr>
          <a:xfrm>
            <a:off x="278296" y="903276"/>
            <a:ext cx="11913704" cy="5608040"/>
          </a:xfrm>
          <a:prstGeom prst="rect">
            <a:avLst/>
          </a:prstGeom>
          <a:noFill/>
          <a:ln>
            <a:noFill/>
          </a:ln>
        </p:spPr>
        <p:txBody>
          <a:bodyPr anchorCtr="0" anchor="t" bIns="45700" lIns="0" spcFirstLastPara="1" rIns="0" wrap="square" tIns="45700">
            <a:normAutofit/>
          </a:bodyPr>
          <a:lstStyle/>
          <a:p>
            <a:pPr indent="-182880" lvl="1" marL="384048" marR="0" rtl="0" algn="just">
              <a:lnSpc>
                <a:spcPct val="125000"/>
              </a:lnSpc>
              <a:spcBef>
                <a:spcPts val="0"/>
              </a:spcBef>
              <a:spcAft>
                <a:spcPts val="0"/>
              </a:spcAft>
              <a:buClr>
                <a:schemeClr val="accent1"/>
              </a:buClr>
              <a:buSzPts val="2000"/>
              <a:buFont typeface="Noto Sans Symbols"/>
              <a:buChar char="✔"/>
            </a:pPr>
            <a:r>
              <a:rPr b="0" i="0" lang="tr-TR" sz="2000" u="none" cap="none" strike="noStrike">
                <a:solidFill>
                  <a:srgbClr val="444444"/>
                </a:solidFill>
                <a:latin typeface="Times New Roman"/>
                <a:ea typeface="Times New Roman"/>
                <a:cs typeface="Times New Roman"/>
                <a:sym typeface="Times New Roman"/>
              </a:rPr>
              <a:t> Kopya yapıcı (Copy constructor) </a:t>
            </a:r>
            <a:endParaRPr/>
          </a:p>
          <a:p>
            <a:pPr indent="-182880" lvl="1" marL="384048" marR="0" rtl="0" algn="just">
              <a:lnSpc>
                <a:spcPct val="125000"/>
              </a:lnSpc>
              <a:spcBef>
                <a:spcPts val="600"/>
              </a:spcBef>
              <a:spcAft>
                <a:spcPts val="0"/>
              </a:spcAft>
              <a:buClr>
                <a:schemeClr val="accent1"/>
              </a:buClr>
              <a:buSzPts val="2000"/>
              <a:buFont typeface="Noto Sans Symbols"/>
              <a:buChar char="✔"/>
            </a:pPr>
            <a:r>
              <a:rPr b="1" i="1" lang="tr-TR" sz="2000" u="none" cap="none" strike="noStrike">
                <a:solidFill>
                  <a:srgbClr val="FF6600"/>
                </a:solidFill>
                <a:latin typeface="Times New Roman"/>
                <a:ea typeface="Times New Roman"/>
                <a:cs typeface="Times New Roman"/>
                <a:sym typeface="Times New Roman"/>
              </a:rPr>
              <a:t> this</a:t>
            </a:r>
            <a:r>
              <a:rPr b="1" i="1" lang="tr-TR" sz="2000" u="none" cap="none" strike="noStrike">
                <a:solidFill>
                  <a:srgbClr val="0070C0"/>
                </a:solidFill>
                <a:latin typeface="Times New Roman"/>
                <a:ea typeface="Times New Roman"/>
                <a:cs typeface="Times New Roman"/>
                <a:sym typeface="Times New Roman"/>
              </a:rPr>
              <a:t> </a:t>
            </a:r>
            <a:r>
              <a:rPr b="0" i="0" lang="tr-TR" sz="2000" u="none" cap="none" strike="noStrike">
                <a:solidFill>
                  <a:srgbClr val="444444"/>
                </a:solidFill>
                <a:latin typeface="Times New Roman"/>
                <a:ea typeface="Times New Roman"/>
                <a:cs typeface="Times New Roman"/>
                <a:sym typeface="Times New Roman"/>
              </a:rPr>
              <a:t>Gizli İşaretçisi</a:t>
            </a:r>
            <a:endParaRPr/>
          </a:p>
          <a:p>
            <a:pPr indent="-182880" lvl="1" marL="384048" marR="0" rtl="0" algn="just">
              <a:lnSpc>
                <a:spcPct val="125000"/>
              </a:lnSpc>
              <a:spcBef>
                <a:spcPts val="600"/>
              </a:spcBef>
              <a:spcAft>
                <a:spcPts val="0"/>
              </a:spcAft>
              <a:buClr>
                <a:schemeClr val="accent1"/>
              </a:buClr>
              <a:buSzPts val="2000"/>
              <a:buFont typeface="Noto Sans Symbols"/>
              <a:buChar char="✔"/>
            </a:pPr>
            <a:r>
              <a:rPr b="0" i="0" lang="tr-TR" sz="2000" u="none" cap="none" strike="noStrike">
                <a:solidFill>
                  <a:srgbClr val="444444"/>
                </a:solidFill>
                <a:latin typeface="Times New Roman"/>
                <a:ea typeface="Times New Roman"/>
                <a:cs typeface="Times New Roman"/>
                <a:sym typeface="Times New Roman"/>
              </a:rPr>
              <a:t> Dinamik Bellek Yönetimi: </a:t>
            </a:r>
            <a:r>
              <a:rPr b="1" i="1" lang="tr-TR" sz="2000" u="none" cap="none" strike="noStrike">
                <a:solidFill>
                  <a:srgbClr val="0070C0"/>
                </a:solidFill>
                <a:latin typeface="Times New Roman"/>
                <a:ea typeface="Times New Roman"/>
                <a:cs typeface="Times New Roman"/>
                <a:sym typeface="Times New Roman"/>
              </a:rPr>
              <a:t>new</a:t>
            </a:r>
            <a:r>
              <a:rPr b="0" i="0" lang="tr-TR" sz="2000" u="none" cap="none" strike="noStrike">
                <a:solidFill>
                  <a:srgbClr val="444444"/>
                </a:solidFill>
                <a:latin typeface="Times New Roman"/>
                <a:ea typeface="Times New Roman"/>
                <a:cs typeface="Times New Roman"/>
                <a:sym typeface="Times New Roman"/>
              </a:rPr>
              <a:t> ve </a:t>
            </a:r>
            <a:r>
              <a:rPr b="1" i="1" lang="tr-TR" sz="2000" u="none" cap="none" strike="noStrike">
                <a:solidFill>
                  <a:srgbClr val="0070C0"/>
                </a:solidFill>
                <a:latin typeface="Times New Roman"/>
                <a:ea typeface="Times New Roman"/>
                <a:cs typeface="Times New Roman"/>
                <a:sym typeface="Times New Roman"/>
              </a:rPr>
              <a:t>delete</a:t>
            </a:r>
            <a:r>
              <a:rPr b="0" i="0" lang="tr-TR" sz="2000" u="none" cap="none" strike="noStrike">
                <a:solidFill>
                  <a:srgbClr val="444444"/>
                </a:solidFill>
                <a:latin typeface="Times New Roman"/>
                <a:ea typeface="Times New Roman"/>
                <a:cs typeface="Times New Roman"/>
                <a:sym typeface="Times New Roman"/>
              </a:rPr>
              <a:t> operatörleri</a:t>
            </a:r>
            <a:endParaRPr/>
          </a:p>
          <a:p>
            <a:pPr indent="-182880" lvl="1" marL="384048" marR="0" rtl="0" algn="just">
              <a:lnSpc>
                <a:spcPct val="125000"/>
              </a:lnSpc>
              <a:spcBef>
                <a:spcPts val="600"/>
              </a:spcBef>
              <a:spcAft>
                <a:spcPts val="0"/>
              </a:spcAft>
              <a:buClr>
                <a:schemeClr val="accent1"/>
              </a:buClr>
              <a:buSzPts val="2000"/>
              <a:buFont typeface="Noto Sans Symbols"/>
              <a:buChar char="✔"/>
            </a:pPr>
            <a:r>
              <a:rPr b="1" i="1" lang="tr-TR" sz="2000" u="none" cap="none" strike="noStrike">
                <a:solidFill>
                  <a:srgbClr val="00B050"/>
                </a:solidFill>
                <a:latin typeface="Times New Roman"/>
                <a:ea typeface="Times New Roman"/>
                <a:cs typeface="Times New Roman"/>
                <a:sym typeface="Times New Roman"/>
              </a:rPr>
              <a:t> static</a:t>
            </a:r>
            <a:r>
              <a:rPr b="0" i="0" lang="tr-TR" sz="2000" u="none" cap="none" strike="noStrike">
                <a:solidFill>
                  <a:srgbClr val="444444"/>
                </a:solidFill>
                <a:latin typeface="Times New Roman"/>
                <a:ea typeface="Times New Roman"/>
                <a:cs typeface="Times New Roman"/>
                <a:sym typeface="Times New Roman"/>
              </a:rPr>
              <a:t> üye değişkenleri ve üye fonksiyonları</a:t>
            </a:r>
            <a:endParaRPr/>
          </a:p>
          <a:p>
            <a:pPr indent="-182880" lvl="1" marL="384048" marR="0" rtl="0" algn="just">
              <a:lnSpc>
                <a:spcPct val="125000"/>
              </a:lnSpc>
              <a:spcBef>
                <a:spcPts val="600"/>
              </a:spcBef>
              <a:spcAft>
                <a:spcPts val="0"/>
              </a:spcAft>
              <a:buClr>
                <a:schemeClr val="accent1"/>
              </a:buClr>
              <a:buSzPts val="2000"/>
              <a:buFont typeface="Noto Sans Symbols"/>
              <a:buChar char="✔"/>
            </a:pPr>
            <a:r>
              <a:rPr b="0" i="0" lang="tr-TR" sz="2000" u="none" cap="none" strike="noStrike">
                <a:solidFill>
                  <a:srgbClr val="444444"/>
                </a:solidFill>
                <a:latin typeface="Times New Roman"/>
                <a:ea typeface="Times New Roman"/>
                <a:cs typeface="Times New Roman"/>
                <a:sym typeface="Times New Roman"/>
              </a:rPr>
              <a:t> Arkadaş (Friend) Fonksiyonlar ve Sınıflar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Kopya Yapıcı (Copy Constructor)</a:t>
            </a:r>
            <a:endParaRPr b="1" i="0" sz="2000" u="none" cap="none" strike="noStrike">
              <a:solidFill>
                <a:schemeClr val="lt1"/>
              </a:solidFill>
              <a:latin typeface="Times New Roman"/>
              <a:ea typeface="Times New Roman"/>
              <a:cs typeface="Times New Roman"/>
              <a:sym typeface="Times New Roman"/>
            </a:endParaRPr>
          </a:p>
        </p:txBody>
      </p:sp>
      <p:sp>
        <p:nvSpPr>
          <p:cNvPr id="117" name="Google Shape;117;p3"/>
          <p:cNvSpPr txBox="1"/>
          <p:nvPr/>
        </p:nvSpPr>
        <p:spPr>
          <a:xfrm>
            <a:off x="-8388" y="624980"/>
            <a:ext cx="12029812"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0" i="0" lang="tr-TR" sz="1800" u="none" cap="none" strike="noStrike">
                <a:solidFill>
                  <a:schemeClr val="dk1"/>
                </a:solidFill>
                <a:latin typeface="Times New Roman"/>
                <a:ea typeface="Times New Roman"/>
                <a:cs typeface="Times New Roman"/>
                <a:sym typeface="Times New Roman"/>
              </a:rPr>
              <a:t>Aynı sınıf tipinde başka bir nesneyi parametre olarak alan yapıcı fonksiyonlarıdır. Parametre olarak gelen nesneyi, içinde bulunduğu nesneye kopyalar.</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dk1"/>
                </a:solidFill>
                <a:latin typeface="Times New Roman"/>
                <a:ea typeface="Times New Roman"/>
                <a:cs typeface="Times New Roman"/>
                <a:sym typeface="Times New Roman"/>
              </a:rPr>
              <a:t>Bir başka ifadeyle, bir nesnenin sahip olduğu özellikleri başka bir nesneye aktarmak istediğimizde işimize yarayan bir constructor özelliğidir.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dk1"/>
                </a:solidFill>
                <a:latin typeface="Times New Roman"/>
                <a:ea typeface="Times New Roman"/>
                <a:cs typeface="Times New Roman"/>
                <a:sym typeface="Times New Roman"/>
              </a:rPr>
              <a:t>Bu sayede veri kaybı olmaz. RAM’de kopya nesne için farklı bir yer ayrılır ve nesnenin içeriğini kendine kopyalar.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dk1"/>
                </a:solidFill>
                <a:latin typeface="Times New Roman"/>
                <a:ea typeface="Times New Roman"/>
                <a:cs typeface="Times New Roman"/>
                <a:sym typeface="Times New Roman"/>
              </a:rPr>
              <a:t>Kopyalanan nesnede değişiklik yapıldığında diğer nesne bundan etkilenmez.</a:t>
            </a:r>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dk1"/>
                </a:solidFill>
                <a:latin typeface="Times New Roman"/>
                <a:ea typeface="Times New Roman"/>
                <a:cs typeface="Times New Roman"/>
                <a:sym typeface="Times New Roman"/>
              </a:rPr>
              <a:t>Genel prototipi şu şekildedir: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rgbClr val="0070C0"/>
                </a:solidFill>
                <a:latin typeface="Consolas"/>
                <a:ea typeface="Consolas"/>
                <a:cs typeface="Consolas"/>
                <a:sym typeface="Consolas"/>
              </a:rPr>
              <a:t>sınıf_adı (const sınıf_adı &amp;kopya_nesne); </a:t>
            </a:r>
            <a:endParaRPr b="0" i="0" sz="1800" u="none" cap="none" strike="noStrike">
              <a:solidFill>
                <a:srgbClr val="0070C0"/>
              </a:solidFill>
              <a:latin typeface="Consolas"/>
              <a:ea typeface="Consolas"/>
              <a:cs typeface="Consolas"/>
              <a:sym typeface="Consolas"/>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Kopya Yapıcı (Copy Constructor)</a:t>
            </a:r>
            <a:endParaRPr b="1" i="0" sz="2000" u="none" cap="none" strike="noStrike">
              <a:solidFill>
                <a:schemeClr val="lt1"/>
              </a:solidFill>
              <a:latin typeface="Times New Roman"/>
              <a:ea typeface="Times New Roman"/>
              <a:cs typeface="Times New Roman"/>
              <a:sym typeface="Times New Roman"/>
            </a:endParaRPr>
          </a:p>
        </p:txBody>
      </p:sp>
      <p:pic>
        <p:nvPicPr>
          <p:cNvPr id="123" name="Google Shape;123;p4"/>
          <p:cNvPicPr preferRelativeResize="0"/>
          <p:nvPr/>
        </p:nvPicPr>
        <p:blipFill rotWithShape="1">
          <a:blip r:embed="rId3">
            <a:alphaModFix/>
          </a:blip>
          <a:srcRect b="0" l="0" r="0" t="0"/>
          <a:stretch/>
        </p:blipFill>
        <p:spPr>
          <a:xfrm>
            <a:off x="246264" y="624980"/>
            <a:ext cx="7098718" cy="5603542"/>
          </a:xfrm>
          <a:prstGeom prst="rect">
            <a:avLst/>
          </a:prstGeom>
          <a:noFill/>
          <a:ln>
            <a:noFill/>
          </a:ln>
        </p:spPr>
      </p:pic>
      <p:pic>
        <p:nvPicPr>
          <p:cNvPr id="124" name="Google Shape;124;p4"/>
          <p:cNvPicPr preferRelativeResize="0"/>
          <p:nvPr/>
        </p:nvPicPr>
        <p:blipFill rotWithShape="1">
          <a:blip r:embed="rId4">
            <a:alphaModFix/>
          </a:blip>
          <a:srcRect b="0" l="0" r="0" t="0"/>
          <a:stretch/>
        </p:blipFill>
        <p:spPr>
          <a:xfrm>
            <a:off x="4862151" y="790135"/>
            <a:ext cx="2375417" cy="826738"/>
          </a:xfrm>
          <a:prstGeom prst="rect">
            <a:avLst/>
          </a:prstGeom>
          <a:noFill/>
          <a:ln cap="flat" cmpd="sng" w="9525">
            <a:solidFill>
              <a:schemeClr val="accent1"/>
            </a:solidFill>
            <a:prstDash val="solid"/>
            <a:round/>
            <a:headEnd len="sm" w="sm" type="none"/>
            <a:tailEnd len="sm" w="sm" type="none"/>
          </a:ln>
        </p:spPr>
      </p:pic>
      <p:sp>
        <p:nvSpPr>
          <p:cNvPr id="125" name="Google Shape;125;p4"/>
          <p:cNvSpPr txBox="1"/>
          <p:nvPr/>
        </p:nvSpPr>
        <p:spPr>
          <a:xfrm>
            <a:off x="7474225" y="624980"/>
            <a:ext cx="4625495" cy="2585323"/>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tr-TR" sz="1800" u="none" cap="none" strike="noStrike">
                <a:solidFill>
                  <a:schemeClr val="lt1"/>
                </a:solidFill>
                <a:latin typeface="Times New Roman"/>
                <a:ea typeface="Times New Roman"/>
                <a:cs typeface="Times New Roman"/>
                <a:sym typeface="Times New Roman"/>
              </a:rPr>
              <a:t>Kopya yapıcı ne zaman çağrılır?</a:t>
            </a:r>
            <a:endParaRPr/>
          </a:p>
          <a:p>
            <a:pPr indent="-285750" lvl="0" marL="285750" marR="0" rtl="0" algn="l">
              <a:spcBef>
                <a:spcPts val="0"/>
              </a:spcBef>
              <a:spcAft>
                <a:spcPts val="0"/>
              </a:spcAft>
              <a:buClr>
                <a:schemeClr val="lt1"/>
              </a:buClr>
              <a:buSzPts val="1800"/>
              <a:buFont typeface="Arial"/>
              <a:buChar char="•"/>
            </a:pPr>
            <a:r>
              <a:rPr lang="tr-TR" sz="1800">
                <a:solidFill>
                  <a:schemeClr val="lt1"/>
                </a:solidFill>
                <a:latin typeface="Times New Roman"/>
                <a:ea typeface="Times New Roman"/>
                <a:cs typeface="Times New Roman"/>
                <a:sym typeface="Times New Roman"/>
              </a:rPr>
              <a:t>Sınıfa ait nesne değer olarak döndürüldüğünde,</a:t>
            </a:r>
            <a:endParaRPr/>
          </a:p>
          <a:p>
            <a:pPr indent="-285750" lvl="0" marL="285750" marR="0" rtl="0" algn="l">
              <a:spcBef>
                <a:spcPts val="0"/>
              </a:spcBef>
              <a:spcAft>
                <a:spcPts val="0"/>
              </a:spcAft>
              <a:buClr>
                <a:schemeClr val="lt1"/>
              </a:buClr>
              <a:buSzPts val="1800"/>
              <a:buFont typeface="Arial"/>
              <a:buChar char="•"/>
            </a:pPr>
            <a:r>
              <a:rPr lang="tr-TR" sz="1800">
                <a:solidFill>
                  <a:schemeClr val="lt1"/>
                </a:solidFill>
                <a:latin typeface="Times New Roman"/>
                <a:ea typeface="Times New Roman"/>
                <a:cs typeface="Times New Roman"/>
                <a:sym typeface="Times New Roman"/>
              </a:rPr>
              <a:t>Sınıfın nesnesi argüman olarak bir fonksiyona iletildiğinde,</a:t>
            </a:r>
            <a:endParaRPr/>
          </a:p>
          <a:p>
            <a:pPr indent="-285750" lvl="0" marL="285750" marR="0" rtl="0" algn="l">
              <a:spcBef>
                <a:spcPts val="0"/>
              </a:spcBef>
              <a:spcAft>
                <a:spcPts val="0"/>
              </a:spcAft>
              <a:buClr>
                <a:schemeClr val="lt1"/>
              </a:buClr>
              <a:buSzPts val="1800"/>
              <a:buFont typeface="Arial"/>
              <a:buChar char="•"/>
            </a:pPr>
            <a:r>
              <a:rPr lang="tr-TR" sz="1800">
                <a:solidFill>
                  <a:schemeClr val="lt1"/>
                </a:solidFill>
                <a:latin typeface="Times New Roman"/>
                <a:ea typeface="Times New Roman"/>
                <a:cs typeface="Times New Roman"/>
                <a:sym typeface="Times New Roman"/>
              </a:rPr>
              <a:t>Bir nesne, aynı sınıftaki başka bir nesneye dayalı olarak oluşturulduğunda,</a:t>
            </a:r>
            <a:endParaRPr/>
          </a:p>
          <a:p>
            <a:pPr indent="-285750" lvl="0" marL="285750" marR="0" rtl="0" algn="l">
              <a:spcBef>
                <a:spcPts val="0"/>
              </a:spcBef>
              <a:spcAft>
                <a:spcPts val="0"/>
              </a:spcAft>
              <a:buClr>
                <a:schemeClr val="lt1"/>
              </a:buClr>
              <a:buSzPts val="1800"/>
              <a:buFont typeface="Arial"/>
              <a:buChar char="•"/>
            </a:pPr>
            <a:r>
              <a:rPr lang="tr-TR" sz="1800">
                <a:solidFill>
                  <a:schemeClr val="lt1"/>
                </a:solidFill>
                <a:latin typeface="Times New Roman"/>
                <a:ea typeface="Times New Roman"/>
                <a:cs typeface="Times New Roman"/>
                <a:sym typeface="Times New Roman"/>
              </a:rPr>
              <a:t>Derleyici geçici bir nesne oluşturduğunda çağrılır.</a:t>
            </a:r>
            <a:endParaRPr/>
          </a:p>
        </p:txBody>
      </p:sp>
      <p:sp>
        <p:nvSpPr>
          <p:cNvPr id="126" name="Google Shape;126;p4"/>
          <p:cNvSpPr txBox="1"/>
          <p:nvPr/>
        </p:nvSpPr>
        <p:spPr>
          <a:xfrm>
            <a:off x="7474224" y="3361854"/>
            <a:ext cx="4625495" cy="2862322"/>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tr-TR" sz="1800">
                <a:solidFill>
                  <a:schemeClr val="lt1"/>
                </a:solidFill>
                <a:latin typeface="Times New Roman"/>
                <a:ea typeface="Times New Roman"/>
                <a:cs typeface="Times New Roman"/>
                <a:sym typeface="Times New Roman"/>
              </a:rPr>
              <a:t>Kopya yapıcı neden </a:t>
            </a:r>
            <a:r>
              <a:rPr b="1" i="1" lang="tr-TR" sz="1800">
                <a:solidFill>
                  <a:srgbClr val="0070C0"/>
                </a:solidFill>
                <a:latin typeface="Times New Roman"/>
                <a:ea typeface="Times New Roman"/>
                <a:cs typeface="Times New Roman"/>
                <a:sym typeface="Times New Roman"/>
              </a:rPr>
              <a:t>const</a:t>
            </a:r>
            <a:r>
              <a:rPr b="1" lang="tr-TR" sz="1800">
                <a:solidFill>
                  <a:schemeClr val="lt1"/>
                </a:solidFill>
                <a:latin typeface="Times New Roman"/>
                <a:ea typeface="Times New Roman"/>
                <a:cs typeface="Times New Roman"/>
                <a:sym typeface="Times New Roman"/>
              </a:rPr>
              <a:t> referans alır?</a:t>
            </a:r>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Kopya yapıcılar, kopyaladığı nesneyi değiştirmemelidir. Bu nedenle const kullanımı tercih edilir. </a:t>
            </a:r>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Her ikisi de (const olmadan veya const eklenerek) çalışır, ancak kullanılması tercih edilir. </a:t>
            </a:r>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Çünkü iletilen nesnenin fonksiyon tarafından değiştirilmemesi gerektiğini açıkça belirtir, garanti eder.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Kopya Yapıcı (Copy Constructor) vs. Atama Operatörü (Assignment Operator)</a:t>
            </a:r>
            <a:endParaRPr b="1" i="0" sz="2000" u="none" cap="none" strike="noStrike">
              <a:solidFill>
                <a:schemeClr val="lt1"/>
              </a:solidFill>
              <a:latin typeface="Times New Roman"/>
              <a:ea typeface="Times New Roman"/>
              <a:cs typeface="Times New Roman"/>
              <a:sym typeface="Times New Roman"/>
            </a:endParaRPr>
          </a:p>
        </p:txBody>
      </p:sp>
      <p:sp>
        <p:nvSpPr>
          <p:cNvPr id="132" name="Google Shape;132;p5"/>
          <p:cNvSpPr txBox="1"/>
          <p:nvPr/>
        </p:nvSpPr>
        <p:spPr>
          <a:xfrm>
            <a:off x="251791" y="624980"/>
            <a:ext cx="118479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Aşağıdaki iki ifadeden hangisi kopya oluşturucuyu, hangisi atama operatörünü çağırır?</a:t>
            </a:r>
            <a:endParaRPr/>
          </a:p>
        </p:txBody>
      </p:sp>
      <p:sp>
        <p:nvSpPr>
          <p:cNvPr id="133" name="Google Shape;133;p5"/>
          <p:cNvSpPr txBox="1"/>
          <p:nvPr/>
        </p:nvSpPr>
        <p:spPr>
          <a:xfrm>
            <a:off x="2093843" y="1157627"/>
            <a:ext cx="6096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Consolas"/>
                <a:ea typeface="Consolas"/>
                <a:cs typeface="Consolas"/>
                <a:sym typeface="Consolas"/>
              </a:rPr>
              <a:t>MyClass t1, t2;</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MyClass t3 = t1;  // (1)</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t2 = t1;          // (2)</a:t>
            </a:r>
            <a:endParaRPr sz="1800">
              <a:solidFill>
                <a:schemeClr val="lt1"/>
              </a:solidFill>
              <a:latin typeface="Consolas"/>
              <a:ea typeface="Consolas"/>
              <a:cs typeface="Consolas"/>
              <a:sym typeface="Consolas"/>
            </a:endParaRPr>
          </a:p>
        </p:txBody>
      </p:sp>
      <p:sp>
        <p:nvSpPr>
          <p:cNvPr id="134" name="Google Shape;134;p5"/>
          <p:cNvSpPr txBox="1"/>
          <p:nvPr/>
        </p:nvSpPr>
        <p:spPr>
          <a:xfrm>
            <a:off x="251791" y="2244272"/>
            <a:ext cx="11847928"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Copy constructor, mevcut bir nesneden yeni bir nesne oluşturulduğunda, mevcut nesnenin bir kopyası olarak çağrılır. </a:t>
            </a:r>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Atama operatörü, önceden başlatılmış bir nesneye başka bir mevcut nesneden yeni bir değer atandığında çağrılır. </a:t>
            </a:r>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Yukarıdaki örnekte (1) kopya oluşturucuyu ve (2) atama operatörünü çağırır. </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Kopya yapıcının neden gerekli olduğuna dair bir örnek: </a:t>
            </a:r>
            <a:endParaRPr b="1" i="0" sz="2000" u="none" cap="none" strike="noStrike">
              <a:solidFill>
                <a:schemeClr val="lt1"/>
              </a:solidFill>
              <a:latin typeface="Times New Roman"/>
              <a:ea typeface="Times New Roman"/>
              <a:cs typeface="Times New Roman"/>
              <a:sym typeface="Times New Roman"/>
            </a:endParaRPr>
          </a:p>
        </p:txBody>
      </p:sp>
      <p:pic>
        <p:nvPicPr>
          <p:cNvPr id="140" name="Google Shape;140;p6"/>
          <p:cNvPicPr preferRelativeResize="0"/>
          <p:nvPr/>
        </p:nvPicPr>
        <p:blipFill rotWithShape="1">
          <a:blip r:embed="rId3">
            <a:alphaModFix/>
          </a:blip>
          <a:srcRect b="0" l="0" r="0" t="0"/>
          <a:stretch/>
        </p:blipFill>
        <p:spPr>
          <a:xfrm>
            <a:off x="6362940" y="624978"/>
            <a:ext cx="5829060" cy="4329031"/>
          </a:xfrm>
          <a:prstGeom prst="rect">
            <a:avLst/>
          </a:prstGeom>
          <a:noFill/>
          <a:ln>
            <a:noFill/>
          </a:ln>
        </p:spPr>
      </p:pic>
      <p:pic>
        <p:nvPicPr>
          <p:cNvPr id="141" name="Google Shape;141;p6"/>
          <p:cNvPicPr preferRelativeResize="0"/>
          <p:nvPr/>
        </p:nvPicPr>
        <p:blipFill rotWithShape="1">
          <a:blip r:embed="rId4">
            <a:alphaModFix/>
          </a:blip>
          <a:srcRect b="0" l="0" r="0" t="0"/>
          <a:stretch/>
        </p:blipFill>
        <p:spPr>
          <a:xfrm>
            <a:off x="0" y="624978"/>
            <a:ext cx="6478630" cy="4993943"/>
          </a:xfrm>
          <a:prstGeom prst="rect">
            <a:avLst/>
          </a:prstGeom>
          <a:noFill/>
          <a:ln>
            <a:noFill/>
          </a:ln>
        </p:spPr>
      </p:pic>
      <p:pic>
        <p:nvPicPr>
          <p:cNvPr id="142" name="Google Shape;142;p6"/>
          <p:cNvPicPr preferRelativeResize="0"/>
          <p:nvPr/>
        </p:nvPicPr>
        <p:blipFill rotWithShape="1">
          <a:blip r:embed="rId5">
            <a:alphaModFix/>
          </a:blip>
          <a:srcRect b="0" l="0" r="0" t="0"/>
          <a:stretch/>
        </p:blipFill>
        <p:spPr>
          <a:xfrm>
            <a:off x="3816627" y="3384763"/>
            <a:ext cx="2185836" cy="163354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Kopya yapıcının neden gerekli olduğuna dair bir örnek: </a:t>
            </a:r>
            <a:endParaRPr b="1" i="0" sz="2000" u="none" cap="none" strike="noStrike">
              <a:solidFill>
                <a:schemeClr val="lt1"/>
              </a:solidFill>
              <a:latin typeface="Times New Roman"/>
              <a:ea typeface="Times New Roman"/>
              <a:cs typeface="Times New Roman"/>
              <a:sym typeface="Times New Roman"/>
            </a:endParaRPr>
          </a:p>
        </p:txBody>
      </p:sp>
      <p:sp>
        <p:nvSpPr>
          <p:cNvPr id="148" name="Google Shape;148;p7"/>
          <p:cNvSpPr txBox="1"/>
          <p:nvPr/>
        </p:nvSpPr>
        <p:spPr>
          <a:xfrm>
            <a:off x="236509" y="624980"/>
            <a:ext cx="11462913" cy="1200329"/>
          </a:xfrm>
          <a:prstGeom prst="rect">
            <a:avLst/>
          </a:prstGeom>
          <a:noFill/>
          <a:ln cap="flat" cmpd="sng" w="9525">
            <a:solidFill>
              <a:srgbClr val="7030A0"/>
            </a:solidFill>
            <a:prstDash val="solid"/>
            <a:round/>
            <a:headEnd len="sm" w="sm" type="none"/>
            <a:tailEnd len="sm" w="sm" type="none"/>
          </a:ln>
        </p:spPr>
        <p:txBody>
          <a:bodyPr anchorCtr="0" anchor="t" bIns="45700" lIns="91425" spcFirstLastPara="1" rIns="91425" wrap="square" tIns="45700">
            <a:spAutoFit/>
          </a:bodyPr>
          <a:lstStyle/>
          <a:p>
            <a:pPr indent="0" lvl="2" marL="914400" marR="0" rtl="0" algn="l">
              <a:spcBef>
                <a:spcPts val="0"/>
              </a:spcBef>
              <a:spcAft>
                <a:spcPts val="0"/>
              </a:spcAft>
              <a:buNone/>
            </a:pPr>
            <a:r>
              <a:rPr b="1" i="1" lang="tr-TR" sz="1800" u="none" cap="none" strike="noStrike">
                <a:solidFill>
                  <a:schemeClr val="lt1"/>
                </a:solidFill>
                <a:latin typeface="Times New Roman"/>
                <a:ea typeface="Times New Roman"/>
                <a:cs typeface="Times New Roman"/>
                <a:sym typeface="Times New Roman"/>
              </a:rPr>
              <a:t>11. Satırdaki constructor için bir bilgilendirme: Neden char* değil de const char* ?</a:t>
            </a:r>
            <a:endParaRPr/>
          </a:p>
          <a:p>
            <a:pPr indent="0" lvl="2" marL="914400" marR="0" rtl="0" algn="l">
              <a:spcBef>
                <a:spcPts val="0"/>
              </a:spcBef>
              <a:spcAft>
                <a:spcPts val="0"/>
              </a:spcAft>
              <a:buNone/>
            </a:pPr>
            <a:r>
              <a:rPr b="0" i="0" lang="tr-TR" sz="1800" u="none" cap="none" strike="noStrike">
                <a:solidFill>
                  <a:schemeClr val="lt1"/>
                </a:solidFill>
                <a:latin typeface="Times New Roman"/>
                <a:ea typeface="Times New Roman"/>
                <a:cs typeface="Times New Roman"/>
                <a:sym typeface="Times New Roman"/>
              </a:rPr>
              <a:t>Bir C++ dizgi deyimi (string literal) const char [] türündedir (C dilinde sadece char[] idi, const anahtarı kullanılmazdı). Bu yüzden bir dizgi kullanacaksak, yani bir dizgiyi başlatacaksak yapıcı içerisinde veri tipini const char* olarak yazmalıyız! </a:t>
            </a:r>
            <a:endParaRPr/>
          </a:p>
        </p:txBody>
      </p:sp>
      <p:pic>
        <p:nvPicPr>
          <p:cNvPr descr="Red Exclamation Mark PNG Photo | PNG Mart" id="149" name="Google Shape;149;p7"/>
          <p:cNvPicPr preferRelativeResize="0"/>
          <p:nvPr/>
        </p:nvPicPr>
        <p:blipFill rotWithShape="1">
          <a:blip r:embed="rId3">
            <a:alphaModFix/>
          </a:blip>
          <a:srcRect b="0" l="0" r="0" t="0"/>
          <a:stretch/>
        </p:blipFill>
        <p:spPr>
          <a:xfrm>
            <a:off x="92279" y="507994"/>
            <a:ext cx="1431498" cy="1434299"/>
          </a:xfrm>
          <a:prstGeom prst="rect">
            <a:avLst/>
          </a:prstGeom>
          <a:noFill/>
          <a:ln>
            <a:noFill/>
          </a:ln>
        </p:spPr>
      </p:pic>
      <p:sp>
        <p:nvSpPr>
          <p:cNvPr id="150" name="Google Shape;150;p7"/>
          <p:cNvSpPr txBox="1"/>
          <p:nvPr/>
        </p:nvSpPr>
        <p:spPr>
          <a:xfrm>
            <a:off x="0" y="1942293"/>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Bir önceki örnekte eğer kopya yapıcı kaldırılırsa ne olur?</a:t>
            </a:r>
            <a:endParaRPr b="1" i="0" sz="2000" u="none" cap="none" strike="noStrike">
              <a:solidFill>
                <a:schemeClr val="lt1"/>
              </a:solidFill>
              <a:latin typeface="Times New Roman"/>
              <a:ea typeface="Times New Roman"/>
              <a:cs typeface="Times New Roman"/>
              <a:sym typeface="Times New Roman"/>
            </a:endParaRPr>
          </a:p>
        </p:txBody>
      </p:sp>
      <p:pic>
        <p:nvPicPr>
          <p:cNvPr id="151" name="Google Shape;151;p7"/>
          <p:cNvPicPr preferRelativeResize="0"/>
          <p:nvPr/>
        </p:nvPicPr>
        <p:blipFill rotWithShape="1">
          <a:blip r:embed="rId4">
            <a:alphaModFix/>
          </a:blip>
          <a:srcRect b="0" l="0" r="0" t="0"/>
          <a:stretch/>
        </p:blipFill>
        <p:spPr>
          <a:xfrm>
            <a:off x="465498" y="2601431"/>
            <a:ext cx="2753109" cy="2133898"/>
          </a:xfrm>
          <a:prstGeom prst="rect">
            <a:avLst/>
          </a:prstGeom>
          <a:noFill/>
          <a:ln cap="flat" cmpd="sng" w="9525">
            <a:solidFill>
              <a:srgbClr val="7030A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chemeClr val="lt1"/>
                </a:solidFill>
                <a:latin typeface="Times New Roman"/>
                <a:ea typeface="Times New Roman"/>
                <a:cs typeface="Times New Roman"/>
                <a:sym typeface="Times New Roman"/>
              </a:rPr>
              <a:t>Kopya yapıcı gerekliliğini gösteren başka bir örnek:</a:t>
            </a:r>
            <a:endParaRPr/>
          </a:p>
        </p:txBody>
      </p:sp>
      <p:pic>
        <p:nvPicPr>
          <p:cNvPr id="157" name="Google Shape;157;p8"/>
          <p:cNvPicPr preferRelativeResize="0"/>
          <p:nvPr/>
        </p:nvPicPr>
        <p:blipFill rotWithShape="1">
          <a:blip r:embed="rId3">
            <a:alphaModFix/>
          </a:blip>
          <a:srcRect b="0" l="0" r="0" t="0"/>
          <a:stretch/>
        </p:blipFill>
        <p:spPr>
          <a:xfrm>
            <a:off x="1670539" y="624980"/>
            <a:ext cx="8758642" cy="5564805"/>
          </a:xfrm>
          <a:prstGeom prst="rect">
            <a:avLst/>
          </a:prstGeom>
          <a:noFill/>
          <a:ln>
            <a:noFill/>
          </a:ln>
        </p:spPr>
      </p:pic>
      <p:pic>
        <p:nvPicPr>
          <p:cNvPr id="158" name="Google Shape;158;p8"/>
          <p:cNvPicPr preferRelativeResize="0"/>
          <p:nvPr/>
        </p:nvPicPr>
        <p:blipFill rotWithShape="1">
          <a:blip r:embed="rId4">
            <a:alphaModFix/>
          </a:blip>
          <a:srcRect b="0" l="0" r="0" t="0"/>
          <a:stretch/>
        </p:blipFill>
        <p:spPr>
          <a:xfrm>
            <a:off x="9061089" y="909803"/>
            <a:ext cx="1177467" cy="6803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9"/>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chemeClr val="lt1"/>
                </a:solidFill>
                <a:latin typeface="Times New Roman"/>
                <a:ea typeface="Times New Roman"/>
                <a:cs typeface="Times New Roman"/>
                <a:sym typeface="Times New Roman"/>
              </a:rPr>
              <a:t>Aynı örnek için kopya nesnenin değerleri değiştirilmek istenirse;</a:t>
            </a:r>
            <a:endParaRPr/>
          </a:p>
        </p:txBody>
      </p:sp>
      <p:pic>
        <p:nvPicPr>
          <p:cNvPr id="164" name="Google Shape;164;p9"/>
          <p:cNvPicPr preferRelativeResize="0"/>
          <p:nvPr/>
        </p:nvPicPr>
        <p:blipFill rotWithShape="1">
          <a:blip r:embed="rId3">
            <a:alphaModFix/>
          </a:blip>
          <a:srcRect b="0" l="0" r="0" t="0"/>
          <a:stretch/>
        </p:blipFill>
        <p:spPr>
          <a:xfrm>
            <a:off x="279659" y="890024"/>
            <a:ext cx="6859811" cy="4702394"/>
          </a:xfrm>
          <a:prstGeom prst="rect">
            <a:avLst/>
          </a:prstGeom>
          <a:noFill/>
          <a:ln>
            <a:noFill/>
          </a:ln>
        </p:spPr>
      </p:pic>
      <p:pic>
        <p:nvPicPr>
          <p:cNvPr id="165" name="Google Shape;165;p9"/>
          <p:cNvPicPr preferRelativeResize="0"/>
          <p:nvPr/>
        </p:nvPicPr>
        <p:blipFill rotWithShape="1">
          <a:blip r:embed="rId4">
            <a:alphaModFix/>
          </a:blip>
          <a:srcRect b="0" l="0" r="0" t="0"/>
          <a:stretch/>
        </p:blipFill>
        <p:spPr>
          <a:xfrm>
            <a:off x="5839835" y="3288668"/>
            <a:ext cx="6072506" cy="2303750"/>
          </a:xfrm>
          <a:prstGeom prst="rect">
            <a:avLst/>
          </a:prstGeom>
          <a:noFill/>
          <a:ln>
            <a:noFill/>
          </a:ln>
        </p:spPr>
      </p:pic>
      <p:pic>
        <p:nvPicPr>
          <p:cNvPr id="166" name="Google Shape;166;p9"/>
          <p:cNvPicPr preferRelativeResize="0"/>
          <p:nvPr/>
        </p:nvPicPr>
        <p:blipFill rotWithShape="1">
          <a:blip r:embed="rId5">
            <a:alphaModFix/>
          </a:blip>
          <a:srcRect b="0" l="0" r="0" t="4613"/>
          <a:stretch/>
        </p:blipFill>
        <p:spPr>
          <a:xfrm>
            <a:off x="8044737" y="890024"/>
            <a:ext cx="2682677" cy="1655762"/>
          </a:xfrm>
          <a:prstGeom prst="rect">
            <a:avLst/>
          </a:prstGeom>
          <a:noFill/>
          <a:ln cap="flat" cmpd="sng" w="9525">
            <a:solidFill>
              <a:srgbClr val="7030A0"/>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FF0000"/>
                </a:solidFill>
                <a:latin typeface="Times New Roman"/>
                <a:ea typeface="Times New Roman"/>
                <a:cs typeface="Times New Roman"/>
                <a:sym typeface="Times New Roman"/>
              </a:rPr>
              <a:t>this</a:t>
            </a:r>
            <a:r>
              <a:rPr b="1" i="0" lang="tr-TR" sz="2000" u="none" cap="none" strike="noStrike">
                <a:solidFill>
                  <a:srgbClr val="444444"/>
                </a:solidFill>
                <a:latin typeface="Times New Roman"/>
                <a:ea typeface="Times New Roman"/>
                <a:cs typeface="Times New Roman"/>
                <a:sym typeface="Times New Roman"/>
              </a:rPr>
              <a:t> Gizli İşaretçisi</a:t>
            </a:r>
            <a:endParaRPr b="1" i="0" sz="2000" u="none" cap="none" strike="noStrike">
              <a:solidFill>
                <a:schemeClr val="lt1"/>
              </a:solidFill>
              <a:latin typeface="Times New Roman"/>
              <a:ea typeface="Times New Roman"/>
              <a:cs typeface="Times New Roman"/>
              <a:sym typeface="Times New Roman"/>
            </a:endParaRPr>
          </a:p>
        </p:txBody>
      </p:sp>
      <p:sp>
        <p:nvSpPr>
          <p:cNvPr id="172" name="Google Shape;172;p10"/>
          <p:cNvSpPr txBox="1"/>
          <p:nvPr/>
        </p:nvSpPr>
        <p:spPr>
          <a:xfrm>
            <a:off x="-8388" y="624980"/>
            <a:ext cx="12200388"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1" i="1" lang="tr-TR" sz="1800" u="none" cap="none" strike="noStrike">
                <a:solidFill>
                  <a:srgbClr val="444444"/>
                </a:solidFill>
                <a:latin typeface="Times New Roman"/>
                <a:ea typeface="Times New Roman"/>
                <a:cs typeface="Times New Roman"/>
                <a:sym typeface="Times New Roman"/>
              </a:rPr>
              <a:t>SORU	: </a:t>
            </a:r>
            <a:r>
              <a:rPr b="0" i="0" lang="tr-TR" sz="1800" u="none" cap="none" strike="noStrike">
                <a:solidFill>
                  <a:srgbClr val="444444"/>
                </a:solidFill>
                <a:latin typeface="Times New Roman"/>
                <a:ea typeface="Times New Roman"/>
                <a:cs typeface="Times New Roman"/>
                <a:sym typeface="Times New Roman"/>
              </a:rPr>
              <a:t>Bir üye fonksiyon çağrıldığında, C++ hangi nesneye çağrıldığını nasıl anlar? </a:t>
            </a:r>
            <a:endParaRPr/>
          </a:p>
          <a:p>
            <a:pPr indent="0" lvl="1" marL="201168" marR="0" rtl="0" algn="just">
              <a:lnSpc>
                <a:spcPct val="125000"/>
              </a:lnSpc>
              <a:spcBef>
                <a:spcPts val="600"/>
              </a:spcBef>
              <a:spcAft>
                <a:spcPts val="0"/>
              </a:spcAft>
              <a:buClr>
                <a:schemeClr val="accent1"/>
              </a:buClr>
              <a:buSzPts val="1800"/>
              <a:buFont typeface="Calibri"/>
              <a:buNone/>
            </a:pPr>
            <a:r>
              <a:rPr b="1" i="1" lang="tr-TR" sz="1800" u="none" cap="none" strike="noStrike">
                <a:solidFill>
                  <a:srgbClr val="444444"/>
                </a:solidFill>
                <a:latin typeface="Times New Roman"/>
                <a:ea typeface="Times New Roman"/>
                <a:cs typeface="Times New Roman"/>
                <a:sym typeface="Times New Roman"/>
              </a:rPr>
              <a:t>CEVAP: </a:t>
            </a:r>
            <a:r>
              <a:rPr b="0" i="0" lang="tr-TR" sz="1800" u="none" cap="none" strike="noStrike">
                <a:solidFill>
                  <a:srgbClr val="444444"/>
                </a:solidFill>
                <a:latin typeface="Times New Roman"/>
                <a:ea typeface="Times New Roman"/>
                <a:cs typeface="Times New Roman"/>
                <a:sym typeface="Times New Roman"/>
              </a:rPr>
              <a:t>C++’ın </a:t>
            </a:r>
            <a:r>
              <a:rPr b="1" i="0" lang="tr-TR" sz="1800" u="none" cap="none" strike="noStrike">
                <a:solidFill>
                  <a:srgbClr val="FF0000"/>
                </a:solidFill>
                <a:latin typeface="Times New Roman"/>
                <a:ea typeface="Times New Roman"/>
                <a:cs typeface="Times New Roman"/>
                <a:sym typeface="Times New Roman"/>
              </a:rPr>
              <a:t>this</a:t>
            </a:r>
            <a:r>
              <a:rPr b="0" i="0" lang="tr-TR" sz="1800" u="none" cap="none" strike="noStrike">
                <a:solidFill>
                  <a:srgbClr val="444444"/>
                </a:solidFill>
                <a:latin typeface="Times New Roman"/>
                <a:ea typeface="Times New Roman"/>
                <a:cs typeface="Times New Roman"/>
                <a:sym typeface="Times New Roman"/>
              </a:rPr>
              <a:t> adlı gizli bir işaretçisi vardır.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Aşağıdaki örnekte, private bir tamsayı değişkene sahip, bir yapıcı ve erişim fonksiyonları bulunan basit bir sınıf verilmiştir. </a:t>
            </a:r>
            <a:endParaRPr/>
          </a:p>
        </p:txBody>
      </p:sp>
      <p:sp>
        <p:nvSpPr>
          <p:cNvPr id="173" name="Google Shape;173;p10"/>
          <p:cNvSpPr txBox="1"/>
          <p:nvPr/>
        </p:nvSpPr>
        <p:spPr>
          <a:xfrm>
            <a:off x="3472820" y="1994505"/>
            <a:ext cx="8109580" cy="178510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tr-TR" sz="1800">
                <a:solidFill>
                  <a:schemeClr val="dk1"/>
                </a:solidFill>
                <a:latin typeface="Times New Roman"/>
                <a:ea typeface="Times New Roman"/>
                <a:cs typeface="Times New Roman"/>
                <a:sym typeface="Times New Roman"/>
              </a:rPr>
              <a:t>Burada, myNum.setNum(2) satırı gerçekleştiğinde, C++ setNum() fonksiyonunun myNum nesnesi üzerinde çalışması gerektiğini bilir ve bu num değişkeni aslında myClass.num’ı ifade eder. </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800">
                <a:solidFill>
                  <a:schemeClr val="dk1"/>
                </a:solidFill>
                <a:latin typeface="Times New Roman"/>
                <a:ea typeface="Times New Roman"/>
                <a:cs typeface="Times New Roman"/>
                <a:sym typeface="Times New Roman"/>
              </a:rPr>
              <a:t>Bunun nasıl çalıştığının arka plandaki mekanizmasını inceleyecek olursak:</a:t>
            </a:r>
            <a:endParaRPr/>
          </a:p>
          <a:p>
            <a:pPr indent="0" lvl="0" marL="0" marR="0" rtl="0" algn="just">
              <a:spcBef>
                <a:spcPts val="0"/>
              </a:spcBef>
              <a:spcAft>
                <a:spcPts val="0"/>
              </a:spcAft>
              <a:buNone/>
            </a:pPr>
            <a:r>
              <a:rPr b="1" lang="tr-TR" sz="2000">
                <a:solidFill>
                  <a:srgbClr val="FF0000"/>
                </a:solidFill>
                <a:latin typeface="Times New Roman"/>
                <a:ea typeface="Times New Roman"/>
                <a:cs typeface="Times New Roman"/>
                <a:sym typeface="Times New Roman"/>
              </a:rPr>
              <a:t>*this </a:t>
            </a:r>
            <a:r>
              <a:rPr lang="tr-TR" sz="1800">
                <a:solidFill>
                  <a:schemeClr val="dk1"/>
                </a:solidFill>
                <a:latin typeface="Times New Roman"/>
                <a:ea typeface="Times New Roman"/>
                <a:cs typeface="Times New Roman"/>
                <a:sym typeface="Times New Roman"/>
              </a:rPr>
              <a:t>işaretçisi</a:t>
            </a:r>
            <a:endParaRPr sz="1800">
              <a:solidFill>
                <a:schemeClr val="dk1"/>
              </a:solidFill>
              <a:latin typeface="Calibri"/>
              <a:ea typeface="Calibri"/>
              <a:cs typeface="Calibri"/>
              <a:sym typeface="Calibri"/>
            </a:endParaRPr>
          </a:p>
        </p:txBody>
      </p:sp>
      <p:pic>
        <p:nvPicPr>
          <p:cNvPr id="174" name="Google Shape;174;p10"/>
          <p:cNvPicPr preferRelativeResize="0"/>
          <p:nvPr/>
        </p:nvPicPr>
        <p:blipFill rotWithShape="1">
          <a:blip r:embed="rId3">
            <a:alphaModFix/>
          </a:blip>
          <a:srcRect b="0" l="0" r="0" t="0"/>
          <a:stretch/>
        </p:blipFill>
        <p:spPr>
          <a:xfrm>
            <a:off x="223023" y="1855054"/>
            <a:ext cx="3152611" cy="437796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1"/>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FF0000"/>
                </a:solidFill>
                <a:latin typeface="Times New Roman"/>
                <a:ea typeface="Times New Roman"/>
                <a:cs typeface="Times New Roman"/>
                <a:sym typeface="Times New Roman"/>
              </a:rPr>
              <a:t>this</a:t>
            </a:r>
            <a:r>
              <a:rPr b="1" i="0" lang="tr-TR" sz="2000" u="none" cap="none" strike="noStrike">
                <a:solidFill>
                  <a:srgbClr val="444444"/>
                </a:solidFill>
                <a:latin typeface="Times New Roman"/>
                <a:ea typeface="Times New Roman"/>
                <a:cs typeface="Times New Roman"/>
                <a:sym typeface="Times New Roman"/>
              </a:rPr>
              <a:t> Gizli İşaretçisi</a:t>
            </a:r>
            <a:endParaRPr b="1" i="0" sz="2000" u="none" cap="none" strike="noStrike">
              <a:solidFill>
                <a:schemeClr val="lt1"/>
              </a:solidFill>
              <a:latin typeface="Times New Roman"/>
              <a:ea typeface="Times New Roman"/>
              <a:cs typeface="Times New Roman"/>
              <a:sym typeface="Times New Roman"/>
            </a:endParaRPr>
          </a:p>
        </p:txBody>
      </p:sp>
      <p:sp>
        <p:nvSpPr>
          <p:cNvPr id="180" name="Google Shape;180;p11"/>
          <p:cNvSpPr txBox="1"/>
          <p:nvPr/>
        </p:nvSpPr>
        <p:spPr>
          <a:xfrm>
            <a:off x="-8388" y="624980"/>
            <a:ext cx="12108109"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600"/>
              <a:buFont typeface="Calibri"/>
              <a:buNone/>
            </a:pPr>
            <a:r>
              <a:rPr b="0" i="0" lang="tr-TR" sz="1600" u="none" cap="none" strike="noStrike">
                <a:solidFill>
                  <a:srgbClr val="0070C0"/>
                </a:solidFill>
                <a:latin typeface="Consolas"/>
                <a:ea typeface="Consolas"/>
                <a:cs typeface="Consolas"/>
                <a:sym typeface="Consolas"/>
              </a:rPr>
              <a:t>myNum.setNum(2); </a:t>
            </a:r>
            <a:r>
              <a:rPr b="0" i="0" lang="tr-TR" sz="1600" u="none" cap="none" strike="noStrike">
                <a:solidFill>
                  <a:srgbClr val="444444"/>
                </a:solidFill>
                <a:latin typeface="Times New Roman"/>
                <a:ea typeface="Times New Roman"/>
                <a:cs typeface="Times New Roman"/>
                <a:sym typeface="Times New Roman"/>
              </a:rPr>
              <a:t>satırına bakalım:</a:t>
            </a:r>
            <a:endParaRPr/>
          </a:p>
          <a:p>
            <a:pPr indent="0" lvl="1" marL="201168" marR="0" rtl="0" algn="just">
              <a:lnSpc>
                <a:spcPct val="125000"/>
              </a:lnSpc>
              <a:spcBef>
                <a:spcPts val="600"/>
              </a:spcBef>
              <a:spcAft>
                <a:spcPts val="0"/>
              </a:spcAft>
              <a:buClr>
                <a:schemeClr val="accent1"/>
              </a:buClr>
              <a:buSzPts val="1600"/>
              <a:buFont typeface="Calibri"/>
              <a:buNone/>
            </a:pPr>
            <a:r>
              <a:rPr b="0" i="0" lang="tr-TR" sz="1600" u="none" cap="none" strike="noStrike">
                <a:solidFill>
                  <a:srgbClr val="444444"/>
                </a:solidFill>
                <a:latin typeface="Times New Roman"/>
                <a:ea typeface="Times New Roman"/>
                <a:cs typeface="Times New Roman"/>
                <a:sym typeface="Times New Roman"/>
              </a:rPr>
              <a:t>setNum() fonksiyonuna yapılan çağrı sadece bir parametreye sahip gibi görünse de, aslında iki parametreye sahiptir. </a:t>
            </a:r>
            <a:endParaRPr/>
          </a:p>
          <a:p>
            <a:pPr indent="0" lvl="1" marL="201168" marR="0" rtl="0" algn="just">
              <a:lnSpc>
                <a:spcPct val="125000"/>
              </a:lnSpc>
              <a:spcBef>
                <a:spcPts val="600"/>
              </a:spcBef>
              <a:spcAft>
                <a:spcPts val="0"/>
              </a:spcAft>
              <a:buClr>
                <a:schemeClr val="accent1"/>
              </a:buClr>
              <a:buSzPts val="1600"/>
              <a:buFont typeface="Calibri"/>
              <a:buNone/>
            </a:pPr>
            <a:r>
              <a:rPr b="0" i="0" lang="tr-TR" sz="1600" u="none" cap="none" strike="noStrike">
                <a:solidFill>
                  <a:srgbClr val="444444"/>
                </a:solidFill>
                <a:latin typeface="Times New Roman"/>
                <a:ea typeface="Times New Roman"/>
                <a:cs typeface="Times New Roman"/>
                <a:sym typeface="Times New Roman"/>
              </a:rPr>
              <a:t>Derleyici, kod derlendiğinde </a:t>
            </a:r>
            <a:r>
              <a:rPr b="0" i="0" lang="tr-TR" sz="1600" u="none" cap="none" strike="noStrike">
                <a:solidFill>
                  <a:srgbClr val="0070C0"/>
                </a:solidFill>
                <a:latin typeface="Consolas"/>
                <a:ea typeface="Consolas"/>
                <a:cs typeface="Consolas"/>
                <a:sym typeface="Consolas"/>
              </a:rPr>
              <a:t>myNum.setNum(2); </a:t>
            </a:r>
            <a:r>
              <a:rPr b="0" i="0" lang="tr-TR" sz="1600" u="none" cap="none" strike="noStrike">
                <a:solidFill>
                  <a:srgbClr val="444444"/>
                </a:solidFill>
                <a:latin typeface="Times New Roman"/>
                <a:ea typeface="Times New Roman"/>
                <a:cs typeface="Times New Roman"/>
                <a:sym typeface="Times New Roman"/>
              </a:rPr>
              <a:t>satırını aşağıdaki yapıya dönüştürür:</a:t>
            </a:r>
            <a:endParaRPr/>
          </a:p>
          <a:p>
            <a:pPr indent="0" lvl="1" marL="201168" marR="0" rtl="0" algn="just">
              <a:lnSpc>
                <a:spcPct val="125000"/>
              </a:lnSpc>
              <a:spcBef>
                <a:spcPts val="600"/>
              </a:spcBef>
              <a:spcAft>
                <a:spcPts val="0"/>
              </a:spcAft>
              <a:buClr>
                <a:schemeClr val="accent1"/>
              </a:buClr>
              <a:buSzPts val="1600"/>
              <a:buFont typeface="Calibri"/>
              <a:buNone/>
            </a:pPr>
            <a:r>
              <a:rPr b="0" i="0" lang="tr-TR" sz="1600" u="none" cap="none" strike="noStrike">
                <a:solidFill>
                  <a:srgbClr val="7030A0"/>
                </a:solidFill>
                <a:latin typeface="Consolas"/>
                <a:ea typeface="Consolas"/>
                <a:cs typeface="Consolas"/>
                <a:sym typeface="Consolas"/>
              </a:rPr>
              <a:t>setNum(&amp;myNum, 2); </a:t>
            </a:r>
            <a:r>
              <a:rPr b="0" i="0" lang="tr-TR" sz="1600" u="none" cap="none" strike="noStrike">
                <a:solidFill>
                  <a:srgbClr val="444444"/>
                </a:solidFill>
                <a:latin typeface="Times New Roman"/>
                <a:ea typeface="Times New Roman"/>
                <a:cs typeface="Times New Roman"/>
                <a:sym typeface="Times New Roman"/>
              </a:rPr>
              <a:t>// </a:t>
            </a:r>
            <a:r>
              <a:rPr b="0" i="0" lang="tr-TR" sz="1600" u="none" cap="none" strike="noStrike">
                <a:solidFill>
                  <a:srgbClr val="444444"/>
                </a:solidFill>
                <a:latin typeface="Consolas"/>
                <a:ea typeface="Consolas"/>
                <a:cs typeface="Consolas"/>
                <a:sym typeface="Consolas"/>
              </a:rPr>
              <a:t>myNum nesne önekinden, bağımsız bir fonksiyon değişkenine dönüştü</a:t>
            </a:r>
            <a:r>
              <a:rPr b="0" i="0" lang="tr-TR" sz="1600" u="none" cap="none" strike="noStrike">
                <a:solidFill>
                  <a:srgbClr val="444444"/>
                </a:solidFill>
                <a:latin typeface="Times New Roman"/>
                <a:ea typeface="Times New Roman"/>
                <a:cs typeface="Times New Roman"/>
                <a:sym typeface="Times New Roman"/>
              </a:rPr>
              <a:t>. </a:t>
            </a:r>
            <a:endParaRPr/>
          </a:p>
          <a:p>
            <a:pPr indent="0" lvl="1" marL="201168" marR="0" rtl="0" algn="just">
              <a:lnSpc>
                <a:spcPct val="125000"/>
              </a:lnSpc>
              <a:spcBef>
                <a:spcPts val="600"/>
              </a:spcBef>
              <a:spcAft>
                <a:spcPts val="0"/>
              </a:spcAft>
              <a:buClr>
                <a:schemeClr val="accent1"/>
              </a:buClr>
              <a:buSzPts val="1600"/>
              <a:buFont typeface="Calibri"/>
              <a:buNone/>
            </a:pPr>
            <a:r>
              <a:t/>
            </a:r>
            <a:endParaRPr b="0" i="0" sz="1600" u="none" cap="none" strike="noStrike">
              <a:solidFill>
                <a:srgbClr val="444444"/>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600"/>
              <a:buFont typeface="Calibri"/>
              <a:buNone/>
            </a:pPr>
            <a:r>
              <a:rPr b="0" i="0" lang="tr-TR" sz="1600" u="none" cap="none" strike="noStrike">
                <a:solidFill>
                  <a:srgbClr val="444444"/>
                </a:solidFill>
                <a:latin typeface="Times New Roman"/>
                <a:ea typeface="Times New Roman"/>
                <a:cs typeface="Times New Roman"/>
                <a:sym typeface="Times New Roman"/>
              </a:rPr>
              <a:t>Bu işlemin artık sadece standart bir fonksiyon çağrısı olduğunu ve myNum nesnesinin artık fonksiyona bir argüman olarak adres yoluyla iletildiğini görüyoruz. </a:t>
            </a:r>
            <a:endParaRPr/>
          </a:p>
          <a:p>
            <a:pPr indent="0" lvl="1" marL="201168" marR="0" rtl="0" algn="just">
              <a:lnSpc>
                <a:spcPct val="125000"/>
              </a:lnSpc>
              <a:spcBef>
                <a:spcPts val="600"/>
              </a:spcBef>
              <a:spcAft>
                <a:spcPts val="0"/>
              </a:spcAft>
              <a:buClr>
                <a:schemeClr val="accent1"/>
              </a:buClr>
              <a:buSzPts val="1600"/>
              <a:buFont typeface="Calibri"/>
              <a:buNone/>
            </a:pPr>
            <a:r>
              <a:rPr b="0" i="0" lang="tr-TR" sz="1600" u="none" cap="none" strike="noStrike">
                <a:solidFill>
                  <a:srgbClr val="444444"/>
                </a:solidFill>
                <a:latin typeface="Times New Roman"/>
                <a:ea typeface="Times New Roman"/>
                <a:cs typeface="Times New Roman"/>
                <a:sym typeface="Times New Roman"/>
              </a:rPr>
              <a:t>Ama bu, cevabın sadece bir kısmını ifade eder. Fonksiyon çağrısının artık ek bir bağımsız değişkeni olduğundan, üye fonksiyon tanımının bu bağımsız değişkeni bir parametre olarak kabul etmesi (ve kullanması) için değiştirilmesi gerekir. Sonuç olarak, aşağıdaki üye fonksiyonu:</a:t>
            </a:r>
            <a:endParaRPr/>
          </a:p>
          <a:p>
            <a:pPr indent="0" lvl="1" marL="201168" marR="0" rtl="0" algn="just">
              <a:lnSpc>
                <a:spcPct val="125000"/>
              </a:lnSpc>
              <a:spcBef>
                <a:spcPts val="600"/>
              </a:spcBef>
              <a:spcAft>
                <a:spcPts val="0"/>
              </a:spcAft>
              <a:buClr>
                <a:schemeClr val="accent1"/>
              </a:buClr>
              <a:buSzPts val="1600"/>
              <a:buFont typeface="Calibri"/>
              <a:buNone/>
            </a:pPr>
            <a:r>
              <a:rPr b="0" i="0" lang="tr-TR" sz="1600" u="none" cap="none" strike="noStrike">
                <a:solidFill>
                  <a:srgbClr val="0070C0"/>
                </a:solidFill>
                <a:latin typeface="Consolas"/>
                <a:ea typeface="Consolas"/>
                <a:cs typeface="Consolas"/>
                <a:sym typeface="Consolas"/>
              </a:rPr>
              <a:t>void setNum(int x) { num = x; } </a:t>
            </a:r>
            <a:endParaRPr/>
          </a:p>
          <a:p>
            <a:pPr indent="0" lvl="1" marL="201168" marR="0" rtl="0" algn="just">
              <a:lnSpc>
                <a:spcPct val="125000"/>
              </a:lnSpc>
              <a:spcBef>
                <a:spcPts val="600"/>
              </a:spcBef>
              <a:spcAft>
                <a:spcPts val="0"/>
              </a:spcAft>
              <a:buClr>
                <a:schemeClr val="accent1"/>
              </a:buClr>
              <a:buSzPts val="1600"/>
              <a:buFont typeface="Calibri"/>
              <a:buNone/>
            </a:pPr>
            <a:r>
              <a:rPr b="0" i="0" lang="tr-TR" sz="1600" u="none" cap="none" strike="noStrike">
                <a:solidFill>
                  <a:srgbClr val="444444"/>
                </a:solidFill>
                <a:latin typeface="Times New Roman"/>
                <a:ea typeface="Times New Roman"/>
                <a:cs typeface="Times New Roman"/>
                <a:sym typeface="Times New Roman"/>
              </a:rPr>
              <a:t>derleyici tarafından aşağıdaki ifadeye dönüşür:</a:t>
            </a:r>
            <a:endParaRPr/>
          </a:p>
          <a:p>
            <a:pPr indent="0" lvl="1" marL="201168" marR="0" rtl="0" algn="just">
              <a:lnSpc>
                <a:spcPct val="125000"/>
              </a:lnSpc>
              <a:spcBef>
                <a:spcPts val="600"/>
              </a:spcBef>
              <a:spcAft>
                <a:spcPts val="0"/>
              </a:spcAft>
              <a:buClr>
                <a:schemeClr val="accent1"/>
              </a:buClr>
              <a:buSzPts val="1600"/>
              <a:buFont typeface="Calibri"/>
              <a:buNone/>
            </a:pPr>
            <a:r>
              <a:rPr b="0" i="0" lang="tr-TR" sz="1600" u="none" cap="none" strike="noStrike">
                <a:solidFill>
                  <a:srgbClr val="800080"/>
                </a:solidFill>
                <a:latin typeface="Consolas"/>
                <a:ea typeface="Consolas"/>
                <a:cs typeface="Consolas"/>
                <a:sym typeface="Consolas"/>
              </a:rPr>
              <a:t>void</a:t>
            </a:r>
            <a:r>
              <a:rPr b="0" i="0" lang="tr-TR" sz="1600" u="none" cap="none" strike="noStrike">
                <a:solidFill>
                  <a:srgbClr val="006FE0"/>
                </a:solidFill>
                <a:latin typeface="Consolas"/>
                <a:ea typeface="Consolas"/>
                <a:cs typeface="Consolas"/>
                <a:sym typeface="Consolas"/>
              </a:rPr>
              <a:t> </a:t>
            </a:r>
            <a:r>
              <a:rPr b="0" i="0" lang="tr-TR" sz="1600" u="none" cap="none" strike="noStrike">
                <a:solidFill>
                  <a:srgbClr val="004ED0"/>
                </a:solidFill>
                <a:latin typeface="Consolas"/>
                <a:ea typeface="Consolas"/>
                <a:cs typeface="Consolas"/>
                <a:sym typeface="Consolas"/>
              </a:rPr>
              <a:t>setNum</a:t>
            </a:r>
            <a:r>
              <a:rPr b="0" i="0" lang="tr-TR" sz="1600" u="none" cap="none" strike="noStrike">
                <a:solidFill>
                  <a:srgbClr val="333333"/>
                </a:solidFill>
                <a:latin typeface="Consolas"/>
                <a:ea typeface="Consolas"/>
                <a:cs typeface="Consolas"/>
                <a:sym typeface="Consolas"/>
              </a:rPr>
              <a:t>(</a:t>
            </a:r>
            <a:r>
              <a:rPr b="0" i="0" lang="tr-TR" sz="1600" u="none" cap="none" strike="noStrike">
                <a:solidFill>
                  <a:srgbClr val="002D7A"/>
                </a:solidFill>
                <a:latin typeface="Consolas"/>
                <a:ea typeface="Consolas"/>
                <a:cs typeface="Consolas"/>
                <a:sym typeface="Consolas"/>
              </a:rPr>
              <a:t>myNum</a:t>
            </a:r>
            <a:r>
              <a:rPr b="0" i="0" lang="tr-TR" sz="1600" u="none" cap="none" strike="noStrike">
                <a:solidFill>
                  <a:srgbClr val="006FE0"/>
                </a:solidFill>
                <a:latin typeface="Consolas"/>
                <a:ea typeface="Consolas"/>
                <a:cs typeface="Consolas"/>
                <a:sym typeface="Consolas"/>
              </a:rPr>
              <a:t>* </a:t>
            </a:r>
            <a:r>
              <a:rPr b="0" i="0" lang="tr-TR" sz="1600" u="none" cap="none" strike="noStrike">
                <a:solidFill>
                  <a:srgbClr val="800080"/>
                </a:solidFill>
                <a:latin typeface="Consolas"/>
                <a:ea typeface="Consolas"/>
                <a:cs typeface="Consolas"/>
                <a:sym typeface="Consolas"/>
              </a:rPr>
              <a:t>const</a:t>
            </a:r>
            <a:r>
              <a:rPr b="0" i="0" lang="tr-TR" sz="1600" u="none" cap="none" strike="noStrike">
                <a:solidFill>
                  <a:srgbClr val="006FE0"/>
                </a:solidFill>
                <a:latin typeface="Consolas"/>
                <a:ea typeface="Consolas"/>
                <a:cs typeface="Consolas"/>
                <a:sym typeface="Consolas"/>
              </a:rPr>
              <a:t> </a:t>
            </a:r>
            <a:r>
              <a:rPr b="0" i="0" lang="tr-TR" sz="1600" u="none" cap="none" strike="noStrike">
                <a:solidFill>
                  <a:srgbClr val="800080"/>
                </a:solidFill>
                <a:latin typeface="Consolas"/>
                <a:ea typeface="Consolas"/>
                <a:cs typeface="Consolas"/>
                <a:sym typeface="Consolas"/>
              </a:rPr>
              <a:t>this</a:t>
            </a:r>
            <a:r>
              <a:rPr b="0" i="0" lang="tr-TR" sz="1600" u="none" cap="none" strike="noStrike">
                <a:solidFill>
                  <a:srgbClr val="333333"/>
                </a:solidFill>
                <a:latin typeface="Consolas"/>
                <a:ea typeface="Consolas"/>
                <a:cs typeface="Consolas"/>
                <a:sym typeface="Consolas"/>
              </a:rPr>
              <a:t>,</a:t>
            </a:r>
            <a:r>
              <a:rPr b="0" i="0" lang="tr-TR" sz="1600" u="none" cap="none" strike="noStrike">
                <a:solidFill>
                  <a:srgbClr val="006FE0"/>
                </a:solidFill>
                <a:latin typeface="Consolas"/>
                <a:ea typeface="Consolas"/>
                <a:cs typeface="Consolas"/>
                <a:sym typeface="Consolas"/>
              </a:rPr>
              <a:t> </a:t>
            </a:r>
            <a:r>
              <a:rPr b="0" i="0" lang="tr-TR" sz="1600" u="none" cap="none" strike="noStrike">
                <a:solidFill>
                  <a:srgbClr val="800080"/>
                </a:solidFill>
                <a:latin typeface="Consolas"/>
                <a:ea typeface="Consolas"/>
                <a:cs typeface="Consolas"/>
                <a:sym typeface="Consolas"/>
              </a:rPr>
              <a:t>int</a:t>
            </a:r>
            <a:r>
              <a:rPr b="0" i="0" lang="tr-TR" sz="1600" u="none" cap="none" strike="noStrike">
                <a:solidFill>
                  <a:srgbClr val="006FE0"/>
                </a:solidFill>
                <a:latin typeface="Consolas"/>
                <a:ea typeface="Consolas"/>
                <a:cs typeface="Consolas"/>
                <a:sym typeface="Consolas"/>
              </a:rPr>
              <a:t> </a:t>
            </a:r>
            <a:r>
              <a:rPr b="0" i="0" lang="tr-TR" sz="1600" u="none" cap="none" strike="noStrike">
                <a:solidFill>
                  <a:srgbClr val="002D7A"/>
                </a:solidFill>
                <a:latin typeface="Consolas"/>
                <a:ea typeface="Consolas"/>
                <a:cs typeface="Consolas"/>
                <a:sym typeface="Consolas"/>
              </a:rPr>
              <a:t>x</a:t>
            </a:r>
            <a:r>
              <a:rPr b="0" i="0" lang="tr-TR" sz="1600" u="none" cap="none" strike="noStrike">
                <a:solidFill>
                  <a:srgbClr val="333333"/>
                </a:solidFill>
                <a:latin typeface="Consolas"/>
                <a:ea typeface="Consolas"/>
                <a:cs typeface="Consolas"/>
                <a:sym typeface="Consolas"/>
              </a:rPr>
              <a:t>)</a:t>
            </a:r>
            <a:r>
              <a:rPr b="0" i="0" lang="tr-TR" sz="1600" u="none" cap="none" strike="noStrike">
                <a:solidFill>
                  <a:srgbClr val="006FE0"/>
                </a:solidFill>
                <a:latin typeface="Consolas"/>
                <a:ea typeface="Consolas"/>
                <a:cs typeface="Consolas"/>
                <a:sym typeface="Consolas"/>
              </a:rPr>
              <a:t> </a:t>
            </a:r>
            <a:r>
              <a:rPr b="0" i="0" lang="tr-TR" sz="1600" u="none" cap="none" strike="noStrike">
                <a:solidFill>
                  <a:srgbClr val="333333"/>
                </a:solidFill>
                <a:latin typeface="Consolas"/>
                <a:ea typeface="Consolas"/>
                <a:cs typeface="Consolas"/>
                <a:sym typeface="Consolas"/>
              </a:rPr>
              <a:t>{</a:t>
            </a:r>
            <a:r>
              <a:rPr b="0" i="0" lang="tr-TR" sz="1600" u="none" cap="none" strike="noStrike">
                <a:solidFill>
                  <a:srgbClr val="006FE0"/>
                </a:solidFill>
                <a:latin typeface="Consolas"/>
                <a:ea typeface="Consolas"/>
                <a:cs typeface="Consolas"/>
                <a:sym typeface="Consolas"/>
              </a:rPr>
              <a:t> </a:t>
            </a:r>
            <a:r>
              <a:rPr b="0" i="0" lang="tr-TR" sz="1600" u="none" cap="none" strike="noStrike">
                <a:solidFill>
                  <a:srgbClr val="800080"/>
                </a:solidFill>
                <a:latin typeface="Consolas"/>
                <a:ea typeface="Consolas"/>
                <a:cs typeface="Consolas"/>
                <a:sym typeface="Consolas"/>
              </a:rPr>
              <a:t>this</a:t>
            </a:r>
            <a:r>
              <a:rPr b="0" i="0" lang="tr-TR" sz="1600" u="none" cap="none" strike="noStrike">
                <a:solidFill>
                  <a:srgbClr val="006FE0"/>
                </a:solidFill>
                <a:latin typeface="Consolas"/>
                <a:ea typeface="Consolas"/>
                <a:cs typeface="Consolas"/>
                <a:sym typeface="Consolas"/>
              </a:rPr>
              <a:t>-&gt; </a:t>
            </a:r>
            <a:r>
              <a:rPr b="0" i="0" lang="tr-TR" sz="1600" u="none" cap="none" strike="noStrike">
                <a:solidFill>
                  <a:srgbClr val="002D7A"/>
                </a:solidFill>
                <a:latin typeface="Consolas"/>
                <a:ea typeface="Consolas"/>
                <a:cs typeface="Consolas"/>
                <a:sym typeface="Consolas"/>
              </a:rPr>
              <a:t>num</a:t>
            </a:r>
            <a:r>
              <a:rPr b="0" i="0" lang="tr-TR" sz="1600" u="none" cap="none" strike="noStrike">
                <a:solidFill>
                  <a:srgbClr val="006FE0"/>
                </a:solidFill>
                <a:latin typeface="Consolas"/>
                <a:ea typeface="Consolas"/>
                <a:cs typeface="Consolas"/>
                <a:sym typeface="Consolas"/>
              </a:rPr>
              <a:t> = </a:t>
            </a:r>
            <a:r>
              <a:rPr b="0" i="0" lang="tr-TR" sz="1600" u="none" cap="none" strike="noStrike">
                <a:solidFill>
                  <a:srgbClr val="002D7A"/>
                </a:solidFill>
                <a:latin typeface="Consolas"/>
                <a:ea typeface="Consolas"/>
                <a:cs typeface="Consolas"/>
                <a:sym typeface="Consolas"/>
              </a:rPr>
              <a:t>x</a:t>
            </a:r>
            <a:r>
              <a:rPr b="0" i="0" lang="tr-TR" sz="1600" u="none" cap="none" strike="noStrike">
                <a:solidFill>
                  <a:srgbClr val="333333"/>
                </a:solidFill>
                <a:latin typeface="Consolas"/>
                <a:ea typeface="Consolas"/>
                <a:cs typeface="Consolas"/>
                <a:sym typeface="Consolas"/>
              </a:rPr>
              <a:t>;</a:t>
            </a:r>
            <a:r>
              <a:rPr b="0" i="0" lang="tr-TR" sz="1600" u="none" cap="none" strike="noStrike">
                <a:solidFill>
                  <a:srgbClr val="006FE0"/>
                </a:solidFill>
                <a:latin typeface="Consolas"/>
                <a:ea typeface="Consolas"/>
                <a:cs typeface="Consolas"/>
                <a:sym typeface="Consolas"/>
              </a:rPr>
              <a:t> </a:t>
            </a:r>
            <a:r>
              <a:rPr b="0" i="0" lang="tr-TR" sz="1600" u="none" cap="none" strike="noStrike">
                <a:solidFill>
                  <a:srgbClr val="333333"/>
                </a:solidFill>
                <a:latin typeface="Consolas"/>
                <a:ea typeface="Consolas"/>
                <a:cs typeface="Consolas"/>
                <a:sym typeface="Consolas"/>
              </a:rPr>
              <a:t>}</a:t>
            </a:r>
            <a:endParaRPr b="0" i="0" sz="1600" u="none" cap="none" strike="noStrike">
              <a:solidFill>
                <a:srgbClr val="333333"/>
              </a:solidFill>
              <a:latin typeface="Consolas"/>
              <a:ea typeface="Consolas"/>
              <a:cs typeface="Consolas"/>
              <a:sym typeface="Consolas"/>
            </a:endParaRPr>
          </a:p>
          <a:p>
            <a:pPr indent="0" lvl="1" marL="201168" marR="0" rtl="0" algn="just">
              <a:lnSpc>
                <a:spcPct val="125000"/>
              </a:lnSpc>
              <a:spcBef>
                <a:spcPts val="600"/>
              </a:spcBef>
              <a:spcAft>
                <a:spcPts val="0"/>
              </a:spcAft>
              <a:buClr>
                <a:schemeClr val="accent1"/>
              </a:buClr>
              <a:buSzPts val="1600"/>
              <a:buFont typeface="Calibri"/>
              <a:buNone/>
            </a:pPr>
            <a:r>
              <a:rPr b="0" i="0" lang="tr-TR" sz="1600" u="none" cap="none" strike="noStrike">
                <a:solidFill>
                  <a:srgbClr val="444444"/>
                </a:solidFill>
                <a:latin typeface="Times New Roman"/>
                <a:ea typeface="Times New Roman"/>
                <a:cs typeface="Times New Roman"/>
                <a:sym typeface="Times New Roman"/>
              </a:rPr>
              <a:t>Derleyici normal bir üye fonksiyonu derlediğinde, fonksiyona kapalı (implicitly) olarak "this" adlı yeni bir parametre ekler.</a:t>
            </a:r>
            <a:endParaRPr/>
          </a:p>
          <a:p>
            <a:pPr indent="0" lvl="1" marL="201168" marR="0" rtl="0" algn="just">
              <a:lnSpc>
                <a:spcPct val="125000"/>
              </a:lnSpc>
              <a:spcBef>
                <a:spcPts val="600"/>
              </a:spcBef>
              <a:spcAft>
                <a:spcPts val="0"/>
              </a:spcAft>
              <a:buClr>
                <a:schemeClr val="accent1"/>
              </a:buClr>
              <a:buSzPts val="1600"/>
              <a:buFont typeface="Calibri"/>
              <a:buNone/>
            </a:pPr>
            <a:r>
              <a:t/>
            </a:r>
            <a:endParaRPr b="0" i="0" sz="1600" u="none" cap="none" strike="noStrike">
              <a:solidFill>
                <a:srgbClr val="444444"/>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2"/>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FF0000"/>
                </a:solidFill>
                <a:latin typeface="Times New Roman"/>
                <a:ea typeface="Times New Roman"/>
                <a:cs typeface="Times New Roman"/>
                <a:sym typeface="Times New Roman"/>
              </a:rPr>
              <a:t>this</a:t>
            </a:r>
            <a:r>
              <a:rPr b="1" i="0" lang="tr-TR" sz="2000" u="none" cap="none" strike="noStrike">
                <a:solidFill>
                  <a:srgbClr val="444444"/>
                </a:solidFill>
                <a:latin typeface="Times New Roman"/>
                <a:ea typeface="Times New Roman"/>
                <a:cs typeface="Times New Roman"/>
                <a:sym typeface="Times New Roman"/>
              </a:rPr>
              <a:t> Gizli İşaretçisi</a:t>
            </a:r>
            <a:endParaRPr b="1" i="0" sz="2000" u="none" cap="none" strike="noStrike">
              <a:solidFill>
                <a:schemeClr val="lt1"/>
              </a:solidFill>
              <a:latin typeface="Times New Roman"/>
              <a:ea typeface="Times New Roman"/>
              <a:cs typeface="Times New Roman"/>
              <a:sym typeface="Times New Roman"/>
            </a:endParaRPr>
          </a:p>
        </p:txBody>
      </p:sp>
      <p:sp>
        <p:nvSpPr>
          <p:cNvPr id="186" name="Google Shape;186;p12"/>
          <p:cNvSpPr txBox="1"/>
          <p:nvPr/>
        </p:nvSpPr>
        <p:spPr>
          <a:xfrm>
            <a:off x="-8388" y="624980"/>
            <a:ext cx="12108109"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Burada dikkat edilmesi gereken bir durum daha vardır. Üye fonksiyon içinde herhangi bir sınıf üyesinin (fonksiyon veya değişkenler) de üye fonksiyonun çağrıldığı nesneyi işaret etmeleri için güncellenmeleri gerekir. Bu, her birine</a:t>
            </a:r>
            <a:r>
              <a:rPr b="1" i="0" lang="tr-TR" sz="1800" u="none" cap="none" strike="noStrike">
                <a:solidFill>
                  <a:srgbClr val="FF0000"/>
                </a:solidFill>
                <a:latin typeface="Times New Roman"/>
                <a:ea typeface="Times New Roman"/>
                <a:cs typeface="Times New Roman"/>
                <a:sym typeface="Times New Roman"/>
              </a:rPr>
              <a:t> </a:t>
            </a:r>
            <a:r>
              <a:rPr b="1" i="0" lang="tr-TR" sz="1800" u="none" cap="none" strike="noStrike">
                <a:solidFill>
                  <a:srgbClr val="FF0000"/>
                </a:solidFill>
                <a:latin typeface="Consolas"/>
                <a:ea typeface="Consolas"/>
                <a:cs typeface="Consolas"/>
                <a:sym typeface="Consolas"/>
              </a:rPr>
              <a:t>this-&gt; </a:t>
            </a:r>
            <a:r>
              <a:rPr b="0" i="0" lang="tr-TR" sz="1800" u="none" cap="none" strike="noStrike">
                <a:solidFill>
                  <a:srgbClr val="444444"/>
                </a:solidFill>
                <a:latin typeface="Times New Roman"/>
                <a:ea typeface="Times New Roman"/>
                <a:cs typeface="Times New Roman"/>
                <a:sym typeface="Times New Roman"/>
              </a:rPr>
              <a:t>öneki eklenerek kolaylıkla gerçekleştirilebilir. </a:t>
            </a:r>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Yani, setNum() fonksiyonunun gövdesinde sınıf üye değişeni olarak bulunan </a:t>
            </a:r>
            <a:r>
              <a:rPr b="0" i="0" lang="tr-TR" sz="1800" u="none" cap="none" strike="noStrike">
                <a:solidFill>
                  <a:srgbClr val="0070C0"/>
                </a:solidFill>
                <a:latin typeface="Consolas"/>
                <a:ea typeface="Consolas"/>
                <a:cs typeface="Consolas"/>
                <a:sym typeface="Consolas"/>
              </a:rPr>
              <a:t>num</a:t>
            </a:r>
            <a:r>
              <a:rPr b="0" i="0" lang="tr-TR" sz="1800" u="none" cap="none" strike="noStrike">
                <a:solidFill>
                  <a:srgbClr val="444444"/>
                </a:solidFill>
                <a:latin typeface="Times New Roman"/>
                <a:ea typeface="Times New Roman"/>
                <a:cs typeface="Times New Roman"/>
                <a:sym typeface="Times New Roman"/>
              </a:rPr>
              <a:t>, </a:t>
            </a:r>
            <a:r>
              <a:rPr b="0" i="0" lang="tr-TR" sz="1800" u="none" cap="none" strike="noStrike">
                <a:solidFill>
                  <a:srgbClr val="FF0000"/>
                </a:solidFill>
                <a:latin typeface="Consolas"/>
                <a:ea typeface="Consolas"/>
                <a:cs typeface="Consolas"/>
                <a:sym typeface="Consolas"/>
              </a:rPr>
              <a:t>this -&gt; num</a:t>
            </a:r>
            <a:r>
              <a:rPr b="0" i="0" lang="tr-TR" sz="1800" u="none" cap="none" strike="noStrike">
                <a:solidFill>
                  <a:srgbClr val="444444"/>
                </a:solidFill>
                <a:latin typeface="Times New Roman"/>
                <a:ea typeface="Times New Roman"/>
                <a:cs typeface="Times New Roman"/>
                <a:sym typeface="Times New Roman"/>
              </a:rPr>
              <a:t>’a dönüştürülmüştür.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Böylece "this", myNum’ın adresini gösterdiğinde, this-&gt; num,  myNum.num olarak çözümlenecektir.</a:t>
            </a:r>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3"/>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FF0000"/>
                </a:solidFill>
                <a:latin typeface="Times New Roman"/>
                <a:ea typeface="Times New Roman"/>
                <a:cs typeface="Times New Roman"/>
                <a:sym typeface="Times New Roman"/>
              </a:rPr>
              <a:t>this</a:t>
            </a:r>
            <a:r>
              <a:rPr b="1" i="0" lang="tr-TR" sz="2000" u="none" cap="none" strike="noStrike">
                <a:solidFill>
                  <a:srgbClr val="444444"/>
                </a:solidFill>
                <a:latin typeface="Times New Roman"/>
                <a:ea typeface="Times New Roman"/>
                <a:cs typeface="Times New Roman"/>
                <a:sym typeface="Times New Roman"/>
              </a:rPr>
              <a:t> Gizli İşaretçisi</a:t>
            </a:r>
            <a:endParaRPr b="1" i="0" sz="2000" u="none" cap="none" strike="noStrike">
              <a:solidFill>
                <a:schemeClr val="lt1"/>
              </a:solidFill>
              <a:latin typeface="Times New Roman"/>
              <a:ea typeface="Times New Roman"/>
              <a:cs typeface="Times New Roman"/>
              <a:sym typeface="Times New Roman"/>
            </a:endParaRPr>
          </a:p>
        </p:txBody>
      </p:sp>
      <p:sp>
        <p:nvSpPr>
          <p:cNvPr id="192" name="Google Shape;192;p13"/>
          <p:cNvSpPr txBox="1"/>
          <p:nvPr/>
        </p:nvSpPr>
        <p:spPr>
          <a:xfrm>
            <a:off x="-8388" y="624980"/>
            <a:ext cx="12108109"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this işaretçisi, geçerli nesnenin adresini tutar.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Basit bir deyişle, bu işaretçinin sınıfın geçerli nesnesini gösterdiğini söyleyebiliriz.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Bu kavramı bir örnek ile açıklayacak olursak; </a:t>
            </a:r>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pic>
        <p:nvPicPr>
          <p:cNvPr id="193" name="Google Shape;193;p13"/>
          <p:cNvPicPr preferRelativeResize="0"/>
          <p:nvPr/>
        </p:nvPicPr>
        <p:blipFill rotWithShape="1">
          <a:blip r:embed="rId3">
            <a:alphaModFix/>
          </a:blip>
          <a:srcRect b="0" l="0" r="0" t="0"/>
          <a:stretch/>
        </p:blipFill>
        <p:spPr>
          <a:xfrm>
            <a:off x="192155" y="1984025"/>
            <a:ext cx="3412436" cy="4611694"/>
          </a:xfrm>
          <a:prstGeom prst="rect">
            <a:avLst/>
          </a:prstGeom>
          <a:noFill/>
          <a:ln>
            <a:noFill/>
          </a:ln>
        </p:spPr>
      </p:pic>
      <p:sp>
        <p:nvSpPr>
          <p:cNvPr id="194" name="Google Shape;194;p13"/>
          <p:cNvSpPr txBox="1"/>
          <p:nvPr/>
        </p:nvSpPr>
        <p:spPr>
          <a:xfrm>
            <a:off x="3949148" y="1984025"/>
            <a:ext cx="8150572" cy="3176126"/>
          </a:xfrm>
          <a:prstGeom prst="rect">
            <a:avLst/>
          </a:prstGeom>
          <a:noFill/>
          <a:ln>
            <a:noFill/>
          </a:ln>
        </p:spPr>
        <p:txBody>
          <a:bodyPr anchorCtr="0" anchor="t" bIns="45700" lIns="91425" spcFirstLastPara="1" rIns="91425" wrap="square" tIns="45700">
            <a:spAutoFit/>
          </a:bodyPr>
          <a:lstStyle/>
          <a:p>
            <a:pPr indent="0" lvl="1" marL="201168" marR="0" rtl="0" algn="just">
              <a:lnSpc>
                <a:spcPct val="125000"/>
              </a:lnSpc>
              <a:spcBef>
                <a:spcPts val="0"/>
              </a:spcBef>
              <a:spcAft>
                <a:spcPts val="0"/>
              </a:spcAft>
              <a:buClr>
                <a:srgbClr val="444444"/>
              </a:buClr>
              <a:buSzPts val="1800"/>
              <a:buFont typeface="Times New Roman"/>
              <a:buNone/>
            </a:pPr>
            <a:r>
              <a:rPr b="0" i="0" lang="tr-TR" sz="1800" u="none" cap="none" strike="noStrike">
                <a:solidFill>
                  <a:srgbClr val="444444"/>
                </a:solidFill>
                <a:latin typeface="Times New Roman"/>
                <a:ea typeface="Times New Roman"/>
                <a:cs typeface="Times New Roman"/>
                <a:sym typeface="Times New Roman"/>
              </a:rPr>
              <a:t>Burada iki üye değişkeni var: num ve ch. </a:t>
            </a:r>
            <a:endParaRPr/>
          </a:p>
          <a:p>
            <a:pPr indent="0" lvl="1" marL="201168" marR="0" rtl="0" algn="just">
              <a:lnSpc>
                <a:spcPct val="125000"/>
              </a:lnSpc>
              <a:spcBef>
                <a:spcPts val="0"/>
              </a:spcBef>
              <a:spcAft>
                <a:spcPts val="0"/>
              </a:spcAft>
              <a:buClr>
                <a:schemeClr val="l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1" marL="201168" marR="0" rtl="0" algn="just">
              <a:lnSpc>
                <a:spcPct val="125000"/>
              </a:lnSpc>
              <a:spcBef>
                <a:spcPts val="0"/>
              </a:spcBef>
              <a:spcAft>
                <a:spcPts val="0"/>
              </a:spcAft>
              <a:buClr>
                <a:srgbClr val="444444"/>
              </a:buClr>
              <a:buSzPts val="1800"/>
              <a:buFont typeface="Times New Roman"/>
              <a:buNone/>
            </a:pPr>
            <a:r>
              <a:rPr b="0" i="0" lang="tr-TR" sz="1800" u="none" cap="none" strike="noStrike">
                <a:solidFill>
                  <a:srgbClr val="444444"/>
                </a:solidFill>
                <a:latin typeface="Times New Roman"/>
                <a:ea typeface="Times New Roman"/>
                <a:cs typeface="Times New Roman"/>
                <a:sym typeface="Times New Roman"/>
              </a:rPr>
              <a:t>setMyValues() üye fonksiyonunda, üye değişkenleri ile aynı ada sahip lokal değişkenler var. Böyle bir durumda, lokal değişken değerlerini üye değişkenlere atamak için </a:t>
            </a:r>
            <a:r>
              <a:rPr b="1" i="0" lang="tr-TR" sz="1800" u="none" cap="none" strike="noStrike">
                <a:solidFill>
                  <a:srgbClr val="FF0000"/>
                </a:solidFill>
                <a:latin typeface="Times New Roman"/>
                <a:ea typeface="Times New Roman"/>
                <a:cs typeface="Times New Roman"/>
                <a:sym typeface="Times New Roman"/>
              </a:rPr>
              <a:t>this</a:t>
            </a:r>
            <a:r>
              <a:rPr b="0" i="0" lang="tr-TR" sz="1800" u="none" cap="none" strike="noStrike">
                <a:solidFill>
                  <a:srgbClr val="444444"/>
                </a:solidFill>
                <a:latin typeface="Times New Roman"/>
                <a:ea typeface="Times New Roman"/>
                <a:cs typeface="Times New Roman"/>
                <a:sym typeface="Times New Roman"/>
              </a:rPr>
              <a:t> pointer’ını kullanmak zorundayız. Çünkü, derleyici </a:t>
            </a:r>
            <a:r>
              <a:rPr b="1" i="0" lang="tr-TR" sz="1800" u="none" cap="none" strike="noStrike">
                <a:solidFill>
                  <a:srgbClr val="FF0000"/>
                </a:solidFill>
                <a:latin typeface="Times New Roman"/>
                <a:ea typeface="Times New Roman"/>
                <a:cs typeface="Times New Roman"/>
                <a:sym typeface="Times New Roman"/>
              </a:rPr>
              <a:t>this</a:t>
            </a:r>
            <a:r>
              <a:rPr b="0" i="0" lang="tr-TR" sz="1800" u="none" cap="none" strike="noStrike">
                <a:solidFill>
                  <a:srgbClr val="444444"/>
                </a:solidFill>
                <a:latin typeface="Times New Roman"/>
                <a:ea typeface="Times New Roman"/>
                <a:cs typeface="Times New Roman"/>
                <a:sym typeface="Times New Roman"/>
              </a:rPr>
              <a:t> kullanmadığımız zaman nesnenin üye değişkenlerini işaret ettiğimizi bilmez. </a:t>
            </a:r>
            <a:endParaRPr/>
          </a:p>
          <a:p>
            <a:pPr indent="0" lvl="1" marL="201168" marR="0" rtl="0" algn="just">
              <a:lnSpc>
                <a:spcPct val="125000"/>
              </a:lnSpc>
              <a:spcBef>
                <a:spcPts val="0"/>
              </a:spcBef>
              <a:spcAft>
                <a:spcPts val="0"/>
              </a:spcAft>
              <a:buClr>
                <a:schemeClr val="l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1" marL="201168" marR="0" rtl="0" algn="just">
              <a:lnSpc>
                <a:spcPct val="125000"/>
              </a:lnSpc>
              <a:spcBef>
                <a:spcPts val="0"/>
              </a:spcBef>
              <a:spcAft>
                <a:spcPts val="0"/>
              </a:spcAft>
              <a:buClr>
                <a:srgbClr val="444444"/>
              </a:buClr>
              <a:buSzPts val="1800"/>
              <a:buFont typeface="Times New Roman"/>
              <a:buNone/>
            </a:pPr>
            <a:r>
              <a:rPr b="0" i="0" lang="tr-TR" sz="1800" u="none" cap="none" strike="noStrike">
                <a:solidFill>
                  <a:srgbClr val="444444"/>
                </a:solidFill>
                <a:latin typeface="Times New Roman"/>
                <a:ea typeface="Times New Roman"/>
                <a:cs typeface="Times New Roman"/>
                <a:sym typeface="Times New Roman"/>
              </a:rPr>
              <a:t>Bu işaretçinin kullanımı için verilen örneklerden birisi budur. </a:t>
            </a:r>
            <a:endParaRPr/>
          </a:p>
          <a:p>
            <a:pPr indent="0" lvl="1" marL="201168" marR="0" rtl="0" algn="just">
              <a:lnSpc>
                <a:spcPct val="125000"/>
              </a:lnSpc>
              <a:spcBef>
                <a:spcPts val="0"/>
              </a:spcBef>
              <a:spcAft>
                <a:spcPts val="0"/>
              </a:spcAft>
              <a:buClr>
                <a:schemeClr val="l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195" name="Google Shape;195;p13"/>
          <p:cNvSpPr/>
          <p:nvPr/>
        </p:nvSpPr>
        <p:spPr>
          <a:xfrm>
            <a:off x="2966055" y="2076304"/>
            <a:ext cx="540543" cy="646331"/>
          </a:xfrm>
          <a:prstGeom prst="rect">
            <a:avLst/>
          </a:prstGeom>
          <a:solidFill>
            <a:srgbClr val="EEEEEE"/>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414141"/>
              </a:buClr>
              <a:buSzPts val="1800"/>
              <a:buFont typeface="Times New Roman"/>
              <a:buNone/>
            </a:pPr>
            <a:r>
              <a:rPr b="0" i="0" lang="tr-TR" sz="1800" u="none" cap="none" strike="noStrike">
                <a:solidFill>
                  <a:srgbClr val="414141"/>
                </a:solidFill>
                <a:latin typeface="Times New Roman"/>
                <a:ea typeface="Times New Roman"/>
                <a:cs typeface="Times New Roman"/>
                <a:sym typeface="Times New Roman"/>
              </a:rPr>
              <a:t>100 </a:t>
            </a:r>
            <a:endParaRPr/>
          </a:p>
          <a:p>
            <a:pPr indent="0" lvl="0" marL="0" marR="0" rtl="0" algn="l">
              <a:lnSpc>
                <a:spcPct val="100000"/>
              </a:lnSpc>
              <a:spcBef>
                <a:spcPts val="0"/>
              </a:spcBef>
              <a:spcAft>
                <a:spcPts val="0"/>
              </a:spcAft>
              <a:buClr>
                <a:srgbClr val="414141"/>
              </a:buClr>
              <a:buSzPts val="1800"/>
              <a:buFont typeface="Times New Roman"/>
              <a:buNone/>
            </a:pPr>
            <a:r>
              <a:rPr b="0" i="0" lang="tr-TR" sz="1800" u="none" cap="none" strike="noStrike">
                <a:solidFill>
                  <a:srgbClr val="414141"/>
                </a:solidFill>
                <a:latin typeface="Times New Roman"/>
                <a:ea typeface="Times New Roman"/>
                <a:cs typeface="Times New Roman"/>
                <a:sym typeface="Times New Roman"/>
              </a:rPr>
              <a:t>A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4"/>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FF0000"/>
                </a:solidFill>
                <a:latin typeface="Times New Roman"/>
                <a:ea typeface="Times New Roman"/>
                <a:cs typeface="Times New Roman"/>
                <a:sym typeface="Times New Roman"/>
              </a:rPr>
              <a:t>this</a:t>
            </a:r>
            <a:r>
              <a:rPr b="1" i="0" lang="tr-TR" sz="2000" u="none" cap="none" strike="noStrike">
                <a:solidFill>
                  <a:srgbClr val="444444"/>
                </a:solidFill>
                <a:latin typeface="Times New Roman"/>
                <a:ea typeface="Times New Roman"/>
                <a:cs typeface="Times New Roman"/>
                <a:sym typeface="Times New Roman"/>
              </a:rPr>
              <a:t> Gizli İşaretçisi</a:t>
            </a:r>
            <a:endParaRPr b="1" i="0" sz="2000" u="none" cap="none" strike="noStrike">
              <a:solidFill>
                <a:schemeClr val="lt1"/>
              </a:solidFill>
              <a:latin typeface="Times New Roman"/>
              <a:ea typeface="Times New Roman"/>
              <a:cs typeface="Times New Roman"/>
              <a:sym typeface="Times New Roman"/>
            </a:endParaRPr>
          </a:p>
        </p:txBody>
      </p:sp>
      <p:sp>
        <p:nvSpPr>
          <p:cNvPr id="201" name="Google Shape;201;p14"/>
          <p:cNvSpPr txBox="1"/>
          <p:nvPr/>
        </p:nvSpPr>
        <p:spPr>
          <a:xfrm>
            <a:off x="-8388" y="624980"/>
            <a:ext cx="12108109"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Fonksiyon zincirleme için </a:t>
            </a:r>
            <a:r>
              <a:rPr b="1" i="0" lang="tr-TR" sz="1800" u="none" cap="none" strike="noStrike">
                <a:solidFill>
                  <a:srgbClr val="FF0000"/>
                </a:solidFill>
                <a:latin typeface="Times New Roman"/>
                <a:ea typeface="Times New Roman"/>
                <a:cs typeface="Times New Roman"/>
                <a:sym typeface="Times New Roman"/>
              </a:rPr>
              <a:t>this</a:t>
            </a:r>
            <a:r>
              <a:rPr b="0" i="0" lang="tr-TR" sz="1800" u="none" cap="none" strike="noStrike">
                <a:solidFill>
                  <a:srgbClr val="444444"/>
                </a:solidFill>
                <a:latin typeface="Times New Roman"/>
                <a:ea typeface="Times New Roman"/>
                <a:cs typeface="Times New Roman"/>
                <a:sym typeface="Times New Roman"/>
              </a:rPr>
              <a:t> işaretçisi</a:t>
            </a:r>
            <a:endParaRPr/>
          </a:p>
        </p:txBody>
      </p:sp>
      <p:pic>
        <p:nvPicPr>
          <p:cNvPr id="202" name="Google Shape;202;p14"/>
          <p:cNvPicPr preferRelativeResize="0"/>
          <p:nvPr/>
        </p:nvPicPr>
        <p:blipFill rotWithShape="1">
          <a:blip r:embed="rId3">
            <a:alphaModFix/>
          </a:blip>
          <a:srcRect b="0" l="0" r="0" t="0"/>
          <a:stretch/>
        </p:blipFill>
        <p:spPr>
          <a:xfrm>
            <a:off x="211548" y="1118538"/>
            <a:ext cx="2902712" cy="5691345"/>
          </a:xfrm>
          <a:prstGeom prst="rect">
            <a:avLst/>
          </a:prstGeom>
          <a:noFill/>
          <a:ln>
            <a:noFill/>
          </a:ln>
        </p:spPr>
      </p:pic>
      <p:sp>
        <p:nvSpPr>
          <p:cNvPr id="203" name="Google Shape;203;p14"/>
          <p:cNvSpPr txBox="1"/>
          <p:nvPr/>
        </p:nvSpPr>
        <p:spPr>
          <a:xfrm>
            <a:off x="3334196" y="1118538"/>
            <a:ext cx="8857804" cy="28623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Bu işaretçiyi kullanmanın başka bir örneği, geçerli nesnenin referansını döndürmektir. Böylece fonksiyon çağrılarını zincirleyebilir, bu şekilde geçerli nesne için tüm fonksiyonları tek seferde çağırabiliriz.</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Bu programda dikkat edilmesi gereken bir diğer önemli nokta da ikinci fonksiyonda nesnenin </a:t>
            </a:r>
            <a:r>
              <a:rPr i="1" lang="tr-TR" sz="1800">
                <a:solidFill>
                  <a:schemeClr val="lt1"/>
                </a:solidFill>
                <a:latin typeface="Times New Roman"/>
                <a:ea typeface="Times New Roman"/>
                <a:cs typeface="Times New Roman"/>
                <a:sym typeface="Times New Roman"/>
              </a:rPr>
              <a:t>num</a:t>
            </a:r>
            <a:r>
              <a:rPr lang="tr-TR" sz="1800">
                <a:solidFill>
                  <a:schemeClr val="lt1"/>
                </a:solidFill>
                <a:latin typeface="Times New Roman"/>
                <a:ea typeface="Times New Roman"/>
                <a:cs typeface="Times New Roman"/>
                <a:sym typeface="Times New Roman"/>
              </a:rPr>
              <a:t> değerini artırmış olması. Çıktıda da ilk fonksiyon çağrısında belirlenen değeri gerçekten 1 artırdığını görebiliriz. </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Bu durum, zincirlemenin sıralı olduğunu ve nesnenin üye değişkenlerinde yapılan değişikliklerin diğer zincirleme çağrıları için saklandığını gösterir.</a:t>
            </a:r>
            <a:endParaRPr/>
          </a:p>
        </p:txBody>
      </p:sp>
      <p:sp>
        <p:nvSpPr>
          <p:cNvPr id="204" name="Google Shape;204;p14"/>
          <p:cNvSpPr/>
          <p:nvPr/>
        </p:nvSpPr>
        <p:spPr>
          <a:xfrm>
            <a:off x="2283385" y="1249960"/>
            <a:ext cx="755374" cy="646331"/>
          </a:xfrm>
          <a:prstGeom prst="rect">
            <a:avLst/>
          </a:prstGeom>
          <a:solidFill>
            <a:srgbClr val="EEEEEE"/>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414141"/>
              </a:buClr>
              <a:buSzPts val="1800"/>
              <a:buFont typeface="Consolas"/>
              <a:buNone/>
            </a:pPr>
            <a:r>
              <a:rPr b="0" i="0" lang="tr-TR" sz="1800" u="none" cap="none" strike="noStrike">
                <a:solidFill>
                  <a:srgbClr val="414141"/>
                </a:solidFill>
                <a:latin typeface="Consolas"/>
                <a:ea typeface="Consolas"/>
                <a:cs typeface="Consolas"/>
                <a:sym typeface="Consolas"/>
              </a:rPr>
              <a:t>101 A</a:t>
            </a:r>
            <a:r>
              <a:rPr b="0" i="0" lang="tr-TR" sz="1800" u="none" cap="none" strike="noStrike">
                <a:solidFill>
                  <a:srgbClr val="414141"/>
                </a:solidFill>
                <a:latin typeface="Calibri"/>
                <a:ea typeface="Calibri"/>
                <a:cs typeface="Calibri"/>
                <a:sym typeface="Calibri"/>
              </a:rPr>
              <a:t> </a:t>
            </a:r>
            <a:endParaRPr b="0" i="0" sz="1800" u="none" cap="none" strike="noStrike">
              <a:solidFill>
                <a:srgbClr val="41414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5"/>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Dinamik Bellek Yönetimi: </a:t>
            </a:r>
            <a:r>
              <a:rPr b="1" i="1" lang="tr-TR" sz="2000" u="none" cap="none" strike="noStrike">
                <a:solidFill>
                  <a:srgbClr val="7030A0"/>
                </a:solidFill>
                <a:latin typeface="Times New Roman"/>
                <a:ea typeface="Times New Roman"/>
                <a:cs typeface="Times New Roman"/>
                <a:sym typeface="Times New Roman"/>
              </a:rPr>
              <a:t>new</a:t>
            </a:r>
            <a:r>
              <a:rPr b="1" i="0" lang="tr-TR" sz="2000" u="none" cap="none" strike="noStrike">
                <a:solidFill>
                  <a:srgbClr val="444444"/>
                </a:solidFill>
                <a:latin typeface="Times New Roman"/>
                <a:ea typeface="Times New Roman"/>
                <a:cs typeface="Times New Roman"/>
                <a:sym typeface="Times New Roman"/>
              </a:rPr>
              <a:t> ve </a:t>
            </a:r>
            <a:r>
              <a:rPr b="1" i="1" lang="tr-TR" sz="2000" u="none" cap="none" strike="noStrike">
                <a:solidFill>
                  <a:srgbClr val="7030A0"/>
                </a:solidFill>
                <a:latin typeface="Times New Roman"/>
                <a:ea typeface="Times New Roman"/>
                <a:cs typeface="Times New Roman"/>
                <a:sym typeface="Times New Roman"/>
              </a:rPr>
              <a:t>delete</a:t>
            </a:r>
            <a:r>
              <a:rPr b="1" i="0" lang="tr-TR" sz="2000" u="none" cap="none" strike="noStrike">
                <a:solidFill>
                  <a:srgbClr val="444444"/>
                </a:solidFill>
                <a:latin typeface="Times New Roman"/>
                <a:ea typeface="Times New Roman"/>
                <a:cs typeface="Times New Roman"/>
                <a:sym typeface="Times New Roman"/>
              </a:rPr>
              <a:t> operatörleri</a:t>
            </a:r>
            <a:endParaRPr b="1" i="0" sz="2000" u="none" cap="none" strike="noStrike">
              <a:solidFill>
                <a:schemeClr val="lt1"/>
              </a:solidFill>
              <a:latin typeface="Times New Roman"/>
              <a:ea typeface="Times New Roman"/>
              <a:cs typeface="Times New Roman"/>
              <a:sym typeface="Times New Roman"/>
            </a:endParaRPr>
          </a:p>
        </p:txBody>
      </p:sp>
      <p:sp>
        <p:nvSpPr>
          <p:cNvPr id="210" name="Google Shape;210;p15"/>
          <p:cNvSpPr txBox="1"/>
          <p:nvPr/>
        </p:nvSpPr>
        <p:spPr>
          <a:xfrm>
            <a:off x="92278" y="624980"/>
            <a:ext cx="12099722"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Şu ana kadar yaptığımız örneklerde kullandığımız değişkenler sayıca az ve küçük boyutlardaydı.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Ancak gerçek projelerimizde veya daha ileri konulara giriş yaptığımızda belleği etkin kullanmak gerekli olacaktır.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Bunun için de </a:t>
            </a:r>
            <a:r>
              <a:rPr b="1" i="1" lang="tr-TR" sz="1800" u="none" cap="none" strike="noStrike">
                <a:solidFill>
                  <a:srgbClr val="7030A0"/>
                </a:solidFill>
                <a:latin typeface="Times New Roman"/>
                <a:ea typeface="Times New Roman"/>
                <a:cs typeface="Times New Roman"/>
                <a:sym typeface="Times New Roman"/>
              </a:rPr>
              <a:t>new</a:t>
            </a:r>
            <a:r>
              <a:rPr b="0" i="0" lang="tr-TR" sz="1800" u="none" cap="none" strike="noStrike">
                <a:solidFill>
                  <a:srgbClr val="444444"/>
                </a:solidFill>
                <a:latin typeface="Times New Roman"/>
                <a:ea typeface="Times New Roman"/>
                <a:cs typeface="Times New Roman"/>
                <a:sym typeface="Times New Roman"/>
              </a:rPr>
              <a:t> ve </a:t>
            </a:r>
            <a:r>
              <a:rPr b="1" i="1" lang="tr-TR" sz="1800" u="none" cap="none" strike="noStrike">
                <a:solidFill>
                  <a:srgbClr val="7030A0"/>
                </a:solidFill>
                <a:latin typeface="Times New Roman"/>
                <a:ea typeface="Times New Roman"/>
                <a:cs typeface="Times New Roman"/>
                <a:sym typeface="Times New Roman"/>
              </a:rPr>
              <a:t>delete</a:t>
            </a:r>
            <a:r>
              <a:rPr b="0" i="0" lang="tr-TR" sz="1800" u="none" cap="none" strike="noStrike">
                <a:solidFill>
                  <a:srgbClr val="444444"/>
                </a:solidFill>
                <a:latin typeface="Times New Roman"/>
                <a:ea typeface="Times New Roman"/>
                <a:cs typeface="Times New Roman"/>
                <a:sym typeface="Times New Roman"/>
              </a:rPr>
              <a:t> operatörleri kullanılmaktadır.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C dilinde gördüğümüz </a:t>
            </a:r>
            <a:r>
              <a:rPr b="1" i="0" lang="tr-TR" sz="1800" u="none" cap="none" strike="noStrike">
                <a:solidFill>
                  <a:srgbClr val="FF6600"/>
                </a:solidFill>
                <a:latin typeface="Times New Roman"/>
                <a:ea typeface="Times New Roman"/>
                <a:cs typeface="Times New Roman"/>
                <a:sym typeface="Times New Roman"/>
              </a:rPr>
              <a:t>malloc</a:t>
            </a:r>
            <a:r>
              <a:rPr b="0" i="0" lang="tr-TR" sz="1800" u="none" cap="none" strike="noStrike">
                <a:solidFill>
                  <a:srgbClr val="444444"/>
                </a:solidFill>
                <a:latin typeface="Times New Roman"/>
                <a:ea typeface="Times New Roman"/>
                <a:cs typeface="Times New Roman"/>
                <a:sym typeface="Times New Roman"/>
              </a:rPr>
              <a:t>, </a:t>
            </a:r>
            <a:r>
              <a:rPr b="1" i="0" lang="tr-TR" sz="1800" u="none" cap="none" strike="noStrike">
                <a:solidFill>
                  <a:srgbClr val="FF6600"/>
                </a:solidFill>
                <a:latin typeface="Times New Roman"/>
                <a:ea typeface="Times New Roman"/>
                <a:cs typeface="Times New Roman"/>
                <a:sym typeface="Times New Roman"/>
              </a:rPr>
              <a:t>calloc</a:t>
            </a:r>
            <a:r>
              <a:rPr b="0" i="0" lang="tr-TR" sz="1800" u="none" cap="none" strike="noStrike">
                <a:solidFill>
                  <a:srgbClr val="444444"/>
                </a:solidFill>
                <a:latin typeface="Times New Roman"/>
                <a:ea typeface="Times New Roman"/>
                <a:cs typeface="Times New Roman"/>
                <a:sym typeface="Times New Roman"/>
              </a:rPr>
              <a:t>, </a:t>
            </a:r>
            <a:r>
              <a:rPr b="1" i="0" lang="tr-TR" sz="1800" u="none" cap="none" strike="noStrike">
                <a:solidFill>
                  <a:srgbClr val="FF6600"/>
                </a:solidFill>
                <a:latin typeface="Times New Roman"/>
                <a:ea typeface="Times New Roman"/>
                <a:cs typeface="Times New Roman"/>
                <a:sym typeface="Times New Roman"/>
              </a:rPr>
              <a:t>realloc</a:t>
            </a:r>
            <a:r>
              <a:rPr b="0" i="0" lang="tr-TR" sz="1800" u="none" cap="none" strike="noStrike">
                <a:solidFill>
                  <a:srgbClr val="444444"/>
                </a:solidFill>
                <a:latin typeface="Times New Roman"/>
                <a:ea typeface="Times New Roman"/>
                <a:cs typeface="Times New Roman"/>
                <a:sym typeface="Times New Roman"/>
              </a:rPr>
              <a:t> ve </a:t>
            </a:r>
            <a:r>
              <a:rPr b="1" i="0" lang="tr-TR" sz="1800" u="none" cap="none" strike="noStrike">
                <a:solidFill>
                  <a:srgbClr val="FF6600"/>
                </a:solidFill>
                <a:latin typeface="Times New Roman"/>
                <a:ea typeface="Times New Roman"/>
                <a:cs typeface="Times New Roman"/>
                <a:sym typeface="Times New Roman"/>
              </a:rPr>
              <a:t>free</a:t>
            </a:r>
            <a:r>
              <a:rPr b="0" i="0" lang="tr-TR" sz="1800" u="none" cap="none" strike="noStrike">
                <a:solidFill>
                  <a:srgbClr val="444444"/>
                </a:solidFill>
                <a:latin typeface="Times New Roman"/>
                <a:ea typeface="Times New Roman"/>
                <a:cs typeface="Times New Roman"/>
                <a:sym typeface="Times New Roman"/>
              </a:rPr>
              <a:t> fonksiyonlarının C++’ta da kullanılabilir. Ancak bu fonksiyonların default varsayılan değerleri </a:t>
            </a:r>
            <a:r>
              <a:rPr b="1" i="0" lang="tr-TR" sz="1800" u="none" cap="none" strike="noStrike">
                <a:solidFill>
                  <a:srgbClr val="444444"/>
                </a:solidFill>
                <a:latin typeface="Times New Roman"/>
                <a:ea typeface="Times New Roman"/>
                <a:cs typeface="Times New Roman"/>
                <a:sym typeface="Times New Roman"/>
              </a:rPr>
              <a:t>void* </a:t>
            </a:r>
            <a:r>
              <a:rPr b="0" i="0" lang="tr-TR" sz="1800" u="none" cap="none" strike="noStrike">
                <a:solidFill>
                  <a:srgbClr val="444444"/>
                </a:solidFill>
                <a:latin typeface="Times New Roman"/>
                <a:ea typeface="Times New Roman"/>
                <a:cs typeface="Times New Roman"/>
                <a:sym typeface="Times New Roman"/>
              </a:rPr>
              <a:t>olduğundan ötürü tip dönüşümüne ihtiyaç duyarlar.</a:t>
            </a:r>
            <a:endParaRPr/>
          </a:p>
          <a:p>
            <a:pPr indent="0" lvl="1" marL="201168" marR="0" rtl="0" algn="just">
              <a:lnSpc>
                <a:spcPct val="125000"/>
              </a:lnSpc>
              <a:spcBef>
                <a:spcPts val="600"/>
              </a:spcBef>
              <a:spcAft>
                <a:spcPts val="0"/>
              </a:spcAft>
              <a:buClr>
                <a:schemeClr val="accent1"/>
              </a:buClr>
              <a:buSzPts val="2000"/>
              <a:buFont typeface="Calibri"/>
              <a:buNone/>
            </a:pPr>
            <a:r>
              <a:rPr b="1" i="1" lang="tr-TR" sz="2000" u="none" cap="none" strike="noStrike">
                <a:solidFill>
                  <a:srgbClr val="7030A0"/>
                </a:solidFill>
                <a:latin typeface="Times New Roman"/>
                <a:ea typeface="Times New Roman"/>
                <a:cs typeface="Times New Roman"/>
                <a:sym typeface="Times New Roman"/>
              </a:rPr>
              <a:t>new</a:t>
            </a:r>
            <a:r>
              <a:rPr b="0" i="0" lang="tr-TR" sz="1800" u="none" cap="none" strike="noStrike">
                <a:solidFill>
                  <a:srgbClr val="444444"/>
                </a:solidFill>
                <a:latin typeface="Times New Roman"/>
                <a:ea typeface="Times New Roman"/>
                <a:cs typeface="Times New Roman"/>
                <a:sym typeface="Times New Roman"/>
              </a:rPr>
              <a:t> operatörü, bellekten bir değişken için yer tahsis etmek istenildiğinde kullanılır. </a:t>
            </a:r>
            <a:endParaRPr/>
          </a:p>
          <a:p>
            <a:pPr indent="0" lvl="1" marL="201168" marR="0" rtl="0" algn="just">
              <a:lnSpc>
                <a:spcPct val="125000"/>
              </a:lnSpc>
              <a:spcBef>
                <a:spcPts val="600"/>
              </a:spcBef>
              <a:spcAft>
                <a:spcPts val="0"/>
              </a:spcAft>
              <a:buClr>
                <a:schemeClr val="accent1"/>
              </a:buClr>
              <a:buSzPts val="2000"/>
              <a:buFont typeface="Calibri"/>
              <a:buNone/>
            </a:pPr>
            <a:r>
              <a:rPr b="1" i="1" lang="tr-TR" sz="2000" u="none" cap="none" strike="noStrike">
                <a:solidFill>
                  <a:srgbClr val="7030A0"/>
                </a:solidFill>
                <a:latin typeface="Times New Roman"/>
                <a:ea typeface="Times New Roman"/>
                <a:cs typeface="Times New Roman"/>
                <a:sym typeface="Times New Roman"/>
              </a:rPr>
              <a:t>delete</a:t>
            </a:r>
            <a:r>
              <a:rPr b="0" i="0" lang="tr-TR" sz="1800" u="none" cap="none" strike="noStrike">
                <a:solidFill>
                  <a:srgbClr val="444444"/>
                </a:solidFill>
                <a:latin typeface="Times New Roman"/>
                <a:ea typeface="Times New Roman"/>
                <a:cs typeface="Times New Roman"/>
                <a:sym typeface="Times New Roman"/>
              </a:rPr>
              <a:t> oparatörü ise, </a:t>
            </a:r>
            <a:r>
              <a:rPr b="1" i="1" lang="tr-TR" sz="2000" u="none" cap="none" strike="noStrike">
                <a:solidFill>
                  <a:srgbClr val="7030A0"/>
                </a:solidFill>
                <a:latin typeface="Times New Roman"/>
                <a:ea typeface="Times New Roman"/>
                <a:cs typeface="Times New Roman"/>
                <a:sym typeface="Times New Roman"/>
              </a:rPr>
              <a:t>new</a:t>
            </a:r>
            <a:r>
              <a:rPr b="0" i="0" lang="tr-TR" sz="1800" u="none" cap="none" strike="noStrike">
                <a:solidFill>
                  <a:srgbClr val="444444"/>
                </a:solidFill>
                <a:latin typeface="Times New Roman"/>
                <a:ea typeface="Times New Roman"/>
                <a:cs typeface="Times New Roman"/>
                <a:sym typeface="Times New Roman"/>
              </a:rPr>
              <a:t> ile bellekte mevcut değişken için tahsis edilen bellek alanını bırakmak için kullanılır. </a:t>
            </a:r>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 </a:t>
            </a:r>
            <a:endParaRPr/>
          </a:p>
        </p:txBody>
      </p:sp>
      <p:sp>
        <p:nvSpPr>
          <p:cNvPr id="211" name="Google Shape;211;p15"/>
          <p:cNvSpPr txBox="1"/>
          <p:nvPr/>
        </p:nvSpPr>
        <p:spPr>
          <a:xfrm>
            <a:off x="7288696" y="3705495"/>
            <a:ext cx="2998304" cy="230832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a:solidFill>
                  <a:srgbClr val="414141"/>
                </a:solidFill>
                <a:latin typeface="Consolas"/>
                <a:ea typeface="Consolas"/>
                <a:cs typeface="Consolas"/>
                <a:sym typeface="Consolas"/>
              </a:rPr>
              <a:t>#include &lt;iostream&gt;</a:t>
            </a:r>
            <a:endParaRPr b="0" i="0" sz="1800">
              <a:solidFill>
                <a:srgbClr val="414141"/>
              </a:solidFill>
              <a:latin typeface="Consolas"/>
              <a:ea typeface="Consolas"/>
              <a:cs typeface="Consolas"/>
              <a:sym typeface="Consolas"/>
            </a:endParaRPr>
          </a:p>
          <a:p>
            <a:pPr indent="0" lvl="0" marL="0" marR="0" rtl="0" algn="l">
              <a:spcBef>
                <a:spcPts val="0"/>
              </a:spcBef>
              <a:spcAft>
                <a:spcPts val="0"/>
              </a:spcAft>
              <a:buNone/>
            </a:pPr>
            <a:r>
              <a:rPr b="0" i="0" lang="tr-TR" sz="1800">
                <a:solidFill>
                  <a:srgbClr val="414141"/>
                </a:solidFill>
                <a:latin typeface="Consolas"/>
                <a:ea typeface="Consolas"/>
                <a:cs typeface="Consolas"/>
                <a:sym typeface="Consolas"/>
              </a:rPr>
              <a:t>int main() </a:t>
            </a:r>
            <a:endParaRPr b="0" i="0" sz="1800">
              <a:solidFill>
                <a:srgbClr val="414141"/>
              </a:solidFill>
              <a:latin typeface="Consolas"/>
              <a:ea typeface="Consolas"/>
              <a:cs typeface="Consolas"/>
              <a:sym typeface="Consolas"/>
            </a:endParaRPr>
          </a:p>
          <a:p>
            <a:pPr indent="0" lvl="0" marL="0" marR="0" rtl="0" algn="l">
              <a:spcBef>
                <a:spcPts val="0"/>
              </a:spcBef>
              <a:spcAft>
                <a:spcPts val="0"/>
              </a:spcAft>
              <a:buNone/>
            </a:pPr>
            <a:r>
              <a:rPr b="0" i="0" lang="tr-TR" sz="1800">
                <a:solidFill>
                  <a:srgbClr val="414141"/>
                </a:solidFill>
                <a:latin typeface="Consolas"/>
                <a:ea typeface="Consolas"/>
                <a:cs typeface="Consolas"/>
                <a:sym typeface="Consolas"/>
              </a:rPr>
              <a:t>{ </a:t>
            </a:r>
            <a:endParaRPr b="0" i="0" sz="1800">
              <a:solidFill>
                <a:srgbClr val="414141"/>
              </a:solidFill>
              <a:latin typeface="Consolas"/>
              <a:ea typeface="Consolas"/>
              <a:cs typeface="Consolas"/>
              <a:sym typeface="Consolas"/>
            </a:endParaRPr>
          </a:p>
          <a:p>
            <a:pPr indent="0" lvl="0" marL="0" marR="0" rtl="0" algn="l">
              <a:spcBef>
                <a:spcPts val="0"/>
              </a:spcBef>
              <a:spcAft>
                <a:spcPts val="0"/>
              </a:spcAft>
              <a:buNone/>
            </a:pPr>
            <a:r>
              <a:rPr lang="tr-TR" sz="1800">
                <a:solidFill>
                  <a:srgbClr val="414141"/>
                </a:solidFill>
                <a:latin typeface="Consolas"/>
                <a:ea typeface="Consolas"/>
                <a:cs typeface="Consolas"/>
                <a:sym typeface="Consolas"/>
              </a:rPr>
              <a:t>	</a:t>
            </a:r>
            <a:r>
              <a:rPr b="0" i="0" lang="tr-TR" sz="1800">
                <a:solidFill>
                  <a:srgbClr val="414141"/>
                </a:solidFill>
                <a:latin typeface="Consolas"/>
                <a:ea typeface="Consolas"/>
                <a:cs typeface="Consolas"/>
                <a:sym typeface="Consolas"/>
              </a:rPr>
              <a:t>int *p; </a:t>
            </a:r>
            <a:endParaRPr b="0" i="0" sz="1800">
              <a:solidFill>
                <a:srgbClr val="414141"/>
              </a:solidFill>
              <a:latin typeface="Consolas"/>
              <a:ea typeface="Consolas"/>
              <a:cs typeface="Consolas"/>
              <a:sym typeface="Consolas"/>
            </a:endParaRPr>
          </a:p>
          <a:p>
            <a:pPr indent="0" lvl="0" marL="0" marR="0" rtl="0" algn="l">
              <a:spcBef>
                <a:spcPts val="0"/>
              </a:spcBef>
              <a:spcAft>
                <a:spcPts val="0"/>
              </a:spcAft>
              <a:buNone/>
            </a:pPr>
            <a:r>
              <a:rPr b="0" i="0" lang="tr-TR" sz="1800">
                <a:solidFill>
                  <a:srgbClr val="414141"/>
                </a:solidFill>
                <a:latin typeface="Consolas"/>
                <a:ea typeface="Consolas"/>
                <a:cs typeface="Consolas"/>
                <a:sym typeface="Consolas"/>
              </a:rPr>
              <a:t>	int i = 0; </a:t>
            </a:r>
            <a:endParaRPr b="0" i="0" sz="1800">
              <a:solidFill>
                <a:srgbClr val="414141"/>
              </a:solidFill>
              <a:latin typeface="Consolas"/>
              <a:ea typeface="Consolas"/>
              <a:cs typeface="Consolas"/>
              <a:sym typeface="Consolas"/>
            </a:endParaRPr>
          </a:p>
          <a:p>
            <a:pPr indent="0" lvl="0" marL="0" marR="0" rtl="0" algn="l">
              <a:spcBef>
                <a:spcPts val="0"/>
              </a:spcBef>
              <a:spcAft>
                <a:spcPts val="0"/>
              </a:spcAft>
              <a:buNone/>
            </a:pPr>
            <a:r>
              <a:rPr b="0" i="0" lang="tr-TR" sz="1800">
                <a:solidFill>
                  <a:srgbClr val="414141"/>
                </a:solidFill>
                <a:latin typeface="Consolas"/>
                <a:ea typeface="Consolas"/>
                <a:cs typeface="Consolas"/>
                <a:sym typeface="Consolas"/>
              </a:rPr>
              <a:t>	p = </a:t>
            </a:r>
            <a:r>
              <a:rPr b="0" i="0" lang="tr-TR" sz="1800">
                <a:solidFill>
                  <a:srgbClr val="0070C0"/>
                </a:solidFill>
                <a:latin typeface="Consolas"/>
                <a:ea typeface="Consolas"/>
                <a:cs typeface="Consolas"/>
                <a:sym typeface="Consolas"/>
              </a:rPr>
              <a:t>new</a:t>
            </a:r>
            <a:r>
              <a:rPr b="0" i="0" lang="tr-TR" sz="1800">
                <a:solidFill>
                  <a:srgbClr val="414141"/>
                </a:solidFill>
                <a:latin typeface="Consolas"/>
                <a:ea typeface="Consolas"/>
                <a:cs typeface="Consolas"/>
                <a:sym typeface="Consolas"/>
              </a:rPr>
              <a:t> int[5]; </a:t>
            </a:r>
            <a:endParaRPr b="0" i="0" sz="1800">
              <a:solidFill>
                <a:srgbClr val="414141"/>
              </a:solidFill>
              <a:latin typeface="Consolas"/>
              <a:ea typeface="Consolas"/>
              <a:cs typeface="Consolas"/>
              <a:sym typeface="Consolas"/>
            </a:endParaRPr>
          </a:p>
          <a:p>
            <a:pPr indent="0" lvl="0" marL="0" marR="0" rtl="0" algn="l">
              <a:spcBef>
                <a:spcPts val="0"/>
              </a:spcBef>
              <a:spcAft>
                <a:spcPts val="0"/>
              </a:spcAft>
              <a:buNone/>
            </a:pPr>
            <a:r>
              <a:rPr b="0" i="0" lang="tr-TR" sz="1800">
                <a:solidFill>
                  <a:srgbClr val="414141"/>
                </a:solidFill>
                <a:latin typeface="Consolas"/>
                <a:ea typeface="Consolas"/>
                <a:cs typeface="Consolas"/>
                <a:sym typeface="Consolas"/>
              </a:rPr>
              <a:t>	</a:t>
            </a:r>
            <a:r>
              <a:rPr b="0" i="0" lang="tr-TR" sz="1800">
                <a:solidFill>
                  <a:srgbClr val="0070C0"/>
                </a:solidFill>
                <a:latin typeface="Consolas"/>
                <a:ea typeface="Consolas"/>
                <a:cs typeface="Consolas"/>
                <a:sym typeface="Consolas"/>
              </a:rPr>
              <a:t>delete</a:t>
            </a:r>
            <a:r>
              <a:rPr b="0" i="0" lang="tr-TR" sz="1800">
                <a:solidFill>
                  <a:srgbClr val="414141"/>
                </a:solidFill>
                <a:latin typeface="Consolas"/>
                <a:ea typeface="Consolas"/>
                <a:cs typeface="Consolas"/>
                <a:sym typeface="Consolas"/>
              </a:rPr>
              <a:t>[] p; </a:t>
            </a:r>
            <a:endParaRPr b="0" i="0" sz="1800">
              <a:solidFill>
                <a:srgbClr val="414141"/>
              </a:solidFill>
              <a:latin typeface="Consolas"/>
              <a:ea typeface="Consolas"/>
              <a:cs typeface="Consolas"/>
              <a:sym typeface="Consolas"/>
            </a:endParaRPr>
          </a:p>
          <a:p>
            <a:pPr indent="0" lvl="0" marL="0" marR="0" rtl="0" algn="l">
              <a:spcBef>
                <a:spcPts val="0"/>
              </a:spcBef>
              <a:spcAft>
                <a:spcPts val="0"/>
              </a:spcAft>
              <a:buNone/>
            </a:pPr>
            <a:r>
              <a:rPr b="0" i="0" lang="tr-TR" sz="1800">
                <a:solidFill>
                  <a:srgbClr val="414141"/>
                </a:solidFill>
                <a:latin typeface="Consolas"/>
                <a:ea typeface="Consolas"/>
                <a:cs typeface="Consolas"/>
                <a:sym typeface="Consolas"/>
              </a:rPr>
              <a:t>}</a:t>
            </a:r>
            <a:endParaRPr sz="1800">
              <a:solidFill>
                <a:srgbClr val="414141"/>
              </a:solidFill>
              <a:latin typeface="Consolas"/>
              <a:ea typeface="Consolas"/>
              <a:cs typeface="Consolas"/>
              <a:sym typeface="Consolas"/>
            </a:endParaRPr>
          </a:p>
        </p:txBody>
      </p:sp>
      <p:sp>
        <p:nvSpPr>
          <p:cNvPr id="212" name="Google Shape;212;p15"/>
          <p:cNvSpPr txBox="1"/>
          <p:nvPr/>
        </p:nvSpPr>
        <p:spPr>
          <a:xfrm>
            <a:off x="944460" y="3705495"/>
            <a:ext cx="5105400" cy="230832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Consolas"/>
                <a:ea typeface="Consolas"/>
                <a:cs typeface="Consolas"/>
                <a:sym typeface="Consolas"/>
              </a:rPr>
              <a:t>#include &lt;iostream&gt;</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int main()</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    int *p;</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    int i = 0;</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    p = (int*) </a:t>
            </a:r>
            <a:r>
              <a:rPr lang="tr-TR" sz="1800">
                <a:solidFill>
                  <a:srgbClr val="0070C0"/>
                </a:solidFill>
                <a:latin typeface="Consolas"/>
                <a:ea typeface="Consolas"/>
                <a:cs typeface="Consolas"/>
                <a:sym typeface="Consolas"/>
              </a:rPr>
              <a:t>malloc</a:t>
            </a:r>
            <a:r>
              <a:rPr lang="tr-TR" sz="1800">
                <a:solidFill>
                  <a:schemeClr val="lt1"/>
                </a:solidFill>
                <a:latin typeface="Consolas"/>
                <a:ea typeface="Consolas"/>
                <a:cs typeface="Consolas"/>
                <a:sym typeface="Consolas"/>
              </a:rPr>
              <a:t>(sizeof(int) * 5);</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    </a:t>
            </a:r>
            <a:r>
              <a:rPr lang="tr-TR" sz="1800">
                <a:solidFill>
                  <a:srgbClr val="0070C0"/>
                </a:solidFill>
                <a:latin typeface="Consolas"/>
                <a:ea typeface="Consolas"/>
                <a:cs typeface="Consolas"/>
                <a:sym typeface="Consolas"/>
              </a:rPr>
              <a:t>free</a:t>
            </a:r>
            <a:r>
              <a:rPr lang="tr-TR" sz="1800">
                <a:solidFill>
                  <a:schemeClr val="lt1"/>
                </a:solidFill>
                <a:latin typeface="Consolas"/>
                <a:ea typeface="Consolas"/>
                <a:cs typeface="Consolas"/>
                <a:sym typeface="Consolas"/>
              </a:rPr>
              <a:t>(p);</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Dinamik Bellek Yönetimi: </a:t>
            </a:r>
            <a:r>
              <a:rPr b="1" i="1" lang="tr-TR" sz="2000" u="none" cap="none" strike="noStrike">
                <a:solidFill>
                  <a:srgbClr val="7030A0"/>
                </a:solidFill>
                <a:latin typeface="Times New Roman"/>
                <a:ea typeface="Times New Roman"/>
                <a:cs typeface="Times New Roman"/>
                <a:sym typeface="Times New Roman"/>
              </a:rPr>
              <a:t>new</a:t>
            </a:r>
            <a:r>
              <a:rPr b="1" i="0" lang="tr-TR" sz="2000" u="none" cap="none" strike="noStrike">
                <a:solidFill>
                  <a:srgbClr val="444444"/>
                </a:solidFill>
                <a:latin typeface="Times New Roman"/>
                <a:ea typeface="Times New Roman"/>
                <a:cs typeface="Times New Roman"/>
                <a:sym typeface="Times New Roman"/>
              </a:rPr>
              <a:t> ve </a:t>
            </a:r>
            <a:r>
              <a:rPr b="1" i="1" lang="tr-TR" sz="2000" u="none" cap="none" strike="noStrike">
                <a:solidFill>
                  <a:srgbClr val="7030A0"/>
                </a:solidFill>
                <a:latin typeface="Times New Roman"/>
                <a:ea typeface="Times New Roman"/>
                <a:cs typeface="Times New Roman"/>
                <a:sym typeface="Times New Roman"/>
              </a:rPr>
              <a:t>delete</a:t>
            </a:r>
            <a:r>
              <a:rPr b="1" i="0" lang="tr-TR" sz="2000" u="none" cap="none" strike="noStrike">
                <a:solidFill>
                  <a:srgbClr val="444444"/>
                </a:solidFill>
                <a:latin typeface="Times New Roman"/>
                <a:ea typeface="Times New Roman"/>
                <a:cs typeface="Times New Roman"/>
                <a:sym typeface="Times New Roman"/>
              </a:rPr>
              <a:t> operatörleri</a:t>
            </a:r>
            <a:endParaRPr b="1" i="0" sz="2000" u="none" cap="none" strike="noStrike">
              <a:solidFill>
                <a:schemeClr val="lt1"/>
              </a:solidFill>
              <a:latin typeface="Times New Roman"/>
              <a:ea typeface="Times New Roman"/>
              <a:cs typeface="Times New Roman"/>
              <a:sym typeface="Times New Roman"/>
            </a:endParaRPr>
          </a:p>
        </p:txBody>
      </p:sp>
      <p:sp>
        <p:nvSpPr>
          <p:cNvPr id="218" name="Google Shape;218;p16"/>
          <p:cNvSpPr txBox="1"/>
          <p:nvPr/>
        </p:nvSpPr>
        <p:spPr>
          <a:xfrm>
            <a:off x="92278" y="624980"/>
            <a:ext cx="12099722"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pic>
        <p:nvPicPr>
          <p:cNvPr id="219" name="Google Shape;219;p16"/>
          <p:cNvPicPr preferRelativeResize="0"/>
          <p:nvPr/>
        </p:nvPicPr>
        <p:blipFill rotWithShape="1">
          <a:blip r:embed="rId3">
            <a:alphaModFix/>
          </a:blip>
          <a:srcRect b="0" l="0" r="0" t="0"/>
          <a:stretch/>
        </p:blipFill>
        <p:spPr>
          <a:xfrm>
            <a:off x="5710787" y="1501651"/>
            <a:ext cx="2333951" cy="809738"/>
          </a:xfrm>
          <a:prstGeom prst="rect">
            <a:avLst/>
          </a:prstGeom>
          <a:noFill/>
          <a:ln>
            <a:noFill/>
          </a:ln>
        </p:spPr>
      </p:pic>
      <p:pic>
        <p:nvPicPr>
          <p:cNvPr id="220" name="Google Shape;220;p16"/>
          <p:cNvPicPr preferRelativeResize="0"/>
          <p:nvPr/>
        </p:nvPicPr>
        <p:blipFill rotWithShape="1">
          <a:blip r:embed="rId4">
            <a:alphaModFix/>
          </a:blip>
          <a:srcRect b="0" l="0" r="0" t="0"/>
          <a:stretch/>
        </p:blipFill>
        <p:spPr>
          <a:xfrm>
            <a:off x="242863" y="624980"/>
            <a:ext cx="4768962" cy="5508534"/>
          </a:xfrm>
          <a:prstGeom prst="rect">
            <a:avLst/>
          </a:prstGeom>
          <a:noFill/>
          <a:ln>
            <a:noFill/>
          </a:ln>
        </p:spPr>
      </p:pic>
      <p:pic>
        <p:nvPicPr>
          <p:cNvPr id="221" name="Google Shape;221;p16"/>
          <p:cNvPicPr preferRelativeResize="0"/>
          <p:nvPr/>
        </p:nvPicPr>
        <p:blipFill rotWithShape="1">
          <a:blip r:embed="rId5">
            <a:alphaModFix/>
          </a:blip>
          <a:srcRect b="0" l="0" r="0" t="0"/>
          <a:stretch/>
        </p:blipFill>
        <p:spPr>
          <a:xfrm>
            <a:off x="5710787" y="3168360"/>
            <a:ext cx="1469390" cy="649266"/>
          </a:xfrm>
          <a:prstGeom prst="rect">
            <a:avLst/>
          </a:prstGeom>
          <a:noFill/>
          <a:ln>
            <a:noFill/>
          </a:ln>
        </p:spPr>
      </p:pic>
      <p:sp>
        <p:nvSpPr>
          <p:cNvPr id="222" name="Google Shape;222;p16"/>
          <p:cNvSpPr txBox="1"/>
          <p:nvPr/>
        </p:nvSpPr>
        <p:spPr>
          <a:xfrm>
            <a:off x="5475712" y="912208"/>
            <a:ext cx="59318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Soldaki programın ekran çıktısı: </a:t>
            </a:r>
            <a:endParaRPr/>
          </a:p>
        </p:txBody>
      </p:sp>
      <p:sp>
        <p:nvSpPr>
          <p:cNvPr id="223" name="Google Shape;223;p16"/>
          <p:cNvSpPr txBox="1"/>
          <p:nvPr/>
        </p:nvSpPr>
        <p:spPr>
          <a:xfrm>
            <a:off x="5475712" y="2701919"/>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Soldaki programın 23. satırı iptal edildiğinde ekran çıktısı: </a:t>
            </a:r>
            <a:endParaRPr/>
          </a:p>
        </p:txBody>
      </p:sp>
      <p:sp>
        <p:nvSpPr>
          <p:cNvPr id="224" name="Google Shape;224;p16"/>
          <p:cNvSpPr txBox="1"/>
          <p:nvPr/>
        </p:nvSpPr>
        <p:spPr>
          <a:xfrm>
            <a:off x="6321773" y="4604276"/>
            <a:ext cx="5777948"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tr-TR" sz="1800">
                <a:solidFill>
                  <a:srgbClr val="212529"/>
                </a:solidFill>
                <a:latin typeface="Times New Roman"/>
                <a:ea typeface="Times New Roman"/>
                <a:cs typeface="Times New Roman"/>
                <a:sym typeface="Times New Roman"/>
              </a:rPr>
              <a:t>C++ içerisinde yer alan </a:t>
            </a:r>
            <a:r>
              <a:rPr b="0" i="0" lang="tr-TR" sz="1800">
                <a:solidFill>
                  <a:srgbClr val="0070C0"/>
                </a:solidFill>
                <a:latin typeface="Times New Roman"/>
                <a:ea typeface="Times New Roman"/>
                <a:cs typeface="Times New Roman"/>
                <a:sym typeface="Times New Roman"/>
              </a:rPr>
              <a:t>new</a:t>
            </a:r>
            <a:r>
              <a:rPr b="0" i="0" lang="tr-TR" sz="1800">
                <a:solidFill>
                  <a:srgbClr val="212529"/>
                </a:solidFill>
                <a:latin typeface="Times New Roman"/>
                <a:ea typeface="Times New Roman"/>
                <a:cs typeface="Times New Roman"/>
                <a:sym typeface="Times New Roman"/>
              </a:rPr>
              <a:t> ve </a:t>
            </a:r>
            <a:r>
              <a:rPr b="0" i="0" lang="tr-TR" sz="1800">
                <a:solidFill>
                  <a:srgbClr val="0070C0"/>
                </a:solidFill>
                <a:latin typeface="Times New Roman"/>
                <a:ea typeface="Times New Roman"/>
                <a:cs typeface="Times New Roman"/>
                <a:sym typeface="Times New Roman"/>
              </a:rPr>
              <a:t>delete</a:t>
            </a:r>
            <a:r>
              <a:rPr b="0" i="0" lang="tr-TR" sz="1800">
                <a:solidFill>
                  <a:srgbClr val="212529"/>
                </a:solidFill>
                <a:latin typeface="Times New Roman"/>
                <a:ea typeface="Times New Roman"/>
                <a:cs typeface="Times New Roman"/>
                <a:sym typeface="Times New Roman"/>
              </a:rPr>
              <a:t> anahtar kelimeleri operatör olduğundan C içerisinde yer alan bellek yönetimi fonksiyonlarına göre daha hızlıdır.</a:t>
            </a:r>
            <a:endParaRPr sz="1800">
              <a:solidFill>
                <a:schemeClr val="lt1"/>
              </a:solidFill>
              <a:latin typeface="Times New Roman"/>
              <a:ea typeface="Times New Roman"/>
              <a:cs typeface="Times New Roman"/>
              <a:sym typeface="Times New Roman"/>
            </a:endParaRPr>
          </a:p>
        </p:txBody>
      </p:sp>
      <p:pic>
        <p:nvPicPr>
          <p:cNvPr descr="Red Exclamation Mark PNG Photo | PNG Mart" id="225" name="Google Shape;225;p16"/>
          <p:cNvPicPr preferRelativeResize="0"/>
          <p:nvPr/>
        </p:nvPicPr>
        <p:blipFill rotWithShape="1">
          <a:blip r:embed="rId6">
            <a:alphaModFix/>
          </a:blip>
          <a:srcRect b="0" l="0" r="0" t="0"/>
          <a:stretch/>
        </p:blipFill>
        <p:spPr>
          <a:xfrm>
            <a:off x="5263494" y="4255322"/>
            <a:ext cx="1665011" cy="1668269"/>
          </a:xfrm>
          <a:prstGeom prst="rect">
            <a:avLst/>
          </a:prstGeom>
          <a:noFill/>
          <a:ln>
            <a:noFill/>
          </a:ln>
        </p:spPr>
      </p:pic>
      <p:pic>
        <p:nvPicPr>
          <p:cNvPr descr="Red Exclamation Mark PNG Photo | PNG Mart" id="226" name="Google Shape;226;p16"/>
          <p:cNvPicPr preferRelativeResize="0"/>
          <p:nvPr/>
        </p:nvPicPr>
        <p:blipFill rotWithShape="1">
          <a:blip r:embed="rId6">
            <a:alphaModFix/>
          </a:blip>
          <a:srcRect b="0" l="0" r="0" t="0"/>
          <a:stretch/>
        </p:blipFill>
        <p:spPr>
          <a:xfrm>
            <a:off x="4780471" y="4410036"/>
            <a:ext cx="1665011" cy="166826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7"/>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7030A0"/>
                </a:solidFill>
                <a:latin typeface="Times New Roman"/>
                <a:ea typeface="Times New Roman"/>
                <a:cs typeface="Times New Roman"/>
                <a:sym typeface="Times New Roman"/>
              </a:rPr>
              <a:t>static</a:t>
            </a:r>
            <a:r>
              <a:rPr b="1" i="0" lang="tr-TR" sz="2000" u="none" cap="none" strike="noStrike">
                <a:solidFill>
                  <a:srgbClr val="444444"/>
                </a:solidFill>
                <a:latin typeface="Times New Roman"/>
                <a:ea typeface="Times New Roman"/>
                <a:cs typeface="Times New Roman"/>
                <a:sym typeface="Times New Roman"/>
              </a:rPr>
              <a:t> Üye Değişkenleri ve Üye Fonksiyonları</a:t>
            </a:r>
            <a:endParaRPr/>
          </a:p>
        </p:txBody>
      </p:sp>
      <p:sp>
        <p:nvSpPr>
          <p:cNvPr id="232" name="Google Shape;232;p17"/>
          <p:cNvSpPr txBox="1"/>
          <p:nvPr/>
        </p:nvSpPr>
        <p:spPr>
          <a:xfrm>
            <a:off x="92278" y="624980"/>
            <a:ext cx="12007443"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Bazı durumlarda, sınıfın tüm nesnelerine erişilebilen bir veya daha fazla ortak veri alanının var olması istenebilir.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C ++’ta, </a:t>
            </a:r>
            <a:r>
              <a:rPr b="0"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bir üye, sınıfın tüm nesneleri tarafından paylaşılır.</a:t>
            </a:r>
            <a:endParaRPr/>
          </a:p>
          <a:p>
            <a:pPr indent="0" lvl="1" marL="201168" marR="0" rtl="0" algn="just">
              <a:lnSpc>
                <a:spcPct val="125000"/>
              </a:lnSpc>
              <a:spcBef>
                <a:spcPts val="600"/>
              </a:spcBef>
              <a:spcAft>
                <a:spcPts val="0"/>
              </a:spcAft>
              <a:buClr>
                <a:schemeClr val="accent1"/>
              </a:buClr>
              <a:buSzPts val="1800"/>
              <a:buFont typeface="Calibri"/>
              <a:buNone/>
            </a:pPr>
            <a:r>
              <a:rPr b="0"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değişkenlerin değerlerini koruduğunu ve kapsam dışına çıktıktan sonra bile yok edilmediğini daha önce öğrenmiştik.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sng" cap="none" strike="noStrike">
                <a:solidFill>
                  <a:schemeClr val="lt1"/>
                </a:solidFill>
                <a:latin typeface="Times New Roman"/>
                <a:ea typeface="Times New Roman"/>
                <a:cs typeface="Times New Roman"/>
                <a:sym typeface="Times New Roman"/>
              </a:rPr>
              <a:t>Hatırlatma açısından aşağıdaki kodu inceleyecek olursak; </a:t>
            </a:r>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lt1"/>
              </a:solidFill>
              <a:latin typeface="Times New Roman"/>
              <a:ea typeface="Times New Roman"/>
              <a:cs typeface="Times New Roman"/>
              <a:sym typeface="Times New Roman"/>
            </a:endParaRPr>
          </a:p>
        </p:txBody>
      </p:sp>
      <p:pic>
        <p:nvPicPr>
          <p:cNvPr id="233" name="Google Shape;233;p17"/>
          <p:cNvPicPr preferRelativeResize="0"/>
          <p:nvPr/>
        </p:nvPicPr>
        <p:blipFill rotWithShape="1">
          <a:blip r:embed="rId3">
            <a:alphaModFix/>
          </a:blip>
          <a:srcRect b="0" l="0" r="0" t="0"/>
          <a:stretch/>
        </p:blipFill>
        <p:spPr>
          <a:xfrm>
            <a:off x="265636" y="2361229"/>
            <a:ext cx="3425519" cy="392197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8"/>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7030A0"/>
                </a:solidFill>
                <a:latin typeface="Times New Roman"/>
                <a:ea typeface="Times New Roman"/>
                <a:cs typeface="Times New Roman"/>
                <a:sym typeface="Times New Roman"/>
              </a:rPr>
              <a:t>static</a:t>
            </a:r>
            <a:r>
              <a:rPr b="1" i="0" lang="tr-TR" sz="2000" u="none" cap="none" strike="noStrike">
                <a:solidFill>
                  <a:srgbClr val="444444"/>
                </a:solidFill>
                <a:latin typeface="Times New Roman"/>
                <a:ea typeface="Times New Roman"/>
                <a:cs typeface="Times New Roman"/>
                <a:sym typeface="Times New Roman"/>
              </a:rPr>
              <a:t> Üye Değişkenleri</a:t>
            </a:r>
            <a:endParaRPr/>
          </a:p>
        </p:txBody>
      </p:sp>
      <p:sp>
        <p:nvSpPr>
          <p:cNvPr id="239" name="Google Shape;239;p18"/>
          <p:cNvSpPr txBox="1"/>
          <p:nvPr/>
        </p:nvSpPr>
        <p:spPr>
          <a:xfrm>
            <a:off x="92278" y="624980"/>
            <a:ext cx="12007443"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Bir sınıfın veri üyesi (</a:t>
            </a:r>
            <a:r>
              <a:rPr b="1" i="1" lang="tr-TR" sz="1800" u="none" cap="none" strike="noStrike">
                <a:solidFill>
                  <a:schemeClr val="lt1"/>
                </a:solidFill>
                <a:latin typeface="Times New Roman"/>
                <a:ea typeface="Times New Roman"/>
                <a:cs typeface="Times New Roman"/>
                <a:sym typeface="Times New Roman"/>
              </a:rPr>
              <a:t>public</a:t>
            </a:r>
            <a:r>
              <a:rPr b="0" i="0" lang="tr-TR" sz="1800" u="none" cap="none" strike="noStrike">
                <a:solidFill>
                  <a:schemeClr val="lt1"/>
                </a:solidFill>
                <a:latin typeface="Times New Roman"/>
                <a:ea typeface="Times New Roman"/>
                <a:cs typeface="Times New Roman"/>
                <a:sym typeface="Times New Roman"/>
              </a:rPr>
              <a:t> veya </a:t>
            </a:r>
            <a:r>
              <a:rPr b="1" i="1" lang="tr-TR" sz="1800" u="none" cap="none" strike="noStrike">
                <a:solidFill>
                  <a:schemeClr val="lt1"/>
                </a:solidFill>
                <a:latin typeface="Times New Roman"/>
                <a:ea typeface="Times New Roman"/>
                <a:cs typeface="Times New Roman"/>
                <a:sym typeface="Times New Roman"/>
              </a:rPr>
              <a:t>private</a:t>
            </a:r>
            <a:r>
              <a:rPr b="0" i="0" lang="tr-TR" sz="1800" u="none" cap="none" strike="noStrike">
                <a:solidFill>
                  <a:schemeClr val="lt1"/>
                </a:solidFill>
                <a:latin typeface="Times New Roman"/>
                <a:ea typeface="Times New Roman"/>
                <a:cs typeface="Times New Roman"/>
                <a:sym typeface="Times New Roman"/>
              </a:rPr>
              <a:t> alanlarda olması farketmez) </a:t>
            </a: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olarak bildirilebilir.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Böyle bir veri üyesi yalnızca bir kez oluşturulur ve başlatılır. </a:t>
            </a:r>
            <a:endParaRPr/>
          </a:p>
          <a:p>
            <a:pPr indent="0" lvl="1" marL="201168" marR="0" rtl="0" algn="just">
              <a:lnSpc>
                <a:spcPct val="125000"/>
              </a:lnSpc>
              <a:spcBef>
                <a:spcPts val="600"/>
              </a:spcBef>
              <a:spcAft>
                <a:spcPts val="0"/>
              </a:spcAft>
              <a:buClr>
                <a:schemeClr val="accent1"/>
              </a:buClr>
              <a:buSzPts val="1800"/>
              <a:buFont typeface="Calibri"/>
              <a:buNone/>
            </a:pPr>
            <a:r>
              <a:rPr b="1" i="1" lang="tr-TR" sz="1800" u="none" cap="none" strike="noStrike">
                <a:solidFill>
                  <a:schemeClr val="lt1"/>
                </a:solidFill>
                <a:latin typeface="Times New Roman"/>
                <a:ea typeface="Times New Roman"/>
                <a:cs typeface="Times New Roman"/>
                <a:sym typeface="Times New Roman"/>
              </a:rPr>
              <a:t>public</a:t>
            </a:r>
            <a:r>
              <a:rPr b="0" i="0" lang="tr-TR" sz="1800" u="none" cap="none" strike="noStrike">
                <a:solidFill>
                  <a:schemeClr val="lt1"/>
                </a:solidFill>
                <a:latin typeface="Times New Roman"/>
                <a:ea typeface="Times New Roman"/>
                <a:cs typeface="Times New Roman"/>
                <a:sym typeface="Times New Roman"/>
              </a:rPr>
              <a:t> olarak bildirilen </a:t>
            </a: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veri üyelerine, sınıf adı ve kapsam çözümleme operatörü (::) kullanılarak erişilebilir.</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Farklı olarak sınıf bildirimine yalnızca </a:t>
            </a: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verilerin bildirimini dahil ediyoruz. </a:t>
            </a: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bir veri üyesinin başlatılması, sınıfın dışında yapılır.</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sng" cap="none" strike="noStrike">
                <a:solidFill>
                  <a:schemeClr val="lt1"/>
                </a:solidFill>
                <a:latin typeface="Times New Roman"/>
                <a:ea typeface="Times New Roman"/>
                <a:cs typeface="Times New Roman"/>
                <a:sym typeface="Times New Roman"/>
              </a:rPr>
              <a:t>Örneği inceleyelim: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9"/>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7030A0"/>
                </a:solidFill>
                <a:latin typeface="Times New Roman"/>
                <a:ea typeface="Times New Roman"/>
                <a:cs typeface="Times New Roman"/>
                <a:sym typeface="Times New Roman"/>
              </a:rPr>
              <a:t>static</a:t>
            </a:r>
            <a:r>
              <a:rPr b="1" i="0" lang="tr-TR" sz="2000" u="none" cap="none" strike="noStrike">
                <a:solidFill>
                  <a:srgbClr val="444444"/>
                </a:solidFill>
                <a:latin typeface="Times New Roman"/>
                <a:ea typeface="Times New Roman"/>
                <a:cs typeface="Times New Roman"/>
                <a:sym typeface="Times New Roman"/>
              </a:rPr>
              <a:t> Üye Değişkenleri</a:t>
            </a:r>
            <a:endParaRPr/>
          </a:p>
        </p:txBody>
      </p:sp>
      <p:pic>
        <p:nvPicPr>
          <p:cNvPr id="245" name="Google Shape;245;p19"/>
          <p:cNvPicPr preferRelativeResize="0"/>
          <p:nvPr/>
        </p:nvPicPr>
        <p:blipFill rotWithShape="1">
          <a:blip r:embed="rId3">
            <a:alphaModFix/>
          </a:blip>
          <a:srcRect b="0" l="0" r="0" t="0"/>
          <a:stretch/>
        </p:blipFill>
        <p:spPr>
          <a:xfrm>
            <a:off x="337040" y="741813"/>
            <a:ext cx="4823746" cy="5526465"/>
          </a:xfrm>
          <a:prstGeom prst="rect">
            <a:avLst/>
          </a:prstGeom>
          <a:noFill/>
          <a:ln>
            <a:noFill/>
          </a:ln>
        </p:spPr>
      </p:pic>
      <p:sp>
        <p:nvSpPr>
          <p:cNvPr id="246" name="Google Shape;246;p19"/>
          <p:cNvSpPr txBox="1"/>
          <p:nvPr/>
        </p:nvSpPr>
        <p:spPr>
          <a:xfrm>
            <a:off x="5367130" y="741813"/>
            <a:ext cx="6096000" cy="4214872"/>
          </a:xfrm>
          <a:prstGeom prst="rect">
            <a:avLst/>
          </a:prstGeom>
          <a:noFill/>
          <a:ln>
            <a:noFill/>
          </a:ln>
        </p:spPr>
        <p:txBody>
          <a:bodyPr anchorCtr="0" anchor="t" bIns="45700" lIns="91425" spcFirstLastPara="1" rIns="91425" wrap="square" tIns="45700">
            <a:spAutoFit/>
          </a:bodyPr>
          <a:lstStyle/>
          <a:p>
            <a:pPr indent="0" lvl="1" marL="201168" marR="0" rtl="0" algn="just">
              <a:lnSpc>
                <a:spcPct val="125000"/>
              </a:lnSpc>
              <a:spcBef>
                <a:spcPts val="0"/>
              </a:spcBef>
              <a:spcAft>
                <a:spcPts val="0"/>
              </a:spcAft>
              <a:buClr>
                <a:schemeClr val="lt1"/>
              </a:buClr>
              <a:buSzPts val="1800"/>
              <a:buFont typeface="Times New Roman"/>
              <a:buNone/>
            </a:pPr>
            <a:r>
              <a:rPr b="0" i="0" lang="tr-TR" sz="1800" u="none" cap="none" strike="noStrike">
                <a:solidFill>
                  <a:schemeClr val="lt1"/>
                </a:solidFill>
                <a:latin typeface="Times New Roman"/>
                <a:ea typeface="Times New Roman"/>
                <a:cs typeface="Times New Roman"/>
                <a:sym typeface="Times New Roman"/>
              </a:rPr>
              <a:t>Burada Daire sınıfına ait </a:t>
            </a:r>
            <a:r>
              <a:rPr b="1" i="1" lang="tr-TR" sz="1800" u="none" cap="none" strike="noStrike">
                <a:solidFill>
                  <a:schemeClr val="lt1"/>
                </a:solidFill>
                <a:latin typeface="Times New Roman"/>
                <a:ea typeface="Times New Roman"/>
                <a:cs typeface="Times New Roman"/>
                <a:sym typeface="Times New Roman"/>
              </a:rPr>
              <a:t>sayac</a:t>
            </a:r>
            <a:r>
              <a:rPr b="0" i="0" lang="tr-TR" sz="1800" u="none" cap="none" strike="noStrike">
                <a:solidFill>
                  <a:schemeClr val="lt1"/>
                </a:solidFill>
                <a:latin typeface="Times New Roman"/>
                <a:ea typeface="Times New Roman"/>
                <a:cs typeface="Times New Roman"/>
                <a:sym typeface="Times New Roman"/>
              </a:rPr>
              <a:t> adlı değişken </a:t>
            </a: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olarak tanımlanmıştır. </a:t>
            </a:r>
            <a:endParaRPr/>
          </a:p>
          <a:p>
            <a:pPr indent="0" lvl="1" marL="201168" marR="0" rtl="0" algn="just">
              <a:lnSpc>
                <a:spcPct val="125000"/>
              </a:lnSpc>
              <a:spcBef>
                <a:spcPts val="0"/>
              </a:spcBef>
              <a:spcAft>
                <a:spcPts val="0"/>
              </a:spcAft>
              <a:buClr>
                <a:schemeClr val="lt1"/>
              </a:buClr>
              <a:buSzPts val="1800"/>
              <a:buFont typeface="Times New Roman"/>
              <a:buNone/>
            </a:pPr>
            <a:r>
              <a:rPr b="0" i="0" lang="tr-TR" sz="1800" u="none" cap="none" strike="noStrike">
                <a:solidFill>
                  <a:schemeClr val="lt1"/>
                </a:solidFill>
                <a:latin typeface="Times New Roman"/>
                <a:ea typeface="Times New Roman"/>
                <a:cs typeface="Times New Roman"/>
                <a:sym typeface="Times New Roman"/>
              </a:rPr>
              <a:t>Çünkü her obje (nesne) oluşturma durumunda bu değerin 1 artması ve bu değeri de koruması beklenmektedir. </a:t>
            </a:r>
            <a:endParaRPr/>
          </a:p>
          <a:p>
            <a:pPr indent="0" lvl="1" marL="201168" marR="0" rtl="0" algn="just">
              <a:lnSpc>
                <a:spcPct val="125000"/>
              </a:lnSpc>
              <a:spcBef>
                <a:spcPts val="0"/>
              </a:spcBef>
              <a:spcAft>
                <a:spcPts val="0"/>
              </a:spcAft>
              <a:buClr>
                <a:schemeClr val="lt1"/>
              </a:buClr>
              <a:buSzPts val="1800"/>
              <a:buFont typeface="Times New Roman"/>
              <a:buNone/>
            </a:pPr>
            <a:r>
              <a:rPr b="1" i="0" lang="tr-TR" sz="1800" u="none" cap="none" strike="noStrike">
                <a:solidFill>
                  <a:schemeClr val="lt1"/>
                </a:solidFill>
                <a:latin typeface="Times New Roman"/>
                <a:ea typeface="Times New Roman"/>
                <a:cs typeface="Times New Roman"/>
                <a:sym typeface="Times New Roman"/>
              </a:rPr>
              <a:t>static sayac </a:t>
            </a:r>
            <a:r>
              <a:rPr b="0" i="0" lang="tr-TR" sz="1800" u="none" cap="none" strike="noStrike">
                <a:solidFill>
                  <a:schemeClr val="lt1"/>
                </a:solidFill>
                <a:latin typeface="Times New Roman"/>
                <a:ea typeface="Times New Roman"/>
                <a:cs typeface="Times New Roman"/>
                <a:sym typeface="Times New Roman"/>
              </a:rPr>
              <a:t>değişkeninin başlangıç değeri, sınıf adı ve kapsam çözümleme operatörü kullanılarak 0’a eşitlenmiştir. </a:t>
            </a:r>
            <a:endParaRPr/>
          </a:p>
          <a:p>
            <a:pPr indent="0" lvl="1" marL="201168" marR="0" rtl="0" algn="just">
              <a:lnSpc>
                <a:spcPct val="125000"/>
              </a:lnSpc>
              <a:spcBef>
                <a:spcPts val="0"/>
              </a:spcBef>
              <a:spcAft>
                <a:spcPts val="0"/>
              </a:spcAft>
              <a:buClr>
                <a:schemeClr val="lt1"/>
              </a:buClr>
              <a:buSzPts val="1800"/>
              <a:buFont typeface="Times New Roman"/>
              <a:buNone/>
            </a:pPr>
            <a:r>
              <a:rPr b="0" i="0" lang="tr-TR" sz="1800" u="none" cap="none" strike="noStrike">
                <a:solidFill>
                  <a:schemeClr val="lt1"/>
                </a:solidFill>
                <a:latin typeface="Times New Roman"/>
                <a:ea typeface="Times New Roman"/>
                <a:cs typeface="Times New Roman"/>
                <a:sym typeface="Times New Roman"/>
              </a:rPr>
              <a:t>	</a:t>
            </a:r>
            <a:endParaRPr/>
          </a:p>
          <a:p>
            <a:pPr indent="0" lvl="1" marL="201168" marR="0" rtl="0" algn="just">
              <a:lnSpc>
                <a:spcPct val="125000"/>
              </a:lnSpc>
              <a:spcBef>
                <a:spcPts val="0"/>
              </a:spcBef>
              <a:spcAft>
                <a:spcPts val="0"/>
              </a:spcAft>
              <a:buClr>
                <a:schemeClr val="lt1"/>
              </a:buClr>
              <a:buSzPts val="1800"/>
              <a:buFont typeface="Times New Roman"/>
              <a:buNone/>
            </a:pPr>
            <a:r>
              <a:rPr b="0" i="0" lang="tr-TR" sz="1800" u="none" cap="none" strike="noStrike">
                <a:solidFill>
                  <a:schemeClr val="lt1"/>
                </a:solidFill>
                <a:latin typeface="Times New Roman"/>
                <a:ea typeface="Times New Roman"/>
                <a:cs typeface="Times New Roman"/>
                <a:sym typeface="Times New Roman"/>
              </a:rPr>
              <a:t>	</a:t>
            </a:r>
            <a:r>
              <a:rPr b="0" i="0" lang="tr-TR" sz="1800" u="none" cap="none" strike="noStrike">
                <a:solidFill>
                  <a:schemeClr val="lt1"/>
                </a:solidFill>
                <a:latin typeface="Consolas"/>
                <a:ea typeface="Consolas"/>
                <a:cs typeface="Consolas"/>
                <a:sym typeface="Consolas"/>
              </a:rPr>
              <a:t>int Daire::sayaç=0;</a:t>
            </a:r>
            <a:endParaRPr/>
          </a:p>
          <a:p>
            <a:pPr indent="0" lvl="1" marL="201168" marR="0" rtl="0" algn="just">
              <a:lnSpc>
                <a:spcPct val="125000"/>
              </a:lnSpc>
              <a:spcBef>
                <a:spcPts val="0"/>
              </a:spcBef>
              <a:spcAft>
                <a:spcPts val="0"/>
              </a:spcAft>
              <a:buClr>
                <a:schemeClr val="lt1"/>
              </a:buClr>
              <a:buSzPts val="1800"/>
              <a:buFont typeface="Calibri"/>
              <a:buNone/>
            </a:pPr>
            <a:r>
              <a:t/>
            </a:r>
            <a:endParaRPr b="0" i="0" sz="1800" u="none" cap="none" strike="noStrike">
              <a:solidFill>
                <a:schemeClr val="lt1"/>
              </a:solidFill>
              <a:latin typeface="Consolas"/>
              <a:ea typeface="Consolas"/>
              <a:cs typeface="Consolas"/>
              <a:sym typeface="Consolas"/>
            </a:endParaRPr>
          </a:p>
          <a:p>
            <a:pPr indent="0" lvl="1" marL="201168" marR="0" rtl="0" algn="just">
              <a:lnSpc>
                <a:spcPct val="125000"/>
              </a:lnSpc>
              <a:spcBef>
                <a:spcPts val="0"/>
              </a:spcBef>
              <a:spcAft>
                <a:spcPts val="0"/>
              </a:spcAft>
              <a:buClr>
                <a:schemeClr val="lt1"/>
              </a:buClr>
              <a:buSzPts val="1800"/>
              <a:buFont typeface="Times New Roman"/>
              <a:buNone/>
            </a:pPr>
            <a:r>
              <a:rPr b="0" i="0" lang="tr-TR" sz="1800" u="none" cap="none" strike="noStrike">
                <a:solidFill>
                  <a:schemeClr val="lt1"/>
                </a:solidFill>
                <a:latin typeface="Times New Roman"/>
                <a:ea typeface="Times New Roman"/>
                <a:cs typeface="Times New Roman"/>
                <a:sym typeface="Times New Roman"/>
              </a:rPr>
              <a:t>Daha sonra farklı değerlerle objeler yaratılmış, her obje için </a:t>
            </a:r>
            <a:r>
              <a:rPr b="1" i="1" lang="tr-TR" sz="1800" u="none" cap="none" strike="noStrike">
                <a:solidFill>
                  <a:schemeClr val="lt1"/>
                </a:solidFill>
                <a:latin typeface="Times New Roman"/>
                <a:ea typeface="Times New Roman"/>
                <a:cs typeface="Times New Roman"/>
                <a:sym typeface="Times New Roman"/>
              </a:rPr>
              <a:t>sayac</a:t>
            </a:r>
            <a:r>
              <a:rPr b="0" i="0" lang="tr-TR" sz="1800" u="none" cap="none" strike="noStrike">
                <a:solidFill>
                  <a:schemeClr val="lt1"/>
                </a:solidFill>
                <a:latin typeface="Times New Roman"/>
                <a:ea typeface="Times New Roman"/>
                <a:cs typeface="Times New Roman"/>
                <a:sym typeface="Times New Roman"/>
              </a:rPr>
              <a:t> değeri 1 arttırılmış ve ekran çıktısı olarak toplam yaratılan obje sayısı gösterilmiştir.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0"/>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7030A0"/>
                </a:solidFill>
                <a:latin typeface="Times New Roman"/>
                <a:ea typeface="Times New Roman"/>
                <a:cs typeface="Times New Roman"/>
                <a:sym typeface="Times New Roman"/>
              </a:rPr>
              <a:t>static</a:t>
            </a:r>
            <a:r>
              <a:rPr b="1" i="0" lang="tr-TR" sz="2000" u="none" cap="none" strike="noStrike">
                <a:solidFill>
                  <a:srgbClr val="444444"/>
                </a:solidFill>
                <a:latin typeface="Times New Roman"/>
                <a:ea typeface="Times New Roman"/>
                <a:cs typeface="Times New Roman"/>
                <a:sym typeface="Times New Roman"/>
              </a:rPr>
              <a:t> Üye Fonksiyonları</a:t>
            </a:r>
            <a:endParaRPr/>
          </a:p>
        </p:txBody>
      </p:sp>
      <p:sp>
        <p:nvSpPr>
          <p:cNvPr id="252" name="Google Shape;252;p20"/>
          <p:cNvSpPr txBox="1"/>
          <p:nvPr/>
        </p:nvSpPr>
        <p:spPr>
          <a:xfrm>
            <a:off x="92278" y="624980"/>
            <a:ext cx="12007443"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fonksiyonlar yalnızca bir sınıfın </a:t>
            </a: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verilerine erişebilir. Benzer şekilde, </a:t>
            </a: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fonksiyonlar, sınıfın </a:t>
            </a: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olmayan fonksiyonlarını çağıramaz.</a:t>
            </a:r>
            <a:endParaRPr/>
          </a:p>
          <a:p>
            <a:pPr indent="0" lvl="1" marL="201168" marR="0" rtl="0" algn="just">
              <a:lnSpc>
                <a:spcPct val="125000"/>
              </a:lnSpc>
              <a:spcBef>
                <a:spcPts val="600"/>
              </a:spcBef>
              <a:spcAft>
                <a:spcPts val="0"/>
              </a:spcAft>
              <a:buClr>
                <a:schemeClr val="accent1"/>
              </a:buClr>
              <a:buSzPts val="1800"/>
              <a:buFont typeface="Calibri"/>
              <a:buNone/>
            </a:pP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olan ve bir sınıfın </a:t>
            </a:r>
            <a:r>
              <a:rPr b="1" i="1" lang="tr-TR" sz="1800" u="none" cap="none" strike="noStrike">
                <a:solidFill>
                  <a:schemeClr val="lt1"/>
                </a:solidFill>
                <a:latin typeface="Times New Roman"/>
                <a:ea typeface="Times New Roman"/>
                <a:cs typeface="Times New Roman"/>
                <a:sym typeface="Times New Roman"/>
              </a:rPr>
              <a:t>public</a:t>
            </a:r>
            <a:r>
              <a:rPr b="0" i="0" lang="tr-TR" sz="1800" u="none" cap="none" strike="noStrike">
                <a:solidFill>
                  <a:schemeClr val="lt1"/>
                </a:solidFill>
                <a:latin typeface="Times New Roman"/>
                <a:ea typeface="Times New Roman"/>
                <a:cs typeface="Times New Roman"/>
                <a:sym typeface="Times New Roman"/>
              </a:rPr>
              <a:t> bölümünde bildirilen fonksiyonlar, sınıfın bir nesnesi belirtilmeden çağrılabilir.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Bunu örnek üzerinde inceleyelim:</a:t>
            </a:r>
            <a:endParaRPr/>
          </a:p>
        </p:txBody>
      </p:sp>
      <p:pic>
        <p:nvPicPr>
          <p:cNvPr id="253" name="Google Shape;253;p20"/>
          <p:cNvPicPr preferRelativeResize="0"/>
          <p:nvPr/>
        </p:nvPicPr>
        <p:blipFill rotWithShape="1">
          <a:blip r:embed="rId3">
            <a:alphaModFix/>
          </a:blip>
          <a:srcRect b="0" l="0" r="0" t="0"/>
          <a:stretch/>
        </p:blipFill>
        <p:spPr>
          <a:xfrm>
            <a:off x="761246" y="2419209"/>
            <a:ext cx="4843311" cy="4438791"/>
          </a:xfrm>
          <a:prstGeom prst="rect">
            <a:avLst/>
          </a:prstGeom>
          <a:noFill/>
          <a:ln>
            <a:noFill/>
          </a:ln>
        </p:spPr>
      </p:pic>
      <p:pic>
        <p:nvPicPr>
          <p:cNvPr id="254" name="Google Shape;254;p20"/>
          <p:cNvPicPr preferRelativeResize="0"/>
          <p:nvPr/>
        </p:nvPicPr>
        <p:blipFill rotWithShape="1">
          <a:blip r:embed="rId4">
            <a:alphaModFix/>
          </a:blip>
          <a:srcRect b="0" l="0" r="0" t="0"/>
          <a:stretch/>
        </p:blipFill>
        <p:spPr>
          <a:xfrm>
            <a:off x="5696835" y="2419209"/>
            <a:ext cx="5921224" cy="2307536"/>
          </a:xfrm>
          <a:prstGeom prst="rect">
            <a:avLst/>
          </a:prstGeom>
          <a:noFill/>
          <a:ln>
            <a:noFill/>
          </a:ln>
        </p:spPr>
      </p:pic>
      <p:sp>
        <p:nvSpPr>
          <p:cNvPr id="255" name="Google Shape;255;p20"/>
          <p:cNvSpPr txBox="1"/>
          <p:nvPr/>
        </p:nvSpPr>
        <p:spPr>
          <a:xfrm>
            <a:off x="5491578" y="4818833"/>
            <a:ext cx="6700421" cy="1444883"/>
          </a:xfrm>
          <a:prstGeom prst="rect">
            <a:avLst/>
          </a:prstGeom>
          <a:noFill/>
          <a:ln>
            <a:noFill/>
          </a:ln>
        </p:spPr>
        <p:txBody>
          <a:bodyPr anchorCtr="0" anchor="t" bIns="45700" lIns="91425" spcFirstLastPara="1" rIns="91425" wrap="square" tIns="45700">
            <a:spAutoFit/>
          </a:bodyPr>
          <a:lstStyle/>
          <a:p>
            <a:pPr indent="0" lvl="1" marL="201168" marR="0" rtl="0" algn="just">
              <a:lnSpc>
                <a:spcPct val="125000"/>
              </a:lnSpc>
              <a:spcBef>
                <a:spcPts val="0"/>
              </a:spcBef>
              <a:spcAft>
                <a:spcPts val="0"/>
              </a:spcAft>
              <a:buClr>
                <a:schemeClr val="lt1"/>
              </a:buClr>
              <a:buSzPts val="1800"/>
              <a:buFont typeface="Times New Roman"/>
              <a:buNone/>
            </a:pPr>
            <a:r>
              <a:rPr b="0" i="0" lang="tr-TR" sz="1800" u="none" cap="none" strike="noStrike">
                <a:solidFill>
                  <a:schemeClr val="lt1"/>
                </a:solidFill>
                <a:latin typeface="Times New Roman"/>
                <a:ea typeface="Times New Roman"/>
                <a:cs typeface="Times New Roman"/>
                <a:sym typeface="Times New Roman"/>
              </a:rPr>
              <a:t>Burada Daire sınıfına ait </a:t>
            </a:r>
            <a:r>
              <a:rPr b="1" i="1" lang="tr-TR" sz="1800" u="none" cap="none" strike="noStrike">
                <a:solidFill>
                  <a:schemeClr val="lt1"/>
                </a:solidFill>
                <a:latin typeface="Times New Roman"/>
                <a:ea typeface="Times New Roman"/>
                <a:cs typeface="Times New Roman"/>
                <a:sym typeface="Times New Roman"/>
              </a:rPr>
              <a:t>sayac</a:t>
            </a:r>
            <a:r>
              <a:rPr b="0" i="0" lang="tr-TR" sz="1800" u="none" cap="none" strike="noStrike">
                <a:solidFill>
                  <a:schemeClr val="lt1"/>
                </a:solidFill>
                <a:latin typeface="Times New Roman"/>
                <a:ea typeface="Times New Roman"/>
                <a:cs typeface="Times New Roman"/>
                <a:sym typeface="Times New Roman"/>
              </a:rPr>
              <a:t> adlı değişken </a:t>
            </a: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olarak tanımlanmıştır. </a:t>
            </a:r>
            <a:r>
              <a:rPr b="1" i="1" lang="tr-TR" sz="1800" u="none" cap="none" strike="noStrike">
                <a:solidFill>
                  <a:schemeClr val="lt1"/>
                </a:solidFill>
                <a:latin typeface="Times New Roman"/>
                <a:ea typeface="Times New Roman"/>
                <a:cs typeface="Times New Roman"/>
                <a:sym typeface="Times New Roman"/>
              </a:rPr>
              <a:t>sayac</a:t>
            </a:r>
            <a:r>
              <a:rPr b="0" i="0" lang="tr-TR" sz="1800" u="none" cap="none" strike="noStrike">
                <a:solidFill>
                  <a:schemeClr val="lt1"/>
                </a:solidFill>
                <a:latin typeface="Times New Roman"/>
                <a:ea typeface="Times New Roman"/>
                <a:cs typeface="Times New Roman"/>
                <a:sym typeface="Times New Roman"/>
              </a:rPr>
              <a:t> değişkeninin değerini döndüren </a:t>
            </a:r>
            <a:r>
              <a:rPr b="1" i="1" lang="tr-TR" sz="1800" u="none" cap="none" strike="noStrike">
                <a:solidFill>
                  <a:schemeClr val="lt1"/>
                </a:solidFill>
                <a:latin typeface="Times New Roman"/>
                <a:ea typeface="Times New Roman"/>
                <a:cs typeface="Times New Roman"/>
                <a:sym typeface="Times New Roman"/>
              </a:rPr>
              <a:t>sayacGoster()</a:t>
            </a:r>
            <a:r>
              <a:rPr b="0" i="1" lang="tr-TR" sz="1800" u="none" cap="none" strike="noStrike">
                <a:solidFill>
                  <a:schemeClr val="lt1"/>
                </a:solidFill>
                <a:latin typeface="Times New Roman"/>
                <a:ea typeface="Times New Roman"/>
                <a:cs typeface="Times New Roman"/>
                <a:sym typeface="Times New Roman"/>
              </a:rPr>
              <a:t> </a:t>
            </a:r>
            <a:r>
              <a:rPr b="0" i="0" lang="tr-TR" sz="1800" u="none" cap="none" strike="noStrike">
                <a:solidFill>
                  <a:schemeClr val="lt1"/>
                </a:solidFill>
                <a:latin typeface="Times New Roman"/>
                <a:ea typeface="Times New Roman"/>
                <a:cs typeface="Times New Roman"/>
                <a:sym typeface="Times New Roman"/>
              </a:rPr>
              <a:t>fonksiyonunun da bu değişkene erişebilmesi için </a:t>
            </a:r>
            <a:r>
              <a:rPr b="1" i="1" lang="tr-TR" sz="1800" u="none" cap="none" strike="noStrike">
                <a:solidFill>
                  <a:schemeClr val="lt1"/>
                </a:solidFill>
                <a:latin typeface="Times New Roman"/>
                <a:ea typeface="Times New Roman"/>
                <a:cs typeface="Times New Roman"/>
                <a:sym typeface="Times New Roman"/>
              </a:rPr>
              <a:t>static</a:t>
            </a:r>
            <a:r>
              <a:rPr b="0" i="0" lang="tr-TR" sz="1800" u="none" cap="none" strike="noStrike">
                <a:solidFill>
                  <a:schemeClr val="lt1"/>
                </a:solidFill>
                <a:latin typeface="Times New Roman"/>
                <a:ea typeface="Times New Roman"/>
                <a:cs typeface="Times New Roman"/>
                <a:sym typeface="Times New Roman"/>
              </a:rPr>
              <a:t> olarak tanımlanması gerekmektedir.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1"/>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chemeClr val="lt1"/>
                </a:solidFill>
                <a:latin typeface="Times New Roman"/>
                <a:ea typeface="Times New Roman"/>
                <a:cs typeface="Times New Roman"/>
                <a:sym typeface="Times New Roman"/>
              </a:rPr>
              <a:t>Arkadaş (Friend) Fonksiyonlar</a:t>
            </a:r>
            <a:endParaRPr/>
          </a:p>
        </p:txBody>
      </p:sp>
      <p:sp>
        <p:nvSpPr>
          <p:cNvPr id="261" name="Google Shape;261;p21"/>
          <p:cNvSpPr txBox="1"/>
          <p:nvPr/>
        </p:nvSpPr>
        <p:spPr>
          <a:xfrm>
            <a:off x="92278" y="624980"/>
            <a:ext cx="12007443"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Önceki bölümlerde de gördüğümüz gibi, </a:t>
            </a:r>
            <a:r>
              <a:rPr b="1" i="0" lang="tr-TR" sz="1800" u="none" cap="none" strike="noStrike">
                <a:solidFill>
                  <a:schemeClr val="lt1"/>
                </a:solidFill>
                <a:latin typeface="Times New Roman"/>
                <a:ea typeface="Times New Roman"/>
                <a:cs typeface="Times New Roman"/>
                <a:sym typeface="Times New Roman"/>
              </a:rPr>
              <a:t>private</a:t>
            </a:r>
            <a:r>
              <a:rPr b="0" i="0" lang="tr-TR" sz="1800" u="none" cap="none" strike="noStrike">
                <a:solidFill>
                  <a:schemeClr val="lt1"/>
                </a:solidFill>
                <a:latin typeface="Times New Roman"/>
                <a:ea typeface="Times New Roman"/>
                <a:cs typeface="Times New Roman"/>
                <a:sym typeface="Times New Roman"/>
              </a:rPr>
              <a:t> ve </a:t>
            </a:r>
            <a:r>
              <a:rPr b="1" i="0" lang="tr-TR" sz="1800" u="none" cap="none" strike="noStrike">
                <a:solidFill>
                  <a:schemeClr val="lt1"/>
                </a:solidFill>
                <a:latin typeface="Times New Roman"/>
                <a:ea typeface="Times New Roman"/>
                <a:cs typeface="Times New Roman"/>
                <a:sym typeface="Times New Roman"/>
              </a:rPr>
              <a:t>protected</a:t>
            </a:r>
            <a:r>
              <a:rPr b="0" i="0" lang="tr-TR" sz="1800" u="none" cap="none" strike="noStrike">
                <a:solidFill>
                  <a:schemeClr val="lt1"/>
                </a:solidFill>
                <a:latin typeface="Times New Roman"/>
                <a:ea typeface="Times New Roman"/>
                <a:cs typeface="Times New Roman"/>
                <a:sym typeface="Times New Roman"/>
              </a:rPr>
              <a:t> değişken veya fonksiyon üyelerine normalde yalnızca aynı sınıfın parçası olan kodla erişilebilir.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Bununla birlikte, sınıfın </a:t>
            </a:r>
            <a:r>
              <a:rPr b="1" i="0" lang="tr-TR" sz="1800" u="none" cap="none" strike="noStrike">
                <a:solidFill>
                  <a:schemeClr val="lt1"/>
                </a:solidFill>
                <a:latin typeface="Times New Roman"/>
                <a:ea typeface="Times New Roman"/>
                <a:cs typeface="Times New Roman"/>
                <a:sym typeface="Times New Roman"/>
              </a:rPr>
              <a:t>private</a:t>
            </a:r>
            <a:r>
              <a:rPr b="0" i="0" lang="tr-TR" sz="1800" u="none" cap="none" strike="noStrike">
                <a:solidFill>
                  <a:schemeClr val="lt1"/>
                </a:solidFill>
                <a:latin typeface="Times New Roman"/>
                <a:ea typeface="Times New Roman"/>
                <a:cs typeface="Times New Roman"/>
                <a:sym typeface="Times New Roman"/>
              </a:rPr>
              <a:t> üyelerine diğer fonksiyonlara açık erişime izin verilmesinin istendiği durumlar ortaya çıkabilir.</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Bir dış fonksiyonu bir sınıfın arkadaşı olarak ilan etmek istiyorsak, bu fonksiyonun bu sınıfın </a:t>
            </a:r>
            <a:r>
              <a:rPr b="1" i="0" lang="tr-TR" sz="1800" u="none" cap="none" strike="noStrike">
                <a:solidFill>
                  <a:schemeClr val="lt1"/>
                </a:solidFill>
                <a:latin typeface="Times New Roman"/>
                <a:ea typeface="Times New Roman"/>
                <a:cs typeface="Times New Roman"/>
                <a:sym typeface="Times New Roman"/>
              </a:rPr>
              <a:t>public</a:t>
            </a:r>
            <a:r>
              <a:rPr b="0" i="0" lang="tr-TR" sz="1800" u="none" cap="none" strike="noStrike">
                <a:solidFill>
                  <a:schemeClr val="lt1"/>
                </a:solidFill>
                <a:latin typeface="Times New Roman"/>
                <a:ea typeface="Times New Roman"/>
                <a:cs typeface="Times New Roman"/>
                <a:sym typeface="Times New Roman"/>
              </a:rPr>
              <a:t> ve </a:t>
            </a:r>
            <a:r>
              <a:rPr b="1" i="0" lang="tr-TR" sz="1800" u="none" cap="none" strike="noStrike">
                <a:solidFill>
                  <a:schemeClr val="lt1"/>
                </a:solidFill>
                <a:latin typeface="Times New Roman"/>
                <a:ea typeface="Times New Roman"/>
                <a:cs typeface="Times New Roman"/>
                <a:sym typeface="Times New Roman"/>
              </a:rPr>
              <a:t>private</a:t>
            </a:r>
            <a:r>
              <a:rPr b="0" i="0" lang="tr-TR" sz="1800" u="none" cap="none" strike="noStrike">
                <a:solidFill>
                  <a:schemeClr val="lt1"/>
                </a:solidFill>
                <a:latin typeface="Times New Roman"/>
                <a:ea typeface="Times New Roman"/>
                <a:cs typeface="Times New Roman"/>
                <a:sym typeface="Times New Roman"/>
              </a:rPr>
              <a:t> üyelerine erişmesine izin verirsek, bunu sınıf içinde bu harici fonksiyonun bir prototipini bildirerek ve bundan önce </a:t>
            </a:r>
            <a:r>
              <a:rPr b="1" i="1" lang="tr-TR" sz="1800" u="none" cap="none" strike="noStrike">
                <a:solidFill>
                  <a:srgbClr val="7030A0"/>
                </a:solidFill>
                <a:latin typeface="Times New Roman"/>
                <a:ea typeface="Times New Roman"/>
                <a:cs typeface="Times New Roman"/>
                <a:sym typeface="Times New Roman"/>
              </a:rPr>
              <a:t>friend</a:t>
            </a:r>
            <a:r>
              <a:rPr b="0" i="0" lang="tr-TR" sz="1800" u="none" cap="none" strike="noStrike">
                <a:solidFill>
                  <a:schemeClr val="lt1"/>
                </a:solidFill>
                <a:latin typeface="Times New Roman"/>
                <a:ea typeface="Times New Roman"/>
                <a:cs typeface="Times New Roman"/>
                <a:sym typeface="Times New Roman"/>
              </a:rPr>
              <a:t> anahtar kelimesi kullanarak yapabiliriz.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Sadece sınıf ile fonksiyon arasında değil, sınıf ile sınıf arasında da arkadaşlık kurulabilir.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Arkadaşlık sınıf tarafından verilir ve fonksiyon veya bir başka sınıf tarafından alınır.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Güncel hayattan yorumlarsak, istediğimiz bir kişiyi o izin verdiği müddetçe arkadaş olarak ilan edebiliriz. Ancak bizim onayımız olmadan bir kişi bizi arkadaşı olarak ilan ettiyse, bu da geçersiz bir durum olur.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A ve B arkadaş olsun, B ve C de kendi aralarında arkadaş olsun. Biz bu durumda A ve C arkadaştır diyemeyiz.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2"/>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chemeClr val="lt1"/>
                </a:solidFill>
                <a:latin typeface="Times New Roman"/>
                <a:ea typeface="Times New Roman"/>
                <a:cs typeface="Times New Roman"/>
                <a:sym typeface="Times New Roman"/>
              </a:rPr>
              <a:t>Arkadaş (Friend) Fonksiyonlar</a:t>
            </a:r>
            <a:endParaRPr/>
          </a:p>
        </p:txBody>
      </p:sp>
      <p:pic>
        <p:nvPicPr>
          <p:cNvPr id="267" name="Google Shape;267;p22"/>
          <p:cNvPicPr preferRelativeResize="0"/>
          <p:nvPr/>
        </p:nvPicPr>
        <p:blipFill rotWithShape="1">
          <a:blip r:embed="rId3">
            <a:alphaModFix/>
          </a:blip>
          <a:srcRect b="0" l="0" r="0" t="0"/>
          <a:stretch/>
        </p:blipFill>
        <p:spPr>
          <a:xfrm>
            <a:off x="317054" y="624980"/>
            <a:ext cx="6814071" cy="5608040"/>
          </a:xfrm>
          <a:prstGeom prst="rect">
            <a:avLst/>
          </a:prstGeom>
          <a:noFill/>
          <a:ln>
            <a:noFill/>
          </a:ln>
        </p:spPr>
      </p:pic>
      <p:pic>
        <p:nvPicPr>
          <p:cNvPr id="268" name="Google Shape;268;p22"/>
          <p:cNvPicPr preferRelativeResize="0"/>
          <p:nvPr/>
        </p:nvPicPr>
        <p:blipFill rotWithShape="1">
          <a:blip r:embed="rId4">
            <a:alphaModFix/>
          </a:blip>
          <a:srcRect b="0" l="0" r="0" t="0"/>
          <a:stretch/>
        </p:blipFill>
        <p:spPr>
          <a:xfrm>
            <a:off x="7260955" y="624980"/>
            <a:ext cx="3599852" cy="1653986"/>
          </a:xfrm>
          <a:prstGeom prst="rect">
            <a:avLst/>
          </a:prstGeom>
          <a:noFill/>
          <a:ln>
            <a:noFill/>
          </a:ln>
        </p:spPr>
      </p:pic>
      <p:sp>
        <p:nvSpPr>
          <p:cNvPr id="269" name="Google Shape;269;p22"/>
          <p:cNvSpPr txBox="1"/>
          <p:nvPr/>
        </p:nvSpPr>
        <p:spPr>
          <a:xfrm>
            <a:off x="7131125" y="3617432"/>
            <a:ext cx="4784685"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tr-TR" sz="1800">
                <a:solidFill>
                  <a:schemeClr val="lt1"/>
                </a:solidFill>
                <a:latin typeface="Times New Roman"/>
                <a:ea typeface="Times New Roman"/>
                <a:cs typeface="Times New Roman"/>
                <a:sym typeface="Times New Roman"/>
              </a:rPr>
              <a:t>getCost() </a:t>
            </a:r>
            <a:r>
              <a:rPr lang="tr-TR" sz="1800">
                <a:solidFill>
                  <a:schemeClr val="lt1"/>
                </a:solidFill>
                <a:latin typeface="Times New Roman"/>
                <a:ea typeface="Times New Roman"/>
                <a:cs typeface="Times New Roman"/>
                <a:sym typeface="Times New Roman"/>
              </a:rPr>
              <a:t>fonksiyonu, </a:t>
            </a:r>
            <a:r>
              <a:rPr b="1" i="1" lang="tr-TR" sz="1800">
                <a:solidFill>
                  <a:schemeClr val="lt1"/>
                </a:solidFill>
                <a:latin typeface="Times New Roman"/>
                <a:ea typeface="Times New Roman"/>
                <a:cs typeface="Times New Roman"/>
                <a:sym typeface="Times New Roman"/>
              </a:rPr>
              <a:t>Rectangle</a:t>
            </a:r>
            <a:r>
              <a:rPr lang="tr-TR" sz="1800">
                <a:solidFill>
                  <a:schemeClr val="lt1"/>
                </a:solidFill>
                <a:latin typeface="Times New Roman"/>
                <a:ea typeface="Times New Roman"/>
                <a:cs typeface="Times New Roman"/>
                <a:sym typeface="Times New Roman"/>
              </a:rPr>
              <a:t> sınıfının arkadaş fonksiyonudur. Bu fonkiyon içinden, private üyeler olan </a:t>
            </a:r>
            <a:r>
              <a:rPr b="1" i="1" lang="tr-TR" sz="1800">
                <a:solidFill>
                  <a:schemeClr val="lt1"/>
                </a:solidFill>
                <a:latin typeface="Times New Roman"/>
                <a:ea typeface="Times New Roman"/>
                <a:cs typeface="Times New Roman"/>
                <a:sym typeface="Times New Roman"/>
              </a:rPr>
              <a:t>length</a:t>
            </a:r>
            <a:r>
              <a:rPr lang="tr-TR" sz="1800">
                <a:solidFill>
                  <a:schemeClr val="lt1"/>
                </a:solidFill>
                <a:latin typeface="Times New Roman"/>
                <a:ea typeface="Times New Roman"/>
                <a:cs typeface="Times New Roman"/>
                <a:sym typeface="Times New Roman"/>
              </a:rPr>
              <a:t> ve </a:t>
            </a:r>
            <a:r>
              <a:rPr b="1" i="1" lang="tr-TR" sz="1800">
                <a:solidFill>
                  <a:schemeClr val="lt1"/>
                </a:solidFill>
                <a:latin typeface="Times New Roman"/>
                <a:ea typeface="Times New Roman"/>
                <a:cs typeface="Times New Roman"/>
                <a:sym typeface="Times New Roman"/>
              </a:rPr>
              <a:t>width</a:t>
            </a:r>
            <a:r>
              <a:rPr lang="tr-TR" sz="1800">
                <a:solidFill>
                  <a:schemeClr val="lt1"/>
                </a:solidFill>
                <a:latin typeface="Times New Roman"/>
                <a:ea typeface="Times New Roman"/>
                <a:cs typeface="Times New Roman"/>
                <a:sym typeface="Times New Roman"/>
              </a:rPr>
              <a:t> üye değişkenlerine erişebildik.</a:t>
            </a:r>
            <a:endParaRPr/>
          </a:p>
        </p:txBody>
      </p:sp>
      <p:sp>
        <p:nvSpPr>
          <p:cNvPr id="270" name="Google Shape;270;p22"/>
          <p:cNvSpPr txBox="1"/>
          <p:nvPr/>
        </p:nvSpPr>
        <p:spPr>
          <a:xfrm>
            <a:off x="7260955" y="2580780"/>
            <a:ext cx="1883045" cy="646331"/>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Ekran çıktısı:</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300</a:t>
            </a:r>
            <a:endParaRPr sz="1800">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3"/>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chemeClr val="lt1"/>
                </a:solidFill>
                <a:latin typeface="Times New Roman"/>
                <a:ea typeface="Times New Roman"/>
                <a:cs typeface="Times New Roman"/>
                <a:sym typeface="Times New Roman"/>
              </a:rPr>
              <a:t>Arkadaş (Friend) Sınıflar</a:t>
            </a:r>
            <a:endParaRPr/>
          </a:p>
        </p:txBody>
      </p:sp>
      <p:sp>
        <p:nvSpPr>
          <p:cNvPr id="276" name="Google Shape;276;p23"/>
          <p:cNvSpPr txBox="1"/>
          <p:nvPr/>
        </p:nvSpPr>
        <p:spPr>
          <a:xfrm>
            <a:off x="92278" y="624980"/>
            <a:ext cx="12007443"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0" i="0" lang="tr-TR" sz="1800" u="none" cap="none" strike="noStrike">
                <a:solidFill>
                  <a:schemeClr val="lt1"/>
                </a:solidFill>
                <a:latin typeface="Times New Roman"/>
                <a:ea typeface="Times New Roman"/>
                <a:cs typeface="Times New Roman"/>
                <a:sym typeface="Times New Roman"/>
              </a:rPr>
              <a:t>Bir sınıf üyesi fonksiyonu, diğer bir sınıfın </a:t>
            </a:r>
            <a:r>
              <a:rPr b="1" i="1" lang="tr-TR" sz="1800" u="none" cap="none" strike="noStrike">
                <a:solidFill>
                  <a:schemeClr val="lt1"/>
                </a:solidFill>
                <a:latin typeface="Times New Roman"/>
                <a:ea typeface="Times New Roman"/>
                <a:cs typeface="Times New Roman"/>
                <a:sym typeface="Times New Roman"/>
              </a:rPr>
              <a:t>private</a:t>
            </a:r>
            <a:r>
              <a:rPr b="0" i="0" lang="tr-TR" sz="1800" u="none" cap="none" strike="noStrike">
                <a:solidFill>
                  <a:schemeClr val="lt1"/>
                </a:solidFill>
                <a:latin typeface="Times New Roman"/>
                <a:ea typeface="Times New Roman"/>
                <a:cs typeface="Times New Roman"/>
                <a:sym typeface="Times New Roman"/>
              </a:rPr>
              <a:t> ve </a:t>
            </a:r>
            <a:r>
              <a:rPr b="1" i="1" lang="tr-TR" sz="1800" u="none" cap="none" strike="noStrike">
                <a:solidFill>
                  <a:schemeClr val="lt1"/>
                </a:solidFill>
                <a:latin typeface="Times New Roman"/>
                <a:ea typeface="Times New Roman"/>
                <a:cs typeface="Times New Roman"/>
                <a:sym typeface="Times New Roman"/>
              </a:rPr>
              <a:t>protected</a:t>
            </a:r>
            <a:r>
              <a:rPr b="0" i="0" lang="tr-TR" sz="1800" u="none" cap="none" strike="noStrike">
                <a:solidFill>
                  <a:schemeClr val="lt1"/>
                </a:solidFill>
                <a:latin typeface="Times New Roman"/>
                <a:ea typeface="Times New Roman"/>
                <a:cs typeface="Times New Roman"/>
                <a:sym typeface="Times New Roman"/>
              </a:rPr>
              <a:t> üyelerine erişebilir. Bunu, bir sınıfı diğer sınıfın arkadaşı olarak ilan ederek yapıyoruz. </a:t>
            </a:r>
            <a:endParaRPr/>
          </a:p>
        </p:txBody>
      </p:sp>
      <p:pic>
        <p:nvPicPr>
          <p:cNvPr id="277" name="Google Shape;277;p23"/>
          <p:cNvPicPr preferRelativeResize="0"/>
          <p:nvPr/>
        </p:nvPicPr>
        <p:blipFill rotWithShape="1">
          <a:blip r:embed="rId3">
            <a:alphaModFix/>
          </a:blip>
          <a:srcRect b="0" l="0" r="0" t="0"/>
          <a:stretch/>
        </p:blipFill>
        <p:spPr>
          <a:xfrm>
            <a:off x="323512" y="1405472"/>
            <a:ext cx="6315827" cy="4463350"/>
          </a:xfrm>
          <a:prstGeom prst="rect">
            <a:avLst/>
          </a:prstGeom>
          <a:noFill/>
          <a:ln>
            <a:noFill/>
          </a:ln>
        </p:spPr>
      </p:pic>
      <p:pic>
        <p:nvPicPr>
          <p:cNvPr id="278" name="Google Shape;278;p23"/>
          <p:cNvPicPr preferRelativeResize="0"/>
          <p:nvPr/>
        </p:nvPicPr>
        <p:blipFill rotWithShape="1">
          <a:blip r:embed="rId4">
            <a:alphaModFix/>
          </a:blip>
          <a:srcRect b="0" l="0" r="0" t="0"/>
          <a:stretch/>
        </p:blipFill>
        <p:spPr>
          <a:xfrm>
            <a:off x="5025069" y="1405472"/>
            <a:ext cx="7129036" cy="3882148"/>
          </a:xfrm>
          <a:prstGeom prst="rect">
            <a:avLst/>
          </a:prstGeom>
          <a:noFill/>
          <a:ln>
            <a:noFill/>
          </a:ln>
        </p:spPr>
      </p:pic>
      <p:sp>
        <p:nvSpPr>
          <p:cNvPr id="279" name="Google Shape;279;p23"/>
          <p:cNvSpPr txBox="1"/>
          <p:nvPr/>
        </p:nvSpPr>
        <p:spPr>
          <a:xfrm>
            <a:off x="7646506" y="5533681"/>
            <a:ext cx="430744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Üstte boş bir sınıf bildirimi gereklidir.</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class CostCalculator();</a:t>
            </a:r>
            <a:endParaRPr/>
          </a:p>
        </p:txBody>
      </p:sp>
      <p:sp>
        <p:nvSpPr>
          <p:cNvPr id="280" name="Google Shape;280;p23"/>
          <p:cNvSpPr txBox="1"/>
          <p:nvPr/>
        </p:nvSpPr>
        <p:spPr>
          <a:xfrm>
            <a:off x="9985443" y="4345562"/>
            <a:ext cx="1883045" cy="646331"/>
          </a:xfrm>
          <a:prstGeom prst="rect">
            <a:avLst/>
          </a:prstGeom>
          <a:solidFill>
            <a:schemeClr val="dk2"/>
          </a:solid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Ekran çıktısı:</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300</a:t>
            </a:r>
            <a:endParaRPr sz="1800">
              <a:solidFill>
                <a:schemeClr val="lt1"/>
              </a:solidFill>
              <a:latin typeface="Calibri"/>
              <a:ea typeface="Calibri"/>
              <a:cs typeface="Calibri"/>
              <a:sym typeface="Calibri"/>
            </a:endParaRPr>
          </a:p>
        </p:txBody>
      </p:sp>
      <p:pic>
        <p:nvPicPr>
          <p:cNvPr descr="Red Exclamation Mark PNG Photo | PNG Mart" id="281" name="Google Shape;281;p23"/>
          <p:cNvPicPr preferRelativeResize="0"/>
          <p:nvPr/>
        </p:nvPicPr>
        <p:blipFill rotWithShape="1">
          <a:blip r:embed="rId5">
            <a:alphaModFix/>
          </a:blip>
          <a:srcRect b="0" l="0" r="0" t="0"/>
          <a:stretch/>
        </p:blipFill>
        <p:spPr>
          <a:xfrm>
            <a:off x="6724801" y="5279976"/>
            <a:ext cx="1155039" cy="11572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4"/>
          <p:cNvSpPr txBox="1"/>
          <p:nvPr/>
        </p:nvSpPr>
        <p:spPr>
          <a:xfrm>
            <a:off x="0" y="0"/>
            <a:ext cx="60946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400">
                <a:solidFill>
                  <a:srgbClr val="7030A0"/>
                </a:solidFill>
                <a:latin typeface="Times New Roman"/>
                <a:ea typeface="Times New Roman"/>
                <a:cs typeface="Times New Roman"/>
                <a:sym typeface="Times New Roman"/>
              </a:rPr>
              <a:t>KAYNAKLAR</a:t>
            </a:r>
            <a:endParaRPr/>
          </a:p>
        </p:txBody>
      </p:sp>
      <p:sp>
        <p:nvSpPr>
          <p:cNvPr id="287" name="Google Shape;287;p24"/>
          <p:cNvSpPr txBox="1"/>
          <p:nvPr/>
        </p:nvSpPr>
        <p:spPr>
          <a:xfrm>
            <a:off x="0" y="461665"/>
            <a:ext cx="12192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[1] M. Zavrak, E. Aksoy, H. N. Karaca, </a:t>
            </a:r>
            <a:r>
              <a:rPr b="1" i="1" lang="tr-TR" sz="1800">
                <a:solidFill>
                  <a:schemeClr val="lt1"/>
                </a:solidFill>
                <a:latin typeface="Times New Roman"/>
                <a:ea typeface="Times New Roman"/>
                <a:cs typeface="Times New Roman"/>
                <a:sym typeface="Times New Roman"/>
              </a:rPr>
              <a:t>C ve C++</a:t>
            </a:r>
            <a:r>
              <a:rPr lang="tr-TR" sz="1800">
                <a:solidFill>
                  <a:schemeClr val="lt1"/>
                </a:solidFill>
                <a:latin typeface="Times New Roman"/>
                <a:ea typeface="Times New Roman"/>
                <a:cs typeface="Times New Roman"/>
                <a:sym typeface="Times New Roman"/>
              </a:rPr>
              <a:t>, Sistem Yayıncılık. </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[2] Prof. Dr. Mustafa Dikici,  </a:t>
            </a:r>
            <a:r>
              <a:rPr b="1" i="1" lang="tr-TR" sz="1800">
                <a:solidFill>
                  <a:schemeClr val="lt1"/>
                </a:solidFill>
                <a:latin typeface="Times New Roman"/>
                <a:ea typeface="Times New Roman"/>
                <a:cs typeface="Times New Roman"/>
                <a:sym typeface="Times New Roman"/>
              </a:rPr>
              <a:t>C++ Programlama Dili</a:t>
            </a:r>
            <a:r>
              <a:rPr lang="tr-TR" sz="1800">
                <a:solidFill>
                  <a:schemeClr val="lt1"/>
                </a:solidFill>
                <a:latin typeface="Times New Roman"/>
                <a:ea typeface="Times New Roman"/>
                <a:cs typeface="Times New Roman"/>
                <a:sym typeface="Times New Roman"/>
              </a:rPr>
              <a:t>, Seçkin Yayıncılık.</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[3] M. Mastar, S. Eriş, </a:t>
            </a:r>
            <a:r>
              <a:rPr b="1" i="1" lang="tr-TR" sz="1800">
                <a:solidFill>
                  <a:schemeClr val="lt1"/>
                </a:solidFill>
                <a:latin typeface="Times New Roman"/>
                <a:ea typeface="Times New Roman"/>
                <a:cs typeface="Times New Roman"/>
                <a:sym typeface="Times New Roman"/>
              </a:rPr>
              <a:t>C++, </a:t>
            </a:r>
            <a:r>
              <a:rPr lang="tr-TR" sz="1800">
                <a:solidFill>
                  <a:schemeClr val="lt1"/>
                </a:solidFill>
                <a:latin typeface="Times New Roman"/>
                <a:ea typeface="Times New Roman"/>
                <a:cs typeface="Times New Roman"/>
                <a:sym typeface="Times New Roman"/>
              </a:rPr>
              <a:t>Kodlab Yayın Dağıtım.</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çmişe bakış">
  <a:themeElements>
    <a:clrScheme name="Özel 1">
      <a:dk1>
        <a:srgbClr val="2D2D2D"/>
      </a:dk1>
      <a:lt1>
        <a:srgbClr val="2D2D2D"/>
      </a:lt1>
      <a:dk2>
        <a:srgbClr val="FFFFFF"/>
      </a:dk2>
      <a:lt2>
        <a:srgbClr val="FFFFFF"/>
      </a:lt2>
      <a:accent1>
        <a:srgbClr val="AD84C6"/>
      </a:accent1>
      <a:accent2>
        <a:srgbClr val="8784C7"/>
      </a:accent2>
      <a:accent3>
        <a:srgbClr val="5D739A"/>
      </a:accent3>
      <a:accent4>
        <a:srgbClr val="6997AF"/>
      </a:accent4>
      <a:accent5>
        <a:srgbClr val="84ACB6"/>
      </a:accent5>
      <a:accent6>
        <a:srgbClr val="F2F2F2"/>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2021-02-24T12:37:41Z</dcterms:created>
  <dc:creator>FUNDA KUTLU ONAY</dc:creator>
</cp:coreProperties>
</file>