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gOTQZQYSP+Hp3/MOvijTIGTzGG9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45D5A8-BB4C-4242-B6C5-D9FA4D3F957C}">
  <a:tblStyle styleId="{C645D5A8-BB4C-4242-B6C5-D9FA4D3F957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aşlık Slaydı" type="title">
  <p:cSld name="TITLE">
    <p:spTree>
      <p:nvGrpSpPr>
        <p:cNvPr id="1" name="Shape 14"/>
        <p:cNvGrpSpPr/>
        <p:nvPr/>
      </p:nvGrpSpPr>
      <p:grpSpPr>
        <a:xfrm>
          <a:off x="0" y="0"/>
          <a:ext cx="0" cy="0"/>
          <a:chOff x="0" y="0"/>
          <a:chExt cx="0" cy="0"/>
        </a:xfrm>
      </p:grpSpPr>
      <p:sp>
        <p:nvSpPr>
          <p:cNvPr id="15" name="Google Shape;15;p19"/>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9"/>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9"/>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4C4C4C"/>
              </a:buClr>
              <a:buSzPts val="8000"/>
              <a:buFont typeface="Calibri"/>
              <a:buNone/>
              <a:defRPr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9"/>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9" name="Google Shape;19;p1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cxnSp>
        <p:nvCxnSpPr>
          <p:cNvPr id="22" name="Google Shape;22;p19"/>
          <p:cNvCxnSpPr/>
          <p:nvPr/>
        </p:nvCxnSpPr>
        <p:spPr>
          <a:xfrm>
            <a:off x="1207658" y="4343400"/>
            <a:ext cx="9875520" cy="0"/>
          </a:xfrm>
          <a:prstGeom prst="straightConnector1">
            <a:avLst/>
          </a:prstGeom>
          <a:noFill/>
          <a:ln w="9525" cap="flat" cmpd="sng">
            <a:solidFill>
              <a:srgbClr val="959595"/>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oş" type="blank">
  <p:cSld name="BLANK">
    <p:spTree>
      <p:nvGrpSpPr>
        <p:cNvPr id="1" name="Shape 23"/>
        <p:cNvGrpSpPr/>
        <p:nvPr/>
      </p:nvGrpSpPr>
      <p:grpSpPr>
        <a:xfrm>
          <a:off x="0" y="0"/>
          <a:ext cx="0" cy="0"/>
          <a:chOff x="0" y="0"/>
          <a:chExt cx="0" cy="0"/>
        </a:xfrm>
      </p:grpSpPr>
      <p:sp>
        <p:nvSpPr>
          <p:cNvPr id="24" name="Google Shape;24;p20"/>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0"/>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9"/>
        <p:cNvGrpSpPr/>
        <p:nvPr/>
      </p:nvGrpSpPr>
      <p:grpSpPr>
        <a:xfrm>
          <a:off x="0" y="0"/>
          <a:ext cx="0" cy="0"/>
          <a:chOff x="0" y="0"/>
          <a:chExt cx="0" cy="0"/>
        </a:xfrm>
      </p:grpSpPr>
      <p:sp>
        <p:nvSpPr>
          <p:cNvPr id="30" name="Google Shape;30;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2" name="Google Shape;32;p2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ölüm Üst Bilgisi" type="secHead">
  <p:cSld name="SECTION_HEADER">
    <p:spTree>
      <p:nvGrpSpPr>
        <p:cNvPr id="1" name="Shape 35"/>
        <p:cNvGrpSpPr/>
        <p:nvPr/>
      </p:nvGrpSpPr>
      <p:grpSpPr>
        <a:xfrm>
          <a:off x="0" y="0"/>
          <a:ext cx="0" cy="0"/>
          <a:chOff x="0" y="0"/>
          <a:chExt cx="0" cy="0"/>
        </a:xfrm>
      </p:grpSpPr>
      <p:sp>
        <p:nvSpPr>
          <p:cNvPr id="36" name="Google Shape;36;p22"/>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2"/>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4C4C4C"/>
              </a:buClr>
              <a:buSzPts val="8000"/>
              <a:buFont typeface="Calibri"/>
              <a:buNone/>
              <a:defRPr sz="8000" b="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2"/>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C8C8C"/>
                </a:solidFill>
              </a:defRPr>
            </a:lvl2pPr>
            <a:lvl3pPr marL="1371600" lvl="2" indent="-228600" algn="l">
              <a:lnSpc>
                <a:spcPct val="90000"/>
              </a:lnSpc>
              <a:spcBef>
                <a:spcPts val="400"/>
              </a:spcBef>
              <a:spcAft>
                <a:spcPts val="0"/>
              </a:spcAft>
              <a:buSzPts val="1600"/>
              <a:buNone/>
              <a:defRPr sz="1600">
                <a:solidFill>
                  <a:srgbClr val="8C8C8C"/>
                </a:solidFill>
              </a:defRPr>
            </a:lvl3pPr>
            <a:lvl4pPr marL="1828800" lvl="3" indent="-228600" algn="l">
              <a:lnSpc>
                <a:spcPct val="90000"/>
              </a:lnSpc>
              <a:spcBef>
                <a:spcPts val="400"/>
              </a:spcBef>
              <a:spcAft>
                <a:spcPts val="0"/>
              </a:spcAft>
              <a:buSzPts val="1400"/>
              <a:buNone/>
              <a:defRPr sz="1400">
                <a:solidFill>
                  <a:srgbClr val="8C8C8C"/>
                </a:solidFill>
              </a:defRPr>
            </a:lvl4pPr>
            <a:lvl5pPr marL="2286000" lvl="4" indent="-228600" algn="l">
              <a:lnSpc>
                <a:spcPct val="90000"/>
              </a:lnSpc>
              <a:spcBef>
                <a:spcPts val="400"/>
              </a:spcBef>
              <a:spcAft>
                <a:spcPts val="0"/>
              </a:spcAft>
              <a:buSzPts val="1400"/>
              <a:buNone/>
              <a:defRPr sz="1400">
                <a:solidFill>
                  <a:srgbClr val="8C8C8C"/>
                </a:solidFill>
              </a:defRPr>
            </a:lvl5pPr>
            <a:lvl6pPr marL="2743200" lvl="5" indent="-228600" algn="l">
              <a:lnSpc>
                <a:spcPct val="90000"/>
              </a:lnSpc>
              <a:spcBef>
                <a:spcPts val="400"/>
              </a:spcBef>
              <a:spcAft>
                <a:spcPts val="0"/>
              </a:spcAft>
              <a:buSzPts val="1400"/>
              <a:buNone/>
              <a:defRPr sz="1400">
                <a:solidFill>
                  <a:srgbClr val="8C8C8C"/>
                </a:solidFill>
              </a:defRPr>
            </a:lvl6pPr>
            <a:lvl7pPr marL="3200400" lvl="6" indent="-228600" algn="l">
              <a:lnSpc>
                <a:spcPct val="90000"/>
              </a:lnSpc>
              <a:spcBef>
                <a:spcPts val="400"/>
              </a:spcBef>
              <a:spcAft>
                <a:spcPts val="0"/>
              </a:spcAft>
              <a:buSzPts val="1400"/>
              <a:buNone/>
              <a:defRPr sz="1400">
                <a:solidFill>
                  <a:srgbClr val="8C8C8C"/>
                </a:solidFill>
              </a:defRPr>
            </a:lvl7pPr>
            <a:lvl8pPr marL="3657600" lvl="7" indent="-228600" algn="l">
              <a:lnSpc>
                <a:spcPct val="90000"/>
              </a:lnSpc>
              <a:spcBef>
                <a:spcPts val="400"/>
              </a:spcBef>
              <a:spcAft>
                <a:spcPts val="0"/>
              </a:spcAft>
              <a:buSzPts val="1400"/>
              <a:buNone/>
              <a:defRPr sz="1400">
                <a:solidFill>
                  <a:srgbClr val="8C8C8C"/>
                </a:solidFill>
              </a:defRPr>
            </a:lvl8pPr>
            <a:lvl9pPr marL="4114800" lvl="8" indent="-228600" algn="l">
              <a:lnSpc>
                <a:spcPct val="90000"/>
              </a:lnSpc>
              <a:spcBef>
                <a:spcPts val="400"/>
              </a:spcBef>
              <a:spcAft>
                <a:spcPts val="400"/>
              </a:spcAft>
              <a:buSzPts val="1400"/>
              <a:buNone/>
              <a:defRPr sz="1400">
                <a:solidFill>
                  <a:srgbClr val="8C8C8C"/>
                </a:solidFill>
              </a:defRPr>
            </a:lvl9pPr>
          </a:lstStyle>
          <a:p>
            <a:endParaRPr/>
          </a:p>
        </p:txBody>
      </p:sp>
      <p:sp>
        <p:nvSpPr>
          <p:cNvPr id="40" name="Google Shape;40;p2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cxnSp>
        <p:nvCxnSpPr>
          <p:cNvPr id="43" name="Google Shape;43;p22"/>
          <p:cNvCxnSpPr/>
          <p:nvPr/>
        </p:nvCxnSpPr>
        <p:spPr>
          <a:xfrm>
            <a:off x="1207658" y="4343400"/>
            <a:ext cx="9875520" cy="0"/>
          </a:xfrm>
          <a:prstGeom prst="straightConnector1">
            <a:avLst/>
          </a:prstGeom>
          <a:noFill/>
          <a:ln w="9525" cap="flat" cmpd="sng">
            <a:solidFill>
              <a:srgbClr val="959595"/>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44"/>
        <p:cNvGrpSpPr/>
        <p:nvPr/>
      </p:nvGrpSpPr>
      <p:grpSpPr>
        <a:xfrm>
          <a:off x="0" y="0"/>
          <a:ext cx="0" cy="0"/>
          <a:chOff x="0" y="0"/>
          <a:chExt cx="0" cy="0"/>
        </a:xfrm>
      </p:grpSpPr>
      <p:sp>
        <p:nvSpPr>
          <p:cNvPr id="45" name="Google Shape;45;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3"/>
          <p:cNvSpPr txBox="1">
            <a:spLocks noGrp="1"/>
          </p:cNvSpPr>
          <p:nvPr>
            <p:ph type="body" idx="1"/>
          </p:nvPr>
        </p:nvSpPr>
        <p:spPr>
          <a:xfrm>
            <a:off x="1097278"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7" name="Google Shape;47;p23"/>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8" name="Google Shape;48;p2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51"/>
        <p:cNvGrpSpPr/>
        <p:nvPr/>
      </p:nvGrpSpPr>
      <p:grpSpPr>
        <a:xfrm>
          <a:off x="0" y="0"/>
          <a:ext cx="0" cy="0"/>
          <a:chOff x="0" y="0"/>
          <a:chExt cx="0" cy="0"/>
        </a:xfrm>
      </p:grpSpPr>
      <p:sp>
        <p:nvSpPr>
          <p:cNvPr id="52" name="Google Shape;52;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4"/>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lt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24"/>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24"/>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lt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6" name="Google Shape;56;p24"/>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7" name="Google Shape;57;p2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60"/>
        <p:cNvGrpSpPr/>
        <p:nvPr/>
      </p:nvGrpSpPr>
      <p:grpSpPr>
        <a:xfrm>
          <a:off x="0" y="0"/>
          <a:ext cx="0" cy="0"/>
          <a:chOff x="0" y="0"/>
          <a:chExt cx="0" cy="0"/>
        </a:xfrm>
      </p:grpSpPr>
      <p:sp>
        <p:nvSpPr>
          <p:cNvPr id="61" name="Google Shape;61;p2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aşlıklı İçerik" type="objTx">
  <p:cSld name="OBJECT_WITH_CAPTION_TEXT">
    <p:spTree>
      <p:nvGrpSpPr>
        <p:cNvPr id="1" name="Shape 65"/>
        <p:cNvGrpSpPr/>
        <p:nvPr/>
      </p:nvGrpSpPr>
      <p:grpSpPr>
        <a:xfrm>
          <a:off x="0" y="0"/>
          <a:ext cx="0" cy="0"/>
          <a:chOff x="0" y="0"/>
          <a:chExt cx="0" cy="0"/>
        </a:xfrm>
      </p:grpSpPr>
      <p:sp>
        <p:nvSpPr>
          <p:cNvPr id="66" name="Google Shape;66;p26"/>
          <p:cNvSpPr/>
          <p:nvPr/>
        </p:nvSpPr>
        <p:spPr>
          <a:xfrm>
            <a:off x="16" y="0"/>
            <a:ext cx="4050791" cy="68580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6"/>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6"/>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6"/>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26"/>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26"/>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lt2"/>
                </a:solidFill>
                <a:latin typeface="Calibri"/>
                <a:ea typeface="Calibri"/>
                <a:cs typeface="Calibri"/>
                <a:sym typeface="Calibri"/>
              </a:defRPr>
            </a:lvl1pPr>
            <a:lvl2pPr marL="0" lvl="1" indent="0" algn="r">
              <a:spcBef>
                <a:spcPts val="0"/>
              </a:spcBef>
              <a:buNone/>
              <a:defRPr sz="1050">
                <a:solidFill>
                  <a:schemeClr val="lt2"/>
                </a:solidFill>
                <a:latin typeface="Calibri"/>
                <a:ea typeface="Calibri"/>
                <a:cs typeface="Calibri"/>
                <a:sym typeface="Calibri"/>
              </a:defRPr>
            </a:lvl2pPr>
            <a:lvl3pPr marL="0" lvl="2" indent="0" algn="r">
              <a:spcBef>
                <a:spcPts val="0"/>
              </a:spcBef>
              <a:buNone/>
              <a:defRPr sz="1050">
                <a:solidFill>
                  <a:schemeClr val="lt2"/>
                </a:solidFill>
                <a:latin typeface="Calibri"/>
                <a:ea typeface="Calibri"/>
                <a:cs typeface="Calibri"/>
                <a:sym typeface="Calibri"/>
              </a:defRPr>
            </a:lvl3pPr>
            <a:lvl4pPr marL="0" lvl="3" indent="0" algn="r">
              <a:spcBef>
                <a:spcPts val="0"/>
              </a:spcBef>
              <a:buNone/>
              <a:defRPr sz="1050">
                <a:solidFill>
                  <a:schemeClr val="lt2"/>
                </a:solidFill>
                <a:latin typeface="Calibri"/>
                <a:ea typeface="Calibri"/>
                <a:cs typeface="Calibri"/>
                <a:sym typeface="Calibri"/>
              </a:defRPr>
            </a:lvl4pPr>
            <a:lvl5pPr marL="0" lvl="4" indent="0" algn="r">
              <a:spcBef>
                <a:spcPts val="0"/>
              </a:spcBef>
              <a:buNone/>
              <a:defRPr sz="1050">
                <a:solidFill>
                  <a:schemeClr val="lt2"/>
                </a:solidFill>
                <a:latin typeface="Calibri"/>
                <a:ea typeface="Calibri"/>
                <a:cs typeface="Calibri"/>
                <a:sym typeface="Calibri"/>
              </a:defRPr>
            </a:lvl5pPr>
            <a:lvl6pPr marL="0" lvl="5" indent="0" algn="r">
              <a:spcBef>
                <a:spcPts val="0"/>
              </a:spcBef>
              <a:buNone/>
              <a:defRPr sz="1050">
                <a:solidFill>
                  <a:schemeClr val="lt2"/>
                </a:solidFill>
                <a:latin typeface="Calibri"/>
                <a:ea typeface="Calibri"/>
                <a:cs typeface="Calibri"/>
                <a:sym typeface="Calibri"/>
              </a:defRPr>
            </a:lvl6pPr>
            <a:lvl7pPr marL="0" lvl="6" indent="0" algn="r">
              <a:spcBef>
                <a:spcPts val="0"/>
              </a:spcBef>
              <a:buNone/>
              <a:defRPr sz="1050">
                <a:solidFill>
                  <a:schemeClr val="lt2"/>
                </a:solidFill>
                <a:latin typeface="Calibri"/>
                <a:ea typeface="Calibri"/>
                <a:cs typeface="Calibri"/>
                <a:sym typeface="Calibri"/>
              </a:defRPr>
            </a:lvl7pPr>
            <a:lvl8pPr marL="0" lvl="7" indent="0" algn="r">
              <a:spcBef>
                <a:spcPts val="0"/>
              </a:spcBef>
              <a:buNone/>
              <a:defRPr sz="1050">
                <a:solidFill>
                  <a:schemeClr val="lt2"/>
                </a:solidFill>
                <a:latin typeface="Calibri"/>
                <a:ea typeface="Calibri"/>
                <a:cs typeface="Calibri"/>
                <a:sym typeface="Calibri"/>
              </a:defRPr>
            </a:lvl8pPr>
            <a:lvl9pPr marL="0" lvl="8" indent="0" algn="r">
              <a:spcBef>
                <a:spcPts val="0"/>
              </a:spcBef>
              <a:buNone/>
              <a:defRPr sz="1050">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aşlıklı Resim" type="picTx">
  <p:cSld name="PICTURE_WITH_CAPTION_TEXT">
    <p:spTree>
      <p:nvGrpSpPr>
        <p:cNvPr id="1" name="Shape 74"/>
        <p:cNvGrpSpPr/>
        <p:nvPr/>
      </p:nvGrpSpPr>
      <p:grpSpPr>
        <a:xfrm>
          <a:off x="0" y="0"/>
          <a:ext cx="0" cy="0"/>
          <a:chOff x="0" y="0"/>
          <a:chExt cx="0" cy="0"/>
        </a:xfrm>
      </p:grpSpPr>
      <p:sp>
        <p:nvSpPr>
          <p:cNvPr id="75" name="Google Shape;75;p27"/>
          <p:cNvSpPr/>
          <p:nvPr/>
        </p:nvSpPr>
        <p:spPr>
          <a:xfrm>
            <a:off x="0" y="4953000"/>
            <a:ext cx="12188825" cy="19050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7"/>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7"/>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7"/>
          <p:cNvSpPr>
            <a:spLocks noGrp="1"/>
          </p:cNvSpPr>
          <p:nvPr>
            <p:ph type="pic" idx="2"/>
          </p:nvPr>
        </p:nvSpPr>
        <p:spPr>
          <a:xfrm>
            <a:off x="15" y="0"/>
            <a:ext cx="12191985" cy="4915076"/>
          </a:xfrm>
          <a:prstGeom prst="rect">
            <a:avLst/>
          </a:prstGeom>
          <a:solidFill>
            <a:srgbClr val="E5E5E5"/>
          </a:solidFill>
          <a:ln>
            <a:noFill/>
          </a:ln>
        </p:spPr>
      </p:sp>
      <p:sp>
        <p:nvSpPr>
          <p:cNvPr id="79" name="Google Shape;79;p27"/>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2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ve Dikey Metin" type="vertTx">
  <p:cSld name="VERTICAL_TEXT">
    <p:spTree>
      <p:nvGrpSpPr>
        <p:cNvPr id="1" name="Shape 83"/>
        <p:cNvGrpSpPr/>
        <p:nvPr/>
      </p:nvGrpSpPr>
      <p:grpSpPr>
        <a:xfrm>
          <a:off x="0" y="0"/>
          <a:ext cx="0" cy="0"/>
          <a:chOff x="0" y="0"/>
          <a:chExt cx="0" cy="0"/>
        </a:xfrm>
      </p:grpSpPr>
      <p:sp>
        <p:nvSpPr>
          <p:cNvPr id="84" name="Google Shape;84;p2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8"/>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2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Dikey Başlık ve Metin" type="vertTitleAndTx">
  <p:cSld name="VERTICAL_TITLE_AND_VERTICAL_TEXT">
    <p:spTree>
      <p:nvGrpSpPr>
        <p:cNvPr id="1" name="Shape 89"/>
        <p:cNvGrpSpPr/>
        <p:nvPr/>
      </p:nvGrpSpPr>
      <p:grpSpPr>
        <a:xfrm>
          <a:off x="0" y="0"/>
          <a:ext cx="0" cy="0"/>
          <a:chOff x="0" y="0"/>
          <a:chExt cx="0" cy="0"/>
        </a:xfrm>
      </p:grpSpPr>
      <p:sp>
        <p:nvSpPr>
          <p:cNvPr id="90" name="Google Shape;90;p29"/>
          <p:cNvSpPr/>
          <p:nvPr/>
        </p:nvSpPr>
        <p:spPr>
          <a:xfrm>
            <a:off x="3175" y="6400800"/>
            <a:ext cx="12188825"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9"/>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9"/>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9"/>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2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18"/>
          <p:cNvSpPr/>
          <p:nvPr/>
        </p:nvSpPr>
        <p:spPr>
          <a:xfrm>
            <a:off x="1" y="6400800"/>
            <a:ext cx="12192000" cy="457200"/>
          </a:xfrm>
          <a:prstGeom prst="rect">
            <a:avLst/>
          </a:prstGeom>
          <a:solidFill>
            <a:srgbClr val="593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p18"/>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606060"/>
              </a:buClr>
              <a:buSzPts val="4800"/>
              <a:buFont typeface="Calibri"/>
              <a:buNone/>
              <a:defRPr sz="4800" b="0" i="0" u="none" strike="noStrike" cap="none">
                <a:solidFill>
                  <a:srgbClr val="606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606060"/>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606060"/>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606060"/>
                </a:solidFill>
                <a:latin typeface="Calibri"/>
                <a:ea typeface="Calibri"/>
                <a:cs typeface="Calibri"/>
                <a:sym typeface="Calibri"/>
              </a:defRPr>
            </a:lvl9pPr>
          </a:lstStyle>
          <a:p>
            <a:endParaRPr/>
          </a:p>
        </p:txBody>
      </p:sp>
      <p:sp>
        <p:nvSpPr>
          <p:cNvPr id="10" name="Google Shape;10;p1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1" name="Google Shape;11;p1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2" name="Google Shape;12;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tr-TR"/>
              <a:t>‹#›</a:t>
            </a:fld>
            <a:endParaRPr/>
          </a:p>
        </p:txBody>
      </p:sp>
      <p:cxnSp>
        <p:nvCxnSpPr>
          <p:cNvPr id="13" name="Google Shape;13;p18"/>
          <p:cNvCxnSpPr/>
          <p:nvPr/>
        </p:nvCxnSpPr>
        <p:spPr>
          <a:xfrm>
            <a:off x="1193532" y="1737845"/>
            <a:ext cx="9966960" cy="0"/>
          </a:xfrm>
          <a:prstGeom prst="straightConnector1">
            <a:avLst/>
          </a:prstGeom>
          <a:noFill/>
          <a:ln w="9525" cap="flat" cmpd="sng">
            <a:solidFill>
              <a:srgbClr val="959595"/>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ctrTitle"/>
          </p:nvPr>
        </p:nvSpPr>
        <p:spPr>
          <a:xfrm>
            <a:off x="0" y="3162968"/>
            <a:ext cx="12192000" cy="82366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BM0102-ALGORİTMA ve PROGRAMLAMA II</a:t>
            </a:r>
            <a:endParaRPr/>
          </a:p>
        </p:txBody>
      </p:sp>
      <p:sp>
        <p:nvSpPr>
          <p:cNvPr id="102" name="Google Shape;102;p1"/>
          <p:cNvSpPr txBox="1">
            <a:spLocks noGrp="1"/>
          </p:cNvSpPr>
          <p:nvPr>
            <p:ph type="subTitle" idx="1"/>
          </p:nvPr>
        </p:nvSpPr>
        <p:spPr>
          <a:xfrm>
            <a:off x="1" y="2036685"/>
            <a:ext cx="12192000" cy="112628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3000"/>
              <a:buNone/>
            </a:pPr>
            <a:r>
              <a:rPr lang="tr-TR" sz="3000">
                <a:solidFill>
                  <a:schemeClr val="dk1"/>
                </a:solidFill>
                <a:latin typeface="Times New Roman"/>
                <a:ea typeface="Times New Roman"/>
                <a:cs typeface="Times New Roman"/>
                <a:sym typeface="Times New Roman"/>
              </a:rPr>
              <a:t>MÜHENDİSLİK FAKÜLTESİ </a:t>
            </a:r>
            <a:endParaRPr/>
          </a:p>
          <a:p>
            <a:pPr marL="0" lvl="0" indent="0" algn="ctr" rtl="0">
              <a:lnSpc>
                <a:spcPct val="90000"/>
              </a:lnSpc>
              <a:spcBef>
                <a:spcPts val="1400"/>
              </a:spcBef>
              <a:spcAft>
                <a:spcPts val="0"/>
              </a:spcAft>
              <a:buSzPts val="3000"/>
              <a:buNone/>
            </a:pPr>
            <a:r>
              <a:rPr lang="tr-TR" sz="3000">
                <a:solidFill>
                  <a:schemeClr val="dk1"/>
                </a:solidFill>
                <a:latin typeface="Times New Roman"/>
                <a:ea typeface="Times New Roman"/>
                <a:cs typeface="Times New Roman"/>
                <a:sym typeface="Times New Roman"/>
              </a:rPr>
              <a:t>BİLGİSAYAR MÜHENDİSLİĞİ BÖLÜMÜ</a:t>
            </a:r>
            <a:endParaRPr/>
          </a:p>
        </p:txBody>
      </p:sp>
      <p:pic>
        <p:nvPicPr>
          <p:cNvPr id="103" name="Google Shape;103;p1" descr="Amasya Üniversitesi Logo Vector (.AI) Free Download"/>
          <p:cNvPicPr preferRelativeResize="0"/>
          <p:nvPr/>
        </p:nvPicPr>
        <p:blipFill rotWithShape="1">
          <a:blip r:embed="rId3">
            <a:alphaModFix/>
          </a:blip>
          <a:srcRect/>
          <a:stretch/>
        </p:blipFill>
        <p:spPr>
          <a:xfrm>
            <a:off x="5199293" y="159026"/>
            <a:ext cx="1889990" cy="1656891"/>
          </a:xfrm>
          <a:prstGeom prst="rect">
            <a:avLst/>
          </a:prstGeom>
          <a:noFill/>
          <a:ln>
            <a:noFill/>
          </a:ln>
        </p:spPr>
      </p:pic>
      <p:sp>
        <p:nvSpPr>
          <p:cNvPr id="104" name="Google Shape;104;p1"/>
          <p:cNvSpPr txBox="1"/>
          <p:nvPr/>
        </p:nvSpPr>
        <p:spPr>
          <a:xfrm>
            <a:off x="0" y="4432605"/>
            <a:ext cx="12192000" cy="1104129"/>
          </a:xfrm>
          <a:prstGeom prst="rect">
            <a:avLst/>
          </a:prstGeom>
          <a:noFill/>
          <a:ln>
            <a:noFill/>
          </a:ln>
        </p:spPr>
        <p:txBody>
          <a:bodyPr spcFirstLastPara="1" wrap="square" lIns="91425" tIns="45700" rIns="91425" bIns="45700" anchor="b" anchorCtr="0">
            <a:normAutofit/>
          </a:bodyPr>
          <a:lstStyle/>
          <a:p>
            <a:pPr marL="0" marR="0" lvl="0" indent="0" algn="ctr" rtl="0">
              <a:spcBef>
                <a:spcPts val="0"/>
              </a:spcBef>
              <a:spcAft>
                <a:spcPts val="0"/>
              </a:spcAft>
              <a:buClr>
                <a:schemeClr val="dk1"/>
              </a:buClr>
              <a:buSzPts val="2500"/>
              <a:buFont typeface="Times New Roman"/>
              <a:buNone/>
            </a:pPr>
            <a:r>
              <a:rPr lang="tr-TR" sz="2500" b="0" i="0" u="none" strike="noStrike" cap="none">
                <a:solidFill>
                  <a:schemeClr val="dk1"/>
                </a:solidFill>
                <a:latin typeface="Times New Roman"/>
                <a:ea typeface="Times New Roman"/>
                <a:cs typeface="Times New Roman"/>
                <a:sym typeface="Times New Roman"/>
              </a:rPr>
              <a:t>Hafta 6</a:t>
            </a:r>
            <a:endParaRPr/>
          </a:p>
          <a:p>
            <a:pPr marL="0" marR="0" lvl="0" indent="0" algn="ctr" rtl="0">
              <a:spcBef>
                <a:spcPts val="0"/>
              </a:spcBef>
              <a:spcAft>
                <a:spcPts val="0"/>
              </a:spcAft>
              <a:buClr>
                <a:schemeClr val="dk1"/>
              </a:buClr>
              <a:buSzPts val="4000"/>
              <a:buFont typeface="Times New Roman"/>
              <a:buNone/>
            </a:pPr>
            <a:r>
              <a:rPr lang="tr-TR" sz="4000" b="0" i="0" u="none" strike="noStrike" cap="none">
                <a:solidFill>
                  <a:schemeClr val="dk1"/>
                </a:solidFill>
                <a:latin typeface="Times New Roman"/>
                <a:ea typeface="Times New Roman"/>
                <a:cs typeface="Times New Roman"/>
                <a:sym typeface="Times New Roman"/>
              </a:rPr>
              <a:t>Yapıcılar ve Yıkıcılar</a:t>
            </a:r>
            <a:endParaRPr sz="4000" b="0" i="0" u="none" strike="noStrike" cap="none">
              <a:solidFill>
                <a:schemeClr val="dk1"/>
              </a:solidFill>
              <a:latin typeface="Times New Roman"/>
              <a:ea typeface="Times New Roman"/>
              <a:cs typeface="Times New Roman"/>
              <a:sym typeface="Times New Roman"/>
            </a:endParaRPr>
          </a:p>
        </p:txBody>
      </p:sp>
      <p:sp>
        <p:nvSpPr>
          <p:cNvPr id="105" name="Google Shape;105;p1"/>
          <p:cNvSpPr txBox="1"/>
          <p:nvPr/>
        </p:nvSpPr>
        <p:spPr>
          <a:xfrm>
            <a:off x="139485" y="5724630"/>
            <a:ext cx="12191999" cy="50748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2400"/>
              <a:buFont typeface="Noto Sans Symbols"/>
              <a:buNone/>
            </a:pPr>
            <a:r>
              <a:rPr lang="tr-TR" sz="2400">
                <a:solidFill>
                  <a:schemeClr val="dk1"/>
                </a:solidFill>
                <a:latin typeface="Times New Roman"/>
                <a:ea typeface="Times New Roman"/>
                <a:cs typeface="Times New Roman"/>
                <a:sym typeface="Times New Roman"/>
              </a:rPr>
              <a:t>Doç. Dr.</a:t>
            </a:r>
            <a:r>
              <a:rPr lang="tr-TR" sz="2400" b="0" i="0" u="none" strike="noStrike" cap="none">
                <a:solidFill>
                  <a:schemeClr val="dk1"/>
                </a:solidFill>
                <a:latin typeface="Times New Roman"/>
                <a:ea typeface="Times New Roman"/>
                <a:cs typeface="Times New Roman"/>
                <a:sym typeface="Times New Roman"/>
              </a:rPr>
              <a:t> Funda KUTLU ONAY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Yapıcı üye başlatıcı listeleri</a:t>
            </a:r>
            <a:endParaRPr sz="1600" b="1" i="0" u="none" strike="noStrike" cap="none">
              <a:solidFill>
                <a:schemeClr val="lt1"/>
              </a:solidFill>
              <a:latin typeface="Times New Roman"/>
              <a:ea typeface="Times New Roman"/>
              <a:cs typeface="Times New Roman"/>
              <a:sym typeface="Times New Roman"/>
            </a:endParaRPr>
          </a:p>
        </p:txBody>
      </p:sp>
      <p:sp>
        <p:nvSpPr>
          <p:cNvPr id="111" name="Google Shape;111;p2"/>
          <p:cNvSpPr txBox="1"/>
          <p:nvPr/>
        </p:nvSpPr>
        <p:spPr>
          <a:xfrm>
            <a:off x="-8388" y="360727"/>
            <a:ext cx="12200388" cy="5872293"/>
          </a:xfrm>
          <a:prstGeom prst="rect">
            <a:avLst/>
          </a:prstGeom>
          <a:noFill/>
          <a:ln>
            <a:noFill/>
          </a:ln>
        </p:spPr>
        <p:txBody>
          <a:bodyPr spcFirstLastPara="1" wrap="square" lIns="0" tIns="45700" rIns="0" bIns="45700" anchor="t" anchorCtr="0">
            <a:normAutofit/>
          </a:bodyPr>
          <a:lstStyle/>
          <a:p>
            <a:pPr marL="384048" marR="0" lvl="1" indent="-182880" algn="just" rtl="0">
              <a:lnSpc>
                <a:spcPct val="125000"/>
              </a:lnSpc>
              <a:spcBef>
                <a:spcPts val="0"/>
              </a:spcBef>
              <a:spcAft>
                <a:spcPts val="0"/>
              </a:spcAft>
              <a:buClr>
                <a:schemeClr val="accent1"/>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  Bir önceki kısımda basit olarak, sınıf üye verilerini atama operatörünü kullanarak yapıcı fonksiyonda başlattık. Yani:</a:t>
            </a:r>
            <a:endParaRPr sz="1600" b="1" i="0" u="sng" strike="noStrike" cap="none">
              <a:solidFill>
                <a:srgbClr val="444444"/>
              </a:solidFill>
              <a:latin typeface="Times New Roman"/>
              <a:ea typeface="Times New Roman"/>
              <a:cs typeface="Times New Roman"/>
              <a:sym typeface="Times New Roman"/>
            </a:endParaRPr>
          </a:p>
        </p:txBody>
      </p:sp>
      <p:pic>
        <p:nvPicPr>
          <p:cNvPr id="112" name="Google Shape;112;p2"/>
          <p:cNvPicPr preferRelativeResize="0"/>
          <p:nvPr/>
        </p:nvPicPr>
        <p:blipFill rotWithShape="1">
          <a:blip r:embed="rId3">
            <a:alphaModFix/>
          </a:blip>
          <a:srcRect/>
          <a:stretch/>
        </p:blipFill>
        <p:spPr>
          <a:xfrm>
            <a:off x="367374" y="839330"/>
            <a:ext cx="4013617" cy="3600000"/>
          </a:xfrm>
          <a:prstGeom prst="rect">
            <a:avLst/>
          </a:prstGeom>
          <a:noFill/>
          <a:ln>
            <a:noFill/>
          </a:ln>
        </p:spPr>
      </p:pic>
      <p:sp>
        <p:nvSpPr>
          <p:cNvPr id="113" name="Google Shape;113;p2"/>
          <p:cNvSpPr txBox="1"/>
          <p:nvPr/>
        </p:nvSpPr>
        <p:spPr>
          <a:xfrm>
            <a:off x="4626592" y="1146328"/>
            <a:ext cx="7565408"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b="0" i="0" u="none" strike="noStrike" cap="none">
                <a:solidFill>
                  <a:srgbClr val="444444"/>
                </a:solidFill>
                <a:latin typeface="Times New Roman"/>
                <a:ea typeface="Times New Roman"/>
                <a:cs typeface="Times New Roman"/>
                <a:sym typeface="Times New Roman"/>
              </a:rPr>
              <a:t>Sınıfın yapıcısı çalıştırıldığında, d1, d2 ve d3 oluşturulur. Ardından yapıcının gövdesi çalıştırılır ve burada üye veri değişkenlerine değerler atanır. Bu, nesne yönelimli olmayan C ++ 'da aşağıdaki kodun akışına benzer:</a:t>
            </a:r>
            <a:endParaRPr/>
          </a:p>
        </p:txBody>
      </p:sp>
      <p:pic>
        <p:nvPicPr>
          <p:cNvPr id="114" name="Google Shape;114;p2"/>
          <p:cNvPicPr preferRelativeResize="0"/>
          <p:nvPr/>
        </p:nvPicPr>
        <p:blipFill rotWithShape="1">
          <a:blip r:embed="rId4">
            <a:alphaModFix/>
          </a:blip>
          <a:srcRect/>
          <a:stretch/>
        </p:blipFill>
        <p:spPr>
          <a:xfrm>
            <a:off x="4756753" y="2046990"/>
            <a:ext cx="1232986" cy="16993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Yapıcı üye başlatıcı listeleri</a:t>
            </a:r>
            <a:endParaRPr sz="1600" b="1" i="0" u="none" strike="noStrike" cap="none">
              <a:solidFill>
                <a:schemeClr val="lt1"/>
              </a:solidFill>
              <a:latin typeface="Times New Roman"/>
              <a:ea typeface="Times New Roman"/>
              <a:cs typeface="Times New Roman"/>
              <a:sym typeface="Times New Roman"/>
            </a:endParaRPr>
          </a:p>
        </p:txBody>
      </p:sp>
      <p:sp>
        <p:nvSpPr>
          <p:cNvPr id="120" name="Google Shape;120;p3"/>
          <p:cNvSpPr txBox="1"/>
          <p:nvPr/>
        </p:nvSpPr>
        <p:spPr>
          <a:xfrm>
            <a:off x="-17478" y="360727"/>
            <a:ext cx="12209477" cy="83099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Bu, C ++ dilinin sözdizimi içinde geçerli bir işlem olsa da, başlatma işleminden daha az verimli bir stildir. Bununla birlikte, önceden de yaptığımız gibi, bazı veri türleri (örneğin, const ve referans değişkenleri) bildirildikleri satırda başlatılmalıdır. Çünkü atama işlemini kabul etmezler. Yani:</a:t>
            </a:r>
            <a:endParaRPr/>
          </a:p>
        </p:txBody>
      </p:sp>
      <p:pic>
        <p:nvPicPr>
          <p:cNvPr id="121" name="Google Shape;121;p3"/>
          <p:cNvPicPr preferRelativeResize="0"/>
          <p:nvPr/>
        </p:nvPicPr>
        <p:blipFill rotWithShape="1">
          <a:blip r:embed="rId3">
            <a:alphaModFix/>
          </a:blip>
          <a:srcRect/>
          <a:stretch/>
        </p:blipFill>
        <p:spPr>
          <a:xfrm>
            <a:off x="377080" y="1417716"/>
            <a:ext cx="4073353" cy="2379418"/>
          </a:xfrm>
          <a:prstGeom prst="rect">
            <a:avLst/>
          </a:prstGeom>
          <a:noFill/>
          <a:ln>
            <a:noFill/>
          </a:ln>
        </p:spPr>
      </p:pic>
      <p:pic>
        <p:nvPicPr>
          <p:cNvPr id="122" name="Google Shape;122;p3"/>
          <p:cNvPicPr preferRelativeResize="0"/>
          <p:nvPr/>
        </p:nvPicPr>
        <p:blipFill rotWithShape="1">
          <a:blip r:embed="rId4">
            <a:alphaModFix/>
          </a:blip>
          <a:srcRect/>
          <a:stretch/>
        </p:blipFill>
        <p:spPr>
          <a:xfrm>
            <a:off x="377080" y="4328498"/>
            <a:ext cx="6337361" cy="1080000"/>
          </a:xfrm>
          <a:prstGeom prst="rect">
            <a:avLst/>
          </a:prstGeom>
          <a:noFill/>
          <a:ln>
            <a:noFill/>
          </a:ln>
        </p:spPr>
      </p:pic>
      <p:sp>
        <p:nvSpPr>
          <p:cNvPr id="123" name="Google Shape;123;p3"/>
          <p:cNvSpPr txBox="1"/>
          <p:nvPr/>
        </p:nvSpPr>
        <p:spPr>
          <a:xfrm>
            <a:off x="-1" y="3899148"/>
            <a:ext cx="12178717" cy="33855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Nesne yönelimli olmayan kodda da durum aynıdır:</a:t>
            </a:r>
            <a:endParaRPr/>
          </a:p>
        </p:txBody>
      </p:sp>
      <p:sp>
        <p:nvSpPr>
          <p:cNvPr id="124" name="Google Shape;124;p3"/>
          <p:cNvSpPr txBox="1"/>
          <p:nvPr/>
        </p:nvSpPr>
        <p:spPr>
          <a:xfrm>
            <a:off x="0" y="5590091"/>
            <a:ext cx="12178716" cy="33855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600"/>
              <a:buFont typeface="Noto Sans Symbols"/>
              <a:buChar char="❑"/>
            </a:pPr>
            <a:r>
              <a:rPr lang="tr-TR" sz="1600" b="0" i="0" u="none" strike="noStrike" cap="none">
                <a:solidFill>
                  <a:schemeClr val="lt1"/>
                </a:solidFill>
                <a:latin typeface="Times New Roman"/>
                <a:ea typeface="Times New Roman"/>
                <a:cs typeface="Times New Roman"/>
                <a:sym typeface="Times New Roman"/>
              </a:rPr>
              <a:t>Yapıcı gövdesindeki const veya referans üye değişkenlerine değer atamak, bazı durumlarda açıkça mümkün değildir.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4"/>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Üye başlatma listeleri</a:t>
            </a:r>
            <a:endParaRPr sz="1600" b="1" i="0" u="none" strike="noStrike" cap="none">
              <a:solidFill>
                <a:schemeClr val="lt1"/>
              </a:solidFill>
              <a:latin typeface="Times New Roman"/>
              <a:ea typeface="Times New Roman"/>
              <a:cs typeface="Times New Roman"/>
              <a:sym typeface="Times New Roman"/>
            </a:endParaRPr>
          </a:p>
        </p:txBody>
      </p:sp>
      <p:sp>
        <p:nvSpPr>
          <p:cNvPr id="130" name="Google Shape;130;p4"/>
          <p:cNvSpPr txBox="1"/>
          <p:nvPr/>
        </p:nvSpPr>
        <p:spPr>
          <a:xfrm>
            <a:off x="-17478" y="360727"/>
            <a:ext cx="12209477" cy="255454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Bu sorunu çözmek için C ++ dili, sınıf üyesi değişkenlerini (oluşturulduktan sonra bunlara değerler atamak yerine) bir üye başlatıcı listesi (genellikle "üye başlatma listesi" olarak adlandırılır) aracılığıyla başlatmak için bir yöntem sağlar. </a:t>
            </a:r>
            <a:endParaRPr/>
          </a:p>
          <a:p>
            <a:pPr marL="285750" marR="0" lvl="0"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Bunları, dizilere değer atamak için kullanabileceğimiz benzer adlandırılmış başlatıcı listesiyle karıştırmamak gerekir.</a:t>
            </a:r>
            <a:endParaRPr/>
          </a:p>
          <a:p>
            <a:pPr marL="285750" marR="0" lvl="0"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Değişken başlatma için 3 yol vardı:</a:t>
            </a:r>
            <a:endParaRPr/>
          </a:p>
          <a:p>
            <a:pPr marL="285750" marR="0" lvl="0" indent="-184150" algn="l" rtl="0">
              <a:spcBef>
                <a:spcPts val="0"/>
              </a:spcBef>
              <a:spcAft>
                <a:spcPts val="0"/>
              </a:spcAft>
              <a:buClr>
                <a:schemeClr val="lt1"/>
              </a:buClr>
              <a:buSzPts val="1600"/>
              <a:buFont typeface="Noto Sans Symbols"/>
              <a:buNone/>
            </a:pPr>
            <a:endParaRPr sz="1600" b="0" i="0" u="none" strike="noStrike" cap="none">
              <a:solidFill>
                <a:srgbClr val="444444"/>
              </a:solidFill>
              <a:latin typeface="Times New Roman"/>
              <a:ea typeface="Times New Roman"/>
              <a:cs typeface="Times New Roman"/>
              <a:sym typeface="Times New Roman"/>
            </a:endParaRPr>
          </a:p>
          <a:p>
            <a:pPr marL="742950" marR="0" lvl="1"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Kopya</a:t>
            </a:r>
            <a:endParaRPr/>
          </a:p>
          <a:p>
            <a:pPr marL="742950" marR="0" lvl="1"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Doğrudan</a:t>
            </a:r>
            <a:endParaRPr/>
          </a:p>
          <a:p>
            <a:pPr marL="742950" marR="0" lvl="1" indent="-285750" algn="l" rtl="0">
              <a:spcBef>
                <a:spcPts val="0"/>
              </a:spcBef>
              <a:spcAft>
                <a:spcPts val="0"/>
              </a:spcAft>
              <a:buClr>
                <a:srgbClr val="444444"/>
              </a:buClr>
              <a:buSzPts val="1600"/>
              <a:buFont typeface="Noto Sans Symbols"/>
              <a:buChar char="❖"/>
            </a:pPr>
            <a:r>
              <a:rPr lang="tr-TR" sz="1600" b="0" i="0" u="none" strike="noStrike" cap="none">
                <a:solidFill>
                  <a:srgbClr val="444444"/>
                </a:solidFill>
                <a:latin typeface="Times New Roman"/>
                <a:ea typeface="Times New Roman"/>
                <a:cs typeface="Times New Roman"/>
                <a:sym typeface="Times New Roman"/>
              </a:rPr>
              <a:t>Tek tip (Uniform )</a:t>
            </a:r>
            <a:endParaRPr/>
          </a:p>
          <a:p>
            <a:pPr marL="742950" marR="0" lvl="1" indent="-184150" algn="l" rtl="0">
              <a:spcBef>
                <a:spcPts val="0"/>
              </a:spcBef>
              <a:spcAft>
                <a:spcPts val="0"/>
              </a:spcAft>
              <a:buClr>
                <a:schemeClr val="lt1"/>
              </a:buClr>
              <a:buSzPts val="1600"/>
              <a:buFont typeface="Noto Sans Symbols"/>
              <a:buNone/>
            </a:pPr>
            <a:endParaRPr sz="1600" b="0" i="0" u="none" strike="noStrike" cap="none">
              <a:solidFill>
                <a:srgbClr val="444444"/>
              </a:solidFill>
              <a:latin typeface="Times New Roman"/>
              <a:ea typeface="Times New Roman"/>
              <a:cs typeface="Times New Roman"/>
              <a:sym typeface="Times New Roman"/>
            </a:endParaRPr>
          </a:p>
          <a:p>
            <a:pPr marL="0" marR="0" lvl="0" indent="0" algn="l" rtl="0">
              <a:spcBef>
                <a:spcPts val="0"/>
              </a:spcBef>
              <a:spcAft>
                <a:spcPts val="0"/>
              </a:spcAft>
              <a:buNone/>
            </a:pPr>
            <a:endParaRPr sz="1600">
              <a:solidFill>
                <a:srgbClr val="444444"/>
              </a:solidFill>
              <a:latin typeface="Times New Roman"/>
              <a:ea typeface="Times New Roman"/>
              <a:cs typeface="Times New Roman"/>
              <a:sym typeface="Times New Roman"/>
            </a:endParaRPr>
          </a:p>
        </p:txBody>
      </p:sp>
      <p:pic>
        <p:nvPicPr>
          <p:cNvPr id="131" name="Google Shape;131;p4"/>
          <p:cNvPicPr preferRelativeResize="0"/>
          <p:nvPr/>
        </p:nvPicPr>
        <p:blipFill rotWithShape="1">
          <a:blip r:embed="rId3">
            <a:alphaModFix/>
          </a:blip>
          <a:srcRect/>
          <a:stretch/>
        </p:blipFill>
        <p:spPr>
          <a:xfrm>
            <a:off x="2765147" y="1613409"/>
            <a:ext cx="3487871" cy="809421"/>
          </a:xfrm>
          <a:prstGeom prst="rect">
            <a:avLst/>
          </a:prstGeom>
          <a:noFill/>
          <a:ln>
            <a:noFill/>
          </a:ln>
        </p:spPr>
      </p:pic>
      <p:pic>
        <p:nvPicPr>
          <p:cNvPr id="132" name="Google Shape;132;p4"/>
          <p:cNvPicPr preferRelativeResize="0"/>
          <p:nvPr/>
        </p:nvPicPr>
        <p:blipFill rotWithShape="1">
          <a:blip r:embed="rId4">
            <a:alphaModFix/>
          </a:blip>
          <a:srcRect/>
          <a:stretch/>
        </p:blipFill>
        <p:spPr>
          <a:xfrm>
            <a:off x="6805847" y="2491530"/>
            <a:ext cx="5386154" cy="3867137"/>
          </a:xfrm>
          <a:prstGeom prst="rect">
            <a:avLst/>
          </a:prstGeom>
          <a:noFill/>
          <a:ln>
            <a:noFill/>
          </a:ln>
        </p:spPr>
      </p:pic>
      <p:sp>
        <p:nvSpPr>
          <p:cNvPr id="133" name="Google Shape;133;p4"/>
          <p:cNvSpPr txBox="1"/>
          <p:nvPr/>
        </p:nvSpPr>
        <p:spPr>
          <a:xfrm>
            <a:off x="71306" y="2952833"/>
            <a:ext cx="6748944"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800">
                <a:solidFill>
                  <a:srgbClr val="444444"/>
                </a:solidFill>
                <a:latin typeface="Times New Roman"/>
                <a:ea typeface="Times New Roman"/>
                <a:cs typeface="Times New Roman"/>
                <a:sym typeface="Times New Roman"/>
              </a:rPr>
              <a:t>Bir başlatma listesi kullanmak, doğrudan başlatma veya tek tip başlatma yapmakla neredeyse aynıdır : </a:t>
            </a:r>
            <a:endParaRPr/>
          </a:p>
          <a:p>
            <a:pPr marL="0" marR="0" lvl="0" indent="0" algn="just" rtl="0">
              <a:spcBef>
                <a:spcPts val="0"/>
              </a:spcBef>
              <a:spcAft>
                <a:spcPts val="0"/>
              </a:spcAft>
              <a:buNone/>
            </a:pPr>
            <a:endParaRPr sz="1800">
              <a:solidFill>
                <a:srgbClr val="444444"/>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rgbClr val="444444"/>
                </a:solidFill>
                <a:latin typeface="Times New Roman"/>
                <a:ea typeface="Times New Roman"/>
                <a:cs typeface="Times New Roman"/>
                <a:sym typeface="Times New Roman"/>
              </a:rPr>
              <a:t>Üye başlatıcı listesi, yapıcı parametrelerinden sonra eklenir. </a:t>
            </a:r>
            <a:endParaRPr/>
          </a:p>
          <a:p>
            <a:pPr marL="0" marR="0" lvl="0" indent="0" algn="just" rtl="0">
              <a:spcBef>
                <a:spcPts val="0"/>
              </a:spcBef>
              <a:spcAft>
                <a:spcPts val="0"/>
              </a:spcAft>
              <a:buNone/>
            </a:pPr>
            <a:r>
              <a:rPr lang="tr-TR" sz="1800">
                <a:solidFill>
                  <a:srgbClr val="444444"/>
                </a:solidFill>
                <a:latin typeface="Times New Roman"/>
                <a:ea typeface="Times New Roman"/>
                <a:cs typeface="Times New Roman"/>
                <a:sym typeface="Times New Roman"/>
              </a:rPr>
              <a:t>İki nokta üst üste (:) ile başlar ve ardından virgülle ayrılmış bu değişkenin değeriyle birlikte başlatılacak her değişkeni listeler. </a:t>
            </a:r>
            <a:endParaRPr/>
          </a:p>
          <a:p>
            <a:pPr marL="0" marR="0" lvl="0" indent="0" algn="just" rtl="0">
              <a:spcBef>
                <a:spcPts val="0"/>
              </a:spcBef>
              <a:spcAft>
                <a:spcPts val="0"/>
              </a:spcAft>
              <a:buNone/>
            </a:pPr>
            <a:endParaRPr sz="1800">
              <a:solidFill>
                <a:srgbClr val="444444"/>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rgbClr val="444444"/>
                </a:solidFill>
                <a:latin typeface="Times New Roman"/>
                <a:ea typeface="Times New Roman"/>
                <a:cs typeface="Times New Roman"/>
                <a:sym typeface="Times New Roman"/>
              </a:rPr>
              <a:t>Başlatıcı listesi bu işlevselliğin yerini aldığı için artık yapıcı gövdesinde atamaları yapmamıza gerek YOKTUR! </a:t>
            </a:r>
            <a:endParaRPr/>
          </a:p>
          <a:p>
            <a:pPr marL="0" marR="0" lvl="0" indent="0" algn="just" rtl="0">
              <a:spcBef>
                <a:spcPts val="0"/>
              </a:spcBef>
              <a:spcAft>
                <a:spcPts val="0"/>
              </a:spcAft>
              <a:buNone/>
            </a:pPr>
            <a:endParaRPr sz="1800">
              <a:solidFill>
                <a:srgbClr val="444444"/>
              </a:solidFill>
              <a:latin typeface="Times New Roman"/>
              <a:ea typeface="Times New Roman"/>
              <a:cs typeface="Times New Roman"/>
              <a:sym typeface="Times New Roman"/>
            </a:endParaRPr>
          </a:p>
          <a:p>
            <a:pPr marL="0" marR="0" lvl="0" indent="0" algn="just" rtl="0">
              <a:spcBef>
                <a:spcPts val="0"/>
              </a:spcBef>
              <a:spcAft>
                <a:spcPts val="0"/>
              </a:spcAft>
              <a:buNone/>
            </a:pPr>
            <a:r>
              <a:rPr lang="tr-TR" sz="1800">
                <a:solidFill>
                  <a:srgbClr val="444444"/>
                </a:solidFill>
                <a:latin typeface="Times New Roman"/>
                <a:ea typeface="Times New Roman"/>
                <a:cs typeface="Times New Roman"/>
                <a:sym typeface="Times New Roman"/>
              </a:rPr>
              <a:t>Ayrıca, başlatıcı listesinin noktalı virgülle bitmediğini UNUTMAYIN!</a:t>
            </a:r>
            <a:endParaRPr/>
          </a:p>
          <a:p>
            <a:pPr marL="0" marR="0" lvl="0" indent="0" algn="just" rtl="0">
              <a:spcBef>
                <a:spcPts val="0"/>
              </a:spcBef>
              <a:spcAft>
                <a:spcPts val="0"/>
              </a:spcAft>
              <a:buNone/>
            </a:pPr>
            <a:endParaRPr sz="1800">
              <a:solidFill>
                <a:srgbClr val="444444"/>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Üye başlatma listeleri</a:t>
            </a:r>
            <a:endParaRPr sz="1600" b="1" i="0" u="none" strike="noStrike" cap="none">
              <a:solidFill>
                <a:schemeClr val="lt1"/>
              </a:solidFill>
              <a:latin typeface="Times New Roman"/>
              <a:ea typeface="Times New Roman"/>
              <a:cs typeface="Times New Roman"/>
              <a:sym typeface="Times New Roman"/>
            </a:endParaRPr>
          </a:p>
        </p:txBody>
      </p:sp>
      <p:sp>
        <p:nvSpPr>
          <p:cNvPr id="139" name="Google Shape;139;p5"/>
          <p:cNvSpPr txBox="1"/>
          <p:nvPr/>
        </p:nvSpPr>
        <p:spPr>
          <a:xfrm>
            <a:off x="-17478" y="360727"/>
            <a:ext cx="1220947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600">
                <a:solidFill>
                  <a:srgbClr val="444444"/>
                </a:solidFill>
                <a:latin typeface="Times New Roman"/>
                <a:ea typeface="Times New Roman"/>
                <a:cs typeface="Times New Roman"/>
                <a:sym typeface="Times New Roman"/>
              </a:rPr>
              <a:t>Yapıcılar, çağıranın başlatma değerlerini geçmesine izin verdiğimizde  kullanışlı olmaktadır:</a:t>
            </a:r>
            <a:endParaRPr/>
          </a:p>
        </p:txBody>
      </p:sp>
      <p:pic>
        <p:nvPicPr>
          <p:cNvPr id="140" name="Google Shape;140;p5"/>
          <p:cNvPicPr preferRelativeResize="0"/>
          <p:nvPr/>
        </p:nvPicPr>
        <p:blipFill rotWithShape="1">
          <a:blip r:embed="rId3">
            <a:alphaModFix/>
          </a:blip>
          <a:srcRect/>
          <a:stretch/>
        </p:blipFill>
        <p:spPr>
          <a:xfrm>
            <a:off x="407207" y="823916"/>
            <a:ext cx="7893574" cy="53118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Üye başlatma listeleri</a:t>
            </a:r>
            <a:endParaRPr sz="1600" b="1" i="0" u="none" strike="noStrike" cap="none">
              <a:solidFill>
                <a:schemeClr val="lt1"/>
              </a:solidFill>
              <a:latin typeface="Times New Roman"/>
              <a:ea typeface="Times New Roman"/>
              <a:cs typeface="Times New Roman"/>
              <a:sym typeface="Times New Roman"/>
            </a:endParaRPr>
          </a:p>
        </p:txBody>
      </p:sp>
      <p:sp>
        <p:nvSpPr>
          <p:cNvPr id="146" name="Google Shape;146;p6"/>
          <p:cNvSpPr txBox="1"/>
          <p:nvPr/>
        </p:nvSpPr>
        <p:spPr>
          <a:xfrm>
            <a:off x="-17478" y="360727"/>
            <a:ext cx="12209477" cy="338554"/>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600" b="0" i="1" u="none" strike="noStrike" cap="none">
                <a:solidFill>
                  <a:srgbClr val="FF0000"/>
                </a:solidFill>
                <a:latin typeface="Times New Roman"/>
                <a:ea typeface="Times New Roman"/>
                <a:cs typeface="Times New Roman"/>
                <a:sym typeface="Times New Roman"/>
              </a:rPr>
              <a:t>const</a:t>
            </a:r>
            <a:r>
              <a:rPr lang="tr-TR" sz="1600" b="0" i="0" u="none" strike="noStrike" cap="none">
                <a:solidFill>
                  <a:srgbClr val="444444"/>
                </a:solidFill>
                <a:latin typeface="Times New Roman"/>
                <a:ea typeface="Times New Roman"/>
                <a:cs typeface="Times New Roman"/>
                <a:sym typeface="Times New Roman"/>
              </a:rPr>
              <a:t> üye değişkeni olan bir sınıf örneği:</a:t>
            </a:r>
            <a:endParaRPr/>
          </a:p>
        </p:txBody>
      </p:sp>
      <p:pic>
        <p:nvPicPr>
          <p:cNvPr id="147" name="Google Shape;147;p6"/>
          <p:cNvPicPr preferRelativeResize="0"/>
          <p:nvPr/>
        </p:nvPicPr>
        <p:blipFill rotWithShape="1">
          <a:blip r:embed="rId3">
            <a:alphaModFix/>
          </a:blip>
          <a:srcRect/>
          <a:stretch/>
        </p:blipFill>
        <p:spPr>
          <a:xfrm>
            <a:off x="514964" y="769691"/>
            <a:ext cx="5281830" cy="1915167"/>
          </a:xfrm>
          <a:prstGeom prst="rect">
            <a:avLst/>
          </a:prstGeom>
          <a:noFill/>
          <a:ln>
            <a:noFill/>
          </a:ln>
        </p:spPr>
      </p:pic>
      <p:sp>
        <p:nvSpPr>
          <p:cNvPr id="148" name="Google Shape;148;p6"/>
          <p:cNvSpPr txBox="1"/>
          <p:nvPr/>
        </p:nvSpPr>
        <p:spPr>
          <a:xfrm>
            <a:off x="5912841" y="859682"/>
            <a:ext cx="6102990"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Bu yöntem const değişkeni başlatmamızda işe yarıyor ancak onlara atama YAPAMIYORUZ!</a:t>
            </a:r>
            <a:endParaRPr/>
          </a:p>
        </p:txBody>
      </p:sp>
      <p:sp>
        <p:nvSpPr>
          <p:cNvPr id="149" name="Google Shape;149;p6"/>
          <p:cNvSpPr txBox="1"/>
          <p:nvPr/>
        </p:nvSpPr>
        <p:spPr>
          <a:xfrm>
            <a:off x="6660859" y="1751583"/>
            <a:ext cx="5531141"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Sınıf üyesi değişkenlerinizi atama ile başlatmak yerine başlatmak için üye başlatıcı listelerini kullanın.</a:t>
            </a:r>
            <a:endParaRPr/>
          </a:p>
        </p:txBody>
      </p:sp>
      <p:pic>
        <p:nvPicPr>
          <p:cNvPr id="150" name="Google Shape;150;p6" descr="Exclamation mark PNG"/>
          <p:cNvPicPr preferRelativeResize="0"/>
          <p:nvPr/>
        </p:nvPicPr>
        <p:blipFill rotWithShape="1">
          <a:blip r:embed="rId4">
            <a:alphaModFix/>
          </a:blip>
          <a:srcRect/>
          <a:stretch/>
        </p:blipFill>
        <p:spPr>
          <a:xfrm>
            <a:off x="5855208" y="1559969"/>
            <a:ext cx="1080000" cy="108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Üye başlatıcı listeleriyle dizi üyelerini başlatma</a:t>
            </a:r>
            <a:endParaRPr sz="1600" b="1" i="0" u="none" strike="noStrike" cap="none">
              <a:solidFill>
                <a:schemeClr val="lt1"/>
              </a:solidFill>
              <a:latin typeface="Times New Roman"/>
              <a:ea typeface="Times New Roman"/>
              <a:cs typeface="Times New Roman"/>
              <a:sym typeface="Times New Roman"/>
            </a:endParaRPr>
          </a:p>
        </p:txBody>
      </p:sp>
      <p:sp>
        <p:nvSpPr>
          <p:cNvPr id="156" name="Google Shape;156;p7"/>
          <p:cNvSpPr txBox="1"/>
          <p:nvPr/>
        </p:nvSpPr>
        <p:spPr>
          <a:xfrm>
            <a:off x="1398" y="360727"/>
            <a:ext cx="6094602"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Dizi üye değişkeni olan bir sınıf olsun:</a:t>
            </a:r>
            <a:endParaRPr sz="1800" b="0" i="0" u="none" strike="noStrike" cap="none">
              <a:solidFill>
                <a:schemeClr val="lt1"/>
              </a:solidFill>
              <a:latin typeface="Calibri"/>
              <a:ea typeface="Calibri"/>
              <a:cs typeface="Calibri"/>
              <a:sym typeface="Calibri"/>
            </a:endParaRPr>
          </a:p>
        </p:txBody>
      </p:sp>
      <p:pic>
        <p:nvPicPr>
          <p:cNvPr id="157" name="Google Shape;157;p7"/>
          <p:cNvPicPr preferRelativeResize="0"/>
          <p:nvPr/>
        </p:nvPicPr>
        <p:blipFill rotWithShape="1">
          <a:blip r:embed="rId3">
            <a:alphaModFix/>
          </a:blip>
          <a:srcRect/>
          <a:stretch/>
        </p:blipFill>
        <p:spPr>
          <a:xfrm>
            <a:off x="587685" y="864561"/>
            <a:ext cx="6513647" cy="41050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8"/>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Üye başlatıcı listeleriyle sınıf türünden sınıf üyelerini başlatma</a:t>
            </a:r>
            <a:endParaRPr sz="1600" b="1" i="0" u="none" strike="noStrike" cap="none">
              <a:solidFill>
                <a:schemeClr val="lt1"/>
              </a:solidFill>
              <a:latin typeface="Times New Roman"/>
              <a:ea typeface="Times New Roman"/>
              <a:cs typeface="Times New Roman"/>
              <a:sym typeface="Times New Roman"/>
            </a:endParaRPr>
          </a:p>
        </p:txBody>
      </p:sp>
      <p:sp>
        <p:nvSpPr>
          <p:cNvPr id="163" name="Google Shape;163;p8"/>
          <p:cNvSpPr txBox="1"/>
          <p:nvPr/>
        </p:nvSpPr>
        <p:spPr>
          <a:xfrm>
            <a:off x="1398" y="360727"/>
            <a:ext cx="12190602"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Bir üye başlatma listesi, sınıf olan üyeleri başlatmak için de kullanılabilir: </a:t>
            </a:r>
            <a:endParaRPr sz="1800" b="0" i="0" u="none" strike="noStrike" cap="none">
              <a:solidFill>
                <a:schemeClr val="lt1"/>
              </a:solidFill>
              <a:latin typeface="Calibri"/>
              <a:ea typeface="Calibri"/>
              <a:cs typeface="Calibri"/>
              <a:sym typeface="Calibri"/>
            </a:endParaRPr>
          </a:p>
        </p:txBody>
      </p:sp>
      <p:pic>
        <p:nvPicPr>
          <p:cNvPr id="164" name="Google Shape;164;p8"/>
          <p:cNvPicPr preferRelativeResize="0"/>
          <p:nvPr/>
        </p:nvPicPr>
        <p:blipFill rotWithShape="1">
          <a:blip r:embed="rId3">
            <a:alphaModFix/>
          </a:blip>
          <a:srcRect/>
          <a:stretch/>
        </p:blipFill>
        <p:spPr>
          <a:xfrm>
            <a:off x="524470" y="825122"/>
            <a:ext cx="6403943" cy="4320000"/>
          </a:xfrm>
          <a:prstGeom prst="rect">
            <a:avLst/>
          </a:prstGeom>
          <a:noFill/>
          <a:ln>
            <a:noFill/>
          </a:ln>
        </p:spPr>
      </p:pic>
      <p:sp>
        <p:nvSpPr>
          <p:cNvPr id="165" name="Google Shape;165;p8"/>
          <p:cNvSpPr txBox="1"/>
          <p:nvPr/>
        </p:nvSpPr>
        <p:spPr>
          <a:xfrm>
            <a:off x="7365534" y="825122"/>
            <a:ext cx="15351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u="sng">
                <a:solidFill>
                  <a:srgbClr val="444444"/>
                </a:solidFill>
                <a:latin typeface="Times New Roman"/>
                <a:ea typeface="Times New Roman"/>
                <a:cs typeface="Times New Roman"/>
                <a:sym typeface="Times New Roman"/>
              </a:rPr>
              <a:t>Ekran çıktısı:</a:t>
            </a:r>
            <a:endParaRPr sz="1800" u="sng">
              <a:solidFill>
                <a:schemeClr val="lt1"/>
              </a:solidFill>
              <a:latin typeface="Calibri"/>
              <a:ea typeface="Calibri"/>
              <a:cs typeface="Calibri"/>
              <a:sym typeface="Calibri"/>
            </a:endParaRPr>
          </a:p>
        </p:txBody>
      </p:sp>
      <p:pic>
        <p:nvPicPr>
          <p:cNvPr id="166" name="Google Shape;166;p8"/>
          <p:cNvPicPr preferRelativeResize="0"/>
          <p:nvPr/>
        </p:nvPicPr>
        <p:blipFill rotWithShape="1">
          <a:blip r:embed="rId4">
            <a:alphaModFix/>
          </a:blip>
          <a:srcRect/>
          <a:stretch/>
        </p:blipFill>
        <p:spPr>
          <a:xfrm>
            <a:off x="7458933" y="1289517"/>
            <a:ext cx="847843" cy="905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9"/>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Non-static üye başlatma</a:t>
            </a:r>
            <a:endParaRPr sz="1600" b="1" i="0" u="none" strike="noStrike" cap="none">
              <a:solidFill>
                <a:schemeClr val="lt1"/>
              </a:solidFill>
              <a:latin typeface="Times New Roman"/>
              <a:ea typeface="Times New Roman"/>
              <a:cs typeface="Times New Roman"/>
              <a:sym typeface="Times New Roman"/>
            </a:endParaRPr>
          </a:p>
        </p:txBody>
      </p:sp>
      <p:sp>
        <p:nvSpPr>
          <p:cNvPr id="172" name="Google Shape;172;p9"/>
          <p:cNvSpPr txBox="1"/>
          <p:nvPr/>
        </p:nvSpPr>
        <p:spPr>
          <a:xfrm>
            <a:off x="1398" y="360727"/>
            <a:ext cx="12190602" cy="1477328"/>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Birden çok yapıcıya sahip bir sınıf yazarken, her yapıcıdaki tüm üyeler için varsayılan değerler belirtmek zorunda kalmak, fazladan kod yazımına sebep olur.</a:t>
            </a:r>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Bir üye için varsayılan değeri güncellersek, her yapıcıya ayrı ayrı müdahale etmek gerekir. </a:t>
            </a:r>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Normal sınıf üyesi değişkenlerine (statik anahtar kelimeyi kullanmayanlar) doğrudan varsayılan bir başlatma değeri vermek mümkündür:</a:t>
            </a:r>
            <a:endParaRPr sz="1800" b="0" i="0" u="none" strike="noStrike" cap="none">
              <a:solidFill>
                <a:schemeClr val="lt1"/>
              </a:solidFill>
              <a:latin typeface="Calibri"/>
              <a:ea typeface="Calibri"/>
              <a:cs typeface="Calibri"/>
              <a:sym typeface="Calibri"/>
            </a:endParaRPr>
          </a:p>
        </p:txBody>
      </p:sp>
      <p:pic>
        <p:nvPicPr>
          <p:cNvPr id="173" name="Google Shape;173;p9"/>
          <p:cNvPicPr preferRelativeResize="0"/>
          <p:nvPr/>
        </p:nvPicPr>
        <p:blipFill rotWithShape="1">
          <a:blip r:embed="rId3">
            <a:alphaModFix/>
          </a:blip>
          <a:srcRect/>
          <a:stretch/>
        </p:blipFill>
        <p:spPr>
          <a:xfrm>
            <a:off x="526128" y="1936304"/>
            <a:ext cx="6555657" cy="4040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0"/>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Non-static üye başlatma</a:t>
            </a:r>
            <a:endParaRPr sz="1600" b="1" i="0" u="none" strike="noStrike" cap="none">
              <a:solidFill>
                <a:schemeClr val="lt1"/>
              </a:solidFill>
              <a:latin typeface="Times New Roman"/>
              <a:ea typeface="Times New Roman"/>
              <a:cs typeface="Times New Roman"/>
              <a:sym typeface="Times New Roman"/>
            </a:endParaRPr>
          </a:p>
        </p:txBody>
      </p:sp>
      <p:sp>
        <p:nvSpPr>
          <p:cNvPr id="179" name="Google Shape;179;p10"/>
          <p:cNvSpPr txBox="1"/>
          <p:nvPr/>
        </p:nvSpPr>
        <p:spPr>
          <a:xfrm>
            <a:off x="1398" y="360727"/>
            <a:ext cx="12190602"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Aşağıdaki durumu inceleyelim:</a:t>
            </a:r>
            <a:endParaRPr sz="1800" b="0" i="0" u="none" strike="noStrike" cap="none">
              <a:solidFill>
                <a:schemeClr val="lt1"/>
              </a:solidFill>
              <a:latin typeface="Calibri"/>
              <a:ea typeface="Calibri"/>
              <a:cs typeface="Calibri"/>
              <a:sym typeface="Calibri"/>
            </a:endParaRPr>
          </a:p>
        </p:txBody>
      </p:sp>
      <p:pic>
        <p:nvPicPr>
          <p:cNvPr id="180" name="Google Shape;180;p10"/>
          <p:cNvPicPr preferRelativeResize="0"/>
          <p:nvPr/>
        </p:nvPicPr>
        <p:blipFill rotWithShape="1">
          <a:blip r:embed="rId3">
            <a:alphaModFix/>
          </a:blip>
          <a:srcRect/>
          <a:stretch/>
        </p:blipFill>
        <p:spPr>
          <a:xfrm>
            <a:off x="2532528" y="875736"/>
            <a:ext cx="5982298" cy="4037896"/>
          </a:xfrm>
          <a:prstGeom prst="rect">
            <a:avLst/>
          </a:prstGeom>
          <a:noFill/>
          <a:ln>
            <a:noFill/>
          </a:ln>
        </p:spPr>
      </p:pic>
      <p:sp>
        <p:nvSpPr>
          <p:cNvPr id="181" name="Google Shape;181;p10"/>
          <p:cNvSpPr txBox="1"/>
          <p:nvPr/>
        </p:nvSpPr>
        <p:spPr>
          <a:xfrm>
            <a:off x="755009" y="5171330"/>
            <a:ext cx="11344711"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Tüm üyeler için varsayılan değerler sağlamış olsak da, varsayılan bir yapıcı sağlanmamıştır. </a:t>
            </a:r>
            <a:endParaRPr/>
          </a:p>
          <a:p>
            <a:pPr marL="0" marR="0" lvl="0" indent="0" algn="just" rtl="0">
              <a:spcBef>
                <a:spcPts val="0"/>
              </a:spcBef>
              <a:spcAft>
                <a:spcPts val="0"/>
              </a:spcAft>
              <a:buNone/>
            </a:pPr>
            <a:r>
              <a:rPr lang="tr-TR" sz="1600">
                <a:solidFill>
                  <a:schemeClr val="lt1"/>
                </a:solidFill>
                <a:latin typeface="Times New Roman"/>
                <a:ea typeface="Times New Roman"/>
                <a:cs typeface="Times New Roman"/>
                <a:sym typeface="Times New Roman"/>
              </a:rPr>
              <a:t>Bu nedenle argüman içermeyen Dikdörtgen nesnelerini oluşturamıyoruz.</a:t>
            </a:r>
            <a:endParaRPr/>
          </a:p>
        </p:txBody>
      </p:sp>
      <p:pic>
        <p:nvPicPr>
          <p:cNvPr id="182" name="Google Shape;182;p10" descr="Exclamation mark PNG"/>
          <p:cNvPicPr preferRelativeResize="0"/>
          <p:nvPr/>
        </p:nvPicPr>
        <p:blipFill rotWithShape="1">
          <a:blip r:embed="rId4">
            <a:alphaModFix/>
          </a:blip>
          <a:srcRect/>
          <a:stretch/>
        </p:blipFill>
        <p:spPr>
          <a:xfrm>
            <a:off x="0" y="4999455"/>
            <a:ext cx="1080000" cy="108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1"/>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Non-static üye başlatma</a:t>
            </a:r>
            <a:endParaRPr sz="1600" b="1" i="0" u="none" strike="noStrike" cap="none">
              <a:solidFill>
                <a:schemeClr val="lt1"/>
              </a:solidFill>
              <a:latin typeface="Times New Roman"/>
              <a:ea typeface="Times New Roman"/>
              <a:cs typeface="Times New Roman"/>
              <a:sym typeface="Times New Roman"/>
            </a:endParaRPr>
          </a:p>
        </p:txBody>
      </p:sp>
      <p:sp>
        <p:nvSpPr>
          <p:cNvPr id="188" name="Google Shape;188;p11"/>
          <p:cNvSpPr txBox="1"/>
          <p:nvPr/>
        </p:nvSpPr>
        <p:spPr>
          <a:xfrm>
            <a:off x="1398" y="360727"/>
            <a:ext cx="12190602" cy="646331"/>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Varsayılan bir başlatma değeri sağlanırsa ve yapıcı, üyeyi üye başlatıcı listesi aracılığıyla başlatırsa, üye başlatıcı listesi öncelikli olacaktır. Yani:</a:t>
            </a:r>
            <a:endParaRPr sz="1800" b="0" i="0" u="none" strike="noStrike" cap="none">
              <a:solidFill>
                <a:schemeClr val="lt1"/>
              </a:solidFill>
              <a:latin typeface="Calibri"/>
              <a:ea typeface="Calibri"/>
              <a:cs typeface="Calibri"/>
              <a:sym typeface="Calibri"/>
            </a:endParaRPr>
          </a:p>
        </p:txBody>
      </p:sp>
      <p:pic>
        <p:nvPicPr>
          <p:cNvPr id="189" name="Google Shape;189;p11"/>
          <p:cNvPicPr preferRelativeResize="0"/>
          <p:nvPr/>
        </p:nvPicPr>
        <p:blipFill rotWithShape="1">
          <a:blip r:embed="rId3">
            <a:alphaModFix/>
          </a:blip>
          <a:srcRect/>
          <a:stretch/>
        </p:blipFill>
        <p:spPr>
          <a:xfrm>
            <a:off x="526326" y="1007058"/>
            <a:ext cx="5505358" cy="5647330"/>
          </a:xfrm>
          <a:prstGeom prst="rect">
            <a:avLst/>
          </a:prstGeom>
          <a:noFill/>
          <a:ln>
            <a:noFill/>
          </a:ln>
        </p:spPr>
      </p:pic>
      <p:pic>
        <p:nvPicPr>
          <p:cNvPr id="190" name="Google Shape;190;p11"/>
          <p:cNvPicPr preferRelativeResize="0"/>
          <p:nvPr/>
        </p:nvPicPr>
        <p:blipFill rotWithShape="1">
          <a:blip r:embed="rId4">
            <a:alphaModFix/>
          </a:blip>
          <a:srcRect/>
          <a:stretch/>
        </p:blipFill>
        <p:spPr>
          <a:xfrm>
            <a:off x="6556612" y="1600602"/>
            <a:ext cx="1800476" cy="571580"/>
          </a:xfrm>
          <a:prstGeom prst="rect">
            <a:avLst/>
          </a:prstGeom>
          <a:noFill/>
          <a:ln>
            <a:noFill/>
          </a:ln>
        </p:spPr>
      </p:pic>
      <p:sp>
        <p:nvSpPr>
          <p:cNvPr id="191" name="Google Shape;191;p11"/>
          <p:cNvSpPr txBox="1"/>
          <p:nvPr/>
        </p:nvSpPr>
        <p:spPr>
          <a:xfrm>
            <a:off x="6499370" y="1183119"/>
            <a:ext cx="14743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u="sng">
                <a:solidFill>
                  <a:srgbClr val="444444"/>
                </a:solidFill>
                <a:latin typeface="Times New Roman"/>
                <a:ea typeface="Times New Roman"/>
                <a:cs typeface="Times New Roman"/>
                <a:sym typeface="Times New Roman"/>
              </a:rPr>
              <a:t>Ekran çıktısı:</a:t>
            </a:r>
            <a:endParaRPr sz="1800" u="sng">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2"/>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Örtüşen (çakışan) işlevselliğe sahip kurucular</a:t>
            </a:r>
            <a:endParaRPr sz="1600" b="1" i="0" u="none" strike="noStrike" cap="none">
              <a:solidFill>
                <a:schemeClr val="lt1"/>
              </a:solidFill>
              <a:latin typeface="Times New Roman"/>
              <a:ea typeface="Times New Roman"/>
              <a:cs typeface="Times New Roman"/>
              <a:sym typeface="Times New Roman"/>
            </a:endParaRPr>
          </a:p>
        </p:txBody>
      </p:sp>
      <p:sp>
        <p:nvSpPr>
          <p:cNvPr id="197" name="Google Shape;197;p12"/>
          <p:cNvSpPr txBox="1"/>
          <p:nvPr/>
        </p:nvSpPr>
        <p:spPr>
          <a:xfrm>
            <a:off x="1398" y="360727"/>
            <a:ext cx="12190602" cy="646331"/>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Yeni bir nesneyi başlattığımız zaman, nesnenin yapıcısı kapalı (implicitly) olarak çağrılır. </a:t>
            </a:r>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Örtüşen (overlapping) işlevselliğe sahip birden çok kurucuya sahip bir sınıfa sahip olmak yaygın bir durumdur.</a:t>
            </a:r>
            <a:endParaRPr sz="1800" b="0" i="0" u="none" strike="noStrike" cap="none">
              <a:solidFill>
                <a:schemeClr val="lt1"/>
              </a:solidFill>
              <a:latin typeface="Calibri"/>
              <a:ea typeface="Calibri"/>
              <a:cs typeface="Calibri"/>
              <a:sym typeface="Calibri"/>
            </a:endParaRPr>
          </a:p>
        </p:txBody>
      </p:sp>
      <p:graphicFrame>
        <p:nvGraphicFramePr>
          <p:cNvPr id="198" name="Google Shape;198;p12"/>
          <p:cNvGraphicFramePr/>
          <p:nvPr/>
        </p:nvGraphicFramePr>
        <p:xfrm>
          <a:off x="565274" y="1191086"/>
          <a:ext cx="3000000" cy="3000000"/>
        </p:xfrm>
        <a:graphic>
          <a:graphicData uri="http://schemas.openxmlformats.org/drawingml/2006/table">
            <a:tbl>
              <a:tblPr>
                <a:noFill/>
                <a:tableStyleId>{C645D5A8-BB4C-4242-B6C5-D9FA4D3F957C}</a:tableStyleId>
              </a:tblPr>
              <a:tblGrid>
                <a:gridCol w="335100">
                  <a:extLst>
                    <a:ext uri="{9D8B030D-6E8A-4147-A177-3AD203B41FA5}">
                      <a16:colId xmlns:a16="http://schemas.microsoft.com/office/drawing/2014/main" val="20000"/>
                    </a:ext>
                  </a:extLst>
                </a:gridCol>
                <a:gridCol w="6582600">
                  <a:extLst>
                    <a:ext uri="{9D8B030D-6E8A-4147-A177-3AD203B41FA5}">
                      <a16:colId xmlns:a16="http://schemas.microsoft.com/office/drawing/2014/main" val="20001"/>
                    </a:ext>
                  </a:extLst>
                </a:gridCol>
              </a:tblGrid>
              <a:tr h="2709800">
                <a:tc>
                  <a:txBody>
                    <a:bodyPr/>
                    <a:lstStyle/>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2</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3</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4</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5</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6</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7</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8</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9</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10</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11</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12</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13</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14</a:t>
                      </a:r>
                      <a:endParaRPr/>
                    </a:p>
                  </a:txBody>
                  <a:tcPr marL="68525" marR="35675" marT="34250" marB="34250">
                    <a:lnL w="9525" cap="flat" cmpd="sng">
                      <a:solidFill>
                        <a:srgbClr val="000000">
                          <a:alpha val="0"/>
                        </a:srgbClr>
                      </a:solidFill>
                      <a:prstDash val="solid"/>
                      <a:round/>
                      <a:headEnd type="none" w="sm" len="sm"/>
                      <a:tailEnd type="none" w="sm" len="sm"/>
                    </a:lnL>
                    <a:lnR w="28575" cap="flat" cmpd="sng">
                      <a:solidFill>
                        <a:srgbClr val="6CE26C"/>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2E2"/>
                    </a:solidFill>
                  </a:tcPr>
                </a:tc>
                <a:tc>
                  <a:txBody>
                    <a:bodyPr/>
                    <a:lstStyle/>
                    <a:p>
                      <a:pPr marL="0" marR="0" lvl="0" indent="0" algn="l" rtl="0">
                        <a:spcBef>
                          <a:spcPts val="0"/>
                        </a:spcBef>
                        <a:spcAft>
                          <a:spcPts val="0"/>
                        </a:spcAft>
                        <a:buNone/>
                      </a:pPr>
                      <a:r>
                        <a:rPr lang="tr-TR" sz="1300" u="none" strike="noStrike" cap="none">
                          <a:solidFill>
                            <a:srgbClr val="800080"/>
                          </a:solidFill>
                          <a:latin typeface="Arial"/>
                          <a:ea typeface="Arial"/>
                          <a:cs typeface="Arial"/>
                          <a:sym typeface="Arial"/>
                        </a:rPr>
                        <a:t>class</a:t>
                      </a: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800080"/>
                          </a:solidFill>
                          <a:latin typeface="Arial"/>
                          <a:ea typeface="Arial"/>
                          <a:cs typeface="Arial"/>
                          <a:sym typeface="Arial"/>
                        </a:rPr>
                        <a:t>public</a:t>
                      </a:r>
                      <a:r>
                        <a:rPr lang="tr-TR" sz="1300" u="none" strike="noStrike" cap="none">
                          <a:solidFill>
                            <a:srgbClr val="006FE0"/>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8800"/>
                          </a:solidFill>
                          <a:latin typeface="Arial"/>
                          <a:ea typeface="Arial"/>
                          <a:cs typeface="Arial"/>
                          <a:sym typeface="Arial"/>
                        </a:rPr>
                        <a:t>// A işlemini yap</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0000"/>
                          </a:solidFill>
                          <a:latin typeface="Arial"/>
                          <a:ea typeface="Arial"/>
                          <a:cs typeface="Arial"/>
                          <a:sym typeface="Arial"/>
                        </a:rPr>
                        <a:t> </a:t>
                      </a:r>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 </a:t>
                      </a:r>
                      <a:r>
                        <a:rPr lang="tr-TR" sz="1300" u="none" strike="noStrike" cap="none">
                          <a:solidFill>
                            <a:srgbClr val="333333"/>
                          </a:solidFill>
                          <a:latin typeface="Arial"/>
                          <a:ea typeface="Arial"/>
                          <a:cs typeface="Arial"/>
                          <a:sym typeface="Arial"/>
                        </a:rPr>
                        <a:t>(</a:t>
                      </a:r>
                      <a:r>
                        <a:rPr lang="tr-TR" sz="1300" u="none" strike="noStrike" cap="none">
                          <a:solidFill>
                            <a:srgbClr val="800080"/>
                          </a:solidFill>
                          <a:latin typeface="Arial"/>
                          <a:ea typeface="Arial"/>
                          <a:cs typeface="Arial"/>
                          <a:sym typeface="Arial"/>
                        </a:rPr>
                        <a:t>int</a:t>
                      </a:r>
                      <a:r>
                        <a:rPr lang="tr-TR" sz="1300" u="none" strike="noStrike" cap="none">
                          <a:solidFill>
                            <a:srgbClr val="006FE0"/>
                          </a:solidFill>
                          <a:latin typeface="Arial"/>
                          <a:ea typeface="Arial"/>
                          <a:cs typeface="Arial"/>
                          <a:sym typeface="Arial"/>
                        </a:rPr>
                        <a:t> </a:t>
                      </a:r>
                      <a:r>
                        <a:rPr lang="tr-TR" sz="1300" u="none" strike="noStrike" cap="none">
                          <a:solidFill>
                            <a:srgbClr val="002D7A"/>
                          </a:solidFill>
                          <a:latin typeface="Arial"/>
                          <a:ea typeface="Arial"/>
                          <a:cs typeface="Arial"/>
                          <a:sym typeface="Arial"/>
                        </a:rPr>
                        <a:t>value</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8800"/>
                          </a:solidFill>
                          <a:latin typeface="Arial"/>
                          <a:ea typeface="Arial"/>
                          <a:cs typeface="Arial"/>
                          <a:sym typeface="Arial"/>
                        </a:rPr>
                        <a:t>// A işlemini yap</a:t>
                      </a:r>
                      <a:endParaRPr/>
                    </a:p>
                    <a:p>
                      <a:pPr marL="0" marR="0" lvl="0" indent="0" algn="l" rtl="0">
                        <a:spcBef>
                          <a:spcPts val="0"/>
                        </a:spcBef>
                        <a:spcAft>
                          <a:spcPts val="0"/>
                        </a:spcAft>
                        <a:buNone/>
                      </a:pPr>
                      <a:r>
                        <a:rPr lang="tr-TR" sz="1300" u="none" strike="noStrike" cap="none">
                          <a:solidFill>
                            <a:srgbClr val="008800"/>
                          </a:solidFill>
                          <a:latin typeface="Arial"/>
                          <a:ea typeface="Arial"/>
                          <a:cs typeface="Arial"/>
                          <a:sym typeface="Arial"/>
                        </a:rPr>
                        <a:t>        // B işlemini yap</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txBody>
                  <a:tcPr marL="68525" marR="68525" marT="34250" marB="34250">
                    <a:lnL w="28575" cap="flat" cmpd="sng">
                      <a:solidFill>
                        <a:srgbClr val="6CE26C"/>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2E2"/>
                    </a:solidFill>
                  </a:tcPr>
                </a:tc>
                <a:extLst>
                  <a:ext uri="{0D108BD9-81ED-4DB2-BD59-A6C34878D82A}">
                    <a16:rowId xmlns:a16="http://schemas.microsoft.com/office/drawing/2014/main" val="10000"/>
                  </a:ext>
                </a:extLst>
              </a:tr>
            </a:tbl>
          </a:graphicData>
        </a:graphic>
      </p:graphicFrame>
      <p:sp>
        <p:nvSpPr>
          <p:cNvPr id="199" name="Google Shape;199;p12"/>
          <p:cNvSpPr txBox="1"/>
          <p:nvPr/>
        </p:nvSpPr>
        <p:spPr>
          <a:xfrm>
            <a:off x="0" y="4126789"/>
            <a:ext cx="12192000" cy="2308324"/>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chemeClr val="lt1"/>
                </a:solidFill>
                <a:latin typeface="Times New Roman"/>
                <a:ea typeface="Times New Roman"/>
                <a:cs typeface="Times New Roman"/>
                <a:sym typeface="Times New Roman"/>
              </a:rPr>
              <a:t>Bu sınıfın iki yapıcısı vardır: </a:t>
            </a:r>
            <a:endParaRPr/>
          </a:p>
          <a:p>
            <a:pPr marL="742950" marR="0" lvl="1" indent="-285750" algn="l" rtl="0">
              <a:spcBef>
                <a:spcPts val="0"/>
              </a:spcBef>
              <a:spcAft>
                <a:spcPts val="0"/>
              </a:spcAft>
              <a:buClr>
                <a:schemeClr val="lt1"/>
              </a:buClr>
              <a:buSzPts val="1800"/>
              <a:buFont typeface="Times New Roman"/>
              <a:buChar char="-"/>
            </a:pPr>
            <a:r>
              <a:rPr lang="tr-TR" sz="1800" b="0" i="0" u="none" strike="noStrike" cap="none">
                <a:solidFill>
                  <a:schemeClr val="lt1"/>
                </a:solidFill>
                <a:latin typeface="Times New Roman"/>
                <a:ea typeface="Times New Roman"/>
                <a:cs typeface="Times New Roman"/>
                <a:sym typeface="Times New Roman"/>
              </a:rPr>
              <a:t>bir varsayılan kurucu</a:t>
            </a:r>
            <a:endParaRPr/>
          </a:p>
          <a:p>
            <a:pPr marL="742950" marR="0" lvl="1" indent="-285750" algn="l" rtl="0">
              <a:spcBef>
                <a:spcPts val="0"/>
              </a:spcBef>
              <a:spcAft>
                <a:spcPts val="0"/>
              </a:spcAft>
              <a:buClr>
                <a:schemeClr val="lt1"/>
              </a:buClr>
              <a:buSzPts val="1800"/>
              <a:buFont typeface="Times New Roman"/>
              <a:buChar char="-"/>
            </a:pPr>
            <a:r>
              <a:rPr lang="tr-TR" sz="1800" b="0" i="0" u="none" strike="noStrike" cap="none">
                <a:solidFill>
                  <a:schemeClr val="lt1"/>
                </a:solidFill>
                <a:latin typeface="Times New Roman"/>
                <a:ea typeface="Times New Roman"/>
                <a:cs typeface="Times New Roman"/>
                <a:sym typeface="Times New Roman"/>
              </a:rPr>
              <a:t>bir tamsayı alan bir kurucu. </a:t>
            </a:r>
            <a:endParaRPr/>
          </a:p>
          <a:p>
            <a:pPr marL="457200" marR="0" lvl="1" indent="0" algn="l"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chemeClr val="lt1"/>
                </a:solidFill>
                <a:latin typeface="Times New Roman"/>
                <a:ea typeface="Times New Roman"/>
                <a:cs typeface="Times New Roman"/>
                <a:sym typeface="Times New Roman"/>
              </a:rPr>
              <a:t>Yapıcının "A işlemini yap" kısmı her iki yapıcı tarafından da gerekli olduğundan, kod her yapıcı için çoğaltılır. </a:t>
            </a:r>
            <a:endParaRPr/>
          </a:p>
          <a:p>
            <a:pPr marL="457200" marR="0" lvl="1" indent="0" algn="l"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chemeClr val="lt1"/>
                </a:solidFill>
                <a:latin typeface="Times New Roman"/>
                <a:ea typeface="Times New Roman"/>
                <a:cs typeface="Times New Roman"/>
                <a:sym typeface="Times New Roman"/>
              </a:rPr>
              <a:t>Yinelenen kodlara sahip olmak mümkün olduğunca uzak durulması gereken bir şeydir ve buna engel olmanın bazı yolları vardır: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3"/>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Örtüşen (çakışan) işlevselliğe sahip kurucular</a:t>
            </a:r>
            <a:endParaRPr sz="1600" b="1" i="0" u="none" strike="noStrike" cap="none">
              <a:solidFill>
                <a:schemeClr val="lt1"/>
              </a:solidFill>
              <a:latin typeface="Times New Roman"/>
              <a:ea typeface="Times New Roman"/>
              <a:cs typeface="Times New Roman"/>
              <a:sym typeface="Times New Roman"/>
            </a:endParaRPr>
          </a:p>
        </p:txBody>
      </p:sp>
      <p:sp>
        <p:nvSpPr>
          <p:cNvPr id="205" name="Google Shape;205;p13"/>
          <p:cNvSpPr txBox="1"/>
          <p:nvPr/>
        </p:nvSpPr>
        <p:spPr>
          <a:xfrm>
            <a:off x="1398" y="360727"/>
            <a:ext cx="12190602" cy="369332"/>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Bariz çözüm, myClass (int) yapıcısının A kısmını icra etmek için yapmak için myClass() yapıcısını çağırması olacaktır.</a:t>
            </a:r>
            <a:endParaRPr sz="1800" b="0" i="0" u="none" strike="noStrike" cap="none">
              <a:solidFill>
                <a:schemeClr val="lt1"/>
              </a:solidFill>
              <a:latin typeface="Calibri"/>
              <a:ea typeface="Calibri"/>
              <a:cs typeface="Calibri"/>
              <a:sym typeface="Calibri"/>
            </a:endParaRPr>
          </a:p>
        </p:txBody>
      </p:sp>
      <p:graphicFrame>
        <p:nvGraphicFramePr>
          <p:cNvPr id="206" name="Google Shape;206;p13"/>
          <p:cNvGraphicFramePr/>
          <p:nvPr/>
        </p:nvGraphicFramePr>
        <p:xfrm>
          <a:off x="565274" y="1191085"/>
          <a:ext cx="3000000" cy="3000000"/>
        </p:xfrm>
        <a:graphic>
          <a:graphicData uri="http://schemas.openxmlformats.org/drawingml/2006/table">
            <a:tbl>
              <a:tblPr>
                <a:noFill/>
                <a:tableStyleId>{C645D5A8-BB4C-4242-B6C5-D9FA4D3F957C}</a:tableStyleId>
              </a:tblPr>
              <a:tblGrid>
                <a:gridCol w="356325">
                  <a:extLst>
                    <a:ext uri="{9D8B030D-6E8A-4147-A177-3AD203B41FA5}">
                      <a16:colId xmlns:a16="http://schemas.microsoft.com/office/drawing/2014/main" val="20000"/>
                    </a:ext>
                  </a:extLst>
                </a:gridCol>
                <a:gridCol w="9708450">
                  <a:extLst>
                    <a:ext uri="{9D8B030D-6E8A-4147-A177-3AD203B41FA5}">
                      <a16:colId xmlns:a16="http://schemas.microsoft.com/office/drawing/2014/main" val="20001"/>
                    </a:ext>
                  </a:extLst>
                </a:gridCol>
              </a:tblGrid>
              <a:tr h="2835625">
                <a:tc>
                  <a:txBody>
                    <a:bodyPr/>
                    <a:lstStyle/>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2</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3</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4</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5</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6</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7</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8</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9</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10</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11</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12</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13</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14</a:t>
                      </a:r>
                      <a:endParaRPr/>
                    </a:p>
                  </a:txBody>
                  <a:tcPr marL="68525" marR="35675" marT="34250" marB="34250">
                    <a:lnL w="9525" cap="flat" cmpd="sng">
                      <a:solidFill>
                        <a:srgbClr val="000000">
                          <a:alpha val="0"/>
                        </a:srgbClr>
                      </a:solidFill>
                      <a:prstDash val="solid"/>
                      <a:round/>
                      <a:headEnd type="none" w="sm" len="sm"/>
                      <a:tailEnd type="none" w="sm" len="sm"/>
                    </a:lnL>
                    <a:lnR w="28575" cap="flat" cmpd="sng">
                      <a:solidFill>
                        <a:srgbClr val="6CE26C"/>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2E2"/>
                    </a:solidFill>
                  </a:tcPr>
                </a:tc>
                <a:tc>
                  <a:txBody>
                    <a:bodyPr/>
                    <a:lstStyle/>
                    <a:p>
                      <a:pPr marL="0" marR="0" lvl="0" indent="0" algn="l" rtl="0">
                        <a:spcBef>
                          <a:spcPts val="0"/>
                        </a:spcBef>
                        <a:spcAft>
                          <a:spcPts val="0"/>
                        </a:spcAft>
                        <a:buNone/>
                      </a:pPr>
                      <a:r>
                        <a:rPr lang="tr-TR" sz="1300" u="none" strike="noStrike" cap="none">
                          <a:solidFill>
                            <a:srgbClr val="800080"/>
                          </a:solidFill>
                          <a:latin typeface="Arial"/>
                          <a:ea typeface="Arial"/>
                          <a:cs typeface="Arial"/>
                          <a:sym typeface="Arial"/>
                        </a:rPr>
                        <a:t>class</a:t>
                      </a: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800080"/>
                          </a:solidFill>
                          <a:latin typeface="Arial"/>
                          <a:ea typeface="Arial"/>
                          <a:cs typeface="Arial"/>
                          <a:sym typeface="Arial"/>
                        </a:rPr>
                        <a:t>public</a:t>
                      </a:r>
                      <a:r>
                        <a:rPr lang="tr-TR" sz="1300" u="none" strike="noStrike" cap="none">
                          <a:solidFill>
                            <a:srgbClr val="006FE0"/>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8800"/>
                          </a:solidFill>
                          <a:latin typeface="Arial"/>
                          <a:ea typeface="Arial"/>
                          <a:cs typeface="Arial"/>
                          <a:sym typeface="Arial"/>
                        </a:rPr>
                        <a:t>// A işlemini yap</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0000"/>
                          </a:solidFill>
                          <a:latin typeface="Arial"/>
                          <a:ea typeface="Arial"/>
                          <a:cs typeface="Arial"/>
                          <a:sym typeface="Arial"/>
                        </a:rPr>
                        <a:t> </a:t>
                      </a:r>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 </a:t>
                      </a:r>
                      <a:r>
                        <a:rPr lang="tr-TR" sz="1300" u="none" strike="noStrike" cap="none">
                          <a:solidFill>
                            <a:srgbClr val="333333"/>
                          </a:solidFill>
                          <a:latin typeface="Arial"/>
                          <a:ea typeface="Arial"/>
                          <a:cs typeface="Arial"/>
                          <a:sym typeface="Arial"/>
                        </a:rPr>
                        <a:t>(</a:t>
                      </a:r>
                      <a:r>
                        <a:rPr lang="tr-TR" sz="1300" u="none" strike="noStrike" cap="none">
                          <a:solidFill>
                            <a:srgbClr val="800080"/>
                          </a:solidFill>
                          <a:latin typeface="Arial"/>
                          <a:ea typeface="Arial"/>
                          <a:cs typeface="Arial"/>
                          <a:sym typeface="Arial"/>
                        </a:rPr>
                        <a:t>int</a:t>
                      </a:r>
                      <a:r>
                        <a:rPr lang="tr-TR" sz="1300" u="none" strike="noStrike" cap="none">
                          <a:solidFill>
                            <a:srgbClr val="006FE0"/>
                          </a:solidFill>
                          <a:latin typeface="Arial"/>
                          <a:ea typeface="Arial"/>
                          <a:cs typeface="Arial"/>
                          <a:sym typeface="Arial"/>
                        </a:rPr>
                        <a:t> </a:t>
                      </a:r>
                      <a:r>
                        <a:rPr lang="tr-TR" sz="1300" u="none" strike="noStrike" cap="none">
                          <a:solidFill>
                            <a:srgbClr val="002D7A"/>
                          </a:solidFill>
                          <a:latin typeface="Arial"/>
                          <a:ea typeface="Arial"/>
                          <a:cs typeface="Arial"/>
                          <a:sym typeface="Arial"/>
                        </a:rPr>
                        <a:t>value</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FE0"/>
                        </a:buClr>
                        <a:buSzPts val="1300"/>
                        <a:buFont typeface="Arial"/>
                        <a:buNone/>
                      </a:pP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 </a:t>
                      </a:r>
                      <a:r>
                        <a:rPr lang="tr-TR" sz="1300" u="none" strike="noStrike" cap="none">
                          <a:solidFill>
                            <a:srgbClr val="333333"/>
                          </a:solidFill>
                          <a:latin typeface="Arial"/>
                          <a:ea typeface="Arial"/>
                          <a:cs typeface="Arial"/>
                          <a:sym typeface="Arial"/>
                        </a:rPr>
                        <a:t>()</a:t>
                      </a:r>
                      <a:r>
                        <a:rPr lang="tr-TR" sz="1300" u="none" strike="noStrike" cap="none">
                          <a:solidFill>
                            <a:srgbClr val="000000"/>
                          </a:solidFill>
                          <a:latin typeface="Arial"/>
                          <a:ea typeface="Arial"/>
                          <a:cs typeface="Arial"/>
                          <a:sym typeface="Arial"/>
                        </a:rPr>
                        <a:t>; </a:t>
                      </a:r>
                      <a:r>
                        <a:rPr lang="tr-TR" sz="1300" u="none" strike="noStrike" cap="none">
                          <a:solidFill>
                            <a:srgbClr val="008800"/>
                          </a:solidFill>
                          <a:latin typeface="Arial"/>
                          <a:ea typeface="Arial"/>
                          <a:cs typeface="Arial"/>
                          <a:sym typeface="Arial"/>
                        </a:rPr>
                        <a:t>// Üstteki yapıcıyı A işlemini yapması için çağırıyoruz (AMA ÇALIŞMAZ!!!) </a:t>
                      </a:r>
                      <a:endParaRPr/>
                    </a:p>
                    <a:p>
                      <a:pPr marL="0" marR="0" lvl="0" indent="0" algn="l" rtl="0">
                        <a:spcBef>
                          <a:spcPts val="0"/>
                        </a:spcBef>
                        <a:spcAft>
                          <a:spcPts val="0"/>
                        </a:spcAft>
                        <a:buNone/>
                      </a:pPr>
                      <a:r>
                        <a:rPr lang="tr-TR" sz="1300" u="none" strike="noStrike" cap="none">
                          <a:solidFill>
                            <a:srgbClr val="008800"/>
                          </a:solidFill>
                          <a:latin typeface="Arial"/>
                          <a:ea typeface="Arial"/>
                          <a:cs typeface="Arial"/>
                          <a:sym typeface="Arial"/>
                        </a:rPr>
                        <a:t>        // B işlemini yap</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txBody>
                  <a:tcPr marL="68525" marR="68525" marT="34250" marB="34250">
                    <a:lnL w="28575" cap="flat" cmpd="sng">
                      <a:solidFill>
                        <a:srgbClr val="6CE26C"/>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2E2"/>
                    </a:solidFill>
                  </a:tcPr>
                </a:tc>
                <a:extLst>
                  <a:ext uri="{0D108BD9-81ED-4DB2-BD59-A6C34878D82A}">
                    <a16:rowId xmlns:a16="http://schemas.microsoft.com/office/drawing/2014/main" val="10000"/>
                  </a:ext>
                </a:extLst>
              </a:tr>
            </a:tbl>
          </a:graphicData>
        </a:graphic>
      </p:graphicFrame>
      <p:sp>
        <p:nvSpPr>
          <p:cNvPr id="207" name="Google Shape;207;p13"/>
          <p:cNvSpPr txBox="1"/>
          <p:nvPr/>
        </p:nvSpPr>
        <p:spPr>
          <a:xfrm>
            <a:off x="-46140" y="4317689"/>
            <a:ext cx="12238140" cy="2031325"/>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chemeClr val="lt1"/>
                </a:solidFill>
                <a:latin typeface="Times New Roman"/>
                <a:ea typeface="Times New Roman"/>
                <a:cs typeface="Times New Roman"/>
                <a:sym typeface="Times New Roman"/>
              </a:rPr>
              <a:t>Bununla birlikte, bir yapıcının başka bir yapıcıyı bu şekilde çağırmasını denerseniz, derler ve belki bir uyarıya neden olur, ancak beklediğiniz gibi çalışmaz ve muhtemelen nedenini anlamak zaman alır. </a:t>
            </a:r>
            <a:endParaRPr/>
          </a:p>
          <a:p>
            <a:pPr marL="457200" marR="0" lvl="1" indent="0" algn="l"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chemeClr val="lt1"/>
                </a:solidFill>
                <a:latin typeface="Times New Roman"/>
                <a:ea typeface="Times New Roman"/>
                <a:cs typeface="Times New Roman"/>
                <a:sym typeface="Times New Roman"/>
              </a:rPr>
              <a:t>Durumun özeti şudur: myClass() çağrıldığında somutlaşan bir nesne elde edilir ancak bu nesne bir değişkende depolanmadığı için hemen atılır. </a:t>
            </a:r>
            <a:endParaRPr/>
          </a:p>
          <a:p>
            <a:pPr marL="457200" marR="0" lvl="1" indent="0" algn="l"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chemeClr val="lt1"/>
                </a:solidFill>
                <a:latin typeface="Times New Roman"/>
                <a:ea typeface="Times New Roman"/>
                <a:cs typeface="Times New Roman"/>
                <a:sym typeface="Times New Roman"/>
              </a:rPr>
              <a:t>Çözümü ise </a:t>
            </a:r>
            <a:r>
              <a:rPr lang="tr-TR" sz="1800" b="1" i="0" u="none" strike="noStrike" cap="none">
                <a:solidFill>
                  <a:schemeClr val="lt1"/>
                </a:solidFill>
                <a:latin typeface="Times New Roman"/>
                <a:ea typeface="Times New Roman"/>
                <a:cs typeface="Times New Roman"/>
                <a:sym typeface="Times New Roman"/>
              </a:rPr>
              <a:t>temsilci yapıcılar</a:t>
            </a:r>
            <a:r>
              <a:rPr lang="tr-TR" sz="1800" b="0" i="0" u="none" strike="noStrike" cap="none">
                <a:solidFill>
                  <a:schemeClr val="lt1"/>
                </a:solidFill>
                <a:latin typeface="Times New Roman"/>
                <a:ea typeface="Times New Roman"/>
                <a:cs typeface="Times New Roman"/>
                <a:sym typeface="Times New Roman"/>
              </a:rPr>
              <a:t> veya </a:t>
            </a:r>
            <a:r>
              <a:rPr lang="tr-TR" sz="1800" b="1" i="0" u="none" strike="noStrike" cap="none">
                <a:solidFill>
                  <a:schemeClr val="lt1"/>
                </a:solidFill>
                <a:latin typeface="Times New Roman"/>
                <a:ea typeface="Times New Roman"/>
                <a:cs typeface="Times New Roman"/>
                <a:sym typeface="Times New Roman"/>
              </a:rPr>
              <a:t>yapıcı zincirleme</a:t>
            </a:r>
            <a:r>
              <a:rPr lang="tr-TR" sz="1800" b="0" i="0" u="none" strike="noStrike" cap="none">
                <a:solidFill>
                  <a:schemeClr val="lt1"/>
                </a:solidFill>
                <a:latin typeface="Times New Roman"/>
                <a:ea typeface="Times New Roman"/>
                <a:cs typeface="Times New Roman"/>
                <a:sym typeface="Times New Roman"/>
              </a:rPr>
              <a:t> ile olur.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4"/>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Temsilci Yapıcılar (Yapıcı Zincirleme)</a:t>
            </a:r>
            <a:endParaRPr sz="1600" b="1" i="0" u="none" strike="noStrike" cap="none">
              <a:solidFill>
                <a:schemeClr val="lt1"/>
              </a:solidFill>
              <a:latin typeface="Times New Roman"/>
              <a:ea typeface="Times New Roman"/>
              <a:cs typeface="Times New Roman"/>
              <a:sym typeface="Times New Roman"/>
            </a:endParaRPr>
          </a:p>
        </p:txBody>
      </p:sp>
      <p:sp>
        <p:nvSpPr>
          <p:cNvPr id="213" name="Google Shape;213;p14"/>
          <p:cNvSpPr txBox="1"/>
          <p:nvPr/>
        </p:nvSpPr>
        <p:spPr>
          <a:xfrm>
            <a:off x="1398" y="360727"/>
            <a:ext cx="12190602" cy="1754326"/>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Yapıcıların diğer yapıcıları çağırmasına izin veren süreçtir. </a:t>
            </a:r>
            <a:endParaRPr/>
          </a:p>
          <a:p>
            <a:pPr marL="457200" marR="0" lvl="1" indent="0" algn="l" rtl="0">
              <a:spcBef>
                <a:spcPts val="0"/>
              </a:spcBef>
              <a:spcAft>
                <a:spcPts val="0"/>
              </a:spcAft>
              <a:buNone/>
            </a:pPr>
            <a:endParaRPr sz="1800" b="0" i="0" u="none" strike="noStrike" cap="none">
              <a:solidFill>
                <a:srgbClr val="444444"/>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Bir yapıcının diğerini çağırmasını sağlamak için, üye başlatıcı listesinde yapıcıyı çağırmamız yeterlidir. Bu, başka bir yapıcıyı doğrudan çağırmanın en makul durumudur. Yukarıdaki örneğimize uygulandı: </a:t>
            </a:r>
            <a:endParaRPr/>
          </a:p>
          <a:p>
            <a:pPr marL="457200" marR="0" lvl="1" indent="0" algn="l" rtl="0">
              <a:spcBef>
                <a:spcPts val="0"/>
              </a:spcBef>
              <a:spcAft>
                <a:spcPts val="0"/>
              </a:spcAft>
              <a:buNone/>
            </a:pPr>
            <a:endParaRPr sz="1800" b="0" i="0" u="none" strike="noStrike" cap="none">
              <a:solidFill>
                <a:srgbClr val="444444"/>
              </a:solidFill>
              <a:latin typeface="Times New Roman"/>
              <a:ea typeface="Times New Roman"/>
              <a:cs typeface="Times New Roman"/>
              <a:sym typeface="Times New Roman"/>
            </a:endParaRPr>
          </a:p>
          <a:p>
            <a:pPr marL="457200" marR="0" lvl="1"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4" name="Google Shape;214;p14"/>
          <p:cNvSpPr txBox="1"/>
          <p:nvPr/>
        </p:nvSpPr>
        <p:spPr>
          <a:xfrm>
            <a:off x="0" y="4648994"/>
            <a:ext cx="12238140" cy="92333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chemeClr val="lt1"/>
                </a:solidFill>
                <a:latin typeface="Times New Roman"/>
                <a:ea typeface="Times New Roman"/>
                <a:cs typeface="Times New Roman"/>
                <a:sym typeface="Times New Roman"/>
              </a:rPr>
              <a:t>Bu şekliyle kafamızda tasarladığımız gibi çalışır. </a:t>
            </a:r>
            <a:endParaRPr/>
          </a:p>
          <a:p>
            <a:pPr marL="457200" marR="0" lvl="1" indent="0" algn="l"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a:p>
            <a:pPr marL="457200" marR="0" lvl="1" indent="0" algn="l"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p:txBody>
      </p:sp>
      <p:graphicFrame>
        <p:nvGraphicFramePr>
          <p:cNvPr id="215" name="Google Shape;215;p14"/>
          <p:cNvGraphicFramePr/>
          <p:nvPr/>
        </p:nvGraphicFramePr>
        <p:xfrm>
          <a:off x="552021" y="1641659"/>
          <a:ext cx="3000000" cy="3000000"/>
        </p:xfrm>
        <a:graphic>
          <a:graphicData uri="http://schemas.openxmlformats.org/drawingml/2006/table">
            <a:tbl>
              <a:tblPr>
                <a:noFill/>
                <a:tableStyleId>{C645D5A8-BB4C-4242-B6C5-D9FA4D3F957C}</a:tableStyleId>
              </a:tblPr>
              <a:tblGrid>
                <a:gridCol w="356325">
                  <a:extLst>
                    <a:ext uri="{9D8B030D-6E8A-4147-A177-3AD203B41FA5}">
                      <a16:colId xmlns:a16="http://schemas.microsoft.com/office/drawing/2014/main" val="20000"/>
                    </a:ext>
                  </a:extLst>
                </a:gridCol>
                <a:gridCol w="9708450">
                  <a:extLst>
                    <a:ext uri="{9D8B030D-6E8A-4147-A177-3AD203B41FA5}">
                      <a16:colId xmlns:a16="http://schemas.microsoft.com/office/drawing/2014/main" val="20001"/>
                    </a:ext>
                  </a:extLst>
                </a:gridCol>
              </a:tblGrid>
              <a:tr h="2835625">
                <a:tc>
                  <a:txBody>
                    <a:bodyPr/>
                    <a:lstStyle/>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2</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3</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4</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5</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6</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7</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8</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9</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10</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11</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12</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13</a:t>
                      </a:r>
                      <a:endParaRPr/>
                    </a:p>
                    <a:p>
                      <a:pPr marL="0" marR="0" lvl="0" indent="0" algn="ctr" rtl="0">
                        <a:spcBef>
                          <a:spcPts val="0"/>
                        </a:spcBef>
                        <a:spcAft>
                          <a:spcPts val="0"/>
                        </a:spcAft>
                        <a:buNone/>
                      </a:pPr>
                      <a:r>
                        <a:rPr lang="tr-TR" sz="1300" u="none" strike="noStrike" cap="none">
                          <a:solidFill>
                            <a:srgbClr val="AFAFAF"/>
                          </a:solidFill>
                          <a:latin typeface="Arial"/>
                          <a:ea typeface="Arial"/>
                          <a:cs typeface="Arial"/>
                          <a:sym typeface="Arial"/>
                        </a:rPr>
                        <a:t>14</a:t>
                      </a:r>
                      <a:endParaRPr/>
                    </a:p>
                  </a:txBody>
                  <a:tcPr marL="68525" marR="35675" marT="34250" marB="34250">
                    <a:lnL w="9525" cap="flat" cmpd="sng">
                      <a:solidFill>
                        <a:srgbClr val="000000">
                          <a:alpha val="0"/>
                        </a:srgbClr>
                      </a:solidFill>
                      <a:prstDash val="solid"/>
                      <a:round/>
                      <a:headEnd type="none" w="sm" len="sm"/>
                      <a:tailEnd type="none" w="sm" len="sm"/>
                    </a:lnL>
                    <a:lnR w="28575" cap="flat" cmpd="sng">
                      <a:solidFill>
                        <a:srgbClr val="6CE26C"/>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2E2"/>
                    </a:solidFill>
                  </a:tcPr>
                </a:tc>
                <a:tc>
                  <a:txBody>
                    <a:bodyPr/>
                    <a:lstStyle/>
                    <a:p>
                      <a:pPr marL="0" marR="0" lvl="0" indent="0" algn="l" rtl="0">
                        <a:spcBef>
                          <a:spcPts val="0"/>
                        </a:spcBef>
                        <a:spcAft>
                          <a:spcPts val="0"/>
                        </a:spcAft>
                        <a:buNone/>
                      </a:pPr>
                      <a:r>
                        <a:rPr lang="tr-TR" sz="1300" u="none" strike="noStrike" cap="none">
                          <a:solidFill>
                            <a:srgbClr val="800080"/>
                          </a:solidFill>
                          <a:latin typeface="Arial"/>
                          <a:ea typeface="Arial"/>
                          <a:cs typeface="Arial"/>
                          <a:sym typeface="Arial"/>
                        </a:rPr>
                        <a:t>class</a:t>
                      </a: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800080"/>
                          </a:solidFill>
                          <a:latin typeface="Arial"/>
                          <a:ea typeface="Arial"/>
                          <a:cs typeface="Arial"/>
                          <a:sym typeface="Arial"/>
                        </a:rPr>
                        <a:t>public</a:t>
                      </a:r>
                      <a:r>
                        <a:rPr lang="tr-TR" sz="1300" u="none" strike="noStrike" cap="none">
                          <a:solidFill>
                            <a:srgbClr val="006FE0"/>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008800"/>
                          </a:solidFill>
                          <a:latin typeface="Arial"/>
                          <a:ea typeface="Arial"/>
                          <a:cs typeface="Arial"/>
                          <a:sym typeface="Arial"/>
                        </a:rPr>
                        <a:t>// A işlemini yap</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0000"/>
                          </a:solidFill>
                          <a:latin typeface="Arial"/>
                          <a:ea typeface="Arial"/>
                          <a:cs typeface="Arial"/>
                          <a:sym typeface="Arial"/>
                        </a:rPr>
                        <a:t> </a:t>
                      </a:r>
                      <a:endParaRPr/>
                    </a:p>
                    <a:p>
                      <a:pPr marL="0" marR="0" lvl="0" indent="0" algn="l" rtl="0">
                        <a:lnSpc>
                          <a:spcPct val="100000"/>
                        </a:lnSpc>
                        <a:spcBef>
                          <a:spcPts val="0"/>
                        </a:spcBef>
                        <a:spcAft>
                          <a:spcPts val="0"/>
                        </a:spcAft>
                        <a:buClr>
                          <a:srgbClr val="006FE0"/>
                        </a:buClr>
                        <a:buSzPts val="1300"/>
                        <a:buFont typeface="Arial"/>
                        <a:buNone/>
                      </a:pPr>
                      <a:r>
                        <a:rPr lang="tr-TR" sz="1300" u="none" strike="noStrike" cap="none">
                          <a:solidFill>
                            <a:srgbClr val="006FE0"/>
                          </a:solidFill>
                          <a:latin typeface="Arial"/>
                          <a:ea typeface="Arial"/>
                          <a:cs typeface="Arial"/>
                          <a:sym typeface="Arial"/>
                        </a:rPr>
                        <a:t>    </a:t>
                      </a:r>
                      <a:r>
                        <a:rPr lang="tr-TR" sz="1300" u="none" strike="noStrike" cap="none">
                          <a:solidFill>
                            <a:srgbClr val="004ED0"/>
                          </a:solidFill>
                          <a:latin typeface="Arial"/>
                          <a:ea typeface="Arial"/>
                          <a:cs typeface="Arial"/>
                          <a:sym typeface="Arial"/>
                        </a:rPr>
                        <a:t>myClass </a:t>
                      </a:r>
                      <a:r>
                        <a:rPr lang="tr-TR" sz="1300" u="none" strike="noStrike" cap="none">
                          <a:solidFill>
                            <a:srgbClr val="333333"/>
                          </a:solidFill>
                          <a:latin typeface="Arial"/>
                          <a:ea typeface="Arial"/>
                          <a:cs typeface="Arial"/>
                          <a:sym typeface="Arial"/>
                        </a:rPr>
                        <a:t>(</a:t>
                      </a:r>
                      <a:r>
                        <a:rPr lang="tr-TR" sz="1300" u="none" strike="noStrike" cap="none">
                          <a:solidFill>
                            <a:srgbClr val="800080"/>
                          </a:solidFill>
                          <a:latin typeface="Arial"/>
                          <a:ea typeface="Arial"/>
                          <a:cs typeface="Arial"/>
                          <a:sym typeface="Arial"/>
                        </a:rPr>
                        <a:t>int</a:t>
                      </a:r>
                      <a:r>
                        <a:rPr lang="tr-TR" sz="1300" u="none" strike="noStrike" cap="none">
                          <a:solidFill>
                            <a:srgbClr val="006FE0"/>
                          </a:solidFill>
                          <a:latin typeface="Arial"/>
                          <a:ea typeface="Arial"/>
                          <a:cs typeface="Arial"/>
                          <a:sym typeface="Arial"/>
                        </a:rPr>
                        <a:t> </a:t>
                      </a:r>
                      <a:r>
                        <a:rPr lang="tr-TR" sz="1300" u="none" strike="noStrike" cap="none">
                          <a:solidFill>
                            <a:srgbClr val="002D7A"/>
                          </a:solidFill>
                          <a:latin typeface="Arial"/>
                          <a:ea typeface="Arial"/>
                          <a:cs typeface="Arial"/>
                          <a:sym typeface="Arial"/>
                        </a:rPr>
                        <a:t>value</a:t>
                      </a:r>
                      <a:r>
                        <a:rPr lang="tr-TR" sz="1300" u="none" strike="noStrike" cap="none">
                          <a:solidFill>
                            <a:srgbClr val="333333"/>
                          </a:solidFill>
                          <a:latin typeface="Arial"/>
                          <a:ea typeface="Arial"/>
                          <a:cs typeface="Arial"/>
                          <a:sym typeface="Arial"/>
                        </a:rPr>
                        <a:t>) : myClass{} </a:t>
                      </a:r>
                      <a:r>
                        <a:rPr lang="tr-TR" sz="1300" u="none" strike="noStrike" cap="none">
                          <a:solidFill>
                            <a:srgbClr val="008800"/>
                          </a:solidFill>
                          <a:latin typeface="Arial"/>
                          <a:ea typeface="Arial"/>
                          <a:cs typeface="Arial"/>
                          <a:sym typeface="Arial"/>
                        </a:rPr>
                        <a:t>// A işlemini yapması myClass() varsayılan yapıcısı çağrılır. </a:t>
                      </a:r>
                      <a:r>
                        <a:rPr lang="tr-TR" sz="1300" u="none" strike="noStrike" cap="none">
                          <a:solidFill>
                            <a:srgbClr val="006FE0"/>
                          </a:solidFill>
                          <a:latin typeface="Arial"/>
                          <a:ea typeface="Arial"/>
                          <a:cs typeface="Arial"/>
                          <a:sym typeface="Arial"/>
                        </a:rPr>
                        <a:t> </a:t>
                      </a:r>
                      <a:endParaRPr sz="1300" u="none" strike="noStrike" cap="none">
                        <a:solidFill>
                          <a:srgbClr val="006FE0"/>
                        </a:solidFill>
                        <a:latin typeface="Arial"/>
                        <a:ea typeface="Arial"/>
                        <a:cs typeface="Arial"/>
                        <a:sym typeface="Arial"/>
                      </a:endParaRPr>
                    </a:p>
                    <a:p>
                      <a:pPr marL="0" marR="0" lvl="0" indent="0" algn="l" rtl="0">
                        <a:lnSpc>
                          <a:spcPct val="100000"/>
                        </a:lnSpc>
                        <a:spcBef>
                          <a:spcPts val="0"/>
                        </a:spcBef>
                        <a:spcAft>
                          <a:spcPts val="0"/>
                        </a:spcAft>
                        <a:buClr>
                          <a:srgbClr val="006FE0"/>
                        </a:buClr>
                        <a:buSzPts val="1300"/>
                        <a:buFont typeface="Arial"/>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6FE0"/>
                        </a:buClr>
                        <a:buSzPts val="1300"/>
                        <a:buFont typeface="Arial"/>
                        <a:buNone/>
                      </a:pPr>
                      <a:r>
                        <a:rPr lang="tr-TR" sz="1300" u="none" strike="noStrike" cap="none">
                          <a:solidFill>
                            <a:srgbClr val="006FE0"/>
                          </a:solidFill>
                          <a:latin typeface="Arial"/>
                          <a:ea typeface="Arial"/>
                          <a:cs typeface="Arial"/>
                          <a:sym typeface="Arial"/>
                        </a:rPr>
                        <a:t>         </a:t>
                      </a:r>
                      <a:r>
                        <a:rPr lang="tr-TR" sz="1300" u="none" strike="noStrike" cap="none">
                          <a:solidFill>
                            <a:srgbClr val="008800"/>
                          </a:solidFill>
                          <a:latin typeface="Arial"/>
                          <a:ea typeface="Arial"/>
                          <a:cs typeface="Arial"/>
                          <a:sym typeface="Arial"/>
                        </a:rPr>
                        <a:t>// B işlemini yap</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006FE0"/>
                          </a:solidFill>
                          <a:latin typeface="Arial"/>
                          <a:ea typeface="Arial"/>
                          <a:cs typeface="Arial"/>
                          <a:sym typeface="Arial"/>
                        </a:rPr>
                        <a:t>    </a:t>
                      </a: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p>
                      <a:pPr marL="0" marR="0" lvl="0" indent="0" algn="l" rtl="0">
                        <a:spcBef>
                          <a:spcPts val="0"/>
                        </a:spcBef>
                        <a:spcAft>
                          <a:spcPts val="0"/>
                        </a:spcAft>
                        <a:buNone/>
                      </a:pPr>
                      <a:r>
                        <a:rPr lang="tr-TR" sz="1300" u="none" strike="noStrike" cap="none">
                          <a:solidFill>
                            <a:srgbClr val="333333"/>
                          </a:solidFill>
                          <a:latin typeface="Arial"/>
                          <a:ea typeface="Arial"/>
                          <a:cs typeface="Arial"/>
                          <a:sym typeface="Arial"/>
                        </a:rPr>
                        <a:t>};</a:t>
                      </a:r>
                      <a:endParaRPr sz="1300" u="none" strike="noStrike" cap="none">
                        <a:solidFill>
                          <a:srgbClr val="000000"/>
                        </a:solidFill>
                        <a:latin typeface="Arial"/>
                        <a:ea typeface="Arial"/>
                        <a:cs typeface="Arial"/>
                        <a:sym typeface="Arial"/>
                      </a:endParaRPr>
                    </a:p>
                  </a:txBody>
                  <a:tcPr marL="68525" marR="68525" marT="34250" marB="34250">
                    <a:lnL w="28575" cap="flat" cmpd="sng">
                      <a:solidFill>
                        <a:srgbClr val="6CE26C"/>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2E2E2"/>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Yıkıcılar (Destructors)</a:t>
            </a:r>
            <a:endParaRPr sz="1600" b="1" i="0" u="none" strike="noStrike" cap="none">
              <a:solidFill>
                <a:schemeClr val="lt1"/>
              </a:solidFill>
              <a:latin typeface="Times New Roman"/>
              <a:ea typeface="Times New Roman"/>
              <a:cs typeface="Times New Roman"/>
              <a:sym typeface="Times New Roman"/>
            </a:endParaRPr>
          </a:p>
        </p:txBody>
      </p:sp>
      <p:sp>
        <p:nvSpPr>
          <p:cNvPr id="221" name="Google Shape;221;p15"/>
          <p:cNvSpPr txBox="1"/>
          <p:nvPr/>
        </p:nvSpPr>
        <p:spPr>
          <a:xfrm>
            <a:off x="1398" y="360727"/>
            <a:ext cx="12190602" cy="590931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Yıkıcı, bir sınıfa ait bir nesnenin yok edilmesi için çalıştırılan özel bir tür sınıf üye fonksiyonudur. </a:t>
            </a:r>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Yapıcılar bir sınıfı başlatmak için tasarlanırken, yıkıcılar temizlemeye yardımcı olmak için tasarlanmıştır.</a:t>
            </a:r>
            <a:endParaRPr/>
          </a:p>
          <a:p>
            <a:pPr marL="457200" marR="0" lvl="1" indent="0" algn="l" rtl="0">
              <a:spcBef>
                <a:spcPts val="0"/>
              </a:spcBef>
              <a:spcAft>
                <a:spcPts val="0"/>
              </a:spcAft>
              <a:buNone/>
            </a:pPr>
            <a:endParaRPr sz="1800" b="0" i="0" u="none" strike="noStrike" cap="none">
              <a:solidFill>
                <a:srgbClr val="444444"/>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Bir nesne normal olarak kapsam dışına çıktığında veya dinamik olarak ayrılmış bir nesne </a:t>
            </a:r>
            <a:r>
              <a:rPr lang="tr-TR" sz="1800" b="1" i="1" u="none" strike="noStrike" cap="none">
                <a:solidFill>
                  <a:srgbClr val="444444"/>
                </a:solidFill>
                <a:latin typeface="Times New Roman"/>
                <a:ea typeface="Times New Roman"/>
                <a:cs typeface="Times New Roman"/>
                <a:sym typeface="Times New Roman"/>
              </a:rPr>
              <a:t>delete</a:t>
            </a:r>
            <a:r>
              <a:rPr lang="tr-TR" sz="1800" b="0" i="0" u="none" strike="noStrike" cap="none">
                <a:solidFill>
                  <a:srgbClr val="444444"/>
                </a:solidFill>
                <a:latin typeface="Times New Roman"/>
                <a:ea typeface="Times New Roman"/>
                <a:cs typeface="Times New Roman"/>
                <a:sym typeface="Times New Roman"/>
              </a:rPr>
              <a:t> anahtar sözcüğü kullanılarak açıkça silindiğinde, nesne bellekten kaldırılmadan önce gerekli herhangi bir temizlemeyi yapmak için sınıfın yıkıcı fonksiyonu otomatik olarak çağrılır (varsa). </a:t>
            </a:r>
            <a:endParaRPr/>
          </a:p>
          <a:p>
            <a:pPr marL="457200" marR="0" lvl="1" indent="0" algn="l" rtl="0">
              <a:spcBef>
                <a:spcPts val="0"/>
              </a:spcBef>
              <a:spcAft>
                <a:spcPts val="0"/>
              </a:spcAft>
              <a:buNone/>
            </a:pPr>
            <a:endParaRPr sz="1800" b="0" i="0" u="none" strike="noStrike" cap="none">
              <a:solidFill>
                <a:srgbClr val="444444"/>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Basit sınıflar için (sadece normal üye değişkenlerinin değerlerini başlatanlar), bir yıkıcıya gerek yoktur çünkü C ++ sizin için belleği otomatik olarak temizleyecektir.</a:t>
            </a:r>
            <a:endParaRPr/>
          </a:p>
          <a:p>
            <a:pPr marL="457200" marR="0" lvl="1" indent="0" algn="l" rtl="0">
              <a:spcBef>
                <a:spcPts val="0"/>
              </a:spcBef>
              <a:spcAft>
                <a:spcPts val="0"/>
              </a:spcAft>
              <a:buNone/>
            </a:pPr>
            <a:endParaRPr sz="1800" b="0" i="0" u="none" strike="noStrike" cap="none">
              <a:solidFill>
                <a:srgbClr val="444444"/>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Bununla birlikte, sınıf nesnesi herhangi bir kaynağı tutuyorsa (ör. dinamik bellek veya bir dosya veya veritabanı tutucusu) veya nesne yok edilmeden önce herhangi bir teyit yapmak gerekiyorsa, yıkıcı fonksiyon bunu yapmak için en uygun yerdir. </a:t>
            </a:r>
            <a:endParaRPr/>
          </a:p>
          <a:p>
            <a:pPr marL="457200" marR="0" lvl="1" indent="0" algn="l" rtl="0">
              <a:spcBef>
                <a:spcPts val="0"/>
              </a:spcBef>
              <a:spcAft>
                <a:spcPts val="0"/>
              </a:spcAft>
              <a:buNone/>
            </a:pPr>
            <a:endParaRPr sz="1800" b="0" i="0" u="none" strike="noStrike" cap="none">
              <a:solidFill>
                <a:srgbClr val="444444"/>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Yapıcılar gibi yıkıcıların da isimlendirilmesi için belirli kurallar vardır:</a:t>
            </a:r>
            <a:endParaRPr/>
          </a:p>
          <a:p>
            <a:pPr marL="742950" marR="0" lvl="1" indent="-285750" algn="l" rtl="0">
              <a:spcBef>
                <a:spcPts val="0"/>
              </a:spcBef>
              <a:spcAft>
                <a:spcPts val="0"/>
              </a:spcAft>
              <a:buClr>
                <a:srgbClr val="444444"/>
              </a:buClr>
              <a:buSzPts val="1800"/>
              <a:buFont typeface="Arial"/>
              <a:buChar char="•"/>
            </a:pPr>
            <a:r>
              <a:rPr lang="tr-TR" sz="1800" b="0" i="0" u="none" strike="noStrike" cap="none">
                <a:solidFill>
                  <a:srgbClr val="444444"/>
                </a:solidFill>
                <a:latin typeface="Times New Roman"/>
                <a:ea typeface="Times New Roman"/>
                <a:cs typeface="Times New Roman"/>
                <a:sym typeface="Times New Roman"/>
              </a:rPr>
              <a:t>Yıkıcı, sınıfla aynı ada sahip olmalı ve önünde tilde (~) olmalıdır. </a:t>
            </a:r>
            <a:endParaRPr/>
          </a:p>
          <a:p>
            <a:pPr marL="742950" marR="0" lvl="1" indent="-285750" algn="l" rtl="0">
              <a:spcBef>
                <a:spcPts val="0"/>
              </a:spcBef>
              <a:spcAft>
                <a:spcPts val="0"/>
              </a:spcAft>
              <a:buClr>
                <a:srgbClr val="444444"/>
              </a:buClr>
              <a:buSzPts val="1800"/>
              <a:buFont typeface="Arial"/>
              <a:buChar char="•"/>
            </a:pPr>
            <a:r>
              <a:rPr lang="tr-TR" sz="1800" b="0" i="0" u="none" strike="noStrike" cap="none">
                <a:solidFill>
                  <a:srgbClr val="444444"/>
                </a:solidFill>
                <a:latin typeface="Times New Roman"/>
                <a:ea typeface="Times New Roman"/>
                <a:cs typeface="Times New Roman"/>
                <a:sym typeface="Times New Roman"/>
              </a:rPr>
              <a:t>Yıkıcı argüman almaz. </a:t>
            </a:r>
            <a:endParaRPr/>
          </a:p>
          <a:p>
            <a:pPr marL="742950" marR="0" lvl="1" indent="-285750" algn="l" rtl="0">
              <a:spcBef>
                <a:spcPts val="0"/>
              </a:spcBef>
              <a:spcAft>
                <a:spcPts val="0"/>
              </a:spcAft>
              <a:buClr>
                <a:srgbClr val="444444"/>
              </a:buClr>
              <a:buSzPts val="1800"/>
              <a:buFont typeface="Arial"/>
              <a:buChar char="•"/>
            </a:pPr>
            <a:r>
              <a:rPr lang="tr-TR" sz="1800" b="0" i="0" u="none" strike="noStrike" cap="none">
                <a:solidFill>
                  <a:srgbClr val="444444"/>
                </a:solidFill>
                <a:latin typeface="Times New Roman"/>
                <a:ea typeface="Times New Roman"/>
                <a:cs typeface="Times New Roman"/>
                <a:sym typeface="Times New Roman"/>
              </a:rPr>
              <a:t>Yıkıcının dönüş türü yoktur. </a:t>
            </a:r>
            <a:endParaRPr/>
          </a:p>
          <a:p>
            <a:pPr marL="742950" marR="0" lvl="1" indent="-171450" algn="l" rtl="0">
              <a:spcBef>
                <a:spcPts val="0"/>
              </a:spcBef>
              <a:spcAft>
                <a:spcPts val="0"/>
              </a:spcAft>
              <a:buClr>
                <a:schemeClr val="lt1"/>
              </a:buClr>
              <a:buSzPts val="1800"/>
              <a:buFont typeface="Arial"/>
              <a:buNone/>
            </a:pPr>
            <a:endParaRPr sz="1800" b="0" i="0" u="none" strike="noStrike" cap="none">
              <a:solidFill>
                <a:srgbClr val="444444"/>
              </a:solidFill>
              <a:latin typeface="Times New Roman"/>
              <a:ea typeface="Times New Roman"/>
              <a:cs typeface="Times New Roman"/>
              <a:sym typeface="Times New Roman"/>
            </a:endParaRPr>
          </a:p>
          <a:p>
            <a:pPr marL="457200" marR="0" lvl="1" indent="0" algn="l" rtl="0">
              <a:spcBef>
                <a:spcPts val="0"/>
              </a:spcBef>
              <a:spcAft>
                <a:spcPts val="0"/>
              </a:spcAft>
              <a:buNone/>
            </a:pPr>
            <a:r>
              <a:rPr lang="tr-TR" sz="1800" b="0" i="0" u="none" strike="noStrike" cap="none">
                <a:solidFill>
                  <a:srgbClr val="444444"/>
                </a:solidFill>
                <a:latin typeface="Times New Roman"/>
                <a:ea typeface="Times New Roman"/>
                <a:cs typeface="Times New Roman"/>
                <a:sym typeface="Times New Roman"/>
              </a:rPr>
              <a:t>Argüman almadığından dolayı birbirlerinden ayırt edilemeyecekleri için yıkıcılara aşırı yükleme yapılamaz ve bu sebeple bir sınıfa ait bir yıkıcı vardır. </a:t>
            </a:r>
            <a:endParaRPr/>
          </a:p>
          <a:p>
            <a:pPr marL="457200" marR="0" lvl="1" indent="0" algn="l" rtl="0">
              <a:spcBef>
                <a:spcPts val="0"/>
              </a:spcBef>
              <a:spcAft>
                <a:spcPts val="0"/>
              </a:spcAft>
              <a:buNone/>
            </a:pPr>
            <a:endParaRPr sz="1800" b="0" i="0" u="none" strike="noStrike" cap="none">
              <a:solidFill>
                <a:srgbClr val="444444"/>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6"/>
          <p:cNvSpPr txBox="1"/>
          <p:nvPr/>
        </p:nvSpPr>
        <p:spPr>
          <a:xfrm>
            <a:off x="0" y="0"/>
            <a:ext cx="12099721" cy="360727"/>
          </a:xfrm>
          <a:prstGeom prst="rect">
            <a:avLst/>
          </a:prstGeom>
          <a:noFill/>
          <a:ln>
            <a:noFill/>
          </a:ln>
        </p:spPr>
        <p:txBody>
          <a:bodyPr spcFirstLastPara="1" wrap="square" lIns="0" tIns="45700" rIns="0" bIns="45700" anchor="ctr" anchorCtr="0">
            <a:normAutofit/>
          </a:bodyPr>
          <a:lstStyle/>
          <a:p>
            <a:pPr marL="292608" marR="0" lvl="1" indent="0" algn="l" rtl="0">
              <a:lnSpc>
                <a:spcPct val="90000"/>
              </a:lnSpc>
              <a:spcBef>
                <a:spcPts val="0"/>
              </a:spcBef>
              <a:spcAft>
                <a:spcPts val="0"/>
              </a:spcAft>
              <a:buClr>
                <a:schemeClr val="accent1"/>
              </a:buClr>
              <a:buSzPts val="1600"/>
              <a:buFont typeface="Calibri"/>
              <a:buNone/>
            </a:pPr>
            <a:r>
              <a:rPr lang="tr-TR" sz="1600" b="1" i="0" u="none" strike="noStrike" cap="none">
                <a:solidFill>
                  <a:srgbClr val="444444"/>
                </a:solidFill>
                <a:latin typeface="Times New Roman"/>
                <a:ea typeface="Times New Roman"/>
                <a:cs typeface="Times New Roman"/>
                <a:sym typeface="Times New Roman"/>
              </a:rPr>
              <a:t>Yıkıcılar (Destructors)</a:t>
            </a:r>
            <a:endParaRPr sz="1600" b="1" i="0" u="none" strike="noStrike" cap="none">
              <a:solidFill>
                <a:schemeClr val="lt1"/>
              </a:solidFill>
              <a:latin typeface="Times New Roman"/>
              <a:ea typeface="Times New Roman"/>
              <a:cs typeface="Times New Roman"/>
              <a:sym typeface="Times New Roman"/>
            </a:endParaRPr>
          </a:p>
        </p:txBody>
      </p:sp>
      <p:pic>
        <p:nvPicPr>
          <p:cNvPr id="227" name="Google Shape;227;p16"/>
          <p:cNvPicPr preferRelativeResize="0"/>
          <p:nvPr/>
        </p:nvPicPr>
        <p:blipFill rotWithShape="1">
          <a:blip r:embed="rId3">
            <a:alphaModFix/>
          </a:blip>
          <a:srcRect/>
          <a:stretch/>
        </p:blipFill>
        <p:spPr>
          <a:xfrm>
            <a:off x="644528" y="632069"/>
            <a:ext cx="4660954" cy="5252099"/>
          </a:xfrm>
          <a:prstGeom prst="rect">
            <a:avLst/>
          </a:prstGeom>
          <a:noFill/>
          <a:ln>
            <a:noFill/>
          </a:ln>
        </p:spPr>
      </p:pic>
      <p:pic>
        <p:nvPicPr>
          <p:cNvPr id="228" name="Google Shape;228;p16"/>
          <p:cNvPicPr preferRelativeResize="0"/>
          <p:nvPr/>
        </p:nvPicPr>
        <p:blipFill rotWithShape="1">
          <a:blip r:embed="rId4">
            <a:alphaModFix/>
          </a:blip>
          <a:srcRect t="10146"/>
          <a:stretch/>
        </p:blipFill>
        <p:spPr>
          <a:xfrm>
            <a:off x="6049860" y="1378634"/>
            <a:ext cx="2000529" cy="753266"/>
          </a:xfrm>
          <a:prstGeom prst="rect">
            <a:avLst/>
          </a:prstGeom>
          <a:noFill/>
          <a:ln>
            <a:noFill/>
          </a:ln>
        </p:spPr>
      </p:pic>
      <p:sp>
        <p:nvSpPr>
          <p:cNvPr id="229" name="Google Shape;229;p16"/>
          <p:cNvSpPr txBox="1"/>
          <p:nvPr/>
        </p:nvSpPr>
        <p:spPr>
          <a:xfrm>
            <a:off x="6049860" y="925754"/>
            <a:ext cx="21767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u="sng">
                <a:solidFill>
                  <a:srgbClr val="444444"/>
                </a:solidFill>
                <a:latin typeface="Times New Roman"/>
                <a:ea typeface="Times New Roman"/>
                <a:cs typeface="Times New Roman"/>
                <a:sym typeface="Times New Roman"/>
              </a:rPr>
              <a:t>Ekran çıktısı:</a:t>
            </a:r>
            <a:endParaRPr sz="1800" u="sng">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7"/>
          <p:cNvSpPr txBox="1"/>
          <p:nvPr/>
        </p:nvSpPr>
        <p:spPr>
          <a:xfrm>
            <a:off x="0" y="0"/>
            <a:ext cx="609460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400">
                <a:solidFill>
                  <a:srgbClr val="7030A0"/>
                </a:solidFill>
                <a:latin typeface="Times New Roman"/>
                <a:ea typeface="Times New Roman"/>
                <a:cs typeface="Times New Roman"/>
                <a:sym typeface="Times New Roman"/>
              </a:rPr>
              <a:t>KAYNAKLAR</a:t>
            </a:r>
            <a:endParaRPr/>
          </a:p>
        </p:txBody>
      </p:sp>
      <p:sp>
        <p:nvSpPr>
          <p:cNvPr id="235" name="Google Shape;235;p17"/>
          <p:cNvSpPr txBox="1"/>
          <p:nvPr/>
        </p:nvSpPr>
        <p:spPr>
          <a:xfrm>
            <a:off x="0" y="461665"/>
            <a:ext cx="12192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[1] M. Zavrak, E. Aksoy, H. N. Karaca, </a:t>
            </a:r>
            <a:r>
              <a:rPr lang="tr-TR" sz="1800" b="1" i="1">
                <a:solidFill>
                  <a:schemeClr val="lt1"/>
                </a:solidFill>
                <a:latin typeface="Times New Roman"/>
                <a:ea typeface="Times New Roman"/>
                <a:cs typeface="Times New Roman"/>
                <a:sym typeface="Times New Roman"/>
              </a:rPr>
              <a:t>C ve C++</a:t>
            </a:r>
            <a:r>
              <a:rPr lang="tr-TR" sz="1800">
                <a:solidFill>
                  <a:schemeClr val="lt1"/>
                </a:solidFill>
                <a:latin typeface="Times New Roman"/>
                <a:ea typeface="Times New Roman"/>
                <a:cs typeface="Times New Roman"/>
                <a:sym typeface="Times New Roman"/>
              </a:rPr>
              <a:t>, Sistem Yayıncılık. </a:t>
            </a:r>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[2] Prof. Dr. Mustafa Dikici,  </a:t>
            </a:r>
            <a:r>
              <a:rPr lang="tr-TR" sz="1800" b="1" i="1">
                <a:solidFill>
                  <a:schemeClr val="lt1"/>
                </a:solidFill>
                <a:latin typeface="Times New Roman"/>
                <a:ea typeface="Times New Roman"/>
                <a:cs typeface="Times New Roman"/>
                <a:sym typeface="Times New Roman"/>
              </a:rPr>
              <a:t>C++ Programlama Dili</a:t>
            </a:r>
            <a:r>
              <a:rPr lang="tr-TR" sz="1800">
                <a:solidFill>
                  <a:schemeClr val="lt1"/>
                </a:solidFill>
                <a:latin typeface="Times New Roman"/>
                <a:ea typeface="Times New Roman"/>
                <a:cs typeface="Times New Roman"/>
                <a:sym typeface="Times New Roman"/>
              </a:rPr>
              <a:t>, Seçkin Yayıncılık.</a:t>
            </a:r>
            <a:endParaRPr/>
          </a:p>
          <a:p>
            <a:pPr marL="0" marR="0" lvl="0" indent="0" algn="l" rtl="0">
              <a:spcBef>
                <a:spcPts val="0"/>
              </a:spcBef>
              <a:spcAft>
                <a:spcPts val="0"/>
              </a:spcAft>
              <a:buNone/>
            </a:pPr>
            <a:r>
              <a:rPr lang="tr-TR" sz="1800">
                <a:solidFill>
                  <a:schemeClr val="lt1"/>
                </a:solidFill>
                <a:latin typeface="Times New Roman"/>
                <a:ea typeface="Times New Roman"/>
                <a:cs typeface="Times New Roman"/>
                <a:sym typeface="Times New Roman"/>
              </a:rPr>
              <a:t>[3] M. Mastar, S. Eriş, </a:t>
            </a:r>
            <a:r>
              <a:rPr lang="tr-TR" sz="1800" b="1" i="1">
                <a:solidFill>
                  <a:schemeClr val="lt1"/>
                </a:solidFill>
                <a:latin typeface="Times New Roman"/>
                <a:ea typeface="Times New Roman"/>
                <a:cs typeface="Times New Roman"/>
                <a:sym typeface="Times New Roman"/>
              </a:rPr>
              <a:t>C++, </a:t>
            </a:r>
            <a:r>
              <a:rPr lang="tr-TR" sz="1800">
                <a:solidFill>
                  <a:schemeClr val="lt1"/>
                </a:solidFill>
                <a:latin typeface="Times New Roman"/>
                <a:ea typeface="Times New Roman"/>
                <a:cs typeface="Times New Roman"/>
                <a:sym typeface="Times New Roman"/>
              </a:rPr>
              <a:t>Kodlab Yayın Dağıtım.</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1182</Words>
  <Application>Microsoft Office PowerPoint</Application>
  <PresentationFormat>Geniş ekran</PresentationFormat>
  <Paragraphs>178</Paragraphs>
  <Slides>17</Slides>
  <Notes>17</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17</vt:i4>
      </vt:variant>
    </vt:vector>
  </HeadingPairs>
  <TitlesOfParts>
    <vt:vector size="22" baseType="lpstr">
      <vt:lpstr>Arial</vt:lpstr>
      <vt:lpstr>Calibri</vt:lpstr>
      <vt:lpstr>Noto Sans Symbols</vt:lpstr>
      <vt:lpstr>Times New Roman</vt:lpstr>
      <vt:lpstr>Geçmişe bakış</vt:lpstr>
      <vt:lpstr>BM0102-ALGORİTMA ve PROGRAMLAMA II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FUNDA KUTLU ONAY</dc:creator>
  <cp:lastModifiedBy>FUNDA KUTLU ONAY</cp:lastModifiedBy>
  <cp:revision>1</cp:revision>
  <dcterms:created xsi:type="dcterms:W3CDTF">2021-02-24T12:37:41Z</dcterms:created>
  <dcterms:modified xsi:type="dcterms:W3CDTF">2026-03-26T14:48:35Z</dcterms:modified>
</cp:coreProperties>
</file>