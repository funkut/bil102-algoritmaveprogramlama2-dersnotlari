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Az4HycUGOa+zOKXx8Qm3f1sSO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18D3B8-BEC4-41CE-B4B3-9D4D4B1DB1FC}">
  <a:tblStyle styleId="{4C18D3B8-BEC4-41CE-B4B3-9D4D4B1DB1FC}" styleName="Table_0">
    <a:wholeTbl>
      <a:tcTxStyle b="off" i="off">
        <a:font>
          <a:latin typeface="Calibri"/>
          <a:ea typeface="Calibri"/>
          <a:cs typeface="Calibri"/>
        </a:font>
        <a:schemeClr val="lt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4" name="Shape 14"/>
        <p:cNvGrpSpPr/>
        <p:nvPr/>
      </p:nvGrpSpPr>
      <p:grpSpPr>
        <a:xfrm>
          <a:off x="0" y="0"/>
          <a:ext cx="0" cy="0"/>
          <a:chOff x="0" y="0"/>
          <a:chExt cx="0" cy="0"/>
        </a:xfrm>
      </p:grpSpPr>
      <p:sp>
        <p:nvSpPr>
          <p:cNvPr id="15" name="Google Shape;15;p16"/>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6"/>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6"/>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22" name="Google Shape;22;p16"/>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23" name="Shape 23"/>
        <p:cNvGrpSpPr/>
        <p:nvPr/>
      </p:nvGrpSpPr>
      <p:grpSpPr>
        <a:xfrm>
          <a:off x="0" y="0"/>
          <a:ext cx="0" cy="0"/>
          <a:chOff x="0" y="0"/>
          <a:chExt cx="0" cy="0"/>
        </a:xfrm>
      </p:grpSpPr>
      <p:sp>
        <p:nvSpPr>
          <p:cNvPr id="24" name="Google Shape;24;p17"/>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9" name="Shape 29"/>
        <p:cNvGrpSpPr/>
        <p:nvPr/>
      </p:nvGrpSpPr>
      <p:grpSpPr>
        <a:xfrm>
          <a:off x="0" y="0"/>
          <a:ext cx="0" cy="0"/>
          <a:chOff x="0" y="0"/>
          <a:chExt cx="0" cy="0"/>
        </a:xfrm>
      </p:grpSpPr>
      <p:sp>
        <p:nvSpPr>
          <p:cNvPr id="30" name="Google Shape;30;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showMasterSp="0" type="secHead">
  <p:cSld name="SECTION_HEADER">
    <p:spTree>
      <p:nvGrpSpPr>
        <p:cNvPr id="35" name="Shape 35"/>
        <p:cNvGrpSpPr/>
        <p:nvPr/>
      </p:nvGrpSpPr>
      <p:grpSpPr>
        <a:xfrm>
          <a:off x="0" y="0"/>
          <a:ext cx="0" cy="0"/>
          <a:chOff x="0" y="0"/>
          <a:chExt cx="0" cy="0"/>
        </a:xfrm>
      </p:grpSpPr>
      <p:sp>
        <p:nvSpPr>
          <p:cNvPr id="36" name="Google Shape;36;p19"/>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9"/>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b="0"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9"/>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C8C8C"/>
                </a:solidFill>
              </a:defRPr>
            </a:lvl2pPr>
            <a:lvl3pPr indent="-228600" lvl="2" marL="1371600" algn="l">
              <a:lnSpc>
                <a:spcPct val="90000"/>
              </a:lnSpc>
              <a:spcBef>
                <a:spcPts val="400"/>
              </a:spcBef>
              <a:spcAft>
                <a:spcPts val="0"/>
              </a:spcAft>
              <a:buSzPts val="1600"/>
              <a:buNone/>
              <a:defRPr sz="1600">
                <a:solidFill>
                  <a:srgbClr val="8C8C8C"/>
                </a:solidFill>
              </a:defRPr>
            </a:lvl3pPr>
            <a:lvl4pPr indent="-228600" lvl="3" marL="1828800" algn="l">
              <a:lnSpc>
                <a:spcPct val="90000"/>
              </a:lnSpc>
              <a:spcBef>
                <a:spcPts val="400"/>
              </a:spcBef>
              <a:spcAft>
                <a:spcPts val="0"/>
              </a:spcAft>
              <a:buSzPts val="1400"/>
              <a:buNone/>
              <a:defRPr sz="1400">
                <a:solidFill>
                  <a:srgbClr val="8C8C8C"/>
                </a:solidFill>
              </a:defRPr>
            </a:lvl4pPr>
            <a:lvl5pPr indent="-228600" lvl="4" marL="2286000" algn="l">
              <a:lnSpc>
                <a:spcPct val="90000"/>
              </a:lnSpc>
              <a:spcBef>
                <a:spcPts val="400"/>
              </a:spcBef>
              <a:spcAft>
                <a:spcPts val="0"/>
              </a:spcAft>
              <a:buSzPts val="1400"/>
              <a:buNone/>
              <a:defRPr sz="1400">
                <a:solidFill>
                  <a:srgbClr val="8C8C8C"/>
                </a:solidFill>
              </a:defRPr>
            </a:lvl5pPr>
            <a:lvl6pPr indent="-228600" lvl="5" marL="2743200" algn="l">
              <a:lnSpc>
                <a:spcPct val="90000"/>
              </a:lnSpc>
              <a:spcBef>
                <a:spcPts val="400"/>
              </a:spcBef>
              <a:spcAft>
                <a:spcPts val="0"/>
              </a:spcAft>
              <a:buSzPts val="1400"/>
              <a:buNone/>
              <a:defRPr sz="1400">
                <a:solidFill>
                  <a:srgbClr val="8C8C8C"/>
                </a:solidFill>
              </a:defRPr>
            </a:lvl6pPr>
            <a:lvl7pPr indent="-228600" lvl="6" marL="3200400" algn="l">
              <a:lnSpc>
                <a:spcPct val="90000"/>
              </a:lnSpc>
              <a:spcBef>
                <a:spcPts val="400"/>
              </a:spcBef>
              <a:spcAft>
                <a:spcPts val="0"/>
              </a:spcAft>
              <a:buSzPts val="1400"/>
              <a:buNone/>
              <a:defRPr sz="1400">
                <a:solidFill>
                  <a:srgbClr val="8C8C8C"/>
                </a:solidFill>
              </a:defRPr>
            </a:lvl7pPr>
            <a:lvl8pPr indent="-228600" lvl="7" marL="3657600" algn="l">
              <a:lnSpc>
                <a:spcPct val="90000"/>
              </a:lnSpc>
              <a:spcBef>
                <a:spcPts val="400"/>
              </a:spcBef>
              <a:spcAft>
                <a:spcPts val="0"/>
              </a:spcAft>
              <a:buSzPts val="1400"/>
              <a:buNone/>
              <a:defRPr sz="1400">
                <a:solidFill>
                  <a:srgbClr val="8C8C8C"/>
                </a:solidFill>
              </a:defRPr>
            </a:lvl8pPr>
            <a:lvl9pPr indent="-228600" lvl="8" marL="4114800" algn="l">
              <a:lnSpc>
                <a:spcPct val="90000"/>
              </a:lnSpc>
              <a:spcBef>
                <a:spcPts val="400"/>
              </a:spcBef>
              <a:spcAft>
                <a:spcPts val="400"/>
              </a:spcAft>
              <a:buSzPts val="1400"/>
              <a:buNone/>
              <a:defRPr sz="1400">
                <a:solidFill>
                  <a:srgbClr val="8C8C8C"/>
                </a:solidFill>
              </a:defRPr>
            </a:lvl9pPr>
          </a:lstStyle>
          <a:p/>
        </p:txBody>
      </p:sp>
      <p:sp>
        <p:nvSpPr>
          <p:cNvPr id="40" name="Google Shape;40;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43" name="Google Shape;43;p19"/>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44" name="Shape 44"/>
        <p:cNvGrpSpPr/>
        <p:nvPr/>
      </p:nvGrpSpPr>
      <p:grpSpPr>
        <a:xfrm>
          <a:off x="0" y="0"/>
          <a:ext cx="0" cy="0"/>
          <a:chOff x="0" y="0"/>
          <a:chExt cx="0" cy="0"/>
        </a:xfrm>
      </p:grpSpPr>
      <p:sp>
        <p:nvSpPr>
          <p:cNvPr id="45" name="Google Shape;45;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0"/>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0"/>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51" name="Shape 51"/>
        <p:cNvGrpSpPr/>
        <p:nvPr/>
      </p:nvGrpSpPr>
      <p:grpSpPr>
        <a:xfrm>
          <a:off x="0" y="0"/>
          <a:ext cx="0" cy="0"/>
          <a:chOff x="0" y="0"/>
          <a:chExt cx="0" cy="0"/>
        </a:xfrm>
      </p:grpSpPr>
      <p:sp>
        <p:nvSpPr>
          <p:cNvPr id="52" name="Google Shape;52;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1"/>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1"/>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1"/>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1"/>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60" name="Shape 60"/>
        <p:cNvGrpSpPr/>
        <p:nvPr/>
      </p:nvGrpSpPr>
      <p:grpSpPr>
        <a:xfrm>
          <a:off x="0" y="0"/>
          <a:ext cx="0" cy="0"/>
          <a:chOff x="0" y="0"/>
          <a:chExt cx="0" cy="0"/>
        </a:xfrm>
      </p:grpSpPr>
      <p:sp>
        <p:nvSpPr>
          <p:cNvPr id="61" name="Google Shape;61;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65" name="Shape 65"/>
        <p:cNvGrpSpPr/>
        <p:nvPr/>
      </p:nvGrpSpPr>
      <p:grpSpPr>
        <a:xfrm>
          <a:off x="0" y="0"/>
          <a:ext cx="0" cy="0"/>
          <a:chOff x="0" y="0"/>
          <a:chExt cx="0" cy="0"/>
        </a:xfrm>
      </p:grpSpPr>
      <p:sp>
        <p:nvSpPr>
          <p:cNvPr id="66" name="Google Shape;66;p23"/>
          <p:cNvSpPr/>
          <p:nvPr/>
        </p:nvSpPr>
        <p:spPr>
          <a:xfrm>
            <a:off x="16" y="0"/>
            <a:ext cx="4050791" cy="6858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2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2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lt2"/>
                </a:solidFill>
                <a:latin typeface="Calibri"/>
                <a:ea typeface="Calibri"/>
                <a:cs typeface="Calibri"/>
                <a:sym typeface="Calibri"/>
              </a:defRPr>
            </a:lvl1pPr>
            <a:lvl2pPr indent="0" lvl="1" marL="0" algn="r">
              <a:spcBef>
                <a:spcPts val="0"/>
              </a:spcBef>
              <a:buNone/>
              <a:defRPr sz="1050">
                <a:solidFill>
                  <a:schemeClr val="lt2"/>
                </a:solidFill>
                <a:latin typeface="Calibri"/>
                <a:ea typeface="Calibri"/>
                <a:cs typeface="Calibri"/>
                <a:sym typeface="Calibri"/>
              </a:defRPr>
            </a:lvl2pPr>
            <a:lvl3pPr indent="0" lvl="2" marL="0" algn="r">
              <a:spcBef>
                <a:spcPts val="0"/>
              </a:spcBef>
              <a:buNone/>
              <a:defRPr sz="1050">
                <a:solidFill>
                  <a:schemeClr val="lt2"/>
                </a:solidFill>
                <a:latin typeface="Calibri"/>
                <a:ea typeface="Calibri"/>
                <a:cs typeface="Calibri"/>
                <a:sym typeface="Calibri"/>
              </a:defRPr>
            </a:lvl3pPr>
            <a:lvl4pPr indent="0" lvl="3" marL="0" algn="r">
              <a:spcBef>
                <a:spcPts val="0"/>
              </a:spcBef>
              <a:buNone/>
              <a:defRPr sz="1050">
                <a:solidFill>
                  <a:schemeClr val="lt2"/>
                </a:solidFill>
                <a:latin typeface="Calibri"/>
                <a:ea typeface="Calibri"/>
                <a:cs typeface="Calibri"/>
                <a:sym typeface="Calibri"/>
              </a:defRPr>
            </a:lvl4pPr>
            <a:lvl5pPr indent="0" lvl="4" marL="0" algn="r">
              <a:spcBef>
                <a:spcPts val="0"/>
              </a:spcBef>
              <a:buNone/>
              <a:defRPr sz="1050">
                <a:solidFill>
                  <a:schemeClr val="lt2"/>
                </a:solidFill>
                <a:latin typeface="Calibri"/>
                <a:ea typeface="Calibri"/>
                <a:cs typeface="Calibri"/>
                <a:sym typeface="Calibri"/>
              </a:defRPr>
            </a:lvl5pPr>
            <a:lvl6pPr indent="0" lvl="5" marL="0" algn="r">
              <a:spcBef>
                <a:spcPts val="0"/>
              </a:spcBef>
              <a:buNone/>
              <a:defRPr sz="1050">
                <a:solidFill>
                  <a:schemeClr val="lt2"/>
                </a:solidFill>
                <a:latin typeface="Calibri"/>
                <a:ea typeface="Calibri"/>
                <a:cs typeface="Calibri"/>
                <a:sym typeface="Calibri"/>
              </a:defRPr>
            </a:lvl6pPr>
            <a:lvl7pPr indent="0" lvl="6" marL="0" algn="r">
              <a:spcBef>
                <a:spcPts val="0"/>
              </a:spcBef>
              <a:buNone/>
              <a:defRPr sz="1050">
                <a:solidFill>
                  <a:schemeClr val="lt2"/>
                </a:solidFill>
                <a:latin typeface="Calibri"/>
                <a:ea typeface="Calibri"/>
                <a:cs typeface="Calibri"/>
                <a:sym typeface="Calibri"/>
              </a:defRPr>
            </a:lvl7pPr>
            <a:lvl8pPr indent="0" lvl="7" marL="0" algn="r">
              <a:spcBef>
                <a:spcPts val="0"/>
              </a:spcBef>
              <a:buNone/>
              <a:defRPr sz="1050">
                <a:solidFill>
                  <a:schemeClr val="lt2"/>
                </a:solidFill>
                <a:latin typeface="Calibri"/>
                <a:ea typeface="Calibri"/>
                <a:cs typeface="Calibri"/>
                <a:sym typeface="Calibri"/>
              </a:defRPr>
            </a:lvl8pPr>
            <a:lvl9pPr indent="0" lvl="8" marL="0" algn="r">
              <a:spcBef>
                <a:spcPts val="0"/>
              </a:spcBef>
              <a:buNone/>
              <a:defRPr sz="1050">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4" name="Shape 74"/>
        <p:cNvGrpSpPr/>
        <p:nvPr/>
      </p:nvGrpSpPr>
      <p:grpSpPr>
        <a:xfrm>
          <a:off x="0" y="0"/>
          <a:ext cx="0" cy="0"/>
          <a:chOff x="0" y="0"/>
          <a:chExt cx="0" cy="0"/>
        </a:xfrm>
      </p:grpSpPr>
      <p:sp>
        <p:nvSpPr>
          <p:cNvPr id="75" name="Google Shape;75;p24"/>
          <p:cNvSpPr/>
          <p:nvPr/>
        </p:nvSpPr>
        <p:spPr>
          <a:xfrm>
            <a:off x="0" y="4953000"/>
            <a:ext cx="12188825" cy="1905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4"/>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4"/>
          <p:cNvSpPr/>
          <p:nvPr>
            <p:ph idx="2" type="pic"/>
          </p:nvPr>
        </p:nvSpPr>
        <p:spPr>
          <a:xfrm>
            <a:off x="15" y="0"/>
            <a:ext cx="12191985" cy="4915076"/>
          </a:xfrm>
          <a:prstGeom prst="rect">
            <a:avLst/>
          </a:prstGeom>
          <a:solidFill>
            <a:srgbClr val="E5E5E5"/>
          </a:solidFill>
          <a:ln>
            <a:noFill/>
          </a:ln>
        </p:spPr>
      </p:sp>
      <p:sp>
        <p:nvSpPr>
          <p:cNvPr id="79" name="Google Shape;79;p24"/>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3" name="Shape 83"/>
        <p:cNvGrpSpPr/>
        <p:nvPr/>
      </p:nvGrpSpPr>
      <p:grpSpPr>
        <a:xfrm>
          <a:off x="0" y="0"/>
          <a:ext cx="0" cy="0"/>
          <a:chOff x="0" y="0"/>
          <a:chExt cx="0" cy="0"/>
        </a:xfrm>
      </p:grpSpPr>
      <p:sp>
        <p:nvSpPr>
          <p:cNvPr id="84" name="Google Shape;84;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9" name="Shape 89"/>
        <p:cNvGrpSpPr/>
        <p:nvPr/>
      </p:nvGrpSpPr>
      <p:grpSpPr>
        <a:xfrm>
          <a:off x="0" y="0"/>
          <a:ext cx="0" cy="0"/>
          <a:chOff x="0" y="0"/>
          <a:chExt cx="0" cy="0"/>
        </a:xfrm>
      </p:grpSpPr>
      <p:sp>
        <p:nvSpPr>
          <p:cNvPr id="90" name="Google Shape;90;p26"/>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6"/>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6"/>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5"/>
          <p:cNvSpPr/>
          <p:nvPr/>
        </p:nvSpPr>
        <p:spPr>
          <a:xfrm>
            <a:off x="1" y="6400800"/>
            <a:ext cx="12192000"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5"/>
          <p:cNvSpPr/>
          <p:nvPr/>
        </p:nvSpPr>
        <p:spPr>
          <a:xfrm>
            <a:off x="15" y="6334316"/>
            <a:ext cx="12191985"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606060"/>
              </a:buClr>
              <a:buSzPts val="4800"/>
              <a:buFont typeface="Calibri"/>
              <a:buNone/>
              <a:defRPr b="0" i="0" sz="4800" u="none" cap="none" strike="noStrik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60606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60606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9pPr>
          </a:lstStyle>
          <a:p/>
        </p:txBody>
      </p:sp>
      <p:sp>
        <p:nvSpPr>
          <p:cNvPr id="10" name="Google Shape;10;p1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1" name="Google Shape;11;p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2" name="Google Shape;12;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13" name="Google Shape;13;p15"/>
          <p:cNvCxnSpPr/>
          <p:nvPr/>
        </p:nvCxnSpPr>
        <p:spPr>
          <a:xfrm>
            <a:off x="1193532" y="1737845"/>
            <a:ext cx="9966960" cy="0"/>
          </a:xfrm>
          <a:prstGeom prst="straightConnector1">
            <a:avLst/>
          </a:prstGeom>
          <a:noFill/>
          <a:ln cap="flat" cmpd="sng" w="9525">
            <a:solidFill>
              <a:srgbClr val="959595"/>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0" y="3162968"/>
            <a:ext cx="12192000" cy="82366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BİL102-ALGORİTMA ve PROGRAMLAMA II</a:t>
            </a:r>
            <a:endParaRPr/>
          </a:p>
        </p:txBody>
      </p:sp>
      <p:sp>
        <p:nvSpPr>
          <p:cNvPr id="102" name="Google Shape;102;p1"/>
          <p:cNvSpPr txBox="1"/>
          <p:nvPr>
            <p:ph idx="1" type="subTitle"/>
          </p:nvPr>
        </p:nvSpPr>
        <p:spPr>
          <a:xfrm>
            <a:off x="1" y="2036685"/>
            <a:ext cx="12192000" cy="112628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a:t>
            </a:r>
            <a:r>
              <a:rPr lang="tr-TR" sz="3000">
                <a:solidFill>
                  <a:schemeClr val="dk1"/>
                </a:solidFill>
                <a:latin typeface="Times New Roman"/>
                <a:ea typeface="Times New Roman"/>
                <a:cs typeface="Times New Roman"/>
                <a:sym typeface="Times New Roman"/>
              </a:rPr>
              <a:t>FAKÜLTESİ </a:t>
            </a:r>
            <a:endParaRPr/>
          </a:p>
          <a:p>
            <a:pPr indent="0" lvl="0" marL="0" rtl="0" algn="ctr">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descr="Amasya Üniversitesi Logo Vector (.AI) Free Download" id="103" name="Google Shape;103;p1"/>
          <p:cNvPicPr preferRelativeResize="0"/>
          <p:nvPr/>
        </p:nvPicPr>
        <p:blipFill rotWithShape="1">
          <a:blip r:embed="rId3">
            <a:alphaModFix/>
          </a:blip>
          <a:srcRect b="0" l="0" r="0" t="0"/>
          <a:stretch/>
        </p:blipFill>
        <p:spPr>
          <a:xfrm>
            <a:off x="5199293" y="159026"/>
            <a:ext cx="1889990" cy="1656891"/>
          </a:xfrm>
          <a:prstGeom prst="rect">
            <a:avLst/>
          </a:prstGeom>
          <a:noFill/>
          <a:ln>
            <a:noFill/>
          </a:ln>
        </p:spPr>
      </p:pic>
      <p:sp>
        <p:nvSpPr>
          <p:cNvPr id="104" name="Google Shape;104;p1"/>
          <p:cNvSpPr txBox="1"/>
          <p:nvPr/>
        </p:nvSpPr>
        <p:spPr>
          <a:xfrm>
            <a:off x="48288" y="3986635"/>
            <a:ext cx="12192000" cy="1711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chemeClr val="dk1"/>
              </a:buClr>
              <a:buSzPts val="2800"/>
              <a:buFont typeface="Times New Roman"/>
              <a:buNone/>
            </a:pPr>
            <a:r>
              <a:rPr b="0" i="0" lang="tr-TR" sz="2800" u="none" cap="none" strike="noStrike">
                <a:solidFill>
                  <a:schemeClr val="dk1"/>
                </a:solidFill>
                <a:latin typeface="Times New Roman"/>
                <a:ea typeface="Times New Roman"/>
                <a:cs typeface="Times New Roman"/>
                <a:sym typeface="Times New Roman"/>
              </a:rPr>
              <a:t>Hafta 10</a:t>
            </a:r>
            <a:endParaRPr/>
          </a:p>
          <a:p>
            <a:pPr indent="0" lvl="0" marL="0" marR="0" rtl="0" algn="ctr">
              <a:spcBef>
                <a:spcPts val="0"/>
              </a:spcBef>
              <a:spcAft>
                <a:spcPts val="0"/>
              </a:spcAft>
              <a:buClr>
                <a:schemeClr val="dk1"/>
              </a:buClr>
              <a:buSzPts val="2800"/>
              <a:buFont typeface="Times New Roman"/>
              <a:buNone/>
            </a:pPr>
            <a:r>
              <a:rPr b="0" i="0" lang="tr-TR" sz="2800" u="none" cap="none" strike="noStrike">
                <a:solidFill>
                  <a:schemeClr val="dk1"/>
                </a:solidFill>
                <a:latin typeface="Times New Roman"/>
                <a:ea typeface="Times New Roman"/>
                <a:cs typeface="Times New Roman"/>
                <a:sym typeface="Times New Roman"/>
              </a:rPr>
              <a:t>Inheritance </a:t>
            </a:r>
            <a:endParaRPr/>
          </a:p>
          <a:p>
            <a:pPr indent="0" lvl="0" marL="0" marR="0" rtl="0" algn="ctr">
              <a:spcBef>
                <a:spcPts val="0"/>
              </a:spcBef>
              <a:spcAft>
                <a:spcPts val="0"/>
              </a:spcAft>
              <a:buClr>
                <a:schemeClr val="dk1"/>
              </a:buClr>
              <a:buSzPts val="2800"/>
              <a:buFont typeface="Times New Roman"/>
              <a:buNone/>
            </a:pPr>
            <a:r>
              <a:rPr b="0" i="0" lang="tr-TR" sz="2800" u="none" cap="none" strike="noStrike">
                <a:solidFill>
                  <a:schemeClr val="dk1"/>
                </a:solidFill>
                <a:latin typeface="Times New Roman"/>
                <a:ea typeface="Times New Roman"/>
                <a:cs typeface="Times New Roman"/>
                <a:sym typeface="Times New Roman"/>
              </a:rPr>
              <a:t>Miras (Kalıtım)</a:t>
            </a:r>
            <a:endParaRPr/>
          </a:p>
        </p:txBody>
      </p:sp>
      <p:sp>
        <p:nvSpPr>
          <p:cNvPr id="105" name="Google Shape;105;p1"/>
          <p:cNvSpPr txBox="1"/>
          <p:nvPr/>
        </p:nvSpPr>
        <p:spPr>
          <a:xfrm>
            <a:off x="48288" y="5804452"/>
            <a:ext cx="12191999" cy="520736"/>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2400"/>
              <a:buFont typeface="Noto Sans Symbols"/>
              <a:buNone/>
            </a:pPr>
            <a:r>
              <a:rPr lang="tr-TR" sz="2400">
                <a:solidFill>
                  <a:schemeClr val="dk1"/>
                </a:solidFill>
                <a:latin typeface="Times New Roman"/>
                <a:ea typeface="Times New Roman"/>
                <a:cs typeface="Times New Roman"/>
                <a:sym typeface="Times New Roman"/>
              </a:rPr>
              <a:t>Doç. Dr. </a:t>
            </a:r>
            <a:r>
              <a:rPr b="0" i="0" lang="tr-TR" sz="2400" u="none" cap="none" strike="noStrike">
                <a:solidFill>
                  <a:schemeClr val="dk1"/>
                </a:solidFill>
                <a:latin typeface="Times New Roman"/>
                <a:ea typeface="Times New Roman"/>
                <a:cs typeface="Times New Roman"/>
                <a:sym typeface="Times New Roman"/>
              </a:rPr>
              <a:t>Funda KUTLU ONAY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Kalıtım Kavramı </a:t>
            </a:r>
            <a:endParaRPr b="1" i="0" sz="2000" u="none" cap="none" strike="noStrike">
              <a:solidFill>
                <a:schemeClr val="lt1"/>
              </a:solidFill>
              <a:latin typeface="Times New Roman"/>
              <a:ea typeface="Times New Roman"/>
              <a:cs typeface="Times New Roman"/>
              <a:sym typeface="Times New Roman"/>
            </a:endParaRPr>
          </a:p>
        </p:txBody>
      </p:sp>
      <p:sp>
        <p:nvSpPr>
          <p:cNvPr id="111" name="Google Shape;111;p2"/>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25000"/>
              </a:lnSpc>
              <a:spcBef>
                <a:spcPts val="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Mevcut bir sınıftan yeni sınıflar oluşturma imkanı sunan yapıya </a:t>
            </a:r>
            <a:r>
              <a:rPr b="1" i="1" lang="tr-TR" sz="1800" u="none" cap="none" strike="noStrike">
                <a:solidFill>
                  <a:schemeClr val="dk1"/>
                </a:solidFill>
                <a:latin typeface="Times New Roman"/>
                <a:ea typeface="Times New Roman"/>
                <a:cs typeface="Times New Roman"/>
                <a:sym typeface="Times New Roman"/>
              </a:rPr>
              <a:t>miras</a:t>
            </a:r>
            <a:r>
              <a:rPr b="0" i="0" lang="tr-TR" sz="1800" u="none" cap="none" strike="noStrike">
                <a:solidFill>
                  <a:schemeClr val="dk1"/>
                </a:solidFill>
                <a:latin typeface="Times New Roman"/>
                <a:ea typeface="Times New Roman"/>
                <a:cs typeface="Times New Roman"/>
                <a:sym typeface="Times New Roman"/>
              </a:rPr>
              <a:t> veya </a:t>
            </a:r>
            <a:r>
              <a:rPr b="1" i="1" lang="tr-TR" sz="1800" u="none" cap="none" strike="noStrike">
                <a:solidFill>
                  <a:schemeClr val="dk1"/>
                </a:solidFill>
                <a:latin typeface="Times New Roman"/>
                <a:ea typeface="Times New Roman"/>
                <a:cs typeface="Times New Roman"/>
                <a:sym typeface="Times New Roman"/>
              </a:rPr>
              <a:t>kalıtım</a:t>
            </a:r>
            <a:r>
              <a:rPr b="0" i="0" lang="tr-TR" sz="1800" u="none" cap="none" strike="noStrike">
                <a:solidFill>
                  <a:schemeClr val="dk1"/>
                </a:solidFill>
                <a:latin typeface="Times New Roman"/>
                <a:ea typeface="Times New Roman"/>
                <a:cs typeface="Times New Roman"/>
                <a:sym typeface="Times New Roman"/>
              </a:rPr>
              <a:t> denir. </a:t>
            </a:r>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Mevcut sınıftan oluşturulan her yeni sınıfa </a:t>
            </a:r>
            <a:r>
              <a:rPr b="1" i="1" lang="tr-TR" sz="1800" u="none" cap="none" strike="noStrike">
                <a:solidFill>
                  <a:schemeClr val="dk1"/>
                </a:solidFill>
                <a:latin typeface="Times New Roman"/>
                <a:ea typeface="Times New Roman"/>
                <a:cs typeface="Times New Roman"/>
                <a:sym typeface="Times New Roman"/>
              </a:rPr>
              <a:t>türetilmiş sınıf, </a:t>
            </a:r>
            <a:r>
              <a:rPr b="0" i="0" lang="tr-TR" sz="1800" u="none" cap="none" strike="noStrike">
                <a:solidFill>
                  <a:schemeClr val="dk1"/>
                </a:solidFill>
                <a:latin typeface="Times New Roman"/>
                <a:ea typeface="Times New Roman"/>
                <a:cs typeface="Times New Roman"/>
                <a:sym typeface="Times New Roman"/>
              </a:rPr>
              <a:t>mevcut sınıfa da </a:t>
            </a:r>
            <a:r>
              <a:rPr b="1" i="1" lang="tr-TR" sz="1800" u="none" cap="none" strike="noStrike">
                <a:solidFill>
                  <a:schemeClr val="dk1"/>
                </a:solidFill>
                <a:latin typeface="Times New Roman"/>
                <a:ea typeface="Times New Roman"/>
                <a:cs typeface="Times New Roman"/>
                <a:sym typeface="Times New Roman"/>
              </a:rPr>
              <a:t>temel sınıf </a:t>
            </a:r>
            <a:r>
              <a:rPr b="0" i="0" lang="tr-TR" sz="1800" u="none" cap="none" strike="noStrike">
                <a:solidFill>
                  <a:schemeClr val="dk1"/>
                </a:solidFill>
                <a:latin typeface="Times New Roman"/>
                <a:ea typeface="Times New Roman"/>
                <a:cs typeface="Times New Roman"/>
                <a:sym typeface="Times New Roman"/>
              </a:rPr>
              <a:t>denir.  </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25000"/>
              </a:lnSpc>
              <a:spcBef>
                <a:spcPts val="600"/>
              </a:spcBef>
              <a:spcAft>
                <a:spcPts val="0"/>
              </a:spcAft>
              <a:buClr>
                <a:schemeClr val="accent1"/>
              </a:buClr>
              <a:buSzPts val="1800"/>
              <a:buFont typeface="Calibri"/>
              <a:buNone/>
            </a:pPr>
            <a:r>
              <a:rPr b="0" i="0" lang="tr-TR" sz="1800" u="none" cap="none" strike="noStrike">
                <a:solidFill>
                  <a:schemeClr val="dk1"/>
                </a:solidFill>
                <a:latin typeface="Times New Roman"/>
                <a:ea typeface="Times New Roman"/>
                <a:cs typeface="Times New Roman"/>
                <a:sym typeface="Times New Roman"/>
              </a:rPr>
              <a:t>İki sınıf arasındaki kalıtım ilişkisi, türetilmiş bir sınıfın özelliklerini temel sınıftan devralmasını sağlar.  Ayrıca, türetilmiş sınıf kendi başına yeni özellikler de ekleyebilir. Bu nedenle, sıfırdan tamamen yeni sınıflar oluşturmak yerine, kalıtımın avantajlarından yararlanabilir ve yazılım karmaşıklığını azaltılabilir.</a:t>
            </a:r>
            <a:endParaRPr/>
          </a:p>
          <a:p>
            <a:pPr indent="0" lvl="1" marL="201168" marR="0" rtl="0" algn="just">
              <a:lnSpc>
                <a:spcPct val="125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12" name="Google Shape;112;p2"/>
          <p:cNvSpPr/>
          <p:nvPr/>
        </p:nvSpPr>
        <p:spPr>
          <a:xfrm>
            <a:off x="292099" y="1669642"/>
            <a:ext cx="1993900" cy="1143000"/>
          </a:xfrm>
          <a:prstGeom prst="rect">
            <a:avLst/>
          </a:prstGeom>
          <a:solidFill>
            <a:srgbClr val="FFCCFF"/>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Türetilmiş sınıf</a:t>
            </a:r>
            <a:endParaRPr/>
          </a:p>
        </p:txBody>
      </p:sp>
      <p:sp>
        <p:nvSpPr>
          <p:cNvPr id="113" name="Google Shape;113;p2"/>
          <p:cNvSpPr/>
          <p:nvPr/>
        </p:nvSpPr>
        <p:spPr>
          <a:xfrm>
            <a:off x="3441699" y="1669642"/>
            <a:ext cx="1993900" cy="1143000"/>
          </a:xfrm>
          <a:prstGeom prst="rect">
            <a:avLst/>
          </a:prstGeom>
          <a:solidFill>
            <a:srgbClr val="FFCCFF"/>
          </a:solidFill>
          <a:ln cap="flat" cmpd="sng" w="15875">
            <a:solidFill>
              <a:srgbClr val="FF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Derived class</a:t>
            </a:r>
            <a:endParaRPr b="0" i="0" sz="18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Subclass</a:t>
            </a:r>
            <a:endParaRPr b="0" i="0" sz="18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Child class</a:t>
            </a:r>
            <a:endParaRPr b="0" i="0" sz="1800" u="none" cap="none" strike="noStrike">
              <a:solidFill>
                <a:schemeClr val="lt1"/>
              </a:solidFill>
              <a:latin typeface="Times New Roman"/>
              <a:ea typeface="Times New Roman"/>
              <a:cs typeface="Times New Roman"/>
              <a:sym typeface="Times New Roman"/>
            </a:endParaRPr>
          </a:p>
        </p:txBody>
      </p:sp>
      <p:sp>
        <p:nvSpPr>
          <p:cNvPr id="114" name="Google Shape;114;p2"/>
          <p:cNvSpPr/>
          <p:nvPr/>
        </p:nvSpPr>
        <p:spPr>
          <a:xfrm>
            <a:off x="3441699" y="3287552"/>
            <a:ext cx="1993900" cy="1143000"/>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Base class</a:t>
            </a:r>
            <a:endParaRPr b="0" i="0" sz="18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Superclass</a:t>
            </a:r>
            <a:endParaRPr b="0" i="0" sz="18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Parent class</a:t>
            </a:r>
            <a:endParaRPr b="0" i="0" sz="1800" u="none" cap="none" strike="noStrike">
              <a:solidFill>
                <a:schemeClr val="lt1"/>
              </a:solidFill>
              <a:latin typeface="Times New Roman"/>
              <a:ea typeface="Times New Roman"/>
              <a:cs typeface="Times New Roman"/>
              <a:sym typeface="Times New Roman"/>
            </a:endParaRPr>
          </a:p>
        </p:txBody>
      </p:sp>
      <p:sp>
        <p:nvSpPr>
          <p:cNvPr id="115" name="Google Shape;115;p2"/>
          <p:cNvSpPr/>
          <p:nvPr/>
        </p:nvSpPr>
        <p:spPr>
          <a:xfrm>
            <a:off x="292099" y="3287552"/>
            <a:ext cx="1993900" cy="1143000"/>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Temel sınıf</a:t>
            </a:r>
            <a:endParaRPr/>
          </a:p>
        </p:txBody>
      </p:sp>
      <p:sp>
        <p:nvSpPr>
          <p:cNvPr id="116" name="Google Shape;116;p2"/>
          <p:cNvSpPr txBox="1"/>
          <p:nvPr/>
        </p:nvSpPr>
        <p:spPr>
          <a:xfrm>
            <a:off x="2452519" y="1425534"/>
            <a:ext cx="822661"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0000" u="none" cap="none" strike="noStrike">
                <a:solidFill>
                  <a:schemeClr val="lt1"/>
                </a:solidFill>
                <a:latin typeface="Calibri"/>
                <a:ea typeface="Calibri"/>
                <a:cs typeface="Calibri"/>
                <a:sym typeface="Calibri"/>
              </a:rPr>
              <a:t>=</a:t>
            </a:r>
            <a:endParaRPr/>
          </a:p>
        </p:txBody>
      </p:sp>
      <p:sp>
        <p:nvSpPr>
          <p:cNvPr id="117" name="Google Shape;117;p2"/>
          <p:cNvSpPr txBox="1"/>
          <p:nvPr/>
        </p:nvSpPr>
        <p:spPr>
          <a:xfrm>
            <a:off x="2452519" y="3056750"/>
            <a:ext cx="822661"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0000">
                <a:solidFill>
                  <a:schemeClr val="lt1"/>
                </a:solidFill>
                <a:latin typeface="Calibri"/>
                <a:ea typeface="Calibri"/>
                <a:cs typeface="Calibri"/>
                <a:sym typeface="Calibri"/>
              </a:rPr>
              <a:t>=</a:t>
            </a:r>
            <a:endParaRPr/>
          </a:p>
        </p:txBody>
      </p:sp>
      <p:sp>
        <p:nvSpPr>
          <p:cNvPr id="118" name="Google Shape;118;p2"/>
          <p:cNvSpPr/>
          <p:nvPr/>
        </p:nvSpPr>
        <p:spPr>
          <a:xfrm>
            <a:off x="8444608" y="1669642"/>
            <a:ext cx="1135620" cy="293066"/>
          </a:xfrm>
          <a:prstGeom prst="rect">
            <a:avLst/>
          </a:prstGeom>
          <a:solidFill>
            <a:srgbClr val="FFCCFF"/>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MEYVE</a:t>
            </a:r>
            <a:endParaRPr/>
          </a:p>
        </p:txBody>
      </p:sp>
      <p:sp>
        <p:nvSpPr>
          <p:cNvPr id="119" name="Google Shape;119;p2"/>
          <p:cNvSpPr/>
          <p:nvPr/>
        </p:nvSpPr>
        <p:spPr>
          <a:xfrm>
            <a:off x="9598762" y="2323158"/>
            <a:ext cx="1135620" cy="356803"/>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ARMUT</a:t>
            </a:r>
            <a:endParaRPr/>
          </a:p>
        </p:txBody>
      </p:sp>
      <p:sp>
        <p:nvSpPr>
          <p:cNvPr id="120" name="Google Shape;120;p2"/>
          <p:cNvSpPr/>
          <p:nvPr/>
        </p:nvSpPr>
        <p:spPr>
          <a:xfrm>
            <a:off x="7432298" y="2345142"/>
            <a:ext cx="1135620" cy="356803"/>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ELMA</a:t>
            </a:r>
            <a:endParaRPr/>
          </a:p>
        </p:txBody>
      </p:sp>
      <p:cxnSp>
        <p:nvCxnSpPr>
          <p:cNvPr id="121" name="Google Shape;121;p2"/>
          <p:cNvCxnSpPr/>
          <p:nvPr/>
        </p:nvCxnSpPr>
        <p:spPr>
          <a:xfrm flipH="1">
            <a:off x="8000108" y="1962708"/>
            <a:ext cx="720000" cy="360000"/>
          </a:xfrm>
          <a:prstGeom prst="straightConnector1">
            <a:avLst/>
          </a:prstGeom>
          <a:noFill/>
          <a:ln cap="flat" cmpd="sng" w="12700">
            <a:solidFill>
              <a:schemeClr val="accent1"/>
            </a:solidFill>
            <a:prstDash val="solid"/>
            <a:round/>
            <a:headEnd len="sm" w="sm" type="none"/>
            <a:tailEnd len="med" w="med" type="triangle"/>
          </a:ln>
        </p:spPr>
      </p:cxnSp>
      <p:cxnSp>
        <p:nvCxnSpPr>
          <p:cNvPr id="122" name="Google Shape;122;p2"/>
          <p:cNvCxnSpPr/>
          <p:nvPr/>
        </p:nvCxnSpPr>
        <p:spPr>
          <a:xfrm>
            <a:off x="9395418" y="1962708"/>
            <a:ext cx="720000" cy="360000"/>
          </a:xfrm>
          <a:prstGeom prst="straightConnector1">
            <a:avLst/>
          </a:prstGeom>
          <a:noFill/>
          <a:ln cap="flat" cmpd="sng" w="12700">
            <a:solidFill>
              <a:schemeClr val="accent1"/>
            </a:solidFill>
            <a:prstDash val="solid"/>
            <a:round/>
            <a:headEnd len="sm" w="sm" type="none"/>
            <a:tailEnd len="med" w="med" type="triangle"/>
          </a:ln>
        </p:spPr>
      </p:cxnSp>
      <p:sp>
        <p:nvSpPr>
          <p:cNvPr id="123" name="Google Shape;123;p2"/>
          <p:cNvSpPr/>
          <p:nvPr/>
        </p:nvSpPr>
        <p:spPr>
          <a:xfrm>
            <a:off x="8463142" y="3114707"/>
            <a:ext cx="1135620" cy="293066"/>
          </a:xfrm>
          <a:prstGeom prst="rect">
            <a:avLst/>
          </a:prstGeom>
          <a:solidFill>
            <a:srgbClr val="FFCCFF"/>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ŞEKİL</a:t>
            </a:r>
            <a:endParaRPr/>
          </a:p>
        </p:txBody>
      </p:sp>
      <p:sp>
        <p:nvSpPr>
          <p:cNvPr id="124" name="Google Shape;124;p2"/>
          <p:cNvSpPr/>
          <p:nvPr/>
        </p:nvSpPr>
        <p:spPr>
          <a:xfrm>
            <a:off x="9395417" y="3789400"/>
            <a:ext cx="1686439" cy="356803"/>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DÖRTKENARLI</a:t>
            </a:r>
            <a:endParaRPr/>
          </a:p>
        </p:txBody>
      </p:sp>
      <p:sp>
        <p:nvSpPr>
          <p:cNvPr id="125" name="Google Shape;125;p2"/>
          <p:cNvSpPr/>
          <p:nvPr/>
        </p:nvSpPr>
        <p:spPr>
          <a:xfrm>
            <a:off x="6881479" y="3789401"/>
            <a:ext cx="1686439" cy="356803"/>
          </a:xfrm>
          <a:prstGeom prst="rect">
            <a:avLst/>
          </a:prstGeom>
          <a:solidFill>
            <a:srgbClr val="DDE2EA"/>
          </a:solidFill>
          <a:ln cap="flat" cmpd="sng" w="15875">
            <a:solidFill>
              <a:srgbClr val="304C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400">
                <a:solidFill>
                  <a:schemeClr val="lt1"/>
                </a:solidFill>
                <a:latin typeface="Times New Roman"/>
                <a:ea typeface="Times New Roman"/>
                <a:cs typeface="Times New Roman"/>
                <a:sym typeface="Times New Roman"/>
              </a:rPr>
              <a:t>ÜÇ KENARLI</a:t>
            </a:r>
            <a:endParaRPr/>
          </a:p>
        </p:txBody>
      </p:sp>
      <p:cxnSp>
        <p:nvCxnSpPr>
          <p:cNvPr id="126" name="Google Shape;126;p2"/>
          <p:cNvCxnSpPr/>
          <p:nvPr/>
        </p:nvCxnSpPr>
        <p:spPr>
          <a:xfrm flipH="1">
            <a:off x="8207918" y="3404145"/>
            <a:ext cx="720000" cy="360000"/>
          </a:xfrm>
          <a:prstGeom prst="straightConnector1">
            <a:avLst/>
          </a:prstGeom>
          <a:noFill/>
          <a:ln cap="flat" cmpd="sng" w="12700">
            <a:solidFill>
              <a:schemeClr val="accent1"/>
            </a:solidFill>
            <a:prstDash val="solid"/>
            <a:round/>
            <a:headEnd len="sm" w="sm" type="none"/>
            <a:tailEnd len="med" w="med" type="triangle"/>
          </a:ln>
        </p:spPr>
      </p:cxnSp>
      <p:cxnSp>
        <p:nvCxnSpPr>
          <p:cNvPr id="127" name="Google Shape;127;p2"/>
          <p:cNvCxnSpPr/>
          <p:nvPr/>
        </p:nvCxnSpPr>
        <p:spPr>
          <a:xfrm>
            <a:off x="9156331" y="3410756"/>
            <a:ext cx="720000" cy="360000"/>
          </a:xfrm>
          <a:prstGeom prst="straightConnector1">
            <a:avLst/>
          </a:prstGeom>
          <a:noFill/>
          <a:ln cap="flat" cmpd="sng" w="12700">
            <a:solidFill>
              <a:schemeClr val="accent1"/>
            </a:solidFill>
            <a:prstDash val="solid"/>
            <a:round/>
            <a:headEnd len="sm" w="sm" type="none"/>
            <a:tailEnd len="med" w="med" type="triangle"/>
          </a:ln>
        </p:spPr>
      </p:cxnSp>
      <p:sp>
        <p:nvSpPr>
          <p:cNvPr id="128" name="Google Shape;128;p2"/>
          <p:cNvSpPr/>
          <p:nvPr/>
        </p:nvSpPr>
        <p:spPr>
          <a:xfrm>
            <a:off x="8765129" y="4521098"/>
            <a:ext cx="1135620" cy="293066"/>
          </a:xfrm>
          <a:prstGeom prst="rect">
            <a:avLst/>
          </a:prstGeom>
          <a:solidFill>
            <a:srgbClr val="FFCCCC"/>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100">
                <a:solidFill>
                  <a:schemeClr val="lt1"/>
                </a:solidFill>
                <a:latin typeface="Times New Roman"/>
                <a:ea typeface="Times New Roman"/>
                <a:cs typeface="Times New Roman"/>
                <a:sym typeface="Times New Roman"/>
              </a:rPr>
              <a:t>KARE</a:t>
            </a:r>
            <a:endParaRPr/>
          </a:p>
        </p:txBody>
      </p:sp>
      <p:sp>
        <p:nvSpPr>
          <p:cNvPr id="129" name="Google Shape;129;p2"/>
          <p:cNvSpPr/>
          <p:nvPr/>
        </p:nvSpPr>
        <p:spPr>
          <a:xfrm>
            <a:off x="10722729" y="4515233"/>
            <a:ext cx="1135620" cy="293066"/>
          </a:xfrm>
          <a:prstGeom prst="rect">
            <a:avLst/>
          </a:prstGeom>
          <a:solidFill>
            <a:srgbClr val="FFCCCC"/>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tr-TR" sz="1100">
                <a:solidFill>
                  <a:schemeClr val="lt1"/>
                </a:solidFill>
                <a:latin typeface="Times New Roman"/>
                <a:ea typeface="Times New Roman"/>
                <a:cs typeface="Times New Roman"/>
                <a:sym typeface="Times New Roman"/>
              </a:rPr>
              <a:t>DİKDÖRTGEN</a:t>
            </a:r>
            <a:endParaRPr/>
          </a:p>
        </p:txBody>
      </p:sp>
      <p:cxnSp>
        <p:nvCxnSpPr>
          <p:cNvPr id="130" name="Google Shape;130;p2"/>
          <p:cNvCxnSpPr/>
          <p:nvPr/>
        </p:nvCxnSpPr>
        <p:spPr>
          <a:xfrm flipH="1">
            <a:off x="9240633" y="4155328"/>
            <a:ext cx="720000" cy="360000"/>
          </a:xfrm>
          <a:prstGeom prst="straightConnector1">
            <a:avLst/>
          </a:prstGeom>
          <a:noFill/>
          <a:ln cap="flat" cmpd="sng" w="12700">
            <a:solidFill>
              <a:schemeClr val="accent1"/>
            </a:solidFill>
            <a:prstDash val="solid"/>
            <a:round/>
            <a:headEnd len="sm" w="sm" type="none"/>
            <a:tailEnd len="med" w="med" type="triangle"/>
          </a:ln>
        </p:spPr>
      </p:cxnSp>
      <p:cxnSp>
        <p:nvCxnSpPr>
          <p:cNvPr id="131" name="Google Shape;131;p2"/>
          <p:cNvCxnSpPr/>
          <p:nvPr/>
        </p:nvCxnSpPr>
        <p:spPr>
          <a:xfrm>
            <a:off x="10564967" y="4149775"/>
            <a:ext cx="720000" cy="360000"/>
          </a:xfrm>
          <a:prstGeom prst="straightConnector1">
            <a:avLst/>
          </a:prstGeom>
          <a:noFill/>
          <a:ln cap="flat" cmpd="sng" w="12700">
            <a:solidFill>
              <a:schemeClr val="accent1"/>
            </a:solidFill>
            <a:prstDash val="solid"/>
            <a:round/>
            <a:headEnd len="sm" w="sm"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Miras (Kalıtım) Türleri </a:t>
            </a:r>
            <a:endParaRPr b="1" i="0" sz="2000" u="none" cap="none" strike="noStrike">
              <a:solidFill>
                <a:schemeClr val="lt1"/>
              </a:solidFill>
              <a:latin typeface="Times New Roman"/>
              <a:ea typeface="Times New Roman"/>
              <a:cs typeface="Times New Roman"/>
              <a:sym typeface="Times New Roman"/>
            </a:endParaRPr>
          </a:p>
        </p:txBody>
      </p:sp>
      <p:sp>
        <p:nvSpPr>
          <p:cNvPr id="137" name="Google Shape;137;p3"/>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00000"/>
              </a:lnSpc>
              <a:spcBef>
                <a:spcPts val="0"/>
              </a:spcBef>
              <a:spcAft>
                <a:spcPts val="0"/>
              </a:spcAft>
              <a:buClr>
                <a:schemeClr val="accent1"/>
              </a:buClr>
              <a:buSzPts val="1800"/>
              <a:buFont typeface="Calibri"/>
              <a:buNone/>
            </a:pPr>
            <a:r>
              <a:rPr b="1" i="1" lang="tr-TR" sz="1800" u="none" cap="none" strike="noStrike">
                <a:solidFill>
                  <a:schemeClr val="dk1"/>
                </a:solidFill>
                <a:latin typeface="Times New Roman"/>
                <a:ea typeface="Times New Roman"/>
                <a:cs typeface="Times New Roman"/>
                <a:sym typeface="Times New Roman"/>
              </a:rPr>
              <a:t>Tekli Miras (Single Inheritance): </a:t>
            </a:r>
            <a:r>
              <a:rPr b="0" i="0" lang="tr-TR" sz="1800" u="none" cap="none" strike="noStrike">
                <a:solidFill>
                  <a:schemeClr val="dk1"/>
                </a:solidFill>
                <a:latin typeface="Times New Roman"/>
                <a:ea typeface="Times New Roman"/>
                <a:cs typeface="Times New Roman"/>
                <a:sym typeface="Times New Roman"/>
              </a:rPr>
              <a:t>Türetilmiş bir sınıfın, bir temel sınıftan miras aldığı miras hiyerarşisidir. </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chemeClr val="dk1"/>
                </a:solidFill>
                <a:latin typeface="Times New Roman"/>
                <a:ea typeface="Times New Roman"/>
                <a:cs typeface="Times New Roman"/>
                <a:sym typeface="Times New Roman"/>
              </a:rPr>
              <a:t>Çoklu Miras (Multiple Inheritance): </a:t>
            </a:r>
            <a:r>
              <a:rPr b="0" i="0" lang="tr-TR" sz="1800" u="none" cap="none" strike="noStrike">
                <a:solidFill>
                  <a:schemeClr val="dk1"/>
                </a:solidFill>
                <a:latin typeface="Times New Roman"/>
                <a:ea typeface="Times New Roman"/>
                <a:cs typeface="Times New Roman"/>
                <a:sym typeface="Times New Roman"/>
              </a:rPr>
              <a:t>Türetilmiş bir sınıfın birden çok temel sınıftan miras aldığı miras hiyerarşisidir.</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chemeClr val="dk1"/>
                </a:solidFill>
                <a:latin typeface="Times New Roman"/>
                <a:ea typeface="Times New Roman"/>
                <a:cs typeface="Times New Roman"/>
                <a:sym typeface="Times New Roman"/>
              </a:rPr>
              <a:t>Hiyerarşik Miras (Hierarchical Inheritance): </a:t>
            </a:r>
            <a:r>
              <a:rPr b="0" i="0" lang="tr-TR" sz="1800" u="none" cap="none" strike="noStrike">
                <a:solidFill>
                  <a:schemeClr val="dk1"/>
                </a:solidFill>
                <a:latin typeface="Times New Roman"/>
                <a:ea typeface="Times New Roman"/>
                <a:cs typeface="Times New Roman"/>
                <a:sym typeface="Times New Roman"/>
              </a:rPr>
              <a:t>Birden çok alt sınıfın bir temel sınıftan miras aldığı miras hiyerarşisidir.</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chemeClr val="dk1"/>
                </a:solidFill>
                <a:latin typeface="Times New Roman"/>
                <a:ea typeface="Times New Roman"/>
                <a:cs typeface="Times New Roman"/>
                <a:sym typeface="Times New Roman"/>
              </a:rPr>
              <a:t>Çok Seviyeli Miras (Multilevel Inheritance): </a:t>
            </a:r>
            <a:r>
              <a:rPr b="0" i="0" lang="tr-TR" sz="1800" u="none" cap="none" strike="noStrike">
                <a:solidFill>
                  <a:schemeClr val="dk1"/>
                </a:solidFill>
                <a:latin typeface="Times New Roman"/>
                <a:ea typeface="Times New Roman"/>
                <a:cs typeface="Times New Roman"/>
                <a:sym typeface="Times New Roman"/>
              </a:rPr>
              <a:t>Alt sınıfın diğer sınıflar için temel bir sınıf görevi gördüğü miras hiyerarşisidir.</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chemeClr val="dk1"/>
                </a:solidFill>
                <a:latin typeface="Times New Roman"/>
                <a:ea typeface="Times New Roman"/>
                <a:cs typeface="Times New Roman"/>
                <a:sym typeface="Times New Roman"/>
              </a:rPr>
              <a:t>Hibrit/Melez Miras (Hybrid Inheritance): </a:t>
            </a:r>
            <a:r>
              <a:rPr b="0" i="0" lang="tr-TR" sz="1800" u="none" cap="none" strike="noStrike">
                <a:solidFill>
                  <a:schemeClr val="dk1"/>
                </a:solidFill>
                <a:latin typeface="Times New Roman"/>
                <a:ea typeface="Times New Roman"/>
                <a:cs typeface="Times New Roman"/>
                <a:sym typeface="Times New Roman"/>
              </a:rPr>
              <a:t>Diğer dört tür mirasın herhangi bir kombinasyonunu yansıtan miras hiyerarşisidir.</a:t>
            </a:r>
            <a:endParaRPr/>
          </a:p>
        </p:txBody>
      </p:sp>
      <p:sp>
        <p:nvSpPr>
          <p:cNvPr id="138" name="Google Shape;138;p3"/>
          <p:cNvSpPr/>
          <p:nvPr/>
        </p:nvSpPr>
        <p:spPr>
          <a:xfrm>
            <a:off x="1104900"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A</a:t>
            </a:r>
            <a:endParaRPr/>
          </a:p>
        </p:txBody>
      </p:sp>
      <p:sp>
        <p:nvSpPr>
          <p:cNvPr id="139" name="Google Shape;139;p3"/>
          <p:cNvSpPr/>
          <p:nvPr/>
        </p:nvSpPr>
        <p:spPr>
          <a:xfrm>
            <a:off x="1104900"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B</a:t>
            </a:r>
            <a:endParaRPr/>
          </a:p>
        </p:txBody>
      </p:sp>
      <p:cxnSp>
        <p:nvCxnSpPr>
          <p:cNvPr id="140" name="Google Shape;140;p3"/>
          <p:cNvCxnSpPr>
            <a:stCxn id="138" idx="2"/>
            <a:endCxn id="139" idx="0"/>
          </p:cNvCxnSpPr>
          <p:nvPr/>
        </p:nvCxnSpPr>
        <p:spPr>
          <a:xfrm>
            <a:off x="1392900" y="3141400"/>
            <a:ext cx="0" cy="667200"/>
          </a:xfrm>
          <a:prstGeom prst="straightConnector1">
            <a:avLst/>
          </a:prstGeom>
          <a:noFill/>
          <a:ln cap="flat" cmpd="sng" w="12700">
            <a:solidFill>
              <a:schemeClr val="dk1"/>
            </a:solidFill>
            <a:prstDash val="solid"/>
            <a:round/>
            <a:headEnd len="sm" w="sm" type="none"/>
            <a:tailEnd len="med" w="med" type="triangle"/>
          </a:ln>
        </p:spPr>
      </p:cxnSp>
      <p:sp>
        <p:nvSpPr>
          <p:cNvPr id="141" name="Google Shape;141;p3"/>
          <p:cNvSpPr/>
          <p:nvPr/>
        </p:nvSpPr>
        <p:spPr>
          <a:xfrm>
            <a:off x="2604621"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A</a:t>
            </a:r>
            <a:endParaRPr/>
          </a:p>
        </p:txBody>
      </p:sp>
      <p:sp>
        <p:nvSpPr>
          <p:cNvPr id="142" name="Google Shape;142;p3"/>
          <p:cNvSpPr/>
          <p:nvPr/>
        </p:nvSpPr>
        <p:spPr>
          <a:xfrm>
            <a:off x="3131142"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C</a:t>
            </a:r>
            <a:endParaRPr/>
          </a:p>
        </p:txBody>
      </p:sp>
      <p:cxnSp>
        <p:nvCxnSpPr>
          <p:cNvPr id="143" name="Google Shape;143;p3"/>
          <p:cNvCxnSpPr>
            <a:stCxn id="141" idx="2"/>
            <a:endCxn id="142" idx="0"/>
          </p:cNvCxnSpPr>
          <p:nvPr/>
        </p:nvCxnSpPr>
        <p:spPr>
          <a:xfrm>
            <a:off x="2892621" y="3141400"/>
            <a:ext cx="526500" cy="667200"/>
          </a:xfrm>
          <a:prstGeom prst="straightConnector1">
            <a:avLst/>
          </a:prstGeom>
          <a:noFill/>
          <a:ln cap="flat" cmpd="sng" w="12700">
            <a:solidFill>
              <a:schemeClr val="dk1"/>
            </a:solidFill>
            <a:prstDash val="solid"/>
            <a:round/>
            <a:headEnd len="sm" w="sm" type="none"/>
            <a:tailEnd len="med" w="med" type="triangle"/>
          </a:ln>
        </p:spPr>
      </p:cxnSp>
      <p:sp>
        <p:nvSpPr>
          <p:cNvPr id="144" name="Google Shape;144;p3"/>
          <p:cNvSpPr/>
          <p:nvPr/>
        </p:nvSpPr>
        <p:spPr>
          <a:xfrm>
            <a:off x="3625169"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B</a:t>
            </a:r>
            <a:endParaRPr/>
          </a:p>
        </p:txBody>
      </p:sp>
      <p:cxnSp>
        <p:nvCxnSpPr>
          <p:cNvPr id="145" name="Google Shape;145;p3"/>
          <p:cNvCxnSpPr/>
          <p:nvPr/>
        </p:nvCxnSpPr>
        <p:spPr>
          <a:xfrm flipH="1">
            <a:off x="3402895" y="3141400"/>
            <a:ext cx="526521" cy="667180"/>
          </a:xfrm>
          <a:prstGeom prst="straightConnector1">
            <a:avLst/>
          </a:prstGeom>
          <a:noFill/>
          <a:ln cap="flat" cmpd="sng" w="12700">
            <a:solidFill>
              <a:schemeClr val="dk1"/>
            </a:solidFill>
            <a:prstDash val="solid"/>
            <a:round/>
            <a:headEnd len="sm" w="sm" type="none"/>
            <a:tailEnd len="med" w="med" type="triangle"/>
          </a:ln>
        </p:spPr>
      </p:cxnSp>
      <p:sp>
        <p:nvSpPr>
          <p:cNvPr id="146" name="Google Shape;146;p3"/>
          <p:cNvSpPr/>
          <p:nvPr/>
        </p:nvSpPr>
        <p:spPr>
          <a:xfrm>
            <a:off x="5007678"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A</a:t>
            </a:r>
            <a:endParaRPr/>
          </a:p>
        </p:txBody>
      </p:sp>
      <p:sp>
        <p:nvSpPr>
          <p:cNvPr id="147" name="Google Shape;147;p3"/>
          <p:cNvSpPr/>
          <p:nvPr/>
        </p:nvSpPr>
        <p:spPr>
          <a:xfrm>
            <a:off x="5007678"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B</a:t>
            </a:r>
            <a:endParaRPr/>
          </a:p>
        </p:txBody>
      </p:sp>
      <p:cxnSp>
        <p:nvCxnSpPr>
          <p:cNvPr id="148" name="Google Shape;148;p3"/>
          <p:cNvCxnSpPr>
            <a:stCxn id="146" idx="2"/>
            <a:endCxn id="147" idx="0"/>
          </p:cNvCxnSpPr>
          <p:nvPr/>
        </p:nvCxnSpPr>
        <p:spPr>
          <a:xfrm>
            <a:off x="5295678" y="3141400"/>
            <a:ext cx="0" cy="667200"/>
          </a:xfrm>
          <a:prstGeom prst="straightConnector1">
            <a:avLst/>
          </a:prstGeom>
          <a:noFill/>
          <a:ln cap="flat" cmpd="sng" w="12700">
            <a:solidFill>
              <a:schemeClr val="dk1"/>
            </a:solidFill>
            <a:prstDash val="solid"/>
            <a:round/>
            <a:headEnd len="sm" w="sm" type="none"/>
            <a:tailEnd len="med" w="med" type="triangle"/>
          </a:ln>
        </p:spPr>
      </p:cxnSp>
      <p:sp>
        <p:nvSpPr>
          <p:cNvPr id="149" name="Google Shape;149;p3"/>
          <p:cNvSpPr/>
          <p:nvPr/>
        </p:nvSpPr>
        <p:spPr>
          <a:xfrm>
            <a:off x="5007678" y="5051760"/>
            <a:ext cx="576000" cy="576000"/>
          </a:xfrm>
          <a:prstGeom prst="rect">
            <a:avLst/>
          </a:prstGeom>
          <a:solidFill>
            <a:srgbClr val="66FF33"/>
          </a:solidFill>
          <a:ln cap="flat" cmpd="sng" w="15875">
            <a:solidFill>
              <a:srgbClr val="33CC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C</a:t>
            </a:r>
            <a:endParaRPr/>
          </a:p>
        </p:txBody>
      </p:sp>
      <p:cxnSp>
        <p:nvCxnSpPr>
          <p:cNvPr id="150" name="Google Shape;150;p3"/>
          <p:cNvCxnSpPr>
            <a:endCxn id="149" idx="0"/>
          </p:cNvCxnSpPr>
          <p:nvPr/>
        </p:nvCxnSpPr>
        <p:spPr>
          <a:xfrm>
            <a:off x="5295678" y="4384560"/>
            <a:ext cx="0" cy="667200"/>
          </a:xfrm>
          <a:prstGeom prst="straightConnector1">
            <a:avLst/>
          </a:prstGeom>
          <a:noFill/>
          <a:ln cap="flat" cmpd="sng" w="12700">
            <a:solidFill>
              <a:schemeClr val="dk1"/>
            </a:solidFill>
            <a:prstDash val="solid"/>
            <a:round/>
            <a:headEnd len="sm" w="sm" type="none"/>
            <a:tailEnd len="med" w="med" type="triangle"/>
          </a:ln>
        </p:spPr>
      </p:cxnSp>
      <p:sp>
        <p:nvSpPr>
          <p:cNvPr id="151" name="Google Shape;151;p3"/>
          <p:cNvSpPr/>
          <p:nvPr/>
        </p:nvSpPr>
        <p:spPr>
          <a:xfrm>
            <a:off x="7046331"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A</a:t>
            </a:r>
            <a:endParaRPr/>
          </a:p>
        </p:txBody>
      </p:sp>
      <p:sp>
        <p:nvSpPr>
          <p:cNvPr id="152" name="Google Shape;152;p3"/>
          <p:cNvSpPr/>
          <p:nvPr/>
        </p:nvSpPr>
        <p:spPr>
          <a:xfrm>
            <a:off x="6333703"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B</a:t>
            </a:r>
            <a:endParaRPr/>
          </a:p>
        </p:txBody>
      </p:sp>
      <p:cxnSp>
        <p:nvCxnSpPr>
          <p:cNvPr id="153" name="Google Shape;153;p3"/>
          <p:cNvCxnSpPr>
            <a:endCxn id="152" idx="0"/>
          </p:cNvCxnSpPr>
          <p:nvPr/>
        </p:nvCxnSpPr>
        <p:spPr>
          <a:xfrm flipH="1">
            <a:off x="6621703" y="3141380"/>
            <a:ext cx="700200" cy="667200"/>
          </a:xfrm>
          <a:prstGeom prst="straightConnector1">
            <a:avLst/>
          </a:prstGeom>
          <a:noFill/>
          <a:ln cap="flat" cmpd="sng" w="12700">
            <a:solidFill>
              <a:schemeClr val="dk1"/>
            </a:solidFill>
            <a:prstDash val="solid"/>
            <a:round/>
            <a:headEnd len="sm" w="sm" type="none"/>
            <a:tailEnd len="med" w="med" type="triangle"/>
          </a:ln>
        </p:spPr>
      </p:cxnSp>
      <p:sp>
        <p:nvSpPr>
          <p:cNvPr id="154" name="Google Shape;154;p3"/>
          <p:cNvSpPr/>
          <p:nvPr/>
        </p:nvSpPr>
        <p:spPr>
          <a:xfrm>
            <a:off x="7033920"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C</a:t>
            </a:r>
            <a:endParaRPr/>
          </a:p>
        </p:txBody>
      </p:sp>
      <p:cxnSp>
        <p:nvCxnSpPr>
          <p:cNvPr id="155" name="Google Shape;155;p3"/>
          <p:cNvCxnSpPr>
            <a:endCxn id="154" idx="0"/>
          </p:cNvCxnSpPr>
          <p:nvPr/>
        </p:nvCxnSpPr>
        <p:spPr>
          <a:xfrm>
            <a:off x="7321920" y="3141380"/>
            <a:ext cx="0" cy="667200"/>
          </a:xfrm>
          <a:prstGeom prst="straightConnector1">
            <a:avLst/>
          </a:prstGeom>
          <a:noFill/>
          <a:ln cap="flat" cmpd="sng" w="12700">
            <a:solidFill>
              <a:schemeClr val="dk1"/>
            </a:solidFill>
            <a:prstDash val="solid"/>
            <a:round/>
            <a:headEnd len="sm" w="sm" type="none"/>
            <a:tailEnd len="med" w="med" type="triangle"/>
          </a:ln>
        </p:spPr>
      </p:cxnSp>
      <p:sp>
        <p:nvSpPr>
          <p:cNvPr id="156" name="Google Shape;156;p3"/>
          <p:cNvSpPr/>
          <p:nvPr/>
        </p:nvSpPr>
        <p:spPr>
          <a:xfrm>
            <a:off x="7734136"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D</a:t>
            </a:r>
            <a:endParaRPr/>
          </a:p>
        </p:txBody>
      </p:sp>
      <p:cxnSp>
        <p:nvCxnSpPr>
          <p:cNvPr id="157" name="Google Shape;157;p3"/>
          <p:cNvCxnSpPr>
            <a:stCxn id="151" idx="2"/>
            <a:endCxn id="156" idx="0"/>
          </p:cNvCxnSpPr>
          <p:nvPr/>
        </p:nvCxnSpPr>
        <p:spPr>
          <a:xfrm>
            <a:off x="7334331" y="3141400"/>
            <a:ext cx="687900" cy="667200"/>
          </a:xfrm>
          <a:prstGeom prst="straightConnector1">
            <a:avLst/>
          </a:prstGeom>
          <a:noFill/>
          <a:ln cap="flat" cmpd="sng" w="12700">
            <a:solidFill>
              <a:schemeClr val="dk1"/>
            </a:solidFill>
            <a:prstDash val="solid"/>
            <a:round/>
            <a:headEnd len="sm" w="sm" type="none"/>
            <a:tailEnd len="med" w="med" type="triangle"/>
          </a:ln>
        </p:spPr>
      </p:cxnSp>
      <p:sp>
        <p:nvSpPr>
          <p:cNvPr id="158" name="Google Shape;158;p3"/>
          <p:cNvSpPr/>
          <p:nvPr/>
        </p:nvSpPr>
        <p:spPr>
          <a:xfrm>
            <a:off x="9651105" y="2565400"/>
            <a:ext cx="576000" cy="576000"/>
          </a:xfrm>
          <a:prstGeom prst="rect">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A</a:t>
            </a:r>
            <a:endParaRPr/>
          </a:p>
        </p:txBody>
      </p:sp>
      <p:sp>
        <p:nvSpPr>
          <p:cNvPr id="159" name="Google Shape;159;p3"/>
          <p:cNvSpPr/>
          <p:nvPr/>
        </p:nvSpPr>
        <p:spPr>
          <a:xfrm>
            <a:off x="8938477"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B</a:t>
            </a:r>
            <a:endParaRPr/>
          </a:p>
        </p:txBody>
      </p:sp>
      <p:cxnSp>
        <p:nvCxnSpPr>
          <p:cNvPr id="160" name="Google Shape;160;p3"/>
          <p:cNvCxnSpPr>
            <a:endCxn id="159" idx="0"/>
          </p:cNvCxnSpPr>
          <p:nvPr/>
        </p:nvCxnSpPr>
        <p:spPr>
          <a:xfrm flipH="1">
            <a:off x="9226477" y="3141380"/>
            <a:ext cx="700200" cy="667200"/>
          </a:xfrm>
          <a:prstGeom prst="straightConnector1">
            <a:avLst/>
          </a:prstGeom>
          <a:noFill/>
          <a:ln cap="flat" cmpd="sng" w="12700">
            <a:solidFill>
              <a:schemeClr val="dk1"/>
            </a:solidFill>
            <a:prstDash val="solid"/>
            <a:round/>
            <a:headEnd len="sm" w="sm" type="none"/>
            <a:tailEnd len="med" w="med" type="triangle"/>
          </a:ln>
        </p:spPr>
      </p:cxnSp>
      <p:sp>
        <p:nvSpPr>
          <p:cNvPr id="161" name="Google Shape;161;p3"/>
          <p:cNvSpPr/>
          <p:nvPr/>
        </p:nvSpPr>
        <p:spPr>
          <a:xfrm>
            <a:off x="10338910" y="3808580"/>
            <a:ext cx="576000" cy="576000"/>
          </a:xfrm>
          <a:prstGeom prst="rect">
            <a:avLst/>
          </a:prstGeom>
          <a:solidFill>
            <a:srgbClr val="FF9900"/>
          </a:solidFill>
          <a:ln cap="flat" cmpd="sng" w="15875">
            <a:solidFill>
              <a:srgbClr val="606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D</a:t>
            </a:r>
            <a:endParaRPr/>
          </a:p>
        </p:txBody>
      </p:sp>
      <p:cxnSp>
        <p:nvCxnSpPr>
          <p:cNvPr id="162" name="Google Shape;162;p3"/>
          <p:cNvCxnSpPr>
            <a:stCxn id="158" idx="2"/>
            <a:endCxn id="161" idx="0"/>
          </p:cNvCxnSpPr>
          <p:nvPr/>
        </p:nvCxnSpPr>
        <p:spPr>
          <a:xfrm>
            <a:off x="9939105" y="3141400"/>
            <a:ext cx="687900" cy="667200"/>
          </a:xfrm>
          <a:prstGeom prst="straightConnector1">
            <a:avLst/>
          </a:prstGeom>
          <a:noFill/>
          <a:ln cap="flat" cmpd="sng" w="12700">
            <a:solidFill>
              <a:schemeClr val="dk1"/>
            </a:solidFill>
            <a:prstDash val="solid"/>
            <a:round/>
            <a:headEnd len="sm" w="sm" type="none"/>
            <a:tailEnd len="med" w="med" type="triangle"/>
          </a:ln>
        </p:spPr>
      </p:cxnSp>
      <p:sp>
        <p:nvSpPr>
          <p:cNvPr id="163" name="Google Shape;163;p3"/>
          <p:cNvSpPr/>
          <p:nvPr/>
        </p:nvSpPr>
        <p:spPr>
          <a:xfrm>
            <a:off x="9651105" y="5051760"/>
            <a:ext cx="576000" cy="576000"/>
          </a:xfrm>
          <a:prstGeom prst="rect">
            <a:avLst/>
          </a:prstGeom>
          <a:solidFill>
            <a:srgbClr val="66FF33"/>
          </a:solidFill>
          <a:ln cap="flat" cmpd="sng" w="15875">
            <a:solidFill>
              <a:srgbClr val="33CC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tr-TR" sz="1800">
                <a:solidFill>
                  <a:schemeClr val="lt1"/>
                </a:solidFill>
                <a:latin typeface="Times New Roman"/>
                <a:ea typeface="Times New Roman"/>
                <a:cs typeface="Times New Roman"/>
                <a:sym typeface="Times New Roman"/>
              </a:rPr>
              <a:t>C</a:t>
            </a:r>
            <a:endParaRPr/>
          </a:p>
        </p:txBody>
      </p:sp>
      <p:cxnSp>
        <p:nvCxnSpPr>
          <p:cNvPr id="164" name="Google Shape;164;p3"/>
          <p:cNvCxnSpPr>
            <a:stCxn id="159" idx="2"/>
            <a:endCxn id="163" idx="0"/>
          </p:cNvCxnSpPr>
          <p:nvPr/>
        </p:nvCxnSpPr>
        <p:spPr>
          <a:xfrm>
            <a:off x="9226477" y="4384580"/>
            <a:ext cx="712500" cy="667200"/>
          </a:xfrm>
          <a:prstGeom prst="straightConnector1">
            <a:avLst/>
          </a:prstGeom>
          <a:noFill/>
          <a:ln cap="flat" cmpd="sng" w="12700">
            <a:solidFill>
              <a:schemeClr val="dk1"/>
            </a:solidFill>
            <a:prstDash val="solid"/>
            <a:round/>
            <a:headEnd len="sm" w="sm" type="none"/>
            <a:tailEnd len="med" w="med" type="triangle"/>
          </a:ln>
        </p:spPr>
      </p:cxnSp>
      <p:cxnSp>
        <p:nvCxnSpPr>
          <p:cNvPr id="165" name="Google Shape;165;p3"/>
          <p:cNvCxnSpPr/>
          <p:nvPr/>
        </p:nvCxnSpPr>
        <p:spPr>
          <a:xfrm flipH="1">
            <a:off x="9914282" y="4384580"/>
            <a:ext cx="712628" cy="667180"/>
          </a:xfrm>
          <a:prstGeom prst="straightConnector1">
            <a:avLst/>
          </a:prstGeom>
          <a:noFill/>
          <a:ln cap="flat" cmpd="sng" w="12700">
            <a:solidFill>
              <a:schemeClr val="dk1"/>
            </a:solidFill>
            <a:prstDash val="solid"/>
            <a:round/>
            <a:headEnd len="sm" w="sm" type="none"/>
            <a:tailEnd len="med" w="med" type="triangle"/>
          </a:ln>
        </p:spPr>
      </p:cxnSp>
      <p:sp>
        <p:nvSpPr>
          <p:cNvPr id="166" name="Google Shape;166;p3"/>
          <p:cNvSpPr txBox="1"/>
          <p:nvPr/>
        </p:nvSpPr>
        <p:spPr>
          <a:xfrm>
            <a:off x="1076880" y="4682428"/>
            <a:ext cx="7833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1800">
                <a:solidFill>
                  <a:schemeClr val="dk1"/>
                </a:solidFill>
                <a:latin typeface="Times New Roman"/>
                <a:ea typeface="Times New Roman"/>
                <a:cs typeface="Times New Roman"/>
                <a:sym typeface="Times New Roman"/>
              </a:rPr>
              <a:t>Tekli</a:t>
            </a:r>
            <a:endParaRPr sz="1800">
              <a:solidFill>
                <a:schemeClr val="lt1"/>
              </a:solidFill>
              <a:latin typeface="Calibri"/>
              <a:ea typeface="Calibri"/>
              <a:cs typeface="Calibri"/>
              <a:sym typeface="Calibri"/>
            </a:endParaRPr>
          </a:p>
        </p:txBody>
      </p:sp>
      <p:sp>
        <p:nvSpPr>
          <p:cNvPr id="167" name="Google Shape;167;p3"/>
          <p:cNvSpPr txBox="1"/>
          <p:nvPr/>
        </p:nvSpPr>
        <p:spPr>
          <a:xfrm>
            <a:off x="3031843" y="4640228"/>
            <a:ext cx="8338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1800">
                <a:solidFill>
                  <a:schemeClr val="dk1"/>
                </a:solidFill>
                <a:latin typeface="Times New Roman"/>
                <a:ea typeface="Times New Roman"/>
                <a:cs typeface="Times New Roman"/>
                <a:sym typeface="Times New Roman"/>
              </a:rPr>
              <a:t>Çoklu</a:t>
            </a:r>
            <a:endParaRPr sz="1800">
              <a:solidFill>
                <a:schemeClr val="lt1"/>
              </a:solidFill>
              <a:latin typeface="Calibri"/>
              <a:ea typeface="Calibri"/>
              <a:cs typeface="Calibri"/>
              <a:sym typeface="Calibri"/>
            </a:endParaRPr>
          </a:p>
        </p:txBody>
      </p:sp>
      <p:sp>
        <p:nvSpPr>
          <p:cNvPr id="168" name="Google Shape;168;p3"/>
          <p:cNvSpPr txBox="1"/>
          <p:nvPr/>
        </p:nvSpPr>
        <p:spPr>
          <a:xfrm>
            <a:off x="6801840" y="4598028"/>
            <a:ext cx="14098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1800">
                <a:solidFill>
                  <a:schemeClr val="dk1"/>
                </a:solidFill>
                <a:latin typeface="Times New Roman"/>
                <a:ea typeface="Times New Roman"/>
                <a:cs typeface="Times New Roman"/>
                <a:sym typeface="Times New Roman"/>
              </a:rPr>
              <a:t>Hiyerarşik</a:t>
            </a:r>
            <a:endParaRPr sz="1800">
              <a:solidFill>
                <a:schemeClr val="lt1"/>
              </a:solidFill>
              <a:latin typeface="Calibri"/>
              <a:ea typeface="Calibri"/>
              <a:cs typeface="Calibri"/>
              <a:sym typeface="Calibri"/>
            </a:endParaRPr>
          </a:p>
        </p:txBody>
      </p:sp>
      <p:sp>
        <p:nvSpPr>
          <p:cNvPr id="169" name="Google Shape;169;p3"/>
          <p:cNvSpPr txBox="1"/>
          <p:nvPr/>
        </p:nvSpPr>
        <p:spPr>
          <a:xfrm>
            <a:off x="4675930" y="5745724"/>
            <a:ext cx="15216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1800">
                <a:solidFill>
                  <a:schemeClr val="dk1"/>
                </a:solidFill>
                <a:latin typeface="Times New Roman"/>
                <a:ea typeface="Times New Roman"/>
                <a:cs typeface="Times New Roman"/>
                <a:sym typeface="Times New Roman"/>
              </a:rPr>
              <a:t>Çok Seviyeli </a:t>
            </a:r>
            <a:endParaRPr sz="1800">
              <a:solidFill>
                <a:schemeClr val="lt1"/>
              </a:solidFill>
              <a:latin typeface="Calibri"/>
              <a:ea typeface="Calibri"/>
              <a:cs typeface="Calibri"/>
              <a:sym typeface="Calibri"/>
            </a:endParaRPr>
          </a:p>
        </p:txBody>
      </p:sp>
      <p:sp>
        <p:nvSpPr>
          <p:cNvPr id="170" name="Google Shape;170;p3"/>
          <p:cNvSpPr txBox="1"/>
          <p:nvPr/>
        </p:nvSpPr>
        <p:spPr>
          <a:xfrm>
            <a:off x="9616291" y="5745724"/>
            <a:ext cx="8557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tr-TR" sz="1800">
                <a:solidFill>
                  <a:schemeClr val="dk1"/>
                </a:solidFill>
                <a:latin typeface="Times New Roman"/>
                <a:ea typeface="Times New Roman"/>
                <a:cs typeface="Times New Roman"/>
                <a:sym typeface="Times New Roman"/>
              </a:rPr>
              <a:t>Hibrit</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Kalıtım Modları</a:t>
            </a:r>
            <a:endParaRPr b="1" i="0" sz="2000" u="none" cap="none" strike="noStrike">
              <a:solidFill>
                <a:schemeClr val="lt1"/>
              </a:solidFill>
              <a:latin typeface="Times New Roman"/>
              <a:ea typeface="Times New Roman"/>
              <a:cs typeface="Times New Roman"/>
              <a:sym typeface="Times New Roman"/>
            </a:endParaRPr>
          </a:p>
        </p:txBody>
      </p:sp>
      <p:sp>
        <p:nvSpPr>
          <p:cNvPr id="176" name="Google Shape;176;p4"/>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0" lvl="1" marL="201168" marR="0" rtl="0" algn="just">
              <a:lnSpc>
                <a:spcPct val="100000"/>
              </a:lnSpc>
              <a:spcBef>
                <a:spcPts val="0"/>
              </a:spcBef>
              <a:spcAft>
                <a:spcPts val="0"/>
              </a:spcAft>
              <a:buClr>
                <a:schemeClr val="accent1"/>
              </a:buClr>
              <a:buSzPts val="1800"/>
              <a:buFont typeface="Calibri"/>
              <a:buNone/>
            </a:pPr>
            <a:r>
              <a:rPr b="1" i="1" lang="tr-TR" sz="1800" u="sng" cap="none" strike="noStrike">
                <a:solidFill>
                  <a:schemeClr val="dk1"/>
                </a:solidFill>
                <a:latin typeface="Times New Roman"/>
                <a:ea typeface="Times New Roman"/>
                <a:cs typeface="Times New Roman"/>
                <a:sym typeface="Times New Roman"/>
              </a:rPr>
              <a:t>Genel (public) mod: </a:t>
            </a:r>
            <a:endParaRPr b="0" i="0" sz="1800" u="sng" cap="none" strike="noStrike">
              <a:solidFill>
                <a:schemeClr val="dk1"/>
              </a:solidFill>
              <a:latin typeface="Times New Roman"/>
              <a:ea typeface="Times New Roman"/>
              <a:cs typeface="Times New Roman"/>
              <a:sym typeface="Times New Roman"/>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rgbClr val="00B050"/>
                </a:solidFill>
                <a:latin typeface="Times New Roman"/>
                <a:ea typeface="Times New Roman"/>
                <a:cs typeface="Times New Roman"/>
                <a:sym typeface="Times New Roman"/>
              </a:rPr>
              <a:t>Public</a:t>
            </a:r>
            <a:r>
              <a:rPr b="0" i="0" lang="tr-TR" sz="1800" u="none" cap="none" strike="noStrike">
                <a:solidFill>
                  <a:schemeClr val="dk1"/>
                </a:solidFill>
                <a:latin typeface="Times New Roman"/>
                <a:ea typeface="Times New Roman"/>
                <a:cs typeface="Times New Roman"/>
                <a:sym typeface="Times New Roman"/>
              </a:rPr>
              <a:t> bir temel sınıftan bir alt sınıf türetirsek, temel sınıfın </a:t>
            </a:r>
            <a:r>
              <a:rPr b="1" i="1" lang="tr-TR" sz="1800" u="none" cap="none" strike="noStrike">
                <a:solidFill>
                  <a:srgbClr val="00B050"/>
                </a:solidFill>
                <a:latin typeface="Times New Roman"/>
                <a:ea typeface="Times New Roman"/>
                <a:cs typeface="Times New Roman"/>
                <a:sym typeface="Times New Roman"/>
              </a:rPr>
              <a:t>public</a:t>
            </a:r>
            <a:r>
              <a:rPr b="0" i="0" lang="tr-TR" sz="1800" u="none" cap="none" strike="noStrike">
                <a:solidFill>
                  <a:schemeClr val="dk1"/>
                </a:solidFill>
                <a:latin typeface="Times New Roman"/>
                <a:ea typeface="Times New Roman"/>
                <a:cs typeface="Times New Roman"/>
                <a:sym typeface="Times New Roman"/>
              </a:rPr>
              <a:t> üyesi türetilmiş sınıfta </a:t>
            </a:r>
            <a:r>
              <a:rPr b="1" i="1" lang="tr-TR" sz="1800" u="none" cap="none" strike="noStrike">
                <a:solidFill>
                  <a:srgbClr val="00B050"/>
                </a:solidFill>
                <a:latin typeface="Times New Roman"/>
                <a:ea typeface="Times New Roman"/>
                <a:cs typeface="Times New Roman"/>
                <a:sym typeface="Times New Roman"/>
              </a:rPr>
              <a:t>public</a:t>
            </a:r>
            <a:r>
              <a:rPr b="0" i="0" lang="tr-TR" sz="1800" u="none" cap="none" strike="noStrike">
                <a:solidFill>
                  <a:schemeClr val="dk1"/>
                </a:solidFill>
                <a:latin typeface="Times New Roman"/>
                <a:ea typeface="Times New Roman"/>
                <a:cs typeface="Times New Roman"/>
                <a:sym typeface="Times New Roman"/>
              </a:rPr>
              <a:t> hale gelir ve temel sınıfın </a:t>
            </a: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üyeleri türetilmiş sınıfta </a:t>
            </a: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olur.</a:t>
            </a:r>
            <a:endParaRPr/>
          </a:p>
          <a:p>
            <a:pPr indent="0" lvl="1" marL="20116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sng" cap="none" strike="noStrike">
                <a:solidFill>
                  <a:schemeClr val="dk1"/>
                </a:solidFill>
                <a:latin typeface="Times New Roman"/>
                <a:ea typeface="Times New Roman"/>
                <a:cs typeface="Times New Roman"/>
                <a:sym typeface="Times New Roman"/>
              </a:rPr>
              <a:t>Korumalı (protected) mod: </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bir temel sınıftan bir alt sınıf türetirsek, temel sınıfın hem </a:t>
            </a:r>
            <a:r>
              <a:rPr b="1" i="1" lang="tr-TR" sz="1800" u="none" cap="none" strike="noStrike">
                <a:solidFill>
                  <a:srgbClr val="00B050"/>
                </a:solidFill>
                <a:latin typeface="Times New Roman"/>
                <a:ea typeface="Times New Roman"/>
                <a:cs typeface="Times New Roman"/>
                <a:sym typeface="Times New Roman"/>
              </a:rPr>
              <a:t>public</a:t>
            </a:r>
            <a:r>
              <a:rPr b="0" i="0" lang="tr-TR" sz="1800" u="none" cap="none" strike="noStrike">
                <a:solidFill>
                  <a:schemeClr val="dk1"/>
                </a:solidFill>
                <a:latin typeface="Times New Roman"/>
                <a:ea typeface="Times New Roman"/>
                <a:cs typeface="Times New Roman"/>
                <a:sym typeface="Times New Roman"/>
              </a:rPr>
              <a:t> üyesi hem de </a:t>
            </a: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üyeleri türetilmiş sınıfta </a:t>
            </a: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olur. </a:t>
            </a:r>
            <a:endParaRPr/>
          </a:p>
          <a:p>
            <a:pPr indent="0" lvl="1" marL="20116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chemeClr val="dk1"/>
              </a:solidFill>
              <a:latin typeface="Times New Roman"/>
              <a:ea typeface="Times New Roman"/>
              <a:cs typeface="Times New Roman"/>
              <a:sym typeface="Times New Roman"/>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sng" cap="none" strike="noStrike">
                <a:solidFill>
                  <a:schemeClr val="dk1"/>
                </a:solidFill>
                <a:latin typeface="Times New Roman"/>
                <a:ea typeface="Times New Roman"/>
                <a:cs typeface="Times New Roman"/>
                <a:sym typeface="Times New Roman"/>
              </a:rPr>
              <a:t>Gizli (private) mod: </a:t>
            </a:r>
            <a:endParaRPr/>
          </a:p>
          <a:p>
            <a:pPr indent="0" lvl="1" marL="201168" marR="0" rtl="0" algn="just">
              <a:lnSpc>
                <a:spcPct val="100000"/>
              </a:lnSpc>
              <a:spcBef>
                <a:spcPts val="600"/>
              </a:spcBef>
              <a:spcAft>
                <a:spcPts val="0"/>
              </a:spcAft>
              <a:buClr>
                <a:schemeClr val="accent1"/>
              </a:buClr>
              <a:buSzPts val="1800"/>
              <a:buFont typeface="Calibri"/>
              <a:buNone/>
            </a:pPr>
            <a:r>
              <a:rPr b="1" i="1" lang="tr-TR" sz="1800" u="none" cap="none" strike="noStrike">
                <a:solidFill>
                  <a:srgbClr val="FF0000"/>
                </a:solidFill>
                <a:latin typeface="Times New Roman"/>
                <a:ea typeface="Times New Roman"/>
                <a:cs typeface="Times New Roman"/>
                <a:sym typeface="Times New Roman"/>
              </a:rPr>
              <a:t>private</a:t>
            </a:r>
            <a:r>
              <a:rPr b="0" i="0" lang="tr-TR" sz="1800" u="none" cap="none" strike="noStrike">
                <a:solidFill>
                  <a:schemeClr val="dk1"/>
                </a:solidFill>
                <a:latin typeface="Times New Roman"/>
                <a:ea typeface="Times New Roman"/>
                <a:cs typeface="Times New Roman"/>
                <a:sym typeface="Times New Roman"/>
              </a:rPr>
              <a:t> bir temel sınıftan bir alt sınıf türetirsek, temel sınıfın hem </a:t>
            </a:r>
            <a:r>
              <a:rPr b="1" i="1" lang="tr-TR" sz="1800" u="none" cap="none" strike="noStrike">
                <a:solidFill>
                  <a:srgbClr val="00B050"/>
                </a:solidFill>
                <a:latin typeface="Times New Roman"/>
                <a:ea typeface="Times New Roman"/>
                <a:cs typeface="Times New Roman"/>
                <a:sym typeface="Times New Roman"/>
              </a:rPr>
              <a:t>public</a:t>
            </a:r>
            <a:r>
              <a:rPr b="0" i="0" lang="tr-TR" sz="1800" u="none" cap="none" strike="noStrike">
                <a:solidFill>
                  <a:schemeClr val="dk1"/>
                </a:solidFill>
                <a:latin typeface="Times New Roman"/>
                <a:ea typeface="Times New Roman"/>
                <a:cs typeface="Times New Roman"/>
                <a:sym typeface="Times New Roman"/>
              </a:rPr>
              <a:t> üyesi hem de </a:t>
            </a:r>
            <a:r>
              <a:rPr b="1" i="1" lang="tr-TR" sz="1800" u="none" cap="none" strike="noStrike">
                <a:solidFill>
                  <a:srgbClr val="FF6600"/>
                </a:solidFill>
                <a:latin typeface="Times New Roman"/>
                <a:ea typeface="Times New Roman"/>
                <a:cs typeface="Times New Roman"/>
                <a:sym typeface="Times New Roman"/>
              </a:rPr>
              <a:t>protected</a:t>
            </a:r>
            <a:r>
              <a:rPr b="0" i="0" lang="tr-TR" sz="1800" u="none" cap="none" strike="noStrike">
                <a:solidFill>
                  <a:schemeClr val="dk1"/>
                </a:solidFill>
                <a:latin typeface="Times New Roman"/>
                <a:ea typeface="Times New Roman"/>
                <a:cs typeface="Times New Roman"/>
                <a:sym typeface="Times New Roman"/>
              </a:rPr>
              <a:t> üyeleri türetilmiş sınıfta </a:t>
            </a:r>
            <a:r>
              <a:rPr b="1" i="1" lang="tr-TR" sz="1800" u="none" cap="none" strike="noStrike">
                <a:solidFill>
                  <a:srgbClr val="FF0000"/>
                </a:solidFill>
                <a:latin typeface="Times New Roman"/>
                <a:ea typeface="Times New Roman"/>
                <a:cs typeface="Times New Roman"/>
                <a:sym typeface="Times New Roman"/>
              </a:rPr>
              <a:t>private</a:t>
            </a:r>
            <a:r>
              <a:rPr b="0" i="0" lang="tr-TR" sz="1800" u="none" cap="none" strike="noStrike">
                <a:solidFill>
                  <a:schemeClr val="dk1"/>
                </a:solidFill>
                <a:latin typeface="Times New Roman"/>
                <a:ea typeface="Times New Roman"/>
                <a:cs typeface="Times New Roman"/>
                <a:sym typeface="Times New Roman"/>
              </a:rPr>
              <a:t> olur. </a:t>
            </a:r>
            <a:endParaRPr/>
          </a:p>
        </p:txBody>
      </p:sp>
      <p:sp>
        <p:nvSpPr>
          <p:cNvPr id="177" name="Google Shape;177;p4"/>
          <p:cNvSpPr txBox="1"/>
          <p:nvPr/>
        </p:nvSpPr>
        <p:spPr>
          <a:xfrm>
            <a:off x="192190" y="4479836"/>
            <a:ext cx="1160780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Bir sınıftan yeni bir sınıf türetmek için türetilmiş sınıfın bildiriminde </a:t>
            </a:r>
            <a:r>
              <a:rPr b="1" lang="tr-TR" sz="1800">
                <a:solidFill>
                  <a:schemeClr val="lt1"/>
                </a:solidFill>
                <a:latin typeface="Times New Roman"/>
                <a:ea typeface="Times New Roman"/>
                <a:cs typeface="Times New Roman"/>
                <a:sym typeface="Times New Roman"/>
              </a:rPr>
              <a:t>iki nokta üst üste (:) </a:t>
            </a:r>
            <a:r>
              <a:rPr lang="tr-TR" sz="1800">
                <a:solidFill>
                  <a:schemeClr val="lt1"/>
                </a:solidFill>
                <a:latin typeface="Times New Roman"/>
                <a:ea typeface="Times New Roman"/>
                <a:cs typeface="Times New Roman"/>
                <a:sym typeface="Times New Roman"/>
              </a:rPr>
              <a:t>kullanılır. Genel format şu şekildedir: </a:t>
            </a:r>
            <a:endParaRPr/>
          </a:p>
        </p:txBody>
      </p:sp>
      <p:sp>
        <p:nvSpPr>
          <p:cNvPr id="178" name="Google Shape;178;p4"/>
          <p:cNvSpPr txBox="1"/>
          <p:nvPr/>
        </p:nvSpPr>
        <p:spPr>
          <a:xfrm>
            <a:off x="2425699" y="5171940"/>
            <a:ext cx="6889750" cy="1077218"/>
          </a:xfrm>
          <a:prstGeom prst="rect">
            <a:avLst/>
          </a:prstGeom>
          <a:noFill/>
          <a:ln cap="flat" cmpd="sng" w="9525">
            <a:solidFill>
              <a:srgbClr val="59347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600">
                <a:solidFill>
                  <a:schemeClr val="lt1"/>
                </a:solidFill>
                <a:latin typeface="Consolas"/>
                <a:ea typeface="Consolas"/>
                <a:cs typeface="Consolas"/>
                <a:sym typeface="Consolas"/>
              </a:rPr>
              <a:t>class türetilmiş_sınıf_adı: erişim_belirteci temel_sınıf_adı</a:t>
            </a:r>
            <a:endParaRPr sz="1600">
              <a:solidFill>
                <a:schemeClr val="lt1"/>
              </a:solidFill>
              <a:latin typeface="Consolas"/>
              <a:ea typeface="Consolas"/>
              <a:cs typeface="Consolas"/>
              <a:sym typeface="Consolas"/>
            </a:endParaRPr>
          </a:p>
          <a:p>
            <a:pPr indent="0" lvl="0" marL="0" marR="0" rtl="0" algn="l">
              <a:spcBef>
                <a:spcPts val="0"/>
              </a:spcBef>
              <a:spcAft>
                <a:spcPts val="0"/>
              </a:spcAft>
              <a:buNone/>
            </a:pPr>
            <a:r>
              <a:rPr lang="tr-TR" sz="1600">
                <a:solidFill>
                  <a:schemeClr val="lt1"/>
                </a:solidFill>
                <a:latin typeface="Consolas"/>
                <a:ea typeface="Consolas"/>
                <a:cs typeface="Consolas"/>
                <a:sym typeface="Consolas"/>
              </a:rPr>
              <a:t>{</a:t>
            </a:r>
            <a:endParaRPr/>
          </a:p>
          <a:p>
            <a:pPr indent="0" lvl="0" marL="0" marR="0" rtl="0" algn="l">
              <a:spcBef>
                <a:spcPts val="0"/>
              </a:spcBef>
              <a:spcAft>
                <a:spcPts val="0"/>
              </a:spcAft>
              <a:buNone/>
            </a:pPr>
            <a:r>
              <a:rPr lang="tr-TR" sz="1600">
                <a:solidFill>
                  <a:schemeClr val="lt1"/>
                </a:solidFill>
                <a:latin typeface="Consolas"/>
                <a:ea typeface="Consolas"/>
                <a:cs typeface="Consolas"/>
                <a:sym typeface="Consolas"/>
              </a:rPr>
              <a:t>...</a:t>
            </a:r>
            <a:endParaRPr/>
          </a:p>
          <a:p>
            <a:pPr indent="0" lvl="0" marL="0" marR="0" rtl="0" algn="l">
              <a:spcBef>
                <a:spcPts val="0"/>
              </a:spcBef>
              <a:spcAft>
                <a:spcPts val="0"/>
              </a:spcAft>
              <a:buNone/>
            </a:pPr>
            <a:r>
              <a:rPr lang="tr-TR" sz="1600">
                <a:solidFill>
                  <a:schemeClr val="lt1"/>
                </a:solidFill>
                <a:latin typeface="Consolas"/>
                <a:ea typeface="Consolas"/>
                <a:cs typeface="Consolas"/>
                <a:sym typeface="Consolas"/>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5"/>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Erişim Kontrolü ve Kalıtım </a:t>
            </a:r>
            <a:endParaRPr b="1" i="0" sz="2000" u="none" cap="none" strike="noStrike">
              <a:solidFill>
                <a:schemeClr val="lt1"/>
              </a:solidFill>
              <a:latin typeface="Times New Roman"/>
              <a:ea typeface="Times New Roman"/>
              <a:cs typeface="Times New Roman"/>
              <a:sym typeface="Times New Roman"/>
            </a:endParaRPr>
          </a:p>
        </p:txBody>
      </p:sp>
      <p:sp>
        <p:nvSpPr>
          <p:cNvPr id="184" name="Google Shape;184;p5"/>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114300" lvl="0" marL="91440" marR="0" rtl="0" algn="l">
              <a:lnSpc>
                <a:spcPct val="90000"/>
              </a:lnSpc>
              <a:spcBef>
                <a:spcPts val="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Temel sınıftaki </a:t>
            </a:r>
            <a:r>
              <a:rPr b="1" i="1" lang="tr-TR" sz="1800">
                <a:solidFill>
                  <a:srgbClr val="FF0000"/>
                </a:solidFill>
                <a:latin typeface="Times New Roman"/>
                <a:ea typeface="Times New Roman"/>
                <a:cs typeface="Times New Roman"/>
                <a:sym typeface="Times New Roman"/>
              </a:rPr>
              <a:t>private</a:t>
            </a:r>
            <a:r>
              <a:rPr lang="tr-TR" sz="1800">
                <a:solidFill>
                  <a:srgbClr val="181818"/>
                </a:solidFill>
                <a:latin typeface="Times New Roman"/>
                <a:ea typeface="Times New Roman"/>
                <a:cs typeface="Times New Roman"/>
                <a:sym typeface="Times New Roman"/>
              </a:rPr>
              <a:t> üyelere türetilmiş sınıfta doğrudan erişilemezken, </a:t>
            </a:r>
            <a:r>
              <a:rPr b="1" i="1" lang="tr-TR" sz="1800">
                <a:solidFill>
                  <a:srgbClr val="FF6600"/>
                </a:solidFill>
                <a:latin typeface="Times New Roman"/>
                <a:ea typeface="Times New Roman"/>
                <a:cs typeface="Times New Roman"/>
                <a:sym typeface="Times New Roman"/>
              </a:rPr>
              <a:t>protected</a:t>
            </a:r>
            <a:r>
              <a:rPr lang="tr-TR" sz="1800">
                <a:solidFill>
                  <a:srgbClr val="181818"/>
                </a:solidFill>
                <a:latin typeface="Times New Roman"/>
                <a:ea typeface="Times New Roman"/>
                <a:cs typeface="Times New Roman"/>
                <a:sym typeface="Times New Roman"/>
              </a:rPr>
              <a:t> üyelere doğrudan erişilebilir. Örneğin, </a:t>
            </a:r>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91440" marR="0" rtl="0" algn="l">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114300" lvl="0" marL="91440" marR="0" rtl="0" algn="l">
              <a:lnSpc>
                <a:spcPct val="90000"/>
              </a:lnSpc>
              <a:spcBef>
                <a:spcPts val="140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NOT!!! Belirtilmediği durumlarda erişim belirteci varsayılan olarak «private» durumdadır. </a:t>
            </a:r>
            <a:endParaRPr/>
          </a:p>
        </p:txBody>
      </p:sp>
      <p:pic>
        <p:nvPicPr>
          <p:cNvPr id="185" name="Google Shape;185;p5"/>
          <p:cNvPicPr preferRelativeResize="0"/>
          <p:nvPr/>
        </p:nvPicPr>
        <p:blipFill rotWithShape="1">
          <a:blip r:embed="rId3">
            <a:alphaModFix/>
          </a:blip>
          <a:srcRect b="0" l="0" r="0" t="0"/>
          <a:stretch/>
        </p:blipFill>
        <p:spPr>
          <a:xfrm>
            <a:off x="4594796" y="1249960"/>
            <a:ext cx="1501204" cy="2600510"/>
          </a:xfrm>
          <a:prstGeom prst="rect">
            <a:avLst/>
          </a:prstGeom>
          <a:noFill/>
          <a:ln>
            <a:noFill/>
          </a:ln>
        </p:spPr>
      </p:pic>
      <p:pic>
        <p:nvPicPr>
          <p:cNvPr id="186" name="Google Shape;186;p5"/>
          <p:cNvPicPr preferRelativeResize="0"/>
          <p:nvPr/>
        </p:nvPicPr>
        <p:blipFill rotWithShape="1">
          <a:blip r:embed="rId4">
            <a:alphaModFix/>
          </a:blip>
          <a:srcRect b="0" l="0" r="0" t="0"/>
          <a:stretch/>
        </p:blipFill>
        <p:spPr>
          <a:xfrm>
            <a:off x="191798" y="2228149"/>
            <a:ext cx="3715268" cy="1495634"/>
          </a:xfrm>
          <a:prstGeom prst="rect">
            <a:avLst/>
          </a:prstGeom>
          <a:noFill/>
          <a:ln>
            <a:noFill/>
          </a:ln>
        </p:spPr>
      </p:pic>
      <p:pic>
        <p:nvPicPr>
          <p:cNvPr id="187" name="Google Shape;187;p5"/>
          <p:cNvPicPr preferRelativeResize="0"/>
          <p:nvPr/>
        </p:nvPicPr>
        <p:blipFill rotWithShape="1">
          <a:blip r:embed="rId5">
            <a:alphaModFix/>
          </a:blip>
          <a:srcRect b="3681" l="0" r="0" t="3681"/>
          <a:stretch/>
        </p:blipFill>
        <p:spPr>
          <a:xfrm>
            <a:off x="3521351" y="3958005"/>
            <a:ext cx="4011468" cy="1495634"/>
          </a:xfrm>
          <a:prstGeom prst="rect">
            <a:avLst/>
          </a:prstGeom>
          <a:noFill/>
          <a:ln>
            <a:noFill/>
          </a:ln>
        </p:spPr>
      </p:pic>
      <p:pic>
        <p:nvPicPr>
          <p:cNvPr id="188" name="Google Shape;188;p5"/>
          <p:cNvPicPr preferRelativeResize="0"/>
          <p:nvPr/>
        </p:nvPicPr>
        <p:blipFill rotWithShape="1">
          <a:blip r:embed="rId6">
            <a:alphaModFix/>
          </a:blip>
          <a:srcRect b="0" l="0" r="0" t="0"/>
          <a:stretch/>
        </p:blipFill>
        <p:spPr>
          <a:xfrm>
            <a:off x="6875270" y="2188303"/>
            <a:ext cx="3927606" cy="15059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Erişim Kontrolü ve Kalıtım </a:t>
            </a:r>
            <a:endParaRPr b="1" i="0" sz="2000" u="none" cap="none" strike="noStrike">
              <a:solidFill>
                <a:schemeClr val="lt1"/>
              </a:solidFill>
              <a:latin typeface="Times New Roman"/>
              <a:ea typeface="Times New Roman"/>
              <a:cs typeface="Times New Roman"/>
              <a:sym typeface="Times New Roman"/>
            </a:endParaRPr>
          </a:p>
        </p:txBody>
      </p:sp>
      <p:sp>
        <p:nvSpPr>
          <p:cNvPr id="194" name="Google Shape;194;p6"/>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114300" lvl="0" marL="91440" marR="0" rtl="0" algn="l">
              <a:lnSpc>
                <a:spcPct val="90000"/>
              </a:lnSpc>
              <a:spcBef>
                <a:spcPts val="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Durumu bir tablo ile özetleyecek olursak:</a:t>
            </a:r>
            <a:endParaRPr/>
          </a:p>
        </p:txBody>
      </p:sp>
      <p:graphicFrame>
        <p:nvGraphicFramePr>
          <p:cNvPr id="195" name="Google Shape;195;p6"/>
          <p:cNvGraphicFramePr/>
          <p:nvPr/>
        </p:nvGraphicFramePr>
        <p:xfrm>
          <a:off x="1676400" y="1414920"/>
          <a:ext cx="3000000" cy="3000000"/>
        </p:xfrm>
        <a:graphic>
          <a:graphicData uri="http://schemas.openxmlformats.org/drawingml/2006/table">
            <a:tbl>
              <a:tblPr bandRow="1" firstRow="1">
                <a:noFill/>
                <a:tableStyleId>{4C18D3B8-BEC4-41CE-B4B3-9D4D4B1DB1FC}</a:tableStyleId>
              </a:tblPr>
              <a:tblGrid>
                <a:gridCol w="1625600"/>
                <a:gridCol w="1625600"/>
                <a:gridCol w="1625600"/>
                <a:gridCol w="1625600"/>
                <a:gridCol w="1625600"/>
              </a:tblGrid>
              <a:tr h="370850">
                <a:tc rowSpan="2">
                  <a:txBody>
                    <a:bodyPr/>
                    <a:lstStyle/>
                    <a:p>
                      <a:pPr indent="0" lvl="0" marL="0" marR="0" rtl="0" algn="ctr">
                        <a:spcBef>
                          <a:spcPts val="0"/>
                        </a:spcBef>
                        <a:spcAft>
                          <a:spcPts val="0"/>
                        </a:spcAft>
                        <a:buNone/>
                      </a:pPr>
                      <a:r>
                        <a:t/>
                      </a:r>
                      <a:endParaRPr sz="1800" u="none" cap="none" strike="noStrike">
                        <a:solidFill>
                          <a:srgbClr val="181818"/>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ctr">
                        <a:spcBef>
                          <a:spcPts val="0"/>
                        </a:spcBef>
                        <a:spcAft>
                          <a:spcPts val="0"/>
                        </a:spcAft>
                        <a:buNone/>
                      </a:pPr>
                      <a:r>
                        <a:t/>
                      </a:r>
                      <a:endParaRPr sz="1800" u="none" cap="none" strike="noStrike">
                        <a:solidFill>
                          <a:srgbClr val="181818"/>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gridSpan="3">
                  <a:txBody>
                    <a:bodyPr/>
                    <a:lstStyle/>
                    <a:p>
                      <a:pPr indent="0" lvl="0" marL="0" marR="0" rtl="0" algn="ctr">
                        <a:spcBef>
                          <a:spcPts val="0"/>
                        </a:spcBef>
                        <a:spcAft>
                          <a:spcPts val="0"/>
                        </a:spcAft>
                        <a:buNone/>
                      </a:pPr>
                      <a:r>
                        <a:rPr lang="tr-TR" sz="1800" u="none" cap="none" strike="noStrike">
                          <a:solidFill>
                            <a:srgbClr val="181818"/>
                          </a:solidFill>
                          <a:latin typeface="Times New Roman"/>
                          <a:ea typeface="Times New Roman"/>
                          <a:cs typeface="Times New Roman"/>
                          <a:sym typeface="Times New Roman"/>
                        </a:rPr>
                        <a:t>Kalıtım türü</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hMerge="1"/>
                <a:tc hMerge="1"/>
              </a:tr>
              <a:tr h="370850">
                <a:tc vMerge="1"/>
                <a:tc vMerge="1"/>
                <a:tc>
                  <a:txBody>
                    <a:bodyPr/>
                    <a:lstStyle/>
                    <a:p>
                      <a:pPr indent="0" lvl="0" marL="0" marR="0" rtl="0" algn="ctr">
                        <a:spcBef>
                          <a:spcPts val="0"/>
                        </a:spcBef>
                        <a:spcAft>
                          <a:spcPts val="0"/>
                        </a:spcAft>
                        <a:buNone/>
                      </a:pPr>
                      <a:r>
                        <a:rPr b="1" lang="tr-TR" sz="1800" u="none" cap="none" strike="noStrike">
                          <a:solidFill>
                            <a:srgbClr val="00B050"/>
                          </a:solidFill>
                          <a:latin typeface="Times New Roman"/>
                          <a:ea typeface="Times New Roman"/>
                          <a:cs typeface="Times New Roman"/>
                          <a:sym typeface="Times New Roman"/>
                        </a:rPr>
                        <a:t>Public</a:t>
                      </a:r>
                      <a:endParaRPr b="1" sz="1800" u="none" cap="none" strike="noStrike">
                        <a:solidFill>
                          <a:srgbClr val="00B05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tr-TR" sz="1800" u="none" cap="none" strike="noStrike">
                          <a:solidFill>
                            <a:srgbClr val="FF6600"/>
                          </a:solidFill>
                          <a:latin typeface="Times New Roman"/>
                          <a:ea typeface="Times New Roman"/>
                          <a:cs typeface="Times New Roman"/>
                          <a:sym typeface="Times New Roman"/>
                        </a:rPr>
                        <a:t>Protected</a:t>
                      </a:r>
                      <a:endParaRPr b="1" sz="1800" u="none" cap="none" strike="noStrike">
                        <a:solidFill>
                          <a:srgbClr val="FF66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T cap="flat" cmpd="sng" w="12700">
                      <a:solidFill>
                        <a:schemeClr val="lt1"/>
                      </a:solidFill>
                      <a:prstDash val="solid"/>
                      <a:round/>
                      <a:headEnd len="sm" w="sm" type="none"/>
                      <a:tailEnd len="sm" w="sm" type="none"/>
                    </a:lnT>
                    <a:solidFill>
                      <a:srgbClr val="D8D8D8"/>
                    </a:solidFill>
                  </a:tcPr>
                </a:tc>
                <a:tc>
                  <a:txBody>
                    <a:bodyPr/>
                    <a:lstStyle/>
                    <a:p>
                      <a:pPr indent="0" lvl="0" marL="0" marR="0" rtl="0" algn="ctr">
                        <a:spcBef>
                          <a:spcPts val="0"/>
                        </a:spcBef>
                        <a:spcAft>
                          <a:spcPts val="0"/>
                        </a:spcAft>
                        <a:buNone/>
                      </a:pPr>
                      <a:r>
                        <a:rPr b="1" lang="tr-TR" sz="1800" u="none" cap="none" strike="noStrike">
                          <a:solidFill>
                            <a:srgbClr val="FF0000"/>
                          </a:solidFill>
                          <a:latin typeface="Times New Roman"/>
                          <a:ea typeface="Times New Roman"/>
                          <a:cs typeface="Times New Roman"/>
                          <a:sym typeface="Times New Roman"/>
                        </a:rPr>
                        <a:t>Private</a:t>
                      </a:r>
                      <a:r>
                        <a:rPr lang="tr-TR" sz="1800" u="none" cap="none" strike="noStrike">
                          <a:solidFill>
                            <a:srgbClr val="181818"/>
                          </a:solidFill>
                          <a:latin typeface="Times New Roman"/>
                          <a:ea typeface="Times New Roman"/>
                          <a:cs typeface="Times New Roman"/>
                          <a:sym typeface="Times New Roman"/>
                        </a:rPr>
                        <a:t> </a:t>
                      </a:r>
                      <a:endParaRPr/>
                    </a:p>
                  </a:txBody>
                  <a:tcPr marT="45725" marB="45725" marR="91450" marL="91450">
                    <a:lnT cap="flat" cmpd="sng" w="12700">
                      <a:solidFill>
                        <a:schemeClr val="lt1"/>
                      </a:solidFill>
                      <a:prstDash val="solid"/>
                      <a:round/>
                      <a:headEnd len="sm" w="sm" type="none"/>
                      <a:tailEnd len="sm" w="sm" type="none"/>
                    </a:lnT>
                    <a:solidFill>
                      <a:srgbClr val="D8D8D8"/>
                    </a:solidFill>
                  </a:tcPr>
                </a:tc>
              </a:tr>
              <a:tr h="370850">
                <a:tc rowSpan="3">
                  <a:txBody>
                    <a:bodyPr/>
                    <a:lstStyle/>
                    <a:p>
                      <a:pPr indent="0" lvl="0" marL="0" marR="0" rtl="0" algn="ctr">
                        <a:lnSpc>
                          <a:spcPct val="100000"/>
                        </a:lnSpc>
                        <a:spcBef>
                          <a:spcPts val="0"/>
                        </a:spcBef>
                        <a:spcAft>
                          <a:spcPts val="0"/>
                        </a:spcAft>
                        <a:buClr>
                          <a:srgbClr val="181818"/>
                        </a:buClr>
                        <a:buSzPts val="1800"/>
                        <a:buFont typeface="Times New Roman"/>
                        <a:buNone/>
                      </a:pPr>
                      <a:r>
                        <a:rPr lang="tr-TR" sz="1800" u="none" cap="none" strike="noStrike">
                          <a:solidFill>
                            <a:srgbClr val="181818"/>
                          </a:solidFill>
                          <a:latin typeface="Times New Roman"/>
                          <a:ea typeface="Times New Roman"/>
                          <a:cs typeface="Times New Roman"/>
                          <a:sym typeface="Times New Roman"/>
                        </a:rPr>
                        <a:t>Temel sınıf üyesi erişim belirteci</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tr-TR" sz="1800" u="none" cap="none" strike="noStrike">
                          <a:solidFill>
                            <a:srgbClr val="00B050"/>
                          </a:solidFill>
                          <a:latin typeface="Times New Roman"/>
                          <a:ea typeface="Times New Roman"/>
                          <a:cs typeface="Times New Roman"/>
                          <a:sym typeface="Times New Roman"/>
                        </a:rPr>
                        <a:t>Public</a:t>
                      </a:r>
                      <a:endParaRPr b="1" sz="1800" u="none" cap="none" strike="noStrike">
                        <a:solidFill>
                          <a:srgbClr val="00B05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b="1" lang="tr-TR" sz="1800" u="none" cap="none" strike="noStrike">
                          <a:solidFill>
                            <a:srgbClr val="00B050"/>
                          </a:solidFill>
                          <a:latin typeface="Times New Roman"/>
                          <a:ea typeface="Times New Roman"/>
                          <a:cs typeface="Times New Roman"/>
                          <a:sym typeface="Times New Roman"/>
                        </a:rPr>
                        <a:t>Public</a:t>
                      </a:r>
                      <a:endParaRPr b="1" sz="1800" u="none" cap="none" strike="noStrike">
                        <a:solidFill>
                          <a:srgbClr val="00B05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tr-TR" sz="1800" u="none" cap="none" strike="noStrike">
                          <a:solidFill>
                            <a:srgbClr val="FF6600"/>
                          </a:solidFill>
                          <a:latin typeface="Times New Roman"/>
                          <a:ea typeface="Times New Roman"/>
                          <a:cs typeface="Times New Roman"/>
                          <a:sym typeface="Times New Roman"/>
                        </a:rPr>
                        <a:t>Protected</a:t>
                      </a:r>
                      <a:endParaRPr b="1" sz="1800" u="none" cap="none" strike="noStrike">
                        <a:solidFill>
                          <a:srgbClr val="FF66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ctr">
                        <a:spcBef>
                          <a:spcPts val="0"/>
                        </a:spcBef>
                        <a:spcAft>
                          <a:spcPts val="0"/>
                        </a:spcAft>
                        <a:buNone/>
                      </a:pPr>
                      <a:r>
                        <a:rPr b="1" lang="tr-TR" sz="1800" u="none" cap="none" strike="noStrike">
                          <a:solidFill>
                            <a:srgbClr val="FF0000"/>
                          </a:solidFill>
                          <a:latin typeface="Times New Roman"/>
                          <a:ea typeface="Times New Roman"/>
                          <a:cs typeface="Times New Roman"/>
                          <a:sym typeface="Times New Roman"/>
                        </a:rPr>
                        <a:t>Private</a:t>
                      </a:r>
                      <a:r>
                        <a:rPr lang="tr-TR" sz="1800" u="none" cap="none" strike="noStrike">
                          <a:solidFill>
                            <a:srgbClr val="181818"/>
                          </a:solidFill>
                          <a:latin typeface="Times New Roman"/>
                          <a:ea typeface="Times New Roman"/>
                          <a:cs typeface="Times New Roman"/>
                          <a:sym typeface="Times New Roman"/>
                        </a:rPr>
                        <a:t> </a:t>
                      </a:r>
                      <a:endParaRPr/>
                    </a:p>
                  </a:txBody>
                  <a:tcPr marT="45725" marB="45725" marR="91450" marL="91450"/>
                </a:tc>
              </a:tr>
              <a:tr h="370850">
                <a:tc vMerge="1"/>
                <a:tc>
                  <a:txBody>
                    <a:bodyPr/>
                    <a:lstStyle/>
                    <a:p>
                      <a:pPr indent="0" lvl="0" marL="0" marR="0" rtl="0" algn="ctr">
                        <a:spcBef>
                          <a:spcPts val="0"/>
                        </a:spcBef>
                        <a:spcAft>
                          <a:spcPts val="0"/>
                        </a:spcAft>
                        <a:buNone/>
                      </a:pPr>
                      <a:r>
                        <a:rPr b="1" lang="tr-TR" sz="1800" u="none" cap="none" strike="noStrike">
                          <a:solidFill>
                            <a:srgbClr val="FF6600"/>
                          </a:solidFill>
                          <a:latin typeface="Times New Roman"/>
                          <a:ea typeface="Times New Roman"/>
                          <a:cs typeface="Times New Roman"/>
                          <a:sym typeface="Times New Roman"/>
                        </a:rPr>
                        <a:t>Protected</a:t>
                      </a:r>
                      <a:endParaRPr b="1" sz="1800" u="none" cap="none" strike="noStrike">
                        <a:solidFill>
                          <a:srgbClr val="FF66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FF6600"/>
                        </a:buClr>
                        <a:buSzPts val="1800"/>
                        <a:buFont typeface="Times New Roman"/>
                        <a:buNone/>
                      </a:pPr>
                      <a:r>
                        <a:rPr b="1" i="0" lang="tr-TR" sz="1800" u="none" cap="none" strike="noStrike">
                          <a:solidFill>
                            <a:srgbClr val="FF6600"/>
                          </a:solidFill>
                          <a:latin typeface="Times New Roman"/>
                          <a:ea typeface="Times New Roman"/>
                          <a:cs typeface="Times New Roman"/>
                          <a:sym typeface="Times New Roman"/>
                        </a:rPr>
                        <a:t>Protected</a:t>
                      </a:r>
                      <a:endParaRPr b="1" i="0" sz="1800" u="none" cap="none" strike="noStrike">
                        <a:solidFill>
                          <a:srgbClr val="FF66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6600"/>
                        </a:buClr>
                        <a:buSzPts val="1800"/>
                        <a:buFont typeface="Times New Roman"/>
                        <a:buNone/>
                      </a:pPr>
                      <a:r>
                        <a:rPr b="1" i="0" lang="tr-TR" sz="1800" u="none" cap="none" strike="noStrike">
                          <a:solidFill>
                            <a:srgbClr val="FF6600"/>
                          </a:solidFill>
                          <a:latin typeface="Times New Roman"/>
                          <a:ea typeface="Times New Roman"/>
                          <a:cs typeface="Times New Roman"/>
                          <a:sym typeface="Times New Roman"/>
                        </a:rPr>
                        <a:t>Protected</a:t>
                      </a:r>
                      <a:endParaRPr b="1" i="0" sz="1800" u="none" cap="none" strike="noStrike">
                        <a:solidFill>
                          <a:srgbClr val="FF66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ctr">
                        <a:spcBef>
                          <a:spcPts val="0"/>
                        </a:spcBef>
                        <a:spcAft>
                          <a:spcPts val="0"/>
                        </a:spcAft>
                        <a:buNone/>
                      </a:pPr>
                      <a:r>
                        <a:rPr b="1" lang="tr-TR" sz="1800" u="none" cap="none" strike="noStrike">
                          <a:solidFill>
                            <a:srgbClr val="FF0000"/>
                          </a:solidFill>
                          <a:latin typeface="Times New Roman"/>
                          <a:ea typeface="Times New Roman"/>
                          <a:cs typeface="Times New Roman"/>
                          <a:sym typeface="Times New Roman"/>
                        </a:rPr>
                        <a:t>Private</a:t>
                      </a:r>
                      <a:endParaRPr sz="1800" u="none" cap="none" strike="noStrike">
                        <a:solidFill>
                          <a:srgbClr val="181818"/>
                        </a:solidFill>
                        <a:latin typeface="Times New Roman"/>
                        <a:ea typeface="Times New Roman"/>
                        <a:cs typeface="Times New Roman"/>
                        <a:sym typeface="Times New Roman"/>
                      </a:endParaRPr>
                    </a:p>
                  </a:txBody>
                  <a:tcPr marT="45725" marB="45725" marR="91450" marL="91450"/>
                </a:tc>
              </a:tr>
              <a:tr h="370850">
                <a:tc vMerge="1"/>
                <a:tc>
                  <a:txBody>
                    <a:bodyPr/>
                    <a:lstStyle/>
                    <a:p>
                      <a:pPr indent="0" lvl="0" marL="0" marR="0" rtl="0" algn="ctr">
                        <a:spcBef>
                          <a:spcPts val="0"/>
                        </a:spcBef>
                        <a:spcAft>
                          <a:spcPts val="0"/>
                        </a:spcAft>
                        <a:buNone/>
                      </a:pPr>
                      <a:r>
                        <a:rPr b="1" lang="tr-TR" sz="1800" u="none" cap="none" strike="noStrike">
                          <a:solidFill>
                            <a:srgbClr val="FF0000"/>
                          </a:solidFill>
                          <a:latin typeface="Times New Roman"/>
                          <a:ea typeface="Times New Roman"/>
                          <a:cs typeface="Times New Roman"/>
                          <a:sym typeface="Times New Roman"/>
                        </a:rPr>
                        <a:t>Private</a:t>
                      </a:r>
                      <a:endParaRPr b="1" sz="1800" u="none" cap="none" strike="noStrike">
                        <a:solidFill>
                          <a:srgbClr val="FF00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FF0000"/>
                        </a:buClr>
                        <a:buSzPts val="1800"/>
                        <a:buFont typeface="Times New Roman"/>
                        <a:buNone/>
                      </a:pPr>
                      <a:r>
                        <a:rPr b="1" i="0" lang="tr-TR" sz="1800" u="none" cap="none" strike="noStrike">
                          <a:solidFill>
                            <a:srgbClr val="FF0000"/>
                          </a:solidFill>
                          <a:latin typeface="Times New Roman"/>
                          <a:ea typeface="Times New Roman"/>
                          <a:cs typeface="Times New Roman"/>
                          <a:sym typeface="Times New Roman"/>
                        </a:rPr>
                        <a:t>Private</a:t>
                      </a:r>
                      <a:endParaRPr b="0" i="0" sz="1800" u="none" cap="none" strike="noStrike">
                        <a:solidFill>
                          <a:srgbClr val="181818"/>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800"/>
                        <a:buFont typeface="Times New Roman"/>
                        <a:buNone/>
                      </a:pPr>
                      <a:r>
                        <a:rPr b="1" i="0" lang="tr-TR" sz="1800" u="none" cap="none" strike="noStrike">
                          <a:solidFill>
                            <a:srgbClr val="FF0000"/>
                          </a:solidFill>
                          <a:latin typeface="Times New Roman"/>
                          <a:ea typeface="Times New Roman"/>
                          <a:cs typeface="Times New Roman"/>
                          <a:sym typeface="Times New Roman"/>
                        </a:rPr>
                        <a:t>Private</a:t>
                      </a:r>
                      <a:endParaRPr b="0" i="0" sz="1800" u="none" cap="none" strike="noStrike">
                        <a:solidFill>
                          <a:srgbClr val="181818"/>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FF0000"/>
                        </a:buClr>
                        <a:buSzPts val="1800"/>
                        <a:buFont typeface="Times New Roman"/>
                        <a:buNone/>
                      </a:pPr>
                      <a:r>
                        <a:rPr b="1" i="0" lang="tr-TR" sz="1800" u="none" cap="none" strike="noStrike">
                          <a:solidFill>
                            <a:srgbClr val="FF0000"/>
                          </a:solidFill>
                          <a:latin typeface="Times New Roman"/>
                          <a:ea typeface="Times New Roman"/>
                          <a:cs typeface="Times New Roman"/>
                          <a:sym typeface="Times New Roman"/>
                        </a:rPr>
                        <a:t>Private</a:t>
                      </a:r>
                      <a:endParaRPr b="0" i="0" sz="1800" u="none" cap="none" strike="noStrike">
                        <a:solidFill>
                          <a:srgbClr val="181818"/>
                        </a:solidFill>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Örnekler</a:t>
            </a:r>
            <a:endParaRPr b="1" i="0" sz="2000" u="none" cap="none" strike="noStrike">
              <a:solidFill>
                <a:schemeClr val="lt1"/>
              </a:solidFill>
              <a:latin typeface="Times New Roman"/>
              <a:ea typeface="Times New Roman"/>
              <a:cs typeface="Times New Roman"/>
              <a:sym typeface="Times New Roman"/>
            </a:endParaRPr>
          </a:p>
        </p:txBody>
      </p:sp>
      <p:sp>
        <p:nvSpPr>
          <p:cNvPr id="201" name="Google Shape;201;p7"/>
          <p:cNvSpPr txBox="1"/>
          <p:nvPr/>
        </p:nvSpPr>
        <p:spPr>
          <a:xfrm>
            <a:off x="92279" y="624980"/>
            <a:ext cx="11807622" cy="5608040"/>
          </a:xfrm>
          <a:prstGeom prst="rect">
            <a:avLst/>
          </a:prstGeom>
          <a:noFill/>
          <a:ln>
            <a:noFill/>
          </a:ln>
        </p:spPr>
        <p:txBody>
          <a:bodyPr anchorCtr="0" anchor="t" bIns="45700" lIns="0" spcFirstLastPara="1" rIns="0" wrap="square" tIns="45700">
            <a:normAutofit/>
          </a:bodyPr>
          <a:lstStyle/>
          <a:p>
            <a:pPr indent="0" lvl="0" marL="91440" marR="0" rtl="0" algn="l">
              <a:lnSpc>
                <a:spcPct val="90000"/>
              </a:lnSpc>
              <a:spcBef>
                <a:spcPts val="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p:txBody>
      </p:sp>
      <p:pic>
        <p:nvPicPr>
          <p:cNvPr id="202" name="Google Shape;202;p7"/>
          <p:cNvPicPr preferRelativeResize="0"/>
          <p:nvPr/>
        </p:nvPicPr>
        <p:blipFill rotWithShape="1">
          <a:blip r:embed="rId3">
            <a:alphaModFix/>
          </a:blip>
          <a:srcRect b="0" l="0" r="0" t="0"/>
          <a:stretch/>
        </p:blipFill>
        <p:spPr>
          <a:xfrm>
            <a:off x="292099" y="480924"/>
            <a:ext cx="3276601" cy="3964790"/>
          </a:xfrm>
          <a:prstGeom prst="rect">
            <a:avLst/>
          </a:prstGeom>
          <a:noFill/>
          <a:ln>
            <a:noFill/>
          </a:ln>
        </p:spPr>
      </p:pic>
      <p:pic>
        <p:nvPicPr>
          <p:cNvPr id="203" name="Google Shape;203;p7"/>
          <p:cNvPicPr preferRelativeResize="0"/>
          <p:nvPr/>
        </p:nvPicPr>
        <p:blipFill rotWithShape="1">
          <a:blip r:embed="rId4">
            <a:alphaModFix/>
          </a:blip>
          <a:srcRect b="0" l="0" r="0" t="0"/>
          <a:stretch/>
        </p:blipFill>
        <p:spPr>
          <a:xfrm>
            <a:off x="4003879" y="480924"/>
            <a:ext cx="4740778" cy="3214776"/>
          </a:xfrm>
          <a:prstGeom prst="rect">
            <a:avLst/>
          </a:prstGeom>
          <a:noFill/>
          <a:ln>
            <a:noFill/>
          </a:ln>
        </p:spPr>
      </p:pic>
      <p:sp>
        <p:nvSpPr>
          <p:cNvPr id="204" name="Google Shape;204;p7"/>
          <p:cNvSpPr txBox="1"/>
          <p:nvPr/>
        </p:nvSpPr>
        <p:spPr>
          <a:xfrm>
            <a:off x="9075989" y="480924"/>
            <a:ext cx="2692400" cy="646331"/>
          </a:xfrm>
          <a:prstGeom prst="rect">
            <a:avLst/>
          </a:prstGeom>
          <a:noFill/>
          <a:ln cap="flat" cmpd="sng" w="9525">
            <a:solidFill>
              <a:srgbClr val="59347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Consolas"/>
                <a:ea typeface="Consolas"/>
                <a:cs typeface="Consolas"/>
                <a:sym typeface="Consolas"/>
              </a:rPr>
              <a:t>Area of rectangle:15</a:t>
            </a:r>
            <a:endParaRPr/>
          </a:p>
          <a:p>
            <a:pPr indent="0" lvl="0" marL="0" marR="0" rtl="0" algn="l">
              <a:spcBef>
                <a:spcPts val="0"/>
              </a:spcBef>
              <a:spcAft>
                <a:spcPts val="0"/>
              </a:spcAft>
              <a:buNone/>
            </a:pPr>
            <a:r>
              <a:rPr lang="tr-TR" sz="1800">
                <a:solidFill>
                  <a:schemeClr val="lt1"/>
                </a:solidFill>
                <a:latin typeface="Consolas"/>
                <a:ea typeface="Consolas"/>
                <a:cs typeface="Consolas"/>
                <a:sym typeface="Consolas"/>
              </a:rPr>
              <a:t>Area of triangle :5</a:t>
            </a:r>
            <a:endParaRPr sz="1800">
              <a:solidFill>
                <a:schemeClr val="lt1"/>
              </a:solidFill>
              <a:latin typeface="Consolas"/>
              <a:ea typeface="Consolas"/>
              <a:cs typeface="Consolas"/>
              <a:sym typeface="Consolas"/>
            </a:endParaRPr>
          </a:p>
        </p:txBody>
      </p:sp>
      <p:sp>
        <p:nvSpPr>
          <p:cNvPr id="205" name="Google Shape;205;p7"/>
          <p:cNvSpPr txBox="1"/>
          <p:nvPr/>
        </p:nvSpPr>
        <p:spPr>
          <a:xfrm>
            <a:off x="192189" y="4589770"/>
            <a:ext cx="11807622" cy="2308324"/>
          </a:xfrm>
          <a:prstGeom prst="rect">
            <a:avLst/>
          </a:prstGeom>
          <a:noFill/>
          <a:ln cap="flat" cmpd="sng" w="9525">
            <a:solidFill>
              <a:srgbClr val="59347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Rectangle sınıfının nesnesi, Shape sınıfından width ve height üyelerini miras alarak Rectangle sınıfının protected üyesi yapar.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Shape'den miras alınan set_data (), Rectangle’ın public üyesi olur. area() ise Rectangle’ın kendi genel üyesidir.</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Triangle sınıfının nesnesi, Shape sınıfından width ve height üyelerini miras alarak Triangle sınıfının protected üyesi yapar.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Shape'den miras alınan set_data (), Triangle’ın public üyesi olur. area() ise Rectangle’ın kendi genel üyesidir.</a:t>
            </a:r>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set_data () ve area () türetilmiş sınıfın public üyeleridir ve main ()'den direkt erişilebilir.</a:t>
            </a:r>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nvSpPr>
        <p:spPr>
          <a:xfrm>
            <a:off x="0" y="0"/>
            <a:ext cx="12099721"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Yapıcılar ve Türetilmiş Sınıfların Başlatılması </a:t>
            </a:r>
            <a:endParaRPr b="1" i="0" sz="2000" u="none" cap="none" strike="noStrike">
              <a:solidFill>
                <a:schemeClr val="lt1"/>
              </a:solidFill>
              <a:latin typeface="Times New Roman"/>
              <a:ea typeface="Times New Roman"/>
              <a:cs typeface="Times New Roman"/>
              <a:sym typeface="Times New Roman"/>
            </a:endParaRPr>
          </a:p>
        </p:txBody>
      </p:sp>
      <p:sp>
        <p:nvSpPr>
          <p:cNvPr id="211" name="Google Shape;211;p8"/>
          <p:cNvSpPr txBox="1"/>
          <p:nvPr/>
        </p:nvSpPr>
        <p:spPr>
          <a:xfrm>
            <a:off x="176687" y="624980"/>
            <a:ext cx="11723214" cy="5608040"/>
          </a:xfrm>
          <a:prstGeom prst="rect">
            <a:avLst/>
          </a:prstGeom>
          <a:noFill/>
          <a:ln>
            <a:noFill/>
          </a:ln>
        </p:spPr>
        <p:txBody>
          <a:bodyPr anchorCtr="0" anchor="t" bIns="45700" lIns="0" spcFirstLastPara="1" rIns="0" wrap="square" tIns="45700">
            <a:normAutofit/>
          </a:bodyPr>
          <a:lstStyle/>
          <a:p>
            <a:pPr indent="-114300" lvl="0" marL="91440" marR="0" rtl="0" algn="l">
              <a:lnSpc>
                <a:spcPct val="90000"/>
              </a:lnSpc>
              <a:spcBef>
                <a:spcPts val="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Derleyici, türetilmiş sınıf yapıcısını çalıştırmadan önce otomatik olarak bir temel sınıf yapıcısını çağırır. Derleyicinin varsayılan hareketi, temel sınıftaki varsayılan yapıcıyı çağırmaktır. </a:t>
            </a:r>
            <a:endParaRPr/>
          </a:p>
          <a:p>
            <a:pPr indent="-114300" lvl="0" marL="91440" marR="0" rtl="0" algn="l">
              <a:lnSpc>
                <a:spcPct val="90000"/>
              </a:lnSpc>
              <a:spcBef>
                <a:spcPts val="140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Türetilmiş bir sınıf nesnesinin oluşturulması sırasında temel sınıf yapıcılarından hangisinin çağrılması gerektiğini belirtebiliriz.</a:t>
            </a:r>
            <a:endParaRPr/>
          </a:p>
          <a:p>
            <a:pPr indent="-114300" lvl="0" marL="91440" marR="0" rtl="0" algn="l">
              <a:lnSpc>
                <a:spcPct val="90000"/>
              </a:lnSpc>
              <a:spcBef>
                <a:spcPts val="140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Bunu da türetilmiş sınıf yapıcısının tanımında, seçilen temel sınıf yapıcısının argümanlarını belirterek yaparız. </a:t>
            </a:r>
            <a:endParaRPr/>
          </a:p>
        </p:txBody>
      </p:sp>
      <p:pic>
        <p:nvPicPr>
          <p:cNvPr id="212" name="Google Shape;212;p8"/>
          <p:cNvPicPr preferRelativeResize="0"/>
          <p:nvPr/>
        </p:nvPicPr>
        <p:blipFill rotWithShape="1">
          <a:blip r:embed="rId3">
            <a:alphaModFix/>
          </a:blip>
          <a:srcRect b="0" l="0" r="0" t="0"/>
          <a:stretch/>
        </p:blipFill>
        <p:spPr>
          <a:xfrm>
            <a:off x="176687" y="2154874"/>
            <a:ext cx="3428619" cy="4662017"/>
          </a:xfrm>
          <a:prstGeom prst="rect">
            <a:avLst/>
          </a:prstGeom>
          <a:noFill/>
          <a:ln>
            <a:noFill/>
          </a:ln>
        </p:spPr>
      </p:pic>
      <p:pic>
        <p:nvPicPr>
          <p:cNvPr id="213" name="Google Shape;213;p8"/>
          <p:cNvPicPr preferRelativeResize="0"/>
          <p:nvPr/>
        </p:nvPicPr>
        <p:blipFill rotWithShape="1">
          <a:blip r:embed="rId4">
            <a:alphaModFix/>
          </a:blip>
          <a:srcRect b="0" l="0" r="0" t="0"/>
          <a:stretch/>
        </p:blipFill>
        <p:spPr>
          <a:xfrm>
            <a:off x="3739725" y="2154874"/>
            <a:ext cx="4620270" cy="3419952"/>
          </a:xfrm>
          <a:prstGeom prst="rect">
            <a:avLst/>
          </a:prstGeom>
          <a:noFill/>
          <a:ln>
            <a:noFill/>
          </a:ln>
        </p:spPr>
      </p:pic>
      <p:pic>
        <p:nvPicPr>
          <p:cNvPr id="214" name="Google Shape;214;p8"/>
          <p:cNvPicPr preferRelativeResize="0"/>
          <p:nvPr/>
        </p:nvPicPr>
        <p:blipFill rotWithShape="1">
          <a:blip r:embed="rId5">
            <a:alphaModFix/>
          </a:blip>
          <a:srcRect b="0" l="0" r="0" t="0"/>
          <a:stretch/>
        </p:blipFill>
        <p:spPr>
          <a:xfrm>
            <a:off x="8549132" y="2165176"/>
            <a:ext cx="3161632" cy="1699674"/>
          </a:xfrm>
          <a:prstGeom prst="rect">
            <a:avLst/>
          </a:prstGeom>
          <a:noFill/>
          <a:ln>
            <a:noFill/>
          </a:ln>
        </p:spPr>
      </p:pic>
      <p:sp>
        <p:nvSpPr>
          <p:cNvPr id="215" name="Google Shape;215;p8"/>
          <p:cNvSpPr txBox="1"/>
          <p:nvPr/>
        </p:nvSpPr>
        <p:spPr>
          <a:xfrm>
            <a:off x="10797536" y="4079438"/>
            <a:ext cx="913228" cy="646331"/>
          </a:xfrm>
          <a:prstGeom prst="rect">
            <a:avLst/>
          </a:prstGeom>
          <a:solidFill>
            <a:schemeClr val="dk2"/>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Calibri"/>
                <a:ea typeface="Calibri"/>
                <a:cs typeface="Calibri"/>
                <a:sym typeface="Calibri"/>
              </a:rPr>
              <a:t>0</a:t>
            </a:r>
            <a:endParaRPr/>
          </a:p>
          <a:p>
            <a:pPr indent="0" lvl="0" marL="0" marR="0" rtl="0" algn="l">
              <a:spcBef>
                <a:spcPts val="0"/>
              </a:spcBef>
              <a:spcAft>
                <a:spcPts val="0"/>
              </a:spcAft>
              <a:buNone/>
            </a:pPr>
            <a:r>
              <a:rPr lang="tr-TR" sz="1800">
                <a:solidFill>
                  <a:schemeClr val="lt1"/>
                </a:solidFill>
                <a:latin typeface="Calibri"/>
                <a:ea typeface="Calibri"/>
                <a:cs typeface="Calibri"/>
                <a:sym typeface="Calibri"/>
              </a:rPr>
              <a:t>160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9"/>
          <p:cNvSpPr txBox="1"/>
          <p:nvPr/>
        </p:nvSpPr>
        <p:spPr>
          <a:xfrm>
            <a:off x="-92764" y="0"/>
            <a:ext cx="12192486"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 Temel Sınıf İşlevlerini Geçersiz Kılma (Overriding)</a:t>
            </a:r>
            <a:endParaRPr b="1" i="0" sz="2000" u="none" cap="none" strike="noStrike">
              <a:solidFill>
                <a:schemeClr val="lt1"/>
              </a:solidFill>
              <a:latin typeface="Times New Roman"/>
              <a:ea typeface="Times New Roman"/>
              <a:cs typeface="Times New Roman"/>
              <a:sym typeface="Times New Roman"/>
            </a:endParaRPr>
          </a:p>
        </p:txBody>
      </p:sp>
      <p:sp>
        <p:nvSpPr>
          <p:cNvPr id="221" name="Google Shape;221;p9"/>
          <p:cNvSpPr txBox="1"/>
          <p:nvPr/>
        </p:nvSpPr>
        <p:spPr>
          <a:xfrm>
            <a:off x="176687" y="624980"/>
            <a:ext cx="11723214" cy="5608040"/>
          </a:xfrm>
          <a:prstGeom prst="rect">
            <a:avLst/>
          </a:prstGeom>
          <a:noFill/>
          <a:ln>
            <a:noFill/>
          </a:ln>
        </p:spPr>
        <p:txBody>
          <a:bodyPr anchorCtr="0" anchor="t" bIns="45700" lIns="0" spcFirstLastPara="1" rIns="0" wrap="square" tIns="45700">
            <a:normAutofit/>
          </a:bodyPr>
          <a:lstStyle/>
          <a:p>
            <a:pPr indent="-114300" lvl="0" marL="91440" marR="0" rtl="0" algn="l">
              <a:lnSpc>
                <a:spcPct val="90000"/>
              </a:lnSpc>
              <a:spcBef>
                <a:spcPts val="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Türetilmiş bir sınıf, aynı ada ve parametre listesine sahip türetilmiş bir sınıf üyesi işlevi tanımlayarak temel sınıfının bir üye işlevini geçersiz kılabilir. (Yani birebir aynı şekilde bildirerek)</a:t>
            </a:r>
            <a:endParaRPr/>
          </a:p>
          <a:p>
            <a:pPr indent="-114300" lvl="0" marL="91440" marR="0" rtl="0" algn="l">
              <a:lnSpc>
                <a:spcPct val="90000"/>
              </a:lnSpc>
              <a:spcBef>
                <a:spcPts val="1400"/>
              </a:spcBef>
              <a:spcAft>
                <a:spcPts val="0"/>
              </a:spcAft>
              <a:buClr>
                <a:schemeClr val="accent1"/>
              </a:buClr>
              <a:buSzPts val="1800"/>
              <a:buFont typeface="Calibri"/>
              <a:buChar char=" "/>
            </a:pPr>
            <a:r>
              <a:rPr lang="tr-TR" sz="1800">
                <a:solidFill>
                  <a:srgbClr val="181818"/>
                </a:solidFill>
                <a:latin typeface="Times New Roman"/>
                <a:ea typeface="Times New Roman"/>
                <a:cs typeface="Times New Roman"/>
                <a:sym typeface="Times New Roman"/>
              </a:rPr>
              <a:t>Türetilmiş bir sınıfın, temel sınıftan miras aldığı bir üye fonksiyonun kendi versiyonunu tanımlaması yararlıdır. Üye fonksiyonunu türetilmiş sınıfın ihtiyaçlarına göre özelleştirmek için bu işlem yapılabilir. Bu olduğunda, temel sınıf üye işlevinin türetilmiş sınıf tarafından geçersiz kılındığı söylenir. (Yani bu duruma overriding denir.)</a:t>
            </a:r>
            <a:endParaRPr/>
          </a:p>
        </p:txBody>
      </p:sp>
      <p:pic>
        <p:nvPicPr>
          <p:cNvPr id="222" name="Google Shape;222;p9"/>
          <p:cNvPicPr preferRelativeResize="0"/>
          <p:nvPr/>
        </p:nvPicPr>
        <p:blipFill rotWithShape="1">
          <a:blip r:embed="rId3">
            <a:alphaModFix/>
          </a:blip>
          <a:srcRect b="0" l="0" r="0" t="0"/>
          <a:stretch/>
        </p:blipFill>
        <p:spPr>
          <a:xfrm>
            <a:off x="292099" y="2279594"/>
            <a:ext cx="4187060" cy="4333242"/>
          </a:xfrm>
          <a:prstGeom prst="rect">
            <a:avLst/>
          </a:prstGeom>
          <a:noFill/>
          <a:ln>
            <a:noFill/>
          </a:ln>
        </p:spPr>
      </p:pic>
      <p:sp>
        <p:nvSpPr>
          <p:cNvPr id="223" name="Google Shape;223;p9"/>
          <p:cNvSpPr txBox="1"/>
          <p:nvPr/>
        </p:nvSpPr>
        <p:spPr>
          <a:xfrm>
            <a:off x="4691668" y="5863688"/>
            <a:ext cx="3329610" cy="369332"/>
          </a:xfrm>
          <a:prstGeom prst="rect">
            <a:avLst/>
          </a:prstGeom>
          <a:solidFill>
            <a:schemeClr val="dk2"/>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Calibri"/>
                <a:ea typeface="Calibri"/>
                <a:cs typeface="Calibri"/>
                <a:sym typeface="Calibri"/>
              </a:rPr>
              <a:t>daughter: display function</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0"/>
          <p:cNvSpPr txBox="1"/>
          <p:nvPr/>
        </p:nvSpPr>
        <p:spPr>
          <a:xfrm>
            <a:off x="-92764" y="0"/>
            <a:ext cx="12192486"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Geçersiz Kılınan Bir Fonksiyona Erişim Kazanma</a:t>
            </a:r>
            <a:endParaRPr b="1" i="0" sz="2000" u="none" cap="none" strike="noStrike">
              <a:solidFill>
                <a:schemeClr val="lt1"/>
              </a:solidFill>
              <a:latin typeface="Times New Roman"/>
              <a:ea typeface="Times New Roman"/>
              <a:cs typeface="Times New Roman"/>
              <a:sym typeface="Times New Roman"/>
            </a:endParaRPr>
          </a:p>
        </p:txBody>
      </p:sp>
      <p:sp>
        <p:nvSpPr>
          <p:cNvPr id="229" name="Google Shape;229;p10"/>
          <p:cNvSpPr txBox="1"/>
          <p:nvPr/>
        </p:nvSpPr>
        <p:spPr>
          <a:xfrm>
            <a:off x="176687" y="624980"/>
            <a:ext cx="11723214" cy="624981"/>
          </a:xfrm>
          <a:prstGeom prst="rect">
            <a:avLst/>
          </a:prstGeom>
          <a:noFill/>
          <a:ln>
            <a:noFill/>
          </a:ln>
        </p:spPr>
        <p:txBody>
          <a:bodyPr anchorCtr="0" anchor="t" bIns="45700" lIns="0" spcFirstLastPara="1" rIns="0" wrap="square" tIns="45700">
            <a:normAutofit/>
          </a:bodyPr>
          <a:lstStyle/>
          <a:p>
            <a:pPr indent="0" lvl="0" marL="0" marR="0" rtl="0" algn="just">
              <a:lnSpc>
                <a:spcPct val="90000"/>
              </a:lnSpc>
              <a:spcBef>
                <a:spcPts val="0"/>
              </a:spcBef>
              <a:spcAft>
                <a:spcPts val="0"/>
              </a:spcAft>
              <a:buClr>
                <a:schemeClr val="accent1"/>
              </a:buClr>
              <a:buSzPts val="1800"/>
              <a:buFont typeface="Calibri"/>
              <a:buNone/>
            </a:pPr>
            <a:r>
              <a:rPr lang="tr-TR" sz="1800">
                <a:solidFill>
                  <a:srgbClr val="181818"/>
                </a:solidFill>
                <a:latin typeface="Times New Roman"/>
                <a:ea typeface="Times New Roman"/>
                <a:cs typeface="Times New Roman"/>
                <a:sym typeface="Times New Roman"/>
              </a:rPr>
              <a:t>Bazen geçersiz kılınan fonksiyon versiyonunu çağırabilmek yararlıdır. Bu işlem, erişilmek istenen ve geçersiz kılınan üye fonksiyonunun sınıfını belirtmek için kapsam çözümleme operatörü kullanılarak yapılır.</a:t>
            </a:r>
            <a:endParaRPr/>
          </a:p>
        </p:txBody>
      </p:sp>
      <p:pic>
        <p:nvPicPr>
          <p:cNvPr id="230" name="Google Shape;230;p10"/>
          <p:cNvPicPr preferRelativeResize="0"/>
          <p:nvPr/>
        </p:nvPicPr>
        <p:blipFill rotWithShape="1">
          <a:blip r:embed="rId3">
            <a:alphaModFix/>
          </a:blip>
          <a:srcRect b="0" l="0" r="0" t="0"/>
          <a:stretch/>
        </p:blipFill>
        <p:spPr>
          <a:xfrm>
            <a:off x="264143" y="1515698"/>
            <a:ext cx="4187060" cy="4333242"/>
          </a:xfrm>
          <a:prstGeom prst="rect">
            <a:avLst/>
          </a:prstGeom>
          <a:noFill/>
          <a:ln>
            <a:noFill/>
          </a:ln>
        </p:spPr>
      </p:pic>
      <p:sp>
        <p:nvSpPr>
          <p:cNvPr id="231" name="Google Shape;231;p10"/>
          <p:cNvSpPr/>
          <p:nvPr/>
        </p:nvSpPr>
        <p:spPr>
          <a:xfrm>
            <a:off x="6003479" y="3163577"/>
            <a:ext cx="5095156" cy="1769715"/>
          </a:xfrm>
          <a:prstGeom prst="rect">
            <a:avLst/>
          </a:prstGeom>
          <a:solidFill>
            <a:srgbClr val="FFFFFF"/>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0">
            <a:spAutoFit/>
          </a:bodyPr>
          <a:lstStyle/>
          <a:p>
            <a:pPr indent="0" lvl="0" marL="0" marR="0" rtl="0" algn="l">
              <a:lnSpc>
                <a:spcPct val="100000"/>
              </a:lnSpc>
              <a:spcBef>
                <a:spcPts val="0"/>
              </a:spcBef>
              <a:spcAft>
                <a:spcPts val="0"/>
              </a:spcAft>
              <a:buClr>
                <a:srgbClr val="000088"/>
              </a:buClr>
              <a:buSzPts val="1400"/>
              <a:buFont typeface="Consolas"/>
              <a:buNone/>
            </a:pPr>
            <a:r>
              <a:rPr b="0" i="0" lang="tr-TR" sz="1400" u="none" cap="none" strike="noStrike">
                <a:solidFill>
                  <a:srgbClr val="000088"/>
                </a:solidFill>
                <a:latin typeface="Consolas"/>
                <a:ea typeface="Consolas"/>
                <a:cs typeface="Consolas"/>
                <a:sym typeface="Consolas"/>
              </a:rPr>
              <a:t>class</a:t>
            </a:r>
            <a:r>
              <a:rPr b="0" i="0" lang="tr-TR" sz="1400" u="none" cap="none" strike="noStrike">
                <a:solidFill>
                  <a:srgbClr val="000000"/>
                </a:solidFill>
                <a:latin typeface="Consolas"/>
                <a:ea typeface="Consolas"/>
                <a:cs typeface="Consolas"/>
                <a:sym typeface="Consolas"/>
              </a:rPr>
              <a:t> daughter </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r>
              <a:rPr b="0" i="0" lang="tr-TR" sz="1400" u="none" cap="none" strike="noStrike">
                <a:solidFill>
                  <a:srgbClr val="000088"/>
                </a:solidFill>
                <a:latin typeface="Consolas"/>
                <a:ea typeface="Consolas"/>
                <a:cs typeface="Consolas"/>
                <a:sym typeface="Consolas"/>
              </a:rPr>
              <a:t>public</a:t>
            </a:r>
            <a:r>
              <a:rPr b="0" i="0" lang="tr-TR" sz="1400" u="none" cap="none" strike="noStrike">
                <a:solidFill>
                  <a:srgbClr val="000000"/>
                </a:solidFill>
                <a:latin typeface="Consolas"/>
                <a:ea typeface="Consolas"/>
                <a:cs typeface="Consolas"/>
                <a:sym typeface="Consolas"/>
              </a:rPr>
              <a:t> mother </a:t>
            </a:r>
            <a:endParaRPr/>
          </a:p>
          <a:p>
            <a:pPr indent="0" lvl="0" marL="0" marR="0" rtl="0" algn="l">
              <a:lnSpc>
                <a:spcPct val="100000"/>
              </a:lnSpc>
              <a:spcBef>
                <a:spcPts val="0"/>
              </a:spcBef>
              <a:spcAft>
                <a:spcPts val="0"/>
              </a:spcAft>
              <a:buClr>
                <a:srgbClr val="666600"/>
              </a:buClr>
              <a:buSzPts val="1400"/>
              <a:buFont typeface="Consolas"/>
              <a:buNone/>
            </a:pP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endParaRPr/>
          </a:p>
          <a:p>
            <a:pPr indent="0" lvl="1" marL="457200" marR="0" rtl="0" algn="l">
              <a:spcBef>
                <a:spcPts val="0"/>
              </a:spcBef>
              <a:spcAft>
                <a:spcPts val="0"/>
              </a:spcAft>
              <a:buNone/>
            </a:pPr>
            <a:r>
              <a:rPr b="0" i="0" lang="tr-TR" sz="1400" u="none" cap="none" strike="noStrike">
                <a:solidFill>
                  <a:srgbClr val="000088"/>
                </a:solidFill>
                <a:latin typeface="Consolas"/>
                <a:ea typeface="Consolas"/>
                <a:cs typeface="Consolas"/>
                <a:sym typeface="Consolas"/>
              </a:rPr>
              <a:t>public</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r>
              <a:rPr b="0" i="0" lang="tr-TR" sz="1400" u="none" cap="none" strike="noStrike">
                <a:solidFill>
                  <a:srgbClr val="000088"/>
                </a:solidFill>
                <a:latin typeface="Consolas"/>
                <a:ea typeface="Consolas"/>
                <a:cs typeface="Consolas"/>
                <a:sym typeface="Consolas"/>
              </a:rPr>
              <a:t>void</a:t>
            </a:r>
            <a:r>
              <a:rPr b="0" i="0" lang="tr-TR" sz="1400" u="none" cap="none" strike="noStrike">
                <a:solidFill>
                  <a:srgbClr val="000000"/>
                </a:solidFill>
                <a:latin typeface="Consolas"/>
                <a:ea typeface="Consolas"/>
                <a:cs typeface="Consolas"/>
                <a:sym typeface="Consolas"/>
              </a:rPr>
              <a:t> display </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endParaRPr/>
          </a:p>
          <a:p>
            <a:pPr indent="0" lvl="1" marL="457200" marR="0" rtl="0" algn="l">
              <a:spcBef>
                <a:spcPts val="0"/>
              </a:spcBef>
              <a:spcAft>
                <a:spcPts val="0"/>
              </a:spcAft>
              <a:buNone/>
            </a:pP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endParaRPr/>
          </a:p>
          <a:p>
            <a:pPr indent="0" lvl="1" marL="457200" marR="0" rtl="0" algn="l">
              <a:spcBef>
                <a:spcPts val="0"/>
              </a:spcBef>
              <a:spcAft>
                <a:spcPts val="0"/>
              </a:spcAft>
              <a:buNone/>
            </a:pPr>
            <a:r>
              <a:rPr b="0" i="0" lang="tr-TR" sz="1400" u="none" cap="none" strike="noStrike">
                <a:solidFill>
                  <a:srgbClr val="000000"/>
                </a:solidFill>
                <a:latin typeface="Consolas"/>
                <a:ea typeface="Consolas"/>
                <a:cs typeface="Consolas"/>
                <a:sym typeface="Consolas"/>
              </a:rPr>
              <a:t>cout </a:t>
            </a:r>
            <a:r>
              <a:rPr b="0" i="0" lang="tr-TR" sz="1400" u="none" cap="none" strike="noStrike">
                <a:solidFill>
                  <a:srgbClr val="666600"/>
                </a:solidFill>
                <a:latin typeface="Consolas"/>
                <a:ea typeface="Consolas"/>
                <a:cs typeface="Consolas"/>
                <a:sym typeface="Consolas"/>
              </a:rPr>
              <a:t>&lt;&lt;</a:t>
            </a:r>
            <a:r>
              <a:rPr b="0" i="0" lang="tr-TR" sz="1400" u="none" cap="none" strike="noStrike">
                <a:solidFill>
                  <a:srgbClr val="000000"/>
                </a:solidFill>
                <a:latin typeface="Consolas"/>
                <a:ea typeface="Consolas"/>
                <a:cs typeface="Consolas"/>
                <a:sym typeface="Consolas"/>
              </a:rPr>
              <a:t> </a:t>
            </a:r>
            <a:r>
              <a:rPr b="0" i="0" lang="tr-TR" sz="1400" u="none" cap="none" strike="noStrike">
                <a:solidFill>
                  <a:srgbClr val="008800"/>
                </a:solidFill>
                <a:latin typeface="Consolas"/>
                <a:ea typeface="Consolas"/>
                <a:cs typeface="Consolas"/>
                <a:sym typeface="Consolas"/>
              </a:rPr>
              <a:t>"daughter: display function\n\n"</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endParaRPr/>
          </a:p>
          <a:p>
            <a:pPr indent="0" lvl="1" marL="457200" marR="0" rtl="0" algn="l">
              <a:spcBef>
                <a:spcPts val="0"/>
              </a:spcBef>
              <a:spcAft>
                <a:spcPts val="0"/>
              </a:spcAft>
              <a:buNone/>
            </a:pPr>
            <a:r>
              <a:rPr b="0" i="0" lang="tr-TR" sz="1400" u="none" cap="none" strike="noStrike">
                <a:solidFill>
                  <a:srgbClr val="000000"/>
                </a:solidFill>
                <a:latin typeface="Consolas"/>
                <a:ea typeface="Consolas"/>
                <a:cs typeface="Consolas"/>
                <a:sym typeface="Consolas"/>
              </a:rPr>
              <a:t>mother</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display</a:t>
            </a: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endParaRPr/>
          </a:p>
          <a:p>
            <a:pPr indent="0" lvl="1" marL="457200" marR="0" rtl="0" algn="l">
              <a:spcBef>
                <a:spcPts val="0"/>
              </a:spcBef>
              <a:spcAft>
                <a:spcPts val="0"/>
              </a:spcAft>
              <a:buNone/>
            </a:pPr>
            <a:r>
              <a:rPr b="0" i="0" lang="tr-TR" sz="14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666600"/>
              </a:buClr>
              <a:buSzPts val="1400"/>
              <a:buFont typeface="Consolas"/>
              <a:buNone/>
            </a:pPr>
            <a:r>
              <a:rPr b="0" i="0" lang="tr-TR" sz="1400" u="none" cap="none" strike="noStrike">
                <a:solidFill>
                  <a:srgbClr val="666600"/>
                </a:solidFill>
                <a:latin typeface="Consolas"/>
                <a:ea typeface="Consolas"/>
                <a:cs typeface="Consolas"/>
                <a:sym typeface="Consolas"/>
              </a:rPr>
              <a:t>}</a:t>
            </a:r>
            <a:r>
              <a:rPr b="0" i="0" lang="tr-TR" sz="1400" u="none" cap="none" strike="noStrike">
                <a:solidFill>
                  <a:srgbClr val="000000"/>
                </a:solidFill>
                <a:latin typeface="Consolas"/>
                <a:ea typeface="Consolas"/>
                <a:cs typeface="Consolas"/>
                <a:sym typeface="Consolas"/>
              </a:rPr>
              <a:t> </a:t>
            </a:r>
            <a:r>
              <a:rPr b="0" i="0" lang="tr-TR" sz="1400" u="none" cap="none" strike="noStrike">
                <a:solidFill>
                  <a:srgbClr val="666600"/>
                </a:solidFill>
                <a:latin typeface="Consolas"/>
                <a:ea typeface="Consolas"/>
                <a:cs typeface="Consolas"/>
                <a:sym typeface="Consolas"/>
              </a:rPr>
              <a:t>;</a:t>
            </a:r>
            <a:r>
              <a:rPr b="0" i="0" lang="tr-TR" sz="1400" u="none" cap="none" strike="noStrike">
                <a:solidFill>
                  <a:schemeClr val="lt1"/>
                </a:solidFill>
                <a:latin typeface="Consolas"/>
                <a:ea typeface="Consolas"/>
                <a:cs typeface="Consolas"/>
                <a:sym typeface="Consolas"/>
              </a:rPr>
              <a:t> </a:t>
            </a:r>
            <a:endParaRPr/>
          </a:p>
        </p:txBody>
      </p:sp>
      <p:sp>
        <p:nvSpPr>
          <p:cNvPr id="232" name="Google Shape;232;p10"/>
          <p:cNvSpPr txBox="1"/>
          <p:nvPr/>
        </p:nvSpPr>
        <p:spPr>
          <a:xfrm>
            <a:off x="6003479" y="5169541"/>
            <a:ext cx="2739512" cy="5232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tr-TR" sz="1400">
                <a:solidFill>
                  <a:srgbClr val="343A40"/>
                </a:solidFill>
                <a:latin typeface="Calibri"/>
                <a:ea typeface="Calibri"/>
                <a:cs typeface="Calibri"/>
                <a:sym typeface="Calibri"/>
              </a:rPr>
              <a:t>daughter: display function</a:t>
            </a:r>
            <a:endParaRPr/>
          </a:p>
          <a:p>
            <a:pPr indent="0" lvl="0" marL="0" marR="0" rtl="0" algn="l">
              <a:spcBef>
                <a:spcPts val="0"/>
              </a:spcBef>
              <a:spcAft>
                <a:spcPts val="0"/>
              </a:spcAft>
              <a:buNone/>
            </a:pPr>
            <a:r>
              <a:rPr b="0" i="0" lang="tr-TR" sz="1400">
                <a:solidFill>
                  <a:srgbClr val="343A40"/>
                </a:solidFill>
                <a:latin typeface="Calibri"/>
                <a:ea typeface="Calibri"/>
                <a:cs typeface="Calibri"/>
                <a:sym typeface="Calibri"/>
              </a:rPr>
              <a:t>mother: display function</a:t>
            </a:r>
            <a:endParaRPr/>
          </a:p>
        </p:txBody>
      </p:sp>
      <p:sp>
        <p:nvSpPr>
          <p:cNvPr id="233" name="Google Shape;233;p10"/>
          <p:cNvSpPr/>
          <p:nvPr/>
        </p:nvSpPr>
        <p:spPr>
          <a:xfrm>
            <a:off x="4733270" y="3802696"/>
            <a:ext cx="988142" cy="491475"/>
          </a:xfrm>
          <a:prstGeom prst="rightArrow">
            <a:avLst>
              <a:gd fmla="val 50000" name="adj1"/>
              <a:gd fmla="val 50000" name="adj2"/>
            </a:avLst>
          </a:prstGeom>
          <a:solidFill>
            <a:schemeClr val="accent1"/>
          </a:solidFill>
          <a:ln cap="flat" cmpd="sng" w="158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0"/>
          <p:cNvSpPr/>
          <p:nvPr/>
        </p:nvSpPr>
        <p:spPr>
          <a:xfrm>
            <a:off x="176687" y="3163577"/>
            <a:ext cx="4380565" cy="1614900"/>
          </a:xfrm>
          <a:prstGeom prst="rect">
            <a:avLst/>
          </a:prstGeom>
          <a:noFill/>
          <a:ln cap="flat" cmpd="sng" w="12700">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nvSpPr>
        <p:spPr>
          <a:xfrm>
            <a:off x="-92764" y="0"/>
            <a:ext cx="12192486"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Çoklu Miras (Kalıtım)</a:t>
            </a:r>
            <a:endParaRPr b="1" i="0" sz="2000" u="none" cap="none" strike="noStrike">
              <a:solidFill>
                <a:schemeClr val="lt1"/>
              </a:solidFill>
              <a:latin typeface="Times New Roman"/>
              <a:ea typeface="Times New Roman"/>
              <a:cs typeface="Times New Roman"/>
              <a:sym typeface="Times New Roman"/>
            </a:endParaRPr>
          </a:p>
        </p:txBody>
      </p:sp>
      <p:sp>
        <p:nvSpPr>
          <p:cNvPr id="240" name="Google Shape;240;p11"/>
          <p:cNvSpPr txBox="1"/>
          <p:nvPr/>
        </p:nvSpPr>
        <p:spPr>
          <a:xfrm>
            <a:off x="176687" y="624980"/>
            <a:ext cx="11723214" cy="824986"/>
          </a:xfrm>
          <a:prstGeom prst="rect">
            <a:avLst/>
          </a:prstGeom>
          <a:noFill/>
          <a:ln>
            <a:noFill/>
          </a:ln>
        </p:spPr>
        <p:txBody>
          <a:bodyPr anchorCtr="0" anchor="t" bIns="45700" lIns="0" spcFirstLastPara="1" rIns="0" wrap="square" tIns="45700">
            <a:noAutofit/>
          </a:bodyPr>
          <a:lstStyle/>
          <a:p>
            <a:pPr indent="0" lvl="0" marL="0" marR="0" rtl="0" algn="just">
              <a:lnSpc>
                <a:spcPct val="90000"/>
              </a:lnSpc>
              <a:spcBef>
                <a:spcPts val="0"/>
              </a:spcBef>
              <a:spcAft>
                <a:spcPts val="0"/>
              </a:spcAft>
              <a:buClr>
                <a:schemeClr val="accent1"/>
              </a:buClr>
              <a:buSzPts val="1800"/>
              <a:buFont typeface="Calibri"/>
              <a:buNone/>
            </a:pPr>
            <a:r>
              <a:rPr lang="tr-TR" sz="1800">
                <a:solidFill>
                  <a:srgbClr val="181818"/>
                </a:solidFill>
                <a:latin typeface="Times New Roman"/>
                <a:ea typeface="Times New Roman"/>
                <a:cs typeface="Times New Roman"/>
                <a:sym typeface="Times New Roman"/>
              </a:rPr>
              <a:t>Çoklu miras, bir sınıfın birden fazla sınıftan miras alabildiği bir C ++ özelliğidir. Miras alınan sınıfların yapıcıları, miras alındıkları sırayla çağrılır. Yıkıcılar ise, yapıcıların tersi şekilde çağrılır.</a:t>
            </a:r>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rPr lang="tr-TR" sz="1800">
                <a:solidFill>
                  <a:srgbClr val="181818"/>
                </a:solidFill>
                <a:latin typeface="Times New Roman"/>
                <a:ea typeface="Times New Roman"/>
                <a:cs typeface="Times New Roman"/>
                <a:sym typeface="Times New Roman"/>
              </a:rPr>
              <a:t>Örneğin, </a:t>
            </a:r>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a:p>
            <a:pPr indent="0" lvl="0" marL="0" marR="0" rtl="0" algn="just">
              <a:lnSpc>
                <a:spcPct val="90000"/>
              </a:lnSpc>
              <a:spcBef>
                <a:spcPts val="140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p:txBody>
      </p:sp>
      <p:pic>
        <p:nvPicPr>
          <p:cNvPr id="241" name="Google Shape;241;p11"/>
          <p:cNvPicPr preferRelativeResize="0"/>
          <p:nvPr/>
        </p:nvPicPr>
        <p:blipFill rotWithShape="1">
          <a:blip r:embed="rId3">
            <a:alphaModFix/>
          </a:blip>
          <a:srcRect b="0" l="0" r="0" t="0"/>
          <a:stretch/>
        </p:blipFill>
        <p:spPr>
          <a:xfrm>
            <a:off x="176686" y="1452281"/>
            <a:ext cx="4686861" cy="4340926"/>
          </a:xfrm>
          <a:prstGeom prst="rect">
            <a:avLst/>
          </a:prstGeom>
          <a:noFill/>
          <a:ln>
            <a:noFill/>
          </a:ln>
        </p:spPr>
      </p:pic>
      <p:sp>
        <p:nvSpPr>
          <p:cNvPr id="242" name="Google Shape;242;p11"/>
          <p:cNvSpPr txBox="1"/>
          <p:nvPr/>
        </p:nvSpPr>
        <p:spPr>
          <a:xfrm>
            <a:off x="2955232" y="4856069"/>
            <a:ext cx="1739348" cy="738664"/>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chemeClr val="lt1"/>
                </a:solidFill>
                <a:latin typeface="Calibri"/>
                <a:ea typeface="Calibri"/>
                <a:cs typeface="Calibri"/>
                <a:sym typeface="Calibri"/>
              </a:rPr>
              <a:t>B's constructor called</a:t>
            </a:r>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A's constructor called</a:t>
            </a:r>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C's constructor called</a:t>
            </a:r>
            <a:endParaRPr sz="1400">
              <a:solidFill>
                <a:schemeClr val="lt1"/>
              </a:solidFill>
              <a:latin typeface="Calibri"/>
              <a:ea typeface="Calibri"/>
              <a:cs typeface="Calibri"/>
              <a:sym typeface="Calibri"/>
            </a:endParaRPr>
          </a:p>
        </p:txBody>
      </p:sp>
      <p:pic>
        <p:nvPicPr>
          <p:cNvPr id="243" name="Google Shape;243;p11"/>
          <p:cNvPicPr preferRelativeResize="0"/>
          <p:nvPr/>
        </p:nvPicPr>
        <p:blipFill rotWithShape="1">
          <a:blip r:embed="rId4">
            <a:alphaModFix/>
          </a:blip>
          <a:srcRect b="0" l="0" r="0" t="0"/>
          <a:stretch/>
        </p:blipFill>
        <p:spPr>
          <a:xfrm>
            <a:off x="6609525" y="1436407"/>
            <a:ext cx="4686861" cy="4356800"/>
          </a:xfrm>
          <a:prstGeom prst="rect">
            <a:avLst/>
          </a:prstGeom>
          <a:noFill/>
          <a:ln>
            <a:noFill/>
          </a:ln>
        </p:spPr>
      </p:pic>
      <p:sp>
        <p:nvSpPr>
          <p:cNvPr id="244" name="Google Shape;244;p11"/>
          <p:cNvSpPr txBox="1"/>
          <p:nvPr/>
        </p:nvSpPr>
        <p:spPr>
          <a:xfrm>
            <a:off x="9200322" y="4861841"/>
            <a:ext cx="1818862" cy="738664"/>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chemeClr val="lt1"/>
                </a:solidFill>
                <a:latin typeface="Calibri"/>
                <a:ea typeface="Calibri"/>
                <a:cs typeface="Calibri"/>
                <a:sym typeface="Calibri"/>
              </a:rPr>
              <a:t>A's constructor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B's constructor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C's constructor called-</a:t>
            </a:r>
            <a:endParaRPr/>
          </a:p>
        </p:txBody>
      </p:sp>
      <p:sp>
        <p:nvSpPr>
          <p:cNvPr id="245" name="Google Shape;245;p11"/>
          <p:cNvSpPr txBox="1"/>
          <p:nvPr/>
        </p:nvSpPr>
        <p:spPr>
          <a:xfrm>
            <a:off x="6516760" y="5883221"/>
            <a:ext cx="625833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600">
                <a:solidFill>
                  <a:srgbClr val="181818"/>
                </a:solidFill>
                <a:latin typeface="Times New Roman"/>
                <a:ea typeface="Times New Roman"/>
                <a:cs typeface="Times New Roman"/>
                <a:sym typeface="Times New Roman"/>
              </a:rPr>
              <a:t>Bu programda, A’nın yapıcısı B’nin yapıcısından önce çağrılır. </a:t>
            </a:r>
            <a:endParaRPr sz="1600">
              <a:solidFill>
                <a:schemeClr val="lt1"/>
              </a:solidFill>
              <a:latin typeface="Calibri"/>
              <a:ea typeface="Calibri"/>
              <a:cs typeface="Calibri"/>
              <a:sym typeface="Calibri"/>
            </a:endParaRPr>
          </a:p>
        </p:txBody>
      </p:sp>
      <p:sp>
        <p:nvSpPr>
          <p:cNvPr id="246" name="Google Shape;246;p11"/>
          <p:cNvSpPr txBox="1"/>
          <p:nvPr/>
        </p:nvSpPr>
        <p:spPr>
          <a:xfrm>
            <a:off x="129213" y="5894466"/>
            <a:ext cx="6480312" cy="33855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181818"/>
              </a:buClr>
              <a:buSzPts val="1600"/>
              <a:buFont typeface="Times New Roman"/>
              <a:buNone/>
            </a:pPr>
            <a:r>
              <a:rPr lang="tr-TR" sz="1600">
                <a:solidFill>
                  <a:srgbClr val="181818"/>
                </a:solidFill>
                <a:latin typeface="Times New Roman"/>
                <a:ea typeface="Times New Roman"/>
                <a:cs typeface="Times New Roman"/>
                <a:sym typeface="Times New Roman"/>
              </a:rPr>
              <a:t>Bu programda, B’nin yapıcısı A’nın yapıcısından önce çağrılır.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txBox="1"/>
          <p:nvPr/>
        </p:nvSpPr>
        <p:spPr>
          <a:xfrm>
            <a:off x="-92764" y="0"/>
            <a:ext cx="12192486"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Elmas (Diamond) Problemi </a:t>
            </a:r>
            <a:endParaRPr b="1" i="0" sz="2000" u="none" cap="none" strike="noStrike">
              <a:solidFill>
                <a:schemeClr val="lt1"/>
              </a:solidFill>
              <a:latin typeface="Times New Roman"/>
              <a:ea typeface="Times New Roman"/>
              <a:cs typeface="Times New Roman"/>
              <a:sym typeface="Times New Roman"/>
            </a:endParaRPr>
          </a:p>
        </p:txBody>
      </p:sp>
      <p:sp>
        <p:nvSpPr>
          <p:cNvPr id="252" name="Google Shape;252;p12"/>
          <p:cNvSpPr txBox="1"/>
          <p:nvPr/>
        </p:nvSpPr>
        <p:spPr>
          <a:xfrm>
            <a:off x="176687" y="624980"/>
            <a:ext cx="11723214" cy="1734762"/>
          </a:xfrm>
          <a:prstGeom prst="rect">
            <a:avLst/>
          </a:prstGeom>
          <a:noFill/>
          <a:ln>
            <a:noFill/>
          </a:ln>
        </p:spPr>
        <p:txBody>
          <a:bodyPr anchorCtr="0" anchor="t" bIns="45700" lIns="0" spcFirstLastPara="1" rIns="0" wrap="square" tIns="45700">
            <a:noAutofit/>
          </a:bodyPr>
          <a:lstStyle/>
          <a:p>
            <a:pPr indent="0" lvl="0" marL="0" marR="0" rtl="0" algn="just">
              <a:lnSpc>
                <a:spcPct val="90000"/>
              </a:lnSpc>
              <a:spcBef>
                <a:spcPts val="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p:txBody>
      </p:sp>
      <p:sp>
        <p:nvSpPr>
          <p:cNvPr id="253" name="Google Shape;253;p12"/>
          <p:cNvSpPr txBox="1"/>
          <p:nvPr/>
        </p:nvSpPr>
        <p:spPr>
          <a:xfrm>
            <a:off x="-344557" y="624980"/>
            <a:ext cx="12536557" cy="646331"/>
          </a:xfrm>
          <a:prstGeom prst="rect">
            <a:avLst/>
          </a:prstGeom>
          <a:noFill/>
          <a:ln>
            <a:noFill/>
          </a:ln>
        </p:spPr>
        <p:txBody>
          <a:bodyPr anchorCtr="0" anchor="t" bIns="45700" lIns="91425" spcFirstLastPara="1" rIns="91425" wrap="square" tIns="45700">
            <a:spAutoFit/>
          </a:bodyPr>
          <a:lstStyle/>
          <a:p>
            <a:pPr indent="0" lvl="1" marL="457200" marR="0" rtl="0" algn="just">
              <a:spcBef>
                <a:spcPts val="0"/>
              </a:spcBef>
              <a:spcAft>
                <a:spcPts val="0"/>
              </a:spcAft>
              <a:buNone/>
            </a:pPr>
            <a:r>
              <a:rPr b="0" i="0" lang="tr-TR" sz="1800" u="none" cap="none" strike="noStrike">
                <a:solidFill>
                  <a:schemeClr val="lt1"/>
                </a:solidFill>
                <a:latin typeface="Times New Roman"/>
                <a:ea typeface="Times New Roman"/>
                <a:cs typeface="Times New Roman"/>
                <a:sym typeface="Times New Roman"/>
              </a:rPr>
              <a:t>Elmas problemi, bir sınıfın iki temel sınıfının ortak bir temel sınıfa sahip olması durumunda ortaya çıkar. Örneğin, aşağıdaki diyagramda TA sınıfı, Person sınıfının tüm niteliklerinin iki kopyasını alır, bu belirsizliklere neden olur.</a:t>
            </a:r>
            <a:endParaRPr/>
          </a:p>
        </p:txBody>
      </p:sp>
      <p:pic>
        <p:nvPicPr>
          <p:cNvPr id="254" name="Google Shape;254;p12"/>
          <p:cNvPicPr preferRelativeResize="0"/>
          <p:nvPr/>
        </p:nvPicPr>
        <p:blipFill rotWithShape="1">
          <a:blip r:embed="rId3">
            <a:alphaModFix/>
          </a:blip>
          <a:srcRect b="5383" l="15935" r="0" t="0"/>
          <a:stretch/>
        </p:blipFill>
        <p:spPr>
          <a:xfrm>
            <a:off x="3998843" y="1321007"/>
            <a:ext cx="4194313" cy="3941030"/>
          </a:xfrm>
          <a:prstGeom prst="rect">
            <a:avLst/>
          </a:prstGeom>
          <a:noFill/>
          <a:ln>
            <a:noFill/>
          </a:ln>
        </p:spPr>
      </p:pic>
      <p:sp>
        <p:nvSpPr>
          <p:cNvPr id="255" name="Google Shape;255;p12"/>
          <p:cNvSpPr txBox="1"/>
          <p:nvPr/>
        </p:nvSpPr>
        <p:spPr>
          <a:xfrm>
            <a:off x="1843981" y="5311733"/>
            <a:ext cx="419431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rgbClr val="FF0000"/>
                </a:solidFill>
                <a:latin typeface="Times New Roman"/>
                <a:ea typeface="Times New Roman"/>
                <a:cs typeface="Times New Roman"/>
                <a:sym typeface="Times New Roman"/>
              </a:rPr>
              <a:t>Name ve Age bilgisinin sadece bir kez gelmesi gerekir.</a:t>
            </a:r>
            <a:endParaRPr sz="1400">
              <a:solidFill>
                <a:srgbClr val="FF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nvSpPr>
        <p:spPr>
          <a:xfrm>
            <a:off x="-92764" y="0"/>
            <a:ext cx="12192486" cy="624980"/>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Elmas (Diamond) Problemi </a:t>
            </a:r>
            <a:endParaRPr b="1" i="0" sz="2000" u="none" cap="none" strike="noStrike">
              <a:solidFill>
                <a:schemeClr val="lt1"/>
              </a:solidFill>
              <a:latin typeface="Times New Roman"/>
              <a:ea typeface="Times New Roman"/>
              <a:cs typeface="Times New Roman"/>
              <a:sym typeface="Times New Roman"/>
            </a:endParaRPr>
          </a:p>
        </p:txBody>
      </p:sp>
      <p:sp>
        <p:nvSpPr>
          <p:cNvPr id="261" name="Google Shape;261;p13"/>
          <p:cNvSpPr txBox="1"/>
          <p:nvPr/>
        </p:nvSpPr>
        <p:spPr>
          <a:xfrm>
            <a:off x="176687" y="624980"/>
            <a:ext cx="11723214" cy="1734762"/>
          </a:xfrm>
          <a:prstGeom prst="rect">
            <a:avLst/>
          </a:prstGeom>
          <a:noFill/>
          <a:ln>
            <a:noFill/>
          </a:ln>
        </p:spPr>
        <p:txBody>
          <a:bodyPr anchorCtr="0" anchor="t" bIns="45700" lIns="0" spcFirstLastPara="1" rIns="0" wrap="square" tIns="45700">
            <a:noAutofit/>
          </a:bodyPr>
          <a:lstStyle/>
          <a:p>
            <a:pPr indent="0" lvl="0" marL="0" marR="0" rtl="0" algn="just">
              <a:lnSpc>
                <a:spcPct val="90000"/>
              </a:lnSpc>
              <a:spcBef>
                <a:spcPts val="0"/>
              </a:spcBef>
              <a:spcAft>
                <a:spcPts val="0"/>
              </a:spcAft>
              <a:buClr>
                <a:schemeClr val="accent1"/>
              </a:buClr>
              <a:buSzPts val="1800"/>
              <a:buFont typeface="Calibri"/>
              <a:buNone/>
            </a:pPr>
            <a:r>
              <a:t/>
            </a:r>
            <a:endParaRPr sz="1800">
              <a:solidFill>
                <a:srgbClr val="181818"/>
              </a:solidFill>
              <a:latin typeface="Times New Roman"/>
              <a:ea typeface="Times New Roman"/>
              <a:cs typeface="Times New Roman"/>
              <a:sym typeface="Times New Roman"/>
            </a:endParaRPr>
          </a:p>
        </p:txBody>
      </p:sp>
      <p:pic>
        <p:nvPicPr>
          <p:cNvPr id="262" name="Google Shape;262;p13"/>
          <p:cNvPicPr preferRelativeResize="0"/>
          <p:nvPr/>
        </p:nvPicPr>
        <p:blipFill rotWithShape="1">
          <a:blip r:embed="rId3">
            <a:alphaModFix/>
          </a:blip>
          <a:srcRect b="0" l="790" r="0" t="0"/>
          <a:stretch/>
        </p:blipFill>
        <p:spPr>
          <a:xfrm>
            <a:off x="215463" y="559574"/>
            <a:ext cx="5493647" cy="4010593"/>
          </a:xfrm>
          <a:prstGeom prst="rect">
            <a:avLst/>
          </a:prstGeom>
          <a:noFill/>
          <a:ln>
            <a:noFill/>
          </a:ln>
        </p:spPr>
      </p:pic>
      <p:pic>
        <p:nvPicPr>
          <p:cNvPr id="263" name="Google Shape;263;p13"/>
          <p:cNvPicPr preferRelativeResize="0"/>
          <p:nvPr/>
        </p:nvPicPr>
        <p:blipFill rotWithShape="1">
          <a:blip r:embed="rId4">
            <a:alphaModFix/>
          </a:blip>
          <a:srcRect b="0" l="0" r="10521" t="0"/>
          <a:stretch/>
        </p:blipFill>
        <p:spPr>
          <a:xfrm>
            <a:off x="215463" y="4569664"/>
            <a:ext cx="5493646" cy="1978416"/>
          </a:xfrm>
          <a:prstGeom prst="rect">
            <a:avLst/>
          </a:prstGeom>
          <a:noFill/>
          <a:ln>
            <a:noFill/>
          </a:ln>
        </p:spPr>
      </p:pic>
      <p:sp>
        <p:nvSpPr>
          <p:cNvPr id="264" name="Google Shape;264;p13"/>
          <p:cNvSpPr txBox="1"/>
          <p:nvPr/>
        </p:nvSpPr>
        <p:spPr>
          <a:xfrm>
            <a:off x="6003479" y="559574"/>
            <a:ext cx="2663443" cy="1169551"/>
          </a:xfrm>
          <a:prstGeom prst="rect">
            <a:avLst/>
          </a:prstGeom>
          <a:solidFill>
            <a:srgbClr val="E9E9E9"/>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chemeClr val="lt1"/>
                </a:solidFill>
                <a:latin typeface="Calibri"/>
                <a:ea typeface="Calibri"/>
                <a:cs typeface="Calibri"/>
                <a:sym typeface="Calibri"/>
              </a:rPr>
              <a:t>Person::Person(int )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Faculty::Faculty(int )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Person::Person(int )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Student::Student(int ) called</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tr-TR" sz="1400">
                <a:solidFill>
                  <a:schemeClr val="lt1"/>
                </a:solidFill>
                <a:latin typeface="Calibri"/>
                <a:ea typeface="Calibri"/>
                <a:cs typeface="Calibri"/>
                <a:sym typeface="Calibri"/>
              </a:rPr>
              <a:t>TA::TA(int ) called</a:t>
            </a:r>
            <a:endParaRPr sz="1400">
              <a:solidFill>
                <a:schemeClr val="lt1"/>
              </a:solidFill>
              <a:latin typeface="Calibri"/>
              <a:ea typeface="Calibri"/>
              <a:cs typeface="Calibri"/>
              <a:sym typeface="Calibri"/>
            </a:endParaRPr>
          </a:p>
        </p:txBody>
      </p:sp>
      <p:sp>
        <p:nvSpPr>
          <p:cNvPr id="265" name="Google Shape;265;p13"/>
          <p:cNvSpPr txBox="1"/>
          <p:nvPr/>
        </p:nvSpPr>
        <p:spPr>
          <a:xfrm>
            <a:off x="6003479" y="2257413"/>
            <a:ext cx="6011834"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örnek için, 'Person' yapıcısı iki kez çağrılır. 'Person’ sınıfının yıkıcısı da "ta1" nesnesi yok edildiğinde iki kez çağrılacaktır.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Dolayısıyla, 'ta1' nesnesi, 'Person’ sınıfının tüm üyelerinin iki kopyasına sahiptir, bu da belirsizliklere neden olur.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sorunun çözümü "virtual" (yani sanal) anahtar kelimesidir.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Bir sonraki bölümde sanal temel sınıf yapısını göreceğiz ve bu problemin çözümünü gerçekleştireceğiz.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4"/>
          <p:cNvSpPr txBox="1"/>
          <p:nvPr/>
        </p:nvSpPr>
        <p:spPr>
          <a:xfrm>
            <a:off x="0" y="0"/>
            <a:ext cx="60946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271" name="Google Shape;271;p14"/>
          <p:cNvSpPr txBox="1"/>
          <p:nvPr/>
        </p:nvSpPr>
        <p:spPr>
          <a:xfrm>
            <a:off x="0" y="461665"/>
            <a:ext cx="1219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b="1" i="1" lang="tr-TR" sz="1800">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a:t>
            </a:r>
            <a:r>
              <a:rPr b="1" i="1" lang="tr-TR" sz="1800">
                <a:solidFill>
                  <a:schemeClr val="lt1"/>
                </a:solidFill>
                <a:latin typeface="Times New Roman"/>
                <a:ea typeface="Times New Roman"/>
                <a:cs typeface="Times New Roman"/>
                <a:sym typeface="Times New Roman"/>
              </a:rPr>
              <a:t>C++ Programlama Dili</a:t>
            </a:r>
            <a:r>
              <a:rPr lang="tr-TR" sz="1800">
                <a:solidFill>
                  <a:schemeClr val="lt1"/>
                </a:solidFill>
                <a:latin typeface="Times New Roman"/>
                <a:ea typeface="Times New Roman"/>
                <a:cs typeface="Times New Roman"/>
                <a:sym typeface="Times New Roman"/>
              </a:rPr>
              <a:t>, Seçkin Yayıncılık.</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[3] M. Mastar, S. Eriş, </a:t>
            </a:r>
            <a:r>
              <a:rPr b="1" i="1" lang="tr-TR" sz="1800">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Kodlab Yayın Dağıtım.</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2021-02-24T12:37:41Z</dcterms:created>
  <dc:creator>FUNDA KUTLU ONAY</dc:creator>
</cp:coreProperties>
</file>