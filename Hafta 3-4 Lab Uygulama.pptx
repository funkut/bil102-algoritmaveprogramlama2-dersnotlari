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2" r:id="rId4"/>
    <p:sldId id="273" r:id="rId5"/>
    <p:sldId id="274" r:id="rId6"/>
    <p:sldId id="276" r:id="rId7"/>
    <p:sldId id="275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G0ndfzBiLG3Yrm+y5Uf+OtGnE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2D7785-BF6A-4342-80CF-86F99836520C}">
  <a:tblStyle styleId="{572D7785-BF6A-4342-80CF-86F99836520C}" styleName="Table_0">
    <a:wholeTbl>
      <a:tcTxStyle b="off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08" y="-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EE7998E-74B0-B4A7-83F9-28504A69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00C764C9-48CA-A43E-CE70-C047301F3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A9ED35C3-2071-133D-AB53-8BDA7BBF3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867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B0683D5-F95B-633F-7694-663E303CE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A89F2161-5027-A848-457A-14FB25C82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CE52FE80-D9FF-F28D-F87F-3FFFB2F60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7509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AB20261-6B56-F1B2-CB7B-8E9B6E1C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38F6CE1E-5CF2-609F-DC8B-69ED85ADC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FDC66648-0128-E137-35D5-2E1657EB6F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0554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C881152-5B73-3435-EA51-D4EF5355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23833B79-4E5C-F566-525A-22F135131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14C5CDFC-477A-112B-FD38-07E1C32A3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965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D37A51A-B159-7644-B7F4-E646FC0B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>
            <a:extLst>
              <a:ext uri="{FF2B5EF4-FFF2-40B4-BE49-F238E27FC236}">
                <a16:creationId xmlns:a16="http://schemas.microsoft.com/office/drawing/2014/main" id="{D61C7A53-4298-C48B-63BF-C03E7BC3F2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>
            <a:extLst>
              <a:ext uri="{FF2B5EF4-FFF2-40B4-BE49-F238E27FC236}">
                <a16:creationId xmlns:a16="http://schemas.microsoft.com/office/drawing/2014/main" id="{5EDEB2B6-379C-C324-49EF-0F15036B9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8110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şlık Slaydı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0"/>
              <a:buFont typeface="Calibri"/>
              <a:buNone/>
              <a:defRPr sz="8000">
                <a:solidFill>
                  <a:srgbClr val="4C4C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cxnSp>
        <p:nvCxnSpPr>
          <p:cNvPr id="22" name="Google Shape;22;p18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95959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oş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ölüm Üst Bilgisi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8000"/>
              <a:buFont typeface="Calibri"/>
              <a:buNone/>
              <a:defRPr sz="8000" b="0">
                <a:solidFill>
                  <a:srgbClr val="4C4C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C8C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C8C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C8C8C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cxnSp>
        <p:nvCxnSpPr>
          <p:cNvPr id="43" name="Google Shape;43;p2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95959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şlıklı İçerik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şlıklı Resim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Dikey Metin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key Başlık ve Metin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934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7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60606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cxnSp>
        <p:nvCxnSpPr>
          <p:cNvPr id="13" name="Google Shape;13;p1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95959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0" y="3429000"/>
            <a:ext cx="12192000" cy="82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tr-TR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BİL102-ALGORİTMA ve PROGRAMLAMA II</a:t>
            </a:r>
            <a:br>
              <a:rPr lang="tr-TR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tr-TR" sz="4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UYGULAMASI</a:t>
            </a:r>
            <a:endParaRPr dirty="0"/>
          </a:p>
        </p:txBody>
      </p:sp>
      <p:sp>
        <p:nvSpPr>
          <p:cNvPr id="102" name="Google Shape;102;p1"/>
          <p:cNvSpPr txBox="1">
            <a:spLocks noGrp="1"/>
          </p:cNvSpPr>
          <p:nvPr>
            <p:ph type="subTitle" idx="1"/>
          </p:nvPr>
        </p:nvSpPr>
        <p:spPr>
          <a:xfrm>
            <a:off x="1" y="2036685"/>
            <a:ext cx="12192000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tr-TR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MÜHENDİSLİK FAKÜLTESİ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tr-TR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BİLGİSAYAR MÜHENDİSLİĞİ BÖLÜMÜ</a:t>
            </a:r>
            <a:endParaRPr/>
          </a:p>
        </p:txBody>
      </p:sp>
      <p:pic>
        <p:nvPicPr>
          <p:cNvPr id="103" name="Google Shape;103;p1" descr="Amasya Üniversitesi Logo Vector (.AI) Free Downloa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293" y="159026"/>
            <a:ext cx="1889990" cy="16568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0" y="4432605"/>
            <a:ext cx="12192000" cy="110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lang="tr-TR" sz="2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Hafta 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tr-TR" sz="4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NYP Kavramları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39485" y="5724630"/>
            <a:ext cx="12191999" cy="507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lang="tr-T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Doç. Dr.</a:t>
            </a:r>
            <a:r>
              <a:rPr lang="tr-TR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Funda KUTLU ONAY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292608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tr-TR" sz="1600" b="1" i="0" u="none" strike="noStrike" cap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-1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-8389" y="360727"/>
            <a:ext cx="12108109" cy="5872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lnSpcReduction="10000"/>
          </a:bodyPr>
          <a:lstStyle/>
          <a:p>
            <a:pPr marL="384048" lvl="1" indent="-182880">
              <a:lnSpc>
                <a:spcPct val="125000"/>
              </a:lnSpc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lang="tr-TR" sz="1600" dirty="0"/>
              <a:t>Görev:</a:t>
            </a:r>
            <a:br>
              <a:rPr lang="tr-TR" sz="1600" dirty="0"/>
            </a:br>
            <a:r>
              <a:rPr lang="tr-TR" sz="1600" b="1" dirty="0"/>
              <a:t>1) </a:t>
            </a:r>
            <a:r>
              <a:rPr lang="tr-TR" sz="1600" b="1" dirty="0" err="1"/>
              <a:t>KahveSiparisi</a:t>
            </a:r>
            <a:r>
              <a:rPr lang="tr-TR" sz="1600" b="1" dirty="0"/>
              <a:t> adında bir sınıf yazın.</a:t>
            </a:r>
            <a:br>
              <a:rPr lang="tr-TR" sz="1600" b="1" dirty="0"/>
            </a:br>
            <a:r>
              <a:rPr lang="tr-TR" sz="1600" b="1" dirty="0"/>
              <a:t>2) Sınıfın şu üyeleri olsun:</a:t>
            </a:r>
            <a:br>
              <a:rPr lang="tr-TR" sz="1600" dirty="0"/>
            </a:br>
            <a:r>
              <a:rPr lang="tr-TR" sz="1600" dirty="0"/>
              <a:t>- boyut (</a:t>
            </a:r>
            <a:r>
              <a:rPr lang="tr-TR" sz="1600" dirty="0" err="1"/>
              <a:t>string</a:t>
            </a:r>
            <a:r>
              <a:rPr lang="tr-TR" sz="1600" dirty="0"/>
              <a:t>): "S", "M", "L"</a:t>
            </a:r>
            <a:br>
              <a:rPr lang="tr-TR" sz="1600" dirty="0"/>
            </a:br>
            <a:r>
              <a:rPr lang="tr-TR" sz="1600" dirty="0"/>
              <a:t>- seker (</a:t>
            </a:r>
            <a:r>
              <a:rPr lang="tr-TR" sz="1600" dirty="0" err="1"/>
              <a:t>int</a:t>
            </a:r>
            <a:r>
              <a:rPr lang="tr-TR" sz="1600" dirty="0"/>
              <a:t>): 0–3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sutlu</a:t>
            </a:r>
            <a:r>
              <a:rPr lang="tr-TR" sz="1600" dirty="0"/>
              <a:t> (</a:t>
            </a:r>
            <a:r>
              <a:rPr lang="tr-TR" sz="1600" dirty="0" err="1"/>
              <a:t>bool</a:t>
            </a:r>
            <a:r>
              <a:rPr lang="tr-TR" sz="1600" dirty="0"/>
              <a:t>): </a:t>
            </a:r>
            <a:r>
              <a:rPr lang="tr-TR" sz="1600" dirty="0" err="1"/>
              <a:t>true</a:t>
            </a:r>
            <a:r>
              <a:rPr lang="tr-TR" sz="1600" dirty="0"/>
              <a:t>/</a:t>
            </a:r>
            <a:r>
              <a:rPr lang="tr-TR" sz="1600" dirty="0" err="1"/>
              <a:t>false</a:t>
            </a:r>
            <a:br>
              <a:rPr lang="tr-TR" sz="1600" dirty="0"/>
            </a:br>
            <a:r>
              <a:rPr lang="tr-TR" sz="1600" b="1" dirty="0"/>
              <a:t>3) Sınıfın şu fonksiyonları olsun:</a:t>
            </a:r>
            <a:br>
              <a:rPr lang="tr-TR" sz="1600" b="1" dirty="0"/>
            </a:br>
            <a:r>
              <a:rPr lang="tr-TR" sz="1600" dirty="0"/>
              <a:t>- </a:t>
            </a:r>
            <a:r>
              <a:rPr lang="tr-TR" sz="1600" dirty="0" err="1"/>
              <a:t>birimFiyatHesapla</a:t>
            </a:r>
            <a:r>
              <a:rPr lang="tr-TR" sz="1600" dirty="0"/>
              <a:t>(): boyuta göre birim fiyat döndürsün</a:t>
            </a:r>
            <a:br>
              <a:rPr lang="tr-TR" sz="1600" dirty="0"/>
            </a:br>
            <a:r>
              <a:rPr lang="tr-TR" sz="1600" dirty="0"/>
              <a:t>S = 50, M = 65, L = 80</a:t>
            </a:r>
            <a:br>
              <a:rPr lang="tr-TR" sz="1600" dirty="0"/>
            </a:br>
            <a:r>
              <a:rPr lang="tr-TR" sz="1600" dirty="0" err="1"/>
              <a:t>sutlu</a:t>
            </a:r>
            <a:r>
              <a:rPr lang="tr-TR" sz="1600" dirty="0"/>
              <a:t> ise +10 TL eklensin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toplamFiyat</a:t>
            </a:r>
            <a:r>
              <a:rPr lang="tr-TR" sz="1600" dirty="0"/>
              <a:t>(): birim fiyatı döndürsün (tek ürün varsay)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yazdir</a:t>
            </a:r>
            <a:r>
              <a:rPr lang="tr-TR" sz="1600" dirty="0"/>
              <a:t>(): sipariş bilgilerini ve toplam fiyatı yazdırsın</a:t>
            </a:r>
            <a:br>
              <a:rPr lang="tr-TR" sz="1600" dirty="0"/>
            </a:br>
            <a:r>
              <a:rPr lang="tr-TR" sz="1600" b="1" dirty="0"/>
              <a:t>4) main içinde kullanıcıdan boyut, şeker, sütlü bilgisi alın; </a:t>
            </a:r>
            <a:r>
              <a:rPr lang="tr-TR" sz="1600" b="1" dirty="0" err="1"/>
              <a:t>yazdir</a:t>
            </a:r>
            <a:r>
              <a:rPr lang="tr-TR" sz="1600" b="1" dirty="0"/>
              <a:t>() çağırın.</a:t>
            </a:r>
            <a:br>
              <a:rPr lang="tr-TR" sz="1600" b="1" dirty="0"/>
            </a:br>
            <a:br>
              <a:rPr lang="tr-TR" sz="1600" b="1" dirty="0"/>
            </a:br>
            <a:r>
              <a:rPr lang="tr-TR" sz="1600" dirty="0">
                <a:solidFill>
                  <a:srgbClr val="FF0000"/>
                </a:solidFill>
              </a:rPr>
              <a:t>Beklenen örnek çıktı:</a:t>
            </a:r>
            <a:br>
              <a:rPr lang="tr-TR" sz="1600" dirty="0">
                <a:solidFill>
                  <a:srgbClr val="FF0000"/>
                </a:solidFill>
              </a:rPr>
            </a:br>
            <a:r>
              <a:rPr lang="tr-TR" sz="1600" dirty="0">
                <a:solidFill>
                  <a:srgbClr val="FF0000"/>
                </a:solidFill>
              </a:rPr>
              <a:t>Boyut: M</a:t>
            </a:r>
            <a:br>
              <a:rPr lang="tr-TR" sz="1600" dirty="0">
                <a:solidFill>
                  <a:srgbClr val="FF0000"/>
                </a:solidFill>
              </a:rPr>
            </a:br>
            <a:r>
              <a:rPr lang="tr-TR" sz="1600" dirty="0">
                <a:solidFill>
                  <a:srgbClr val="FF0000"/>
                </a:solidFill>
              </a:rPr>
              <a:t>Seker: 2</a:t>
            </a:r>
            <a:br>
              <a:rPr lang="tr-TR" sz="1600" dirty="0">
                <a:solidFill>
                  <a:srgbClr val="FF0000"/>
                </a:solidFill>
              </a:rPr>
            </a:br>
            <a:r>
              <a:rPr lang="tr-TR" sz="1600" dirty="0" err="1">
                <a:solidFill>
                  <a:srgbClr val="FF0000"/>
                </a:solidFill>
              </a:rPr>
              <a:t>Sutlu</a:t>
            </a:r>
            <a:r>
              <a:rPr lang="tr-TR" sz="1600" dirty="0">
                <a:solidFill>
                  <a:srgbClr val="FF0000"/>
                </a:solidFill>
              </a:rPr>
              <a:t>: Evet</a:t>
            </a:r>
            <a:br>
              <a:rPr lang="tr-TR" sz="1600" dirty="0">
                <a:solidFill>
                  <a:srgbClr val="FF0000"/>
                </a:solidFill>
              </a:rPr>
            </a:br>
            <a:r>
              <a:rPr lang="tr-TR" sz="1600" dirty="0">
                <a:solidFill>
                  <a:srgbClr val="FF0000"/>
                </a:solidFill>
              </a:rPr>
              <a:t>Toplam: 75 TL</a:t>
            </a:r>
            <a:endParaRPr sz="1600" b="1" i="0" u="sng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DD019EE-9AE5-6F84-43A3-8FFF789B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2F3B57A1-72D8-CBDB-3147-F1A3CB1A8771}"/>
              </a:ext>
            </a:extLst>
          </p:cNvPr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292608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tr-TR" sz="1600" b="1" i="0" u="none" strike="noStrike" cap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ÇÖZÜM -1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E58B22C-95D4-6AF4-7634-641F0505596B}"/>
              </a:ext>
            </a:extLst>
          </p:cNvPr>
          <p:cNvSpPr txBox="1"/>
          <p:nvPr/>
        </p:nvSpPr>
        <p:spPr>
          <a:xfrm>
            <a:off x="-8389" y="277027"/>
            <a:ext cx="12108109" cy="5955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384048" lvl="1" indent="-182880">
              <a:lnSpc>
                <a:spcPct val="125000"/>
              </a:lnSpc>
              <a:buClr>
                <a:schemeClr val="accent1"/>
              </a:buClr>
              <a:buSzPts val="1600"/>
              <a:buFont typeface="Noto Sans Symbols"/>
              <a:buChar char="▪"/>
            </a:pPr>
            <a:endParaRPr sz="1600" b="1" i="0" u="sng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9EACCD35-B4D6-F7E3-5609-1E6FC0CA2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90" y="277027"/>
            <a:ext cx="3816819" cy="5992061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1C85075A-7FF7-8BCB-5957-22C842593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1538" y="360727"/>
            <a:ext cx="3735637" cy="5804403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0A722051-D507-0A55-A4BB-59562BB94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175" y="624980"/>
            <a:ext cx="4652545" cy="5342187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1FEC46D-5AC4-2E38-6510-F23A4EDF388A}"/>
              </a:ext>
            </a:extLst>
          </p:cNvPr>
          <p:cNvSpPr/>
          <p:nvPr/>
        </p:nvSpPr>
        <p:spPr>
          <a:xfrm>
            <a:off x="5372100" y="3295650"/>
            <a:ext cx="292100" cy="2095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FC0C74-B0DF-AD6F-F97B-E0D9BDC6FAAB}"/>
              </a:ext>
            </a:extLst>
          </p:cNvPr>
          <p:cNvSpPr/>
          <p:nvPr/>
        </p:nvSpPr>
        <p:spPr>
          <a:xfrm>
            <a:off x="5696551" y="588095"/>
            <a:ext cx="292100" cy="2095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0F90610-CECB-93DA-3FFC-9B420220DFC7}"/>
              </a:ext>
            </a:extLst>
          </p:cNvPr>
          <p:cNvSpPr/>
          <p:nvPr/>
        </p:nvSpPr>
        <p:spPr>
          <a:xfrm>
            <a:off x="5210175" y="1430710"/>
            <a:ext cx="292100" cy="2095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E15789-D037-795D-1EB5-CA3390DF7EA6}"/>
              </a:ext>
            </a:extLst>
          </p:cNvPr>
          <p:cNvSpPr/>
          <p:nvPr/>
        </p:nvSpPr>
        <p:spPr>
          <a:xfrm>
            <a:off x="1409700" y="3022600"/>
            <a:ext cx="304799" cy="2095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01F9EE-D4DC-CD2C-76E5-DAF4D7246457}"/>
              </a:ext>
            </a:extLst>
          </p:cNvPr>
          <p:cNvSpPr/>
          <p:nvPr/>
        </p:nvSpPr>
        <p:spPr>
          <a:xfrm>
            <a:off x="2362852" y="3022600"/>
            <a:ext cx="304799" cy="2095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5B8F1F-D269-3122-59C6-EC0B2B1BC278}"/>
              </a:ext>
            </a:extLst>
          </p:cNvPr>
          <p:cNvSpPr/>
          <p:nvPr/>
        </p:nvSpPr>
        <p:spPr>
          <a:xfrm>
            <a:off x="3381471" y="3022600"/>
            <a:ext cx="304799" cy="2095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F69E3C-C93C-AF84-9647-A2F33616FC2A}"/>
              </a:ext>
            </a:extLst>
          </p:cNvPr>
          <p:cNvSpPr/>
          <p:nvPr/>
        </p:nvSpPr>
        <p:spPr>
          <a:xfrm>
            <a:off x="1562100" y="3175000"/>
            <a:ext cx="304799" cy="2095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0D325E-6D1E-4525-D911-4043A460FA73}"/>
              </a:ext>
            </a:extLst>
          </p:cNvPr>
          <p:cNvSpPr/>
          <p:nvPr/>
        </p:nvSpPr>
        <p:spPr>
          <a:xfrm>
            <a:off x="1671016" y="1558313"/>
            <a:ext cx="304799" cy="2095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0810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8FA611A-F933-0136-4B6F-D3BAD69C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D707AEB6-3CF8-C5F9-3C09-996DD424059C}"/>
              </a:ext>
            </a:extLst>
          </p:cNvPr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292608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tr-TR" sz="1600" b="1" i="0" u="none" strike="noStrike" cap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-2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8CF0CC-0B5C-3FF0-6E5F-3E1708FB9436}"/>
              </a:ext>
            </a:extLst>
          </p:cNvPr>
          <p:cNvSpPr txBox="1"/>
          <p:nvPr/>
        </p:nvSpPr>
        <p:spPr>
          <a:xfrm>
            <a:off x="-8389" y="360727"/>
            <a:ext cx="6104389" cy="5872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92500" lnSpcReduction="10000"/>
          </a:bodyPr>
          <a:lstStyle/>
          <a:p>
            <a:pPr marL="384048" lvl="1" indent="-182880">
              <a:lnSpc>
                <a:spcPct val="125000"/>
              </a:lnSpc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lang="tr-TR" sz="1600" b="1" dirty="0"/>
              <a:t>Görev:</a:t>
            </a:r>
            <a:br>
              <a:rPr lang="tr-TR" sz="1600" dirty="0"/>
            </a:br>
            <a:r>
              <a:rPr lang="tr-TR" sz="1600" dirty="0" err="1"/>
              <a:t>TelefonPil</a:t>
            </a:r>
            <a:r>
              <a:rPr lang="tr-TR" sz="1600" dirty="0"/>
              <a:t> adında bir sınıf yazın.</a:t>
            </a:r>
            <a:br>
              <a:rPr lang="tr-TR" sz="1600" dirty="0"/>
            </a:br>
            <a:br>
              <a:rPr lang="tr-TR" sz="1600" dirty="0"/>
            </a:br>
            <a:r>
              <a:rPr lang="tr-TR" sz="1600" b="1" dirty="0"/>
              <a:t>Üye (</a:t>
            </a:r>
            <a:r>
              <a:rPr lang="tr-TR" sz="1600" b="1" dirty="0" err="1"/>
              <a:t>private</a:t>
            </a:r>
            <a:r>
              <a:rPr lang="tr-TR" sz="1600" b="1" dirty="0"/>
              <a:t>):</a:t>
            </a:r>
            <a:br>
              <a:rPr lang="tr-TR" sz="1600" b="1" dirty="0"/>
            </a:br>
            <a:r>
              <a:rPr lang="tr-TR" sz="1600" dirty="0"/>
              <a:t>- </a:t>
            </a:r>
            <a:r>
              <a:rPr lang="tr-TR" sz="1600" dirty="0" err="1"/>
              <a:t>int</a:t>
            </a:r>
            <a:r>
              <a:rPr lang="tr-TR" sz="1600" dirty="0"/>
              <a:t> </a:t>
            </a:r>
            <a:r>
              <a:rPr lang="tr-TR" sz="1600" dirty="0" err="1"/>
              <a:t>pilSeviyesi</a:t>
            </a:r>
            <a:br>
              <a:rPr lang="tr-TR" sz="1600" dirty="0"/>
            </a:br>
            <a:br>
              <a:rPr lang="tr-TR" sz="1600" dirty="0"/>
            </a:br>
            <a:r>
              <a:rPr lang="tr-TR" sz="1600" b="1" dirty="0"/>
              <a:t>Fonksiyonlar (</a:t>
            </a:r>
            <a:r>
              <a:rPr lang="tr-TR" sz="1600" b="1" dirty="0" err="1"/>
              <a:t>public</a:t>
            </a:r>
            <a:r>
              <a:rPr lang="tr-TR" sz="1600" b="1" dirty="0"/>
              <a:t>):</a:t>
            </a:r>
            <a:br>
              <a:rPr lang="tr-TR" sz="1600" b="1" dirty="0"/>
            </a:br>
            <a:r>
              <a:rPr lang="tr-TR" sz="1600" dirty="0"/>
              <a:t>- </a:t>
            </a:r>
            <a:r>
              <a:rPr lang="tr-TR" sz="1600" dirty="0" err="1"/>
              <a:t>void</a:t>
            </a:r>
            <a:r>
              <a:rPr lang="tr-TR" sz="1600" dirty="0"/>
              <a:t> </a:t>
            </a:r>
            <a:r>
              <a:rPr lang="tr-TR" sz="1600" dirty="0" err="1"/>
              <a:t>pilAyarla</a:t>
            </a:r>
            <a:r>
              <a:rPr lang="tr-TR" sz="1600" dirty="0"/>
              <a:t>(</a:t>
            </a:r>
            <a:r>
              <a:rPr lang="tr-TR" sz="1600" dirty="0" err="1"/>
              <a:t>int</a:t>
            </a:r>
            <a:r>
              <a:rPr lang="tr-TR" sz="1600" dirty="0"/>
              <a:t> </a:t>
            </a:r>
            <a:r>
              <a:rPr lang="tr-TR" sz="1600" dirty="0" err="1"/>
              <a:t>deger</a:t>
            </a:r>
            <a:r>
              <a:rPr lang="tr-TR" sz="1600" dirty="0"/>
              <a:t>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pilSeviyesini</a:t>
            </a:r>
            <a:r>
              <a:rPr lang="tr-TR" sz="1600" dirty="0"/>
              <a:t> 0–100 aralığına sabitleyerek ayarlasın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void</a:t>
            </a:r>
            <a:r>
              <a:rPr lang="tr-TR" sz="1600" dirty="0"/>
              <a:t> </a:t>
            </a:r>
            <a:r>
              <a:rPr lang="tr-TR" sz="1600" dirty="0" err="1"/>
              <a:t>sarjEt</a:t>
            </a:r>
            <a:r>
              <a:rPr lang="tr-TR" sz="1600" dirty="0"/>
              <a:t>(</a:t>
            </a:r>
            <a:r>
              <a:rPr lang="tr-TR" sz="1600" dirty="0" err="1"/>
              <a:t>int</a:t>
            </a:r>
            <a:r>
              <a:rPr lang="tr-TR" sz="1600" dirty="0"/>
              <a:t> miktar)</a:t>
            </a:r>
            <a:br>
              <a:rPr lang="tr-TR" sz="1600" dirty="0"/>
            </a:br>
            <a:r>
              <a:rPr lang="tr-TR" sz="1600" dirty="0"/>
              <a:t>- miktar &lt;= 0 ise uyarı verip işlem yapmasın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pilSeviyesi</a:t>
            </a:r>
            <a:r>
              <a:rPr lang="tr-TR" sz="1600" dirty="0"/>
              <a:t> += miktar (sonra 0–100 aralığına sabitle)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void</a:t>
            </a:r>
            <a:r>
              <a:rPr lang="tr-TR" sz="1600" dirty="0"/>
              <a:t> kullan(</a:t>
            </a:r>
            <a:r>
              <a:rPr lang="tr-TR" sz="1600" dirty="0" err="1"/>
              <a:t>int</a:t>
            </a:r>
            <a:r>
              <a:rPr lang="tr-TR" sz="1600" dirty="0"/>
              <a:t> miktar)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pilSeviyesi</a:t>
            </a:r>
            <a:r>
              <a:rPr lang="tr-TR" sz="1600" dirty="0"/>
              <a:t> == 0 ise "Pil bitti, </a:t>
            </a:r>
            <a:r>
              <a:rPr lang="tr-TR" sz="1600" dirty="0" err="1"/>
              <a:t>kullanamazsiniz</a:t>
            </a:r>
            <a:r>
              <a:rPr lang="tr-TR" sz="1600" dirty="0"/>
              <a:t>!" uyarısı verip işlem yapmasın</a:t>
            </a:r>
            <a:br>
              <a:rPr lang="tr-TR" sz="1600" dirty="0"/>
            </a:br>
            <a:r>
              <a:rPr lang="tr-TR" sz="1600" dirty="0"/>
              <a:t>- miktar &lt;= 0 ise uyarı verip işlem yapmasın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pilSeviyesi</a:t>
            </a:r>
            <a:r>
              <a:rPr lang="tr-TR" sz="1600" dirty="0"/>
              <a:t> -= miktar (sonra 0–100 aralığına sabitle)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void</a:t>
            </a:r>
            <a:r>
              <a:rPr lang="tr-TR" sz="1600" dirty="0"/>
              <a:t> </a:t>
            </a:r>
            <a:r>
              <a:rPr lang="tr-TR" sz="1600" dirty="0" err="1"/>
              <a:t>durumYazdir</a:t>
            </a:r>
            <a:r>
              <a:rPr lang="tr-TR" sz="1600" dirty="0"/>
              <a:t>()</a:t>
            </a:r>
            <a:br>
              <a:rPr lang="tr-TR" sz="1600" dirty="0"/>
            </a:br>
            <a:r>
              <a:rPr lang="tr-TR" sz="1600" dirty="0"/>
              <a:t>- pil yüzdesini yazdır</a:t>
            </a:r>
            <a:br>
              <a:rPr lang="tr-TR" sz="1600" dirty="0"/>
            </a:br>
            <a:br>
              <a:rPr lang="tr-TR" sz="1600" dirty="0"/>
            </a:br>
            <a:endParaRPr sz="1600" b="1" i="0" u="sng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532B2DE4-00AB-0D98-E536-45096F98D6D5}"/>
              </a:ext>
            </a:extLst>
          </p:cNvPr>
          <p:cNvSpPr txBox="1"/>
          <p:nvPr/>
        </p:nvSpPr>
        <p:spPr>
          <a:xfrm>
            <a:off x="5747004" y="469342"/>
            <a:ext cx="60990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b="1" dirty="0"/>
              <a:t>Başlangıç: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pilSeviyesi</a:t>
            </a:r>
            <a:r>
              <a:rPr lang="tr-TR" sz="1600" dirty="0"/>
              <a:t> başlangıçta 0 olmalı</a:t>
            </a:r>
            <a:br>
              <a:rPr lang="tr-TR" sz="1600" dirty="0"/>
            </a:br>
            <a:br>
              <a:rPr lang="tr-TR" sz="1600" dirty="0"/>
            </a:br>
            <a:r>
              <a:rPr lang="tr-TR" sz="1600" b="1" dirty="0"/>
              <a:t>Program Senaryosu:</a:t>
            </a:r>
            <a:br>
              <a:rPr lang="tr-TR" sz="1600" b="1" dirty="0"/>
            </a:br>
            <a:r>
              <a:rPr lang="tr-TR" sz="1600" dirty="0"/>
              <a:t>- </a:t>
            </a:r>
            <a:r>
              <a:rPr lang="tr-TR" sz="1600" dirty="0" err="1"/>
              <a:t>durumYazdir</a:t>
            </a:r>
            <a:r>
              <a:rPr lang="tr-TR" sz="1600" dirty="0"/>
              <a:t>() -&gt; %0</a:t>
            </a:r>
            <a:br>
              <a:rPr lang="tr-TR" sz="1600" dirty="0"/>
            </a:br>
            <a:r>
              <a:rPr lang="tr-TR" sz="1600" dirty="0"/>
              <a:t>- kullan(10) -&gt; uyarı vermeli (0 iken kullanamaz)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sarjEt</a:t>
            </a:r>
            <a:r>
              <a:rPr lang="tr-TR" sz="1600" dirty="0"/>
              <a:t>(30) -&gt; %30</a:t>
            </a:r>
            <a:br>
              <a:rPr lang="tr-TR" sz="1600" dirty="0"/>
            </a:br>
            <a:r>
              <a:rPr lang="tr-TR" sz="1600" dirty="0"/>
              <a:t>- kullan(90) -&gt; %0'a düşmeli (altına inemez)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durumYazdir</a:t>
            </a:r>
            <a:r>
              <a:rPr lang="tr-TR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30648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39CE8B7-CFC7-6C09-5BC1-9EF22602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44ADE2DE-D2F8-AC56-F98E-603313190E18}"/>
              </a:ext>
            </a:extLst>
          </p:cNvPr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292608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tr-TR" sz="1600" b="1" i="0" u="none" strike="noStrike" cap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ÇÖZÜM -2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55B711F-F315-0E8B-3F08-03820A741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727"/>
            <a:ext cx="4427621" cy="5978033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9E04C701-E47E-D87C-46E9-3F7586C3E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851" y="1813667"/>
            <a:ext cx="3646036" cy="323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8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2B9791-4BF1-D281-5E35-57A55B709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40463B97-F0BF-986D-AE91-26E55AD0DF24}"/>
              </a:ext>
            </a:extLst>
          </p:cNvPr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292608" lvl="1">
              <a:lnSpc>
                <a:spcPct val="90000"/>
              </a:lnSpc>
              <a:buClr>
                <a:schemeClr val="accent1"/>
              </a:buClr>
              <a:buSzPts val="1600"/>
            </a:pPr>
            <a:r>
              <a:rPr lang="tr-TR" sz="1600" b="1" i="0" u="none" strike="noStrike" cap="none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 -3</a:t>
            </a:r>
            <a:endParaRPr sz="1600" b="1" dirty="0">
              <a:solidFill>
                <a:srgbClr val="444444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6342505-6B31-396A-246F-AC4B2E4279E4}"/>
              </a:ext>
            </a:extLst>
          </p:cNvPr>
          <p:cNvSpPr txBox="1"/>
          <p:nvPr/>
        </p:nvSpPr>
        <p:spPr>
          <a:xfrm>
            <a:off x="-8389" y="360727"/>
            <a:ext cx="5138173" cy="5872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 fontScale="85000" lnSpcReduction="20000"/>
          </a:bodyPr>
          <a:lstStyle/>
          <a:p>
            <a:pPr marL="201168" lvl="1">
              <a:lnSpc>
                <a:spcPct val="125000"/>
              </a:lnSpc>
              <a:buClr>
                <a:schemeClr val="accent1"/>
              </a:buClr>
              <a:buSzPts val="1600"/>
            </a:pPr>
            <a:r>
              <a:rPr lang="tr-TR" sz="1600" b="1" dirty="0"/>
              <a:t>Görev:</a:t>
            </a:r>
            <a:br>
              <a:rPr lang="tr-TR" sz="1600" dirty="0"/>
            </a:br>
            <a:r>
              <a:rPr lang="tr-TR" sz="1600" dirty="0" err="1"/>
              <a:t>DijitalCuzdan</a:t>
            </a:r>
            <a:r>
              <a:rPr lang="tr-TR" sz="1600" dirty="0"/>
              <a:t> adında bir sınıf yazın. (</a:t>
            </a:r>
            <a:r>
              <a:rPr lang="tr-TR" sz="1600" dirty="0" err="1"/>
              <a:t>Constructor</a:t>
            </a:r>
            <a:r>
              <a:rPr lang="tr-TR" sz="1600" dirty="0"/>
              <a:t> KULLANMAYIN)</a:t>
            </a:r>
            <a:br>
              <a:rPr lang="tr-TR" sz="1600" dirty="0"/>
            </a:br>
            <a:br>
              <a:rPr lang="tr-TR" sz="1600" dirty="0"/>
            </a:br>
            <a:r>
              <a:rPr lang="tr-TR" sz="1600" b="1" dirty="0"/>
              <a:t>Üye (</a:t>
            </a:r>
            <a:r>
              <a:rPr lang="tr-TR" sz="1600" b="1" dirty="0" err="1"/>
              <a:t>private</a:t>
            </a:r>
            <a:r>
              <a:rPr lang="tr-TR" sz="1600" b="1" dirty="0"/>
              <a:t>):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double</a:t>
            </a:r>
            <a:r>
              <a:rPr lang="tr-TR" sz="1600" dirty="0"/>
              <a:t> bakiye</a:t>
            </a:r>
            <a:br>
              <a:rPr lang="tr-TR" sz="1600" dirty="0"/>
            </a:br>
            <a:br>
              <a:rPr lang="tr-TR" sz="1600" dirty="0"/>
            </a:br>
            <a:r>
              <a:rPr lang="tr-TR" sz="1600" b="1" dirty="0"/>
              <a:t>Fonksiyonlar (</a:t>
            </a:r>
            <a:r>
              <a:rPr lang="tr-TR" sz="1600" b="1" dirty="0" err="1"/>
              <a:t>public</a:t>
            </a:r>
            <a:r>
              <a:rPr lang="tr-TR" sz="1600" b="1" dirty="0"/>
              <a:t>):</a:t>
            </a:r>
            <a:br>
              <a:rPr lang="tr-TR" sz="1600" b="1" dirty="0"/>
            </a:br>
            <a:r>
              <a:rPr lang="tr-TR" sz="1600" dirty="0"/>
              <a:t>- </a:t>
            </a:r>
            <a:r>
              <a:rPr lang="tr-TR" sz="1600" dirty="0" err="1"/>
              <a:t>void</a:t>
            </a:r>
            <a:r>
              <a:rPr lang="tr-TR" sz="1600" dirty="0"/>
              <a:t> </a:t>
            </a:r>
            <a:r>
              <a:rPr lang="tr-TR" sz="1600" dirty="0" err="1"/>
              <a:t>baslat</a:t>
            </a:r>
            <a:r>
              <a:rPr lang="tr-TR" sz="1600" dirty="0"/>
              <a:t>(</a:t>
            </a:r>
            <a:r>
              <a:rPr lang="tr-TR" sz="1600" dirty="0" err="1"/>
              <a:t>double</a:t>
            </a:r>
            <a:r>
              <a:rPr lang="tr-TR" sz="1600" dirty="0"/>
              <a:t> </a:t>
            </a:r>
            <a:r>
              <a:rPr lang="tr-TR" sz="1600" dirty="0" err="1"/>
              <a:t>ilkBakiye</a:t>
            </a:r>
            <a:r>
              <a:rPr lang="tr-TR" sz="1600" dirty="0"/>
              <a:t>)</a:t>
            </a:r>
            <a:br>
              <a:rPr lang="tr-TR" sz="1600" dirty="0"/>
            </a:br>
            <a:r>
              <a:rPr lang="tr-TR" sz="1600" dirty="0"/>
              <a:t>- bakiye = </a:t>
            </a:r>
            <a:r>
              <a:rPr lang="tr-TR" sz="1600" dirty="0" err="1"/>
              <a:t>ilkBakiye</a:t>
            </a:r>
            <a:r>
              <a:rPr lang="tr-TR" sz="1600" dirty="0"/>
              <a:t> olacak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ilkBakiye</a:t>
            </a:r>
            <a:r>
              <a:rPr lang="tr-TR" sz="1600" dirty="0"/>
              <a:t> &lt; 0 ise bakiye 0 yapılacak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void</a:t>
            </a:r>
            <a:r>
              <a:rPr lang="tr-TR" sz="1600" dirty="0"/>
              <a:t> </a:t>
            </a:r>
            <a:r>
              <a:rPr lang="tr-TR" sz="1600" dirty="0" err="1"/>
              <a:t>paraYatir</a:t>
            </a:r>
            <a:r>
              <a:rPr lang="tr-TR" sz="1600" dirty="0"/>
              <a:t>(</a:t>
            </a:r>
            <a:r>
              <a:rPr lang="tr-TR" sz="1600" dirty="0" err="1"/>
              <a:t>double</a:t>
            </a:r>
            <a:r>
              <a:rPr lang="tr-TR" sz="1600" dirty="0"/>
              <a:t> miktar)</a:t>
            </a:r>
            <a:br>
              <a:rPr lang="tr-TR" sz="1600" dirty="0"/>
            </a:br>
            <a:r>
              <a:rPr lang="tr-TR" sz="1600" dirty="0"/>
              <a:t>- miktar &lt;= 0 ise uyarı verip işlem yapmasın</a:t>
            </a:r>
            <a:br>
              <a:rPr lang="tr-TR" sz="1600" dirty="0"/>
            </a:br>
            <a:r>
              <a:rPr lang="tr-TR" sz="1600" dirty="0"/>
              <a:t>- bakiye += miktar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void</a:t>
            </a:r>
            <a:r>
              <a:rPr lang="tr-TR" sz="1600" dirty="0"/>
              <a:t> </a:t>
            </a:r>
            <a:r>
              <a:rPr lang="tr-TR" sz="1600" dirty="0" err="1"/>
              <a:t>paraCek</a:t>
            </a:r>
            <a:r>
              <a:rPr lang="tr-TR" sz="1600" dirty="0"/>
              <a:t>(</a:t>
            </a:r>
            <a:r>
              <a:rPr lang="tr-TR" sz="1600" dirty="0" err="1"/>
              <a:t>double</a:t>
            </a:r>
            <a:r>
              <a:rPr lang="tr-TR" sz="1600" dirty="0"/>
              <a:t> miktar)</a:t>
            </a:r>
            <a:br>
              <a:rPr lang="tr-TR" sz="1600" dirty="0"/>
            </a:br>
            <a:r>
              <a:rPr lang="tr-TR" sz="1600" dirty="0"/>
              <a:t>- bakiye == 0 ise "Bakiye 0, para </a:t>
            </a:r>
            <a:r>
              <a:rPr lang="tr-TR" sz="1600" dirty="0" err="1"/>
              <a:t>cekemezsiniz</a:t>
            </a:r>
            <a:r>
              <a:rPr lang="tr-TR" sz="1600" dirty="0"/>
              <a:t>!" uyarısı verip işlem yapmasın</a:t>
            </a:r>
            <a:br>
              <a:rPr lang="tr-TR" sz="1600" dirty="0"/>
            </a:br>
            <a:r>
              <a:rPr lang="tr-TR" sz="1600" dirty="0"/>
              <a:t>- miktar &lt;= 0 ise uyarı verip işlem yapmasın</a:t>
            </a:r>
            <a:br>
              <a:rPr lang="tr-TR" sz="1600" dirty="0"/>
            </a:br>
            <a:r>
              <a:rPr lang="tr-TR" sz="1600" dirty="0"/>
              <a:t>- miktar &gt; bakiye ise "Yetersiz bakiye!" uyarısı verip işlem yapmasın</a:t>
            </a:r>
            <a:br>
              <a:rPr lang="tr-TR" sz="1600" dirty="0"/>
            </a:br>
            <a:r>
              <a:rPr lang="tr-TR" sz="1600" dirty="0"/>
              <a:t>- aksi halde bakiye -= miktar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void</a:t>
            </a:r>
            <a:r>
              <a:rPr lang="tr-TR" sz="1600" dirty="0"/>
              <a:t> </a:t>
            </a:r>
            <a:r>
              <a:rPr lang="tr-TR" sz="1600" dirty="0" err="1"/>
              <a:t>bakiyeYazdir</a:t>
            </a:r>
            <a:r>
              <a:rPr lang="tr-TR" sz="1600" dirty="0"/>
              <a:t>()</a:t>
            </a:r>
            <a:br>
              <a:rPr lang="tr-TR" sz="1600" dirty="0"/>
            </a:br>
            <a:r>
              <a:rPr lang="tr-TR" sz="1600" dirty="0"/>
              <a:t>- mevcut bakiyeyi yazdır</a:t>
            </a:r>
            <a:br>
              <a:rPr lang="tr-TR" sz="1600" dirty="0"/>
            </a:br>
            <a:br>
              <a:rPr lang="tr-TR" sz="1600" dirty="0"/>
            </a:br>
            <a:endParaRPr sz="1600" b="1" i="0" u="sng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1C942D4C-F6CB-4146-1C40-7624F2897B8C}"/>
              </a:ext>
            </a:extLst>
          </p:cNvPr>
          <p:cNvSpPr txBox="1"/>
          <p:nvPr/>
        </p:nvSpPr>
        <p:spPr>
          <a:xfrm>
            <a:off x="5198364" y="360727"/>
            <a:ext cx="60990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b="1" dirty="0"/>
              <a:t>Program Senaryosu: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baslat</a:t>
            </a:r>
            <a:r>
              <a:rPr lang="tr-TR" sz="1600" dirty="0"/>
              <a:t>(100)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paraCek</a:t>
            </a:r>
            <a:r>
              <a:rPr lang="tr-TR" sz="1600" dirty="0"/>
              <a:t>(150) -&gt; uyarı (yetersiz)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paraYatir</a:t>
            </a:r>
            <a:r>
              <a:rPr lang="tr-TR" sz="1600" dirty="0"/>
              <a:t>(50)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paraCek</a:t>
            </a:r>
            <a:r>
              <a:rPr lang="tr-TR" sz="1600" dirty="0"/>
              <a:t>(30)</a:t>
            </a:r>
            <a:br>
              <a:rPr lang="tr-TR" sz="1600" dirty="0"/>
            </a:br>
            <a:r>
              <a:rPr lang="tr-TR" sz="1600" dirty="0"/>
              <a:t>- </a:t>
            </a:r>
            <a:r>
              <a:rPr lang="tr-TR" sz="1600" dirty="0" err="1"/>
              <a:t>bakiyeYazdir</a:t>
            </a:r>
            <a:r>
              <a:rPr lang="tr-TR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87816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B06E77B-2D50-7FB3-314B-F1DC92D6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5A5BA9F4-0551-6026-D6B8-FC4167260CCC}"/>
              </a:ext>
            </a:extLst>
          </p:cNvPr>
          <p:cNvSpPr txBox="1"/>
          <p:nvPr/>
        </p:nvSpPr>
        <p:spPr>
          <a:xfrm>
            <a:off x="0" y="0"/>
            <a:ext cx="12099721" cy="36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/>
          <a:p>
            <a:pPr marL="292608" lvl="1">
              <a:lnSpc>
                <a:spcPct val="90000"/>
              </a:lnSpc>
              <a:buClr>
                <a:schemeClr val="accent1"/>
              </a:buClr>
              <a:buSzPts val="1600"/>
            </a:pPr>
            <a:r>
              <a:rPr lang="tr-TR" sz="1600" b="1" dirty="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ÇÖZÜM -3 </a:t>
            </a:r>
            <a:endParaRPr lang="tr-TR" sz="1600" b="1" dirty="0">
              <a:solidFill>
                <a:srgbClr val="444444"/>
              </a:solid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EBB3B04-ACBB-5627-4CAF-4E3378EB5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00" y="2412007"/>
            <a:ext cx="2076740" cy="1467055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B7EF3F23-28FF-8077-E28F-3CBB77545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540" y="0"/>
            <a:ext cx="4470519" cy="6291072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3C782CC-DBEF-1DFC-780B-711D95064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34" y="1854718"/>
            <a:ext cx="3448531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62399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562</Words>
  <Application>Microsoft Office PowerPoint</Application>
  <PresentationFormat>Geniş ekran</PresentationFormat>
  <Paragraphs>23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2" baseType="lpstr">
      <vt:lpstr>Arial</vt:lpstr>
      <vt:lpstr>Calibri</vt:lpstr>
      <vt:lpstr>Noto Sans Symbols</vt:lpstr>
      <vt:lpstr>Times New Roman</vt:lpstr>
      <vt:lpstr>Geçmişe bakış</vt:lpstr>
      <vt:lpstr>BİL102-ALGORİTMA ve PROGRAMLAMA II LAB UYGULAMASI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FUNDA KUTLU ONAY</dc:creator>
  <cp:lastModifiedBy>Deniz Turan</cp:lastModifiedBy>
  <cp:revision>3</cp:revision>
  <dcterms:created xsi:type="dcterms:W3CDTF">2021-02-24T12:37:41Z</dcterms:created>
  <dcterms:modified xsi:type="dcterms:W3CDTF">2026-03-05T08:32:10Z</dcterms:modified>
</cp:coreProperties>
</file>