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kPOE2so7nNPqSpYFp6IndnKla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aşlık Slaydı" type="title">
  <p:cSld name="TITLE">
    <p:spTree>
      <p:nvGrpSpPr>
        <p:cNvPr id="1" name="Shape 14"/>
        <p:cNvGrpSpPr/>
        <p:nvPr/>
      </p:nvGrpSpPr>
      <p:grpSpPr>
        <a:xfrm>
          <a:off x="0" y="0"/>
          <a:ext cx="0" cy="0"/>
          <a:chOff x="0" y="0"/>
          <a:chExt cx="0" cy="0"/>
        </a:xfrm>
      </p:grpSpPr>
      <p:sp>
        <p:nvSpPr>
          <p:cNvPr id="15" name="Google Shape;15;p27"/>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7"/>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7"/>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2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cxnSp>
        <p:nvCxnSpPr>
          <p:cNvPr id="22" name="Google Shape;22;p27"/>
          <p:cNvCxnSpPr/>
          <p:nvPr/>
        </p:nvCxnSpPr>
        <p:spPr>
          <a:xfrm>
            <a:off x="1207658" y="4343400"/>
            <a:ext cx="9875520" cy="0"/>
          </a:xfrm>
          <a:prstGeom prst="straightConnector1">
            <a:avLst/>
          </a:prstGeom>
          <a:noFill/>
          <a:ln w="9525" cap="flat" cmpd="sng">
            <a:solidFill>
              <a:srgbClr val="959595"/>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oş" type="blank">
  <p:cSld name="BLANK">
    <p:spTree>
      <p:nvGrpSpPr>
        <p:cNvPr id="1" name="Shape 23"/>
        <p:cNvGrpSpPr/>
        <p:nvPr/>
      </p:nvGrpSpPr>
      <p:grpSpPr>
        <a:xfrm>
          <a:off x="0" y="0"/>
          <a:ext cx="0" cy="0"/>
          <a:chOff x="0" y="0"/>
          <a:chExt cx="0" cy="0"/>
        </a:xfrm>
      </p:grpSpPr>
      <p:sp>
        <p:nvSpPr>
          <p:cNvPr id="24" name="Google Shape;24;p28"/>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9"/>
        <p:cNvGrpSpPr/>
        <p:nvPr/>
      </p:nvGrpSpPr>
      <p:grpSpPr>
        <a:xfrm>
          <a:off x="0" y="0"/>
          <a:ext cx="0" cy="0"/>
          <a:chOff x="0" y="0"/>
          <a:chExt cx="0" cy="0"/>
        </a:xfrm>
      </p:grpSpPr>
      <p:sp>
        <p:nvSpPr>
          <p:cNvPr id="30" name="Google Shape;30;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2" name="Google Shape;32;p2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ölüm Üst Bilgisi" type="secHead">
  <p:cSld name="SECTION_HEADER">
    <p:spTree>
      <p:nvGrpSpPr>
        <p:cNvPr id="1" name="Shape 35"/>
        <p:cNvGrpSpPr/>
        <p:nvPr/>
      </p:nvGrpSpPr>
      <p:grpSpPr>
        <a:xfrm>
          <a:off x="0" y="0"/>
          <a:ext cx="0" cy="0"/>
          <a:chOff x="0" y="0"/>
          <a:chExt cx="0" cy="0"/>
        </a:xfrm>
      </p:grpSpPr>
      <p:sp>
        <p:nvSpPr>
          <p:cNvPr id="36" name="Google Shape;36;p30"/>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0"/>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4C4C4C"/>
              </a:buClr>
              <a:buSzPts val="8000"/>
              <a:buFont typeface="Calibri"/>
              <a:buNone/>
              <a:defRPr sz="8000" b="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C8C8C"/>
                </a:solidFill>
              </a:defRPr>
            </a:lvl2pPr>
            <a:lvl3pPr marL="1371600" lvl="2" indent="-228600" algn="l">
              <a:lnSpc>
                <a:spcPct val="90000"/>
              </a:lnSpc>
              <a:spcBef>
                <a:spcPts val="400"/>
              </a:spcBef>
              <a:spcAft>
                <a:spcPts val="0"/>
              </a:spcAft>
              <a:buSzPts val="1600"/>
              <a:buNone/>
              <a:defRPr sz="1600">
                <a:solidFill>
                  <a:srgbClr val="8C8C8C"/>
                </a:solidFill>
              </a:defRPr>
            </a:lvl3pPr>
            <a:lvl4pPr marL="1828800" lvl="3" indent="-228600" algn="l">
              <a:lnSpc>
                <a:spcPct val="90000"/>
              </a:lnSpc>
              <a:spcBef>
                <a:spcPts val="400"/>
              </a:spcBef>
              <a:spcAft>
                <a:spcPts val="0"/>
              </a:spcAft>
              <a:buSzPts val="1400"/>
              <a:buNone/>
              <a:defRPr sz="1400">
                <a:solidFill>
                  <a:srgbClr val="8C8C8C"/>
                </a:solidFill>
              </a:defRPr>
            </a:lvl4pPr>
            <a:lvl5pPr marL="2286000" lvl="4" indent="-228600" algn="l">
              <a:lnSpc>
                <a:spcPct val="90000"/>
              </a:lnSpc>
              <a:spcBef>
                <a:spcPts val="400"/>
              </a:spcBef>
              <a:spcAft>
                <a:spcPts val="0"/>
              </a:spcAft>
              <a:buSzPts val="1400"/>
              <a:buNone/>
              <a:defRPr sz="1400">
                <a:solidFill>
                  <a:srgbClr val="8C8C8C"/>
                </a:solidFill>
              </a:defRPr>
            </a:lvl5pPr>
            <a:lvl6pPr marL="2743200" lvl="5" indent="-228600" algn="l">
              <a:lnSpc>
                <a:spcPct val="90000"/>
              </a:lnSpc>
              <a:spcBef>
                <a:spcPts val="400"/>
              </a:spcBef>
              <a:spcAft>
                <a:spcPts val="0"/>
              </a:spcAft>
              <a:buSzPts val="1400"/>
              <a:buNone/>
              <a:defRPr sz="1400">
                <a:solidFill>
                  <a:srgbClr val="8C8C8C"/>
                </a:solidFill>
              </a:defRPr>
            </a:lvl6pPr>
            <a:lvl7pPr marL="3200400" lvl="6" indent="-228600" algn="l">
              <a:lnSpc>
                <a:spcPct val="90000"/>
              </a:lnSpc>
              <a:spcBef>
                <a:spcPts val="400"/>
              </a:spcBef>
              <a:spcAft>
                <a:spcPts val="0"/>
              </a:spcAft>
              <a:buSzPts val="1400"/>
              <a:buNone/>
              <a:defRPr sz="1400">
                <a:solidFill>
                  <a:srgbClr val="8C8C8C"/>
                </a:solidFill>
              </a:defRPr>
            </a:lvl7pPr>
            <a:lvl8pPr marL="3657600" lvl="7" indent="-228600" algn="l">
              <a:lnSpc>
                <a:spcPct val="90000"/>
              </a:lnSpc>
              <a:spcBef>
                <a:spcPts val="400"/>
              </a:spcBef>
              <a:spcAft>
                <a:spcPts val="0"/>
              </a:spcAft>
              <a:buSzPts val="1400"/>
              <a:buNone/>
              <a:defRPr sz="1400">
                <a:solidFill>
                  <a:srgbClr val="8C8C8C"/>
                </a:solidFill>
              </a:defRPr>
            </a:lvl8pPr>
            <a:lvl9pPr marL="4114800" lvl="8" indent="-228600" algn="l">
              <a:lnSpc>
                <a:spcPct val="90000"/>
              </a:lnSpc>
              <a:spcBef>
                <a:spcPts val="400"/>
              </a:spcBef>
              <a:spcAft>
                <a:spcPts val="400"/>
              </a:spcAft>
              <a:buSzPts val="1400"/>
              <a:buNone/>
              <a:defRPr sz="1400">
                <a:solidFill>
                  <a:srgbClr val="8C8C8C"/>
                </a:solidFill>
              </a:defRPr>
            </a:lvl9pPr>
          </a:lstStyle>
          <a:p>
            <a:endParaRPr/>
          </a:p>
        </p:txBody>
      </p:sp>
      <p:sp>
        <p:nvSpPr>
          <p:cNvPr id="40" name="Google Shape;40;p3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cxnSp>
        <p:nvCxnSpPr>
          <p:cNvPr id="43" name="Google Shape;43;p30"/>
          <p:cNvCxnSpPr/>
          <p:nvPr/>
        </p:nvCxnSpPr>
        <p:spPr>
          <a:xfrm>
            <a:off x="1207658" y="4343400"/>
            <a:ext cx="9875520" cy="0"/>
          </a:xfrm>
          <a:prstGeom prst="straightConnector1">
            <a:avLst/>
          </a:prstGeom>
          <a:noFill/>
          <a:ln w="9525" cap="flat" cmpd="sng">
            <a:solidFill>
              <a:srgbClr val="959595"/>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7" name="Google Shape;47;p31"/>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3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51"/>
        <p:cNvGrpSpPr/>
        <p:nvPr/>
      </p:nvGrpSpPr>
      <p:grpSpPr>
        <a:xfrm>
          <a:off x="0" y="0"/>
          <a:ext cx="0" cy="0"/>
          <a:chOff x="0" y="0"/>
          <a:chExt cx="0" cy="0"/>
        </a:xfrm>
      </p:grpSpPr>
      <p:sp>
        <p:nvSpPr>
          <p:cNvPr id="52" name="Google Shape;52;p3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2"/>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lt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32"/>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32"/>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lt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6" name="Google Shape;56;p32"/>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3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60"/>
        <p:cNvGrpSpPr/>
        <p:nvPr/>
      </p:nvGrpSpPr>
      <p:grpSpPr>
        <a:xfrm>
          <a:off x="0" y="0"/>
          <a:ext cx="0" cy="0"/>
          <a:chOff x="0" y="0"/>
          <a:chExt cx="0" cy="0"/>
        </a:xfrm>
      </p:grpSpPr>
      <p:sp>
        <p:nvSpPr>
          <p:cNvPr id="61" name="Google Shape;61;p3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3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aşlıklı İçerik" type="objTx">
  <p:cSld name="OBJECT_WITH_CAPTION_TEXT">
    <p:spTree>
      <p:nvGrpSpPr>
        <p:cNvPr id="1" name="Shape 65"/>
        <p:cNvGrpSpPr/>
        <p:nvPr/>
      </p:nvGrpSpPr>
      <p:grpSpPr>
        <a:xfrm>
          <a:off x="0" y="0"/>
          <a:ext cx="0" cy="0"/>
          <a:chOff x="0" y="0"/>
          <a:chExt cx="0" cy="0"/>
        </a:xfrm>
      </p:grpSpPr>
      <p:sp>
        <p:nvSpPr>
          <p:cNvPr id="66" name="Google Shape;66;p34"/>
          <p:cNvSpPr/>
          <p:nvPr/>
        </p:nvSpPr>
        <p:spPr>
          <a:xfrm>
            <a:off x="16" y="0"/>
            <a:ext cx="4050791" cy="68580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4"/>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4"/>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4"/>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34"/>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34"/>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lt2"/>
                </a:solidFill>
                <a:latin typeface="Calibri"/>
                <a:ea typeface="Calibri"/>
                <a:cs typeface="Calibri"/>
                <a:sym typeface="Calibri"/>
              </a:defRPr>
            </a:lvl1pPr>
            <a:lvl2pPr marL="0" lvl="1" indent="0" algn="r">
              <a:spcBef>
                <a:spcPts val="0"/>
              </a:spcBef>
              <a:buNone/>
              <a:defRPr sz="1050">
                <a:solidFill>
                  <a:schemeClr val="lt2"/>
                </a:solidFill>
                <a:latin typeface="Calibri"/>
                <a:ea typeface="Calibri"/>
                <a:cs typeface="Calibri"/>
                <a:sym typeface="Calibri"/>
              </a:defRPr>
            </a:lvl2pPr>
            <a:lvl3pPr marL="0" lvl="2" indent="0" algn="r">
              <a:spcBef>
                <a:spcPts val="0"/>
              </a:spcBef>
              <a:buNone/>
              <a:defRPr sz="1050">
                <a:solidFill>
                  <a:schemeClr val="lt2"/>
                </a:solidFill>
                <a:latin typeface="Calibri"/>
                <a:ea typeface="Calibri"/>
                <a:cs typeface="Calibri"/>
                <a:sym typeface="Calibri"/>
              </a:defRPr>
            </a:lvl3pPr>
            <a:lvl4pPr marL="0" lvl="3" indent="0" algn="r">
              <a:spcBef>
                <a:spcPts val="0"/>
              </a:spcBef>
              <a:buNone/>
              <a:defRPr sz="1050">
                <a:solidFill>
                  <a:schemeClr val="lt2"/>
                </a:solidFill>
                <a:latin typeface="Calibri"/>
                <a:ea typeface="Calibri"/>
                <a:cs typeface="Calibri"/>
                <a:sym typeface="Calibri"/>
              </a:defRPr>
            </a:lvl4pPr>
            <a:lvl5pPr marL="0" lvl="4" indent="0" algn="r">
              <a:spcBef>
                <a:spcPts val="0"/>
              </a:spcBef>
              <a:buNone/>
              <a:defRPr sz="1050">
                <a:solidFill>
                  <a:schemeClr val="lt2"/>
                </a:solidFill>
                <a:latin typeface="Calibri"/>
                <a:ea typeface="Calibri"/>
                <a:cs typeface="Calibri"/>
                <a:sym typeface="Calibri"/>
              </a:defRPr>
            </a:lvl5pPr>
            <a:lvl6pPr marL="0" lvl="5" indent="0" algn="r">
              <a:spcBef>
                <a:spcPts val="0"/>
              </a:spcBef>
              <a:buNone/>
              <a:defRPr sz="1050">
                <a:solidFill>
                  <a:schemeClr val="lt2"/>
                </a:solidFill>
                <a:latin typeface="Calibri"/>
                <a:ea typeface="Calibri"/>
                <a:cs typeface="Calibri"/>
                <a:sym typeface="Calibri"/>
              </a:defRPr>
            </a:lvl6pPr>
            <a:lvl7pPr marL="0" lvl="6" indent="0" algn="r">
              <a:spcBef>
                <a:spcPts val="0"/>
              </a:spcBef>
              <a:buNone/>
              <a:defRPr sz="1050">
                <a:solidFill>
                  <a:schemeClr val="lt2"/>
                </a:solidFill>
                <a:latin typeface="Calibri"/>
                <a:ea typeface="Calibri"/>
                <a:cs typeface="Calibri"/>
                <a:sym typeface="Calibri"/>
              </a:defRPr>
            </a:lvl7pPr>
            <a:lvl8pPr marL="0" lvl="7" indent="0" algn="r">
              <a:spcBef>
                <a:spcPts val="0"/>
              </a:spcBef>
              <a:buNone/>
              <a:defRPr sz="1050">
                <a:solidFill>
                  <a:schemeClr val="lt2"/>
                </a:solidFill>
                <a:latin typeface="Calibri"/>
                <a:ea typeface="Calibri"/>
                <a:cs typeface="Calibri"/>
                <a:sym typeface="Calibri"/>
              </a:defRPr>
            </a:lvl8pPr>
            <a:lvl9pPr marL="0" lvl="8" indent="0" algn="r">
              <a:spcBef>
                <a:spcPts val="0"/>
              </a:spcBef>
              <a:buNone/>
              <a:defRPr sz="1050">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aşlıklı Resim" type="picTx">
  <p:cSld name="PICTURE_WITH_CAPTION_TEXT">
    <p:spTree>
      <p:nvGrpSpPr>
        <p:cNvPr id="1" name="Shape 74"/>
        <p:cNvGrpSpPr/>
        <p:nvPr/>
      </p:nvGrpSpPr>
      <p:grpSpPr>
        <a:xfrm>
          <a:off x="0" y="0"/>
          <a:ext cx="0" cy="0"/>
          <a:chOff x="0" y="0"/>
          <a:chExt cx="0" cy="0"/>
        </a:xfrm>
      </p:grpSpPr>
      <p:sp>
        <p:nvSpPr>
          <p:cNvPr id="75" name="Google Shape;75;p35"/>
          <p:cNvSpPr/>
          <p:nvPr/>
        </p:nvSpPr>
        <p:spPr>
          <a:xfrm>
            <a:off x="0" y="4953000"/>
            <a:ext cx="12188825" cy="19050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5"/>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5"/>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5"/>
          <p:cNvSpPr>
            <a:spLocks noGrp="1"/>
          </p:cNvSpPr>
          <p:nvPr>
            <p:ph type="pic" idx="2"/>
          </p:nvPr>
        </p:nvSpPr>
        <p:spPr>
          <a:xfrm>
            <a:off x="15" y="0"/>
            <a:ext cx="12191985" cy="4915076"/>
          </a:xfrm>
          <a:prstGeom prst="rect">
            <a:avLst/>
          </a:prstGeom>
          <a:solidFill>
            <a:srgbClr val="E5E5E5"/>
          </a:solidFill>
          <a:ln>
            <a:noFill/>
          </a:ln>
        </p:spPr>
      </p:sp>
      <p:sp>
        <p:nvSpPr>
          <p:cNvPr id="79" name="Google Shape;79;p35"/>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3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83"/>
        <p:cNvGrpSpPr/>
        <p:nvPr/>
      </p:nvGrpSpPr>
      <p:grpSpPr>
        <a:xfrm>
          <a:off x="0" y="0"/>
          <a:ext cx="0" cy="0"/>
          <a:chOff x="0" y="0"/>
          <a:chExt cx="0" cy="0"/>
        </a:xfrm>
      </p:grpSpPr>
      <p:sp>
        <p:nvSpPr>
          <p:cNvPr id="84" name="Google Shape;84;p3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36"/>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3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Dikey Başlık ve Metin" type="vertTitleAndTx">
  <p:cSld name="VERTICAL_TITLE_AND_VERTICAL_TEXT">
    <p:spTree>
      <p:nvGrpSpPr>
        <p:cNvPr id="1" name="Shape 89"/>
        <p:cNvGrpSpPr/>
        <p:nvPr/>
      </p:nvGrpSpPr>
      <p:grpSpPr>
        <a:xfrm>
          <a:off x="0" y="0"/>
          <a:ext cx="0" cy="0"/>
          <a:chOff x="0" y="0"/>
          <a:chExt cx="0" cy="0"/>
        </a:xfrm>
      </p:grpSpPr>
      <p:sp>
        <p:nvSpPr>
          <p:cNvPr id="90" name="Google Shape;90;p37"/>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7"/>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37"/>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3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26"/>
          <p:cNvSpPr/>
          <p:nvPr/>
        </p:nvSpPr>
        <p:spPr>
          <a:xfrm>
            <a:off x="1" y="6400800"/>
            <a:ext cx="12192000"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26"/>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606060"/>
              </a:buClr>
              <a:buSzPts val="4800"/>
              <a:buFont typeface="Calibri"/>
              <a:buNone/>
              <a:defRPr sz="4800" b="0" i="0" u="none" strike="noStrike" cap="non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2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606060"/>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606060"/>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9pPr>
          </a:lstStyle>
          <a:p>
            <a:endParaRPr/>
          </a:p>
        </p:txBody>
      </p:sp>
      <p:sp>
        <p:nvSpPr>
          <p:cNvPr id="10" name="Google Shape;10;p2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1" name="Google Shape;11;p2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2" name="Google Shape;12;p2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tr-TR"/>
              <a:t>‹#›</a:t>
            </a:fld>
            <a:endParaRPr/>
          </a:p>
        </p:txBody>
      </p:sp>
      <p:cxnSp>
        <p:nvCxnSpPr>
          <p:cNvPr id="13" name="Google Shape;13;p26"/>
          <p:cNvCxnSpPr/>
          <p:nvPr/>
        </p:nvCxnSpPr>
        <p:spPr>
          <a:xfrm>
            <a:off x="1193532" y="1737845"/>
            <a:ext cx="9966960" cy="0"/>
          </a:xfrm>
          <a:prstGeom prst="straightConnector1">
            <a:avLst/>
          </a:prstGeom>
          <a:noFill/>
          <a:ln w="9525" cap="flat" cmpd="sng">
            <a:solidFill>
              <a:srgbClr val="959595"/>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ctrTitle"/>
          </p:nvPr>
        </p:nvSpPr>
        <p:spPr>
          <a:xfrm>
            <a:off x="0" y="3162968"/>
            <a:ext cx="12192000" cy="82366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BİL102-ALGORİTMA ve PROGRAMLAMA II</a:t>
            </a:r>
            <a:endParaRPr/>
          </a:p>
        </p:txBody>
      </p:sp>
      <p:sp>
        <p:nvSpPr>
          <p:cNvPr id="102" name="Google Shape;102;p1"/>
          <p:cNvSpPr txBox="1">
            <a:spLocks noGrp="1"/>
          </p:cNvSpPr>
          <p:nvPr>
            <p:ph type="subTitle" idx="1"/>
          </p:nvPr>
        </p:nvSpPr>
        <p:spPr>
          <a:xfrm>
            <a:off x="1" y="2036685"/>
            <a:ext cx="12192000" cy="112628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FAKÜLTESİ </a:t>
            </a:r>
            <a:endParaRPr/>
          </a:p>
          <a:p>
            <a:pPr marL="0" lvl="0" indent="0" algn="ctr" rtl="0">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id="103" name="Google Shape;103;p1" descr="Amasya Üniversitesi Logo Vector (.AI) Free Download"/>
          <p:cNvPicPr preferRelativeResize="0"/>
          <p:nvPr/>
        </p:nvPicPr>
        <p:blipFill rotWithShape="1">
          <a:blip r:embed="rId3">
            <a:alphaModFix/>
          </a:blip>
          <a:srcRect/>
          <a:stretch/>
        </p:blipFill>
        <p:spPr>
          <a:xfrm>
            <a:off x="5199293" y="159026"/>
            <a:ext cx="1889990" cy="1656891"/>
          </a:xfrm>
          <a:prstGeom prst="rect">
            <a:avLst/>
          </a:prstGeom>
          <a:noFill/>
          <a:ln>
            <a:noFill/>
          </a:ln>
        </p:spPr>
      </p:pic>
      <p:sp>
        <p:nvSpPr>
          <p:cNvPr id="104" name="Google Shape;104;p1"/>
          <p:cNvSpPr txBox="1"/>
          <p:nvPr/>
        </p:nvSpPr>
        <p:spPr>
          <a:xfrm>
            <a:off x="48288" y="3986635"/>
            <a:ext cx="12192000" cy="1645539"/>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Clr>
                <a:schemeClr val="dk1"/>
              </a:buClr>
              <a:buSzPts val="2800"/>
              <a:buFont typeface="Times New Roman"/>
              <a:buNone/>
            </a:pPr>
            <a:r>
              <a:rPr lang="tr-TR" sz="2800" b="0" i="0" u="none" strike="noStrike" cap="none">
                <a:solidFill>
                  <a:schemeClr val="dk1"/>
                </a:solidFill>
                <a:latin typeface="Times New Roman"/>
                <a:ea typeface="Times New Roman"/>
                <a:cs typeface="Times New Roman"/>
                <a:sym typeface="Times New Roman"/>
              </a:rPr>
              <a:t>Hafta 8</a:t>
            </a:r>
            <a:endParaRPr/>
          </a:p>
          <a:p>
            <a:pPr marL="0" marR="0" lvl="0" indent="0" algn="ctr" rtl="0">
              <a:spcBef>
                <a:spcPts val="0"/>
              </a:spcBef>
              <a:spcAft>
                <a:spcPts val="0"/>
              </a:spcAft>
              <a:buClr>
                <a:schemeClr val="dk1"/>
              </a:buClr>
              <a:buSzPts val="2800"/>
              <a:buFont typeface="Times New Roman"/>
              <a:buNone/>
            </a:pPr>
            <a:r>
              <a:rPr lang="tr-TR" sz="2800" b="0" i="0" u="none" strike="noStrike" cap="none">
                <a:solidFill>
                  <a:schemeClr val="dk1"/>
                </a:solidFill>
                <a:latin typeface="Times New Roman"/>
                <a:ea typeface="Times New Roman"/>
                <a:cs typeface="Times New Roman"/>
                <a:sym typeface="Times New Roman"/>
              </a:rPr>
              <a:t>Fonksiyon ve Operatör Aşırı Yükleme</a:t>
            </a:r>
            <a:endParaRPr/>
          </a:p>
          <a:p>
            <a:pPr marL="0" marR="0" lvl="0" indent="0" algn="ctr" rtl="0">
              <a:spcBef>
                <a:spcPts val="0"/>
              </a:spcBef>
              <a:spcAft>
                <a:spcPts val="0"/>
              </a:spcAft>
              <a:buClr>
                <a:schemeClr val="dk1"/>
              </a:buClr>
              <a:buSzPts val="2800"/>
              <a:buFont typeface="Times New Roman"/>
              <a:buNone/>
            </a:pPr>
            <a:r>
              <a:rPr lang="tr-TR" sz="2800" b="0" i="0" u="none" strike="noStrike" cap="none">
                <a:solidFill>
                  <a:schemeClr val="dk1"/>
                </a:solidFill>
                <a:latin typeface="Times New Roman"/>
                <a:ea typeface="Times New Roman"/>
                <a:cs typeface="Times New Roman"/>
                <a:sym typeface="Times New Roman"/>
              </a:rPr>
              <a:t>(Function and Operator Overloading )</a:t>
            </a:r>
            <a:endParaRPr/>
          </a:p>
        </p:txBody>
      </p:sp>
      <p:sp>
        <p:nvSpPr>
          <p:cNvPr id="105" name="Google Shape;105;p1"/>
          <p:cNvSpPr txBox="1"/>
          <p:nvPr/>
        </p:nvSpPr>
        <p:spPr>
          <a:xfrm>
            <a:off x="48288" y="5804452"/>
            <a:ext cx="12191999" cy="520736"/>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2400"/>
              <a:buFont typeface="Noto Sans Symbols"/>
              <a:buNone/>
            </a:pPr>
            <a:r>
              <a:rPr lang="tr-TR" sz="2400" b="0" i="0" u="none" strike="noStrike" cap="none" dirty="0">
                <a:solidFill>
                  <a:schemeClr val="dk1"/>
                </a:solidFill>
                <a:latin typeface="Times New Roman"/>
                <a:ea typeface="Times New Roman"/>
                <a:cs typeface="Times New Roman"/>
                <a:sym typeface="Times New Roman"/>
              </a:rPr>
              <a:t>Doç. Dr. Funda KUTLU ONAY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Fonksiyon Aşırı Yükleme (Function Overloading)  </a:t>
            </a:r>
            <a:endParaRPr sz="2000" b="1" i="0" u="none" strike="noStrike" cap="none">
              <a:solidFill>
                <a:schemeClr val="lt1"/>
              </a:solidFill>
              <a:latin typeface="Times New Roman"/>
              <a:ea typeface="Times New Roman"/>
              <a:cs typeface="Times New Roman"/>
              <a:sym typeface="Times New Roman"/>
            </a:endParaRPr>
          </a:p>
        </p:txBody>
      </p:sp>
      <p:sp>
        <p:nvSpPr>
          <p:cNvPr id="111" name="Google Shape;111;p2"/>
          <p:cNvSpPr txBox="1"/>
          <p:nvPr/>
        </p:nvSpPr>
        <p:spPr>
          <a:xfrm>
            <a:off x="92279" y="624980"/>
            <a:ext cx="11807622" cy="5351750"/>
          </a:xfrm>
          <a:prstGeom prst="rect">
            <a:avLst/>
          </a:prstGeom>
          <a:noFill/>
          <a:ln>
            <a:noFill/>
          </a:ln>
        </p:spPr>
        <p:txBody>
          <a:bodyPr spcFirstLastPara="1" wrap="square" lIns="0" tIns="45700" rIns="0" bIns="45700" anchor="t" anchorCtr="0">
            <a:normAutofit lnSpcReduction="10000"/>
          </a:bodyPr>
          <a:lstStyle/>
          <a:p>
            <a:pPr marL="201168" marR="0" lvl="1" indent="0" algn="just" rtl="0">
              <a:lnSpc>
                <a:spcPct val="125000"/>
              </a:lnSpc>
              <a:spcBef>
                <a:spcPts val="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Fonksiyon aşırı yükleme, farklı parametrelere sahip oldukları için aynı isimde birden fazla fonksiyon oluşturmamıza izin veren bir C ++ özelliğidir. Aşağıdaki fonksiyonu ele alırsak;</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Bu basit fonksiyon, iki tamsayıyı toplayıp geri döndürür. Ancak, iki tane ondalıklı sayı eklememiz durumunda, parametreler tamsayıya dönüştürüleceğinden yanlış bir hesaplama yapılmış olur. Bunun için iki farklı fonksiyon yazılabilir. Örneğin,</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Ancak, bu yol programcı için de zahmetli ve hataya açık bir yoldur. Hangi fonksiyona ne isim verdiğini her zaman doğru olarak hatırlamak ve doğru fonksiyonu çağırmak gerekir. </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Fonksiyon aşırı yükleme bu sorunu ortadan kaldırır.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
        <p:nvSpPr>
          <p:cNvPr id="112" name="Google Shape;112;p2"/>
          <p:cNvSpPr txBox="1"/>
          <p:nvPr/>
        </p:nvSpPr>
        <p:spPr>
          <a:xfrm>
            <a:off x="940905" y="1453923"/>
            <a:ext cx="3193773"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b="1" i="0" u="none" strike="noStrike" cap="none">
                <a:solidFill>
                  <a:srgbClr val="00B050"/>
                </a:solidFill>
                <a:latin typeface="Consolas"/>
                <a:ea typeface="Consolas"/>
                <a:cs typeface="Consolas"/>
                <a:sym typeface="Consolas"/>
              </a:rPr>
              <a:t>int</a:t>
            </a:r>
            <a:r>
              <a:rPr lang="tr-TR" sz="1600" b="0" i="0" u="none" strike="noStrike" cap="none">
                <a:solidFill>
                  <a:schemeClr val="lt1"/>
                </a:solidFill>
                <a:latin typeface="Consolas"/>
                <a:ea typeface="Consolas"/>
                <a:cs typeface="Consolas"/>
                <a:sym typeface="Consolas"/>
              </a:rPr>
              <a:t> </a:t>
            </a:r>
            <a:r>
              <a:rPr lang="tr-TR" sz="1600" b="1" i="0" u="none" strike="noStrike" cap="none">
                <a:solidFill>
                  <a:schemeClr val="lt1"/>
                </a:solidFill>
                <a:latin typeface="Consolas"/>
                <a:ea typeface="Consolas"/>
                <a:cs typeface="Consolas"/>
                <a:sym typeface="Consolas"/>
              </a:rPr>
              <a:t>toplama</a:t>
            </a:r>
            <a:r>
              <a:rPr lang="tr-TR" sz="1600" b="0" i="0" u="none" strike="noStrike" cap="none">
                <a:solidFill>
                  <a:schemeClr val="lt1"/>
                </a:solidFill>
                <a:latin typeface="Consolas"/>
                <a:ea typeface="Consolas"/>
                <a:cs typeface="Consolas"/>
                <a:sym typeface="Consolas"/>
              </a:rPr>
              <a:t>(int x, int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    return x +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sz="1600">
              <a:solidFill>
                <a:schemeClr val="lt1"/>
              </a:solidFill>
              <a:latin typeface="Consolas"/>
              <a:ea typeface="Consolas"/>
              <a:cs typeface="Consolas"/>
              <a:sym typeface="Consolas"/>
            </a:endParaRPr>
          </a:p>
        </p:txBody>
      </p:sp>
      <p:sp>
        <p:nvSpPr>
          <p:cNvPr id="113" name="Google Shape;113;p2"/>
          <p:cNvSpPr txBox="1"/>
          <p:nvPr/>
        </p:nvSpPr>
        <p:spPr>
          <a:xfrm>
            <a:off x="841514" y="3633906"/>
            <a:ext cx="3611216"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b="1">
                <a:solidFill>
                  <a:srgbClr val="00B050"/>
                </a:solidFill>
                <a:latin typeface="Consolas"/>
                <a:ea typeface="Consolas"/>
                <a:cs typeface="Consolas"/>
                <a:sym typeface="Consolas"/>
              </a:rPr>
              <a:t>int</a:t>
            </a:r>
            <a:r>
              <a:rPr lang="tr-TR" sz="1600">
                <a:solidFill>
                  <a:schemeClr val="lt1"/>
                </a:solidFill>
                <a:latin typeface="Consolas"/>
                <a:ea typeface="Consolas"/>
                <a:cs typeface="Consolas"/>
                <a:sym typeface="Consolas"/>
              </a:rPr>
              <a:t> </a:t>
            </a:r>
            <a:r>
              <a:rPr lang="tr-TR" sz="1600" b="1">
                <a:solidFill>
                  <a:schemeClr val="lt1"/>
                </a:solidFill>
                <a:latin typeface="Consolas"/>
                <a:ea typeface="Consolas"/>
                <a:cs typeface="Consolas"/>
                <a:sym typeface="Consolas"/>
              </a:rPr>
              <a:t>toplama_int</a:t>
            </a:r>
            <a:r>
              <a:rPr lang="tr-TR" sz="1600">
                <a:solidFill>
                  <a:schemeClr val="lt1"/>
                </a:solidFill>
                <a:latin typeface="Consolas"/>
                <a:ea typeface="Consolas"/>
                <a:cs typeface="Consolas"/>
                <a:sym typeface="Consolas"/>
              </a:rPr>
              <a:t>(int x, int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    return x +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sz="1600">
              <a:solidFill>
                <a:schemeClr val="lt1"/>
              </a:solidFill>
              <a:latin typeface="Consolas"/>
              <a:ea typeface="Consolas"/>
              <a:cs typeface="Consolas"/>
              <a:sym typeface="Consolas"/>
            </a:endParaRPr>
          </a:p>
        </p:txBody>
      </p:sp>
      <p:sp>
        <p:nvSpPr>
          <p:cNvPr id="114" name="Google Shape;114;p2"/>
          <p:cNvSpPr txBox="1"/>
          <p:nvPr/>
        </p:nvSpPr>
        <p:spPr>
          <a:xfrm>
            <a:off x="5201965" y="3633906"/>
            <a:ext cx="4790174"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b="1">
                <a:solidFill>
                  <a:srgbClr val="0070C0"/>
                </a:solidFill>
                <a:latin typeface="Consolas"/>
                <a:ea typeface="Consolas"/>
                <a:cs typeface="Consolas"/>
                <a:sym typeface="Consolas"/>
              </a:rPr>
              <a:t>double</a:t>
            </a:r>
            <a:r>
              <a:rPr lang="tr-TR" sz="1600">
                <a:solidFill>
                  <a:schemeClr val="lt1"/>
                </a:solidFill>
                <a:latin typeface="Consolas"/>
                <a:ea typeface="Consolas"/>
                <a:cs typeface="Consolas"/>
                <a:sym typeface="Consolas"/>
              </a:rPr>
              <a:t> </a:t>
            </a:r>
            <a:r>
              <a:rPr lang="tr-TR" sz="1600" b="1">
                <a:solidFill>
                  <a:schemeClr val="lt1"/>
                </a:solidFill>
                <a:latin typeface="Consolas"/>
                <a:ea typeface="Consolas"/>
                <a:cs typeface="Consolas"/>
                <a:sym typeface="Consolas"/>
              </a:rPr>
              <a:t>toplama_double</a:t>
            </a:r>
            <a:r>
              <a:rPr lang="tr-TR" sz="1600">
                <a:solidFill>
                  <a:schemeClr val="lt1"/>
                </a:solidFill>
                <a:latin typeface="Consolas"/>
                <a:ea typeface="Consolas"/>
                <a:cs typeface="Consolas"/>
                <a:sym typeface="Consolas"/>
              </a:rPr>
              <a:t>(double x, double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    return x +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sz="1600">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Fonksiyon Aşırı Yükleme (Function Overloading)  </a:t>
            </a:r>
            <a:endParaRPr sz="2000" b="1" i="0" u="none" strike="noStrike" cap="none">
              <a:solidFill>
                <a:schemeClr val="lt1"/>
              </a:solidFill>
              <a:latin typeface="Times New Roman"/>
              <a:ea typeface="Times New Roman"/>
              <a:cs typeface="Times New Roman"/>
              <a:sym typeface="Times New Roman"/>
            </a:endParaRPr>
          </a:p>
        </p:txBody>
      </p:sp>
      <p:sp>
        <p:nvSpPr>
          <p:cNvPr id="120" name="Google Shape;120;p3"/>
          <p:cNvSpPr txBox="1"/>
          <p:nvPr/>
        </p:nvSpPr>
        <p:spPr>
          <a:xfrm>
            <a:off x="92279" y="624980"/>
            <a:ext cx="11807622" cy="5351750"/>
          </a:xfrm>
          <a:prstGeom prst="rect">
            <a:avLst/>
          </a:prstGeom>
          <a:noFill/>
          <a:ln>
            <a:noFill/>
          </a:ln>
        </p:spPr>
        <p:txBody>
          <a:bodyPr spcFirstLastPara="1" wrap="square" lIns="0" tIns="45700" rIns="0" bIns="45700" anchor="t" anchorCtr="0">
            <a:normAutofit/>
          </a:bodyPr>
          <a:lstStyle/>
          <a:p>
            <a:pPr marL="201168" marR="0" lvl="1" indent="0" algn="just" rtl="0">
              <a:lnSpc>
                <a:spcPct val="125000"/>
              </a:lnSpc>
              <a:spcBef>
                <a:spcPts val="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Aynı isimli, double parametreler alan ve double geri dönüş değerine sahip bir toplama fonksiyonu tanımlanabilir.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Böylece fonksiyonumuzun iki ayrı versiyonu olur:</a:t>
            </a:r>
            <a:endParaRPr/>
          </a:p>
          <a:p>
            <a:pPr marL="201168" marR="0" lvl="1" indent="0" algn="just" rtl="0">
              <a:lnSpc>
                <a:spcPct val="125000"/>
              </a:lnSpc>
              <a:spcBef>
                <a:spcPts val="600"/>
              </a:spcBef>
              <a:spcAft>
                <a:spcPts val="0"/>
              </a:spcAft>
              <a:buClr>
                <a:schemeClr val="accent1"/>
              </a:buClr>
              <a:buSzPts val="1600"/>
              <a:buFont typeface="Calibri"/>
              <a:buNone/>
            </a:pPr>
            <a:r>
              <a:rPr lang="tr-TR" sz="1600" b="0" i="0" u="none" strike="noStrike" cap="none">
                <a:solidFill>
                  <a:schemeClr val="dk1"/>
                </a:solidFill>
                <a:latin typeface="Consolas"/>
                <a:ea typeface="Consolas"/>
                <a:cs typeface="Consolas"/>
                <a:sym typeface="Consolas"/>
              </a:rPr>
              <a:t>	</a:t>
            </a:r>
            <a:r>
              <a:rPr lang="tr-TR" sz="1600" b="1" i="0" u="none" strike="noStrike" cap="none">
                <a:solidFill>
                  <a:srgbClr val="00B050"/>
                </a:solidFill>
                <a:latin typeface="Consolas"/>
                <a:ea typeface="Consolas"/>
                <a:cs typeface="Consolas"/>
                <a:sym typeface="Consolas"/>
              </a:rPr>
              <a:t>int</a:t>
            </a:r>
            <a:r>
              <a:rPr lang="tr-TR" sz="1600" b="0" i="0" u="none" strike="noStrike" cap="none">
                <a:solidFill>
                  <a:schemeClr val="dk1"/>
                </a:solidFill>
                <a:latin typeface="Consolas"/>
                <a:ea typeface="Consolas"/>
                <a:cs typeface="Consolas"/>
                <a:sym typeface="Consolas"/>
              </a:rPr>
              <a:t> </a:t>
            </a:r>
            <a:r>
              <a:rPr lang="tr-TR" sz="1600" b="1" i="0" u="none" strike="noStrike" cap="none">
                <a:solidFill>
                  <a:schemeClr val="dk1"/>
                </a:solidFill>
                <a:latin typeface="Consolas"/>
                <a:ea typeface="Consolas"/>
                <a:cs typeface="Consolas"/>
                <a:sym typeface="Consolas"/>
              </a:rPr>
              <a:t>toplama</a:t>
            </a:r>
            <a:r>
              <a:rPr lang="tr-TR" sz="1600" b="0" i="0" u="none" strike="noStrike" cap="none">
                <a:solidFill>
                  <a:schemeClr val="dk1"/>
                </a:solidFill>
                <a:latin typeface="Consolas"/>
                <a:ea typeface="Consolas"/>
                <a:cs typeface="Consolas"/>
                <a:sym typeface="Consolas"/>
              </a:rPr>
              <a:t>(int x, int y); // tamsayı versiyonu</a:t>
            </a:r>
            <a:endParaRPr/>
          </a:p>
          <a:p>
            <a:pPr marL="201168" marR="0" lvl="1" indent="0" algn="just" rtl="0">
              <a:lnSpc>
                <a:spcPct val="125000"/>
              </a:lnSpc>
              <a:spcBef>
                <a:spcPts val="600"/>
              </a:spcBef>
              <a:spcAft>
                <a:spcPts val="0"/>
              </a:spcAft>
              <a:buClr>
                <a:schemeClr val="accent1"/>
              </a:buClr>
              <a:buSzPts val="1600"/>
              <a:buFont typeface="Calibri"/>
              <a:buNone/>
            </a:pPr>
            <a:r>
              <a:rPr lang="tr-TR" sz="1600" b="0" i="0" u="none" strike="noStrike" cap="none">
                <a:solidFill>
                  <a:schemeClr val="dk1"/>
                </a:solidFill>
                <a:latin typeface="Consolas"/>
                <a:ea typeface="Consolas"/>
                <a:cs typeface="Consolas"/>
                <a:sym typeface="Consolas"/>
              </a:rPr>
              <a:t>	</a:t>
            </a:r>
            <a:r>
              <a:rPr lang="tr-TR" sz="1600" b="1" i="0" u="none" strike="noStrike" cap="none">
                <a:solidFill>
                  <a:srgbClr val="0070C0"/>
                </a:solidFill>
                <a:latin typeface="Consolas"/>
                <a:ea typeface="Consolas"/>
                <a:cs typeface="Consolas"/>
                <a:sym typeface="Consolas"/>
              </a:rPr>
              <a:t>double</a:t>
            </a:r>
            <a:r>
              <a:rPr lang="tr-TR" sz="1600" b="0" i="0" u="none" strike="noStrike" cap="none">
                <a:solidFill>
                  <a:schemeClr val="dk1"/>
                </a:solidFill>
                <a:latin typeface="Consolas"/>
                <a:ea typeface="Consolas"/>
                <a:cs typeface="Consolas"/>
                <a:sym typeface="Consolas"/>
              </a:rPr>
              <a:t> </a:t>
            </a:r>
            <a:r>
              <a:rPr lang="tr-TR" sz="1600" b="1" i="0" u="none" strike="noStrike" cap="none">
                <a:solidFill>
                  <a:schemeClr val="dk1"/>
                </a:solidFill>
                <a:latin typeface="Consolas"/>
                <a:ea typeface="Consolas"/>
                <a:cs typeface="Consolas"/>
                <a:sym typeface="Consolas"/>
              </a:rPr>
              <a:t>toplama</a:t>
            </a:r>
            <a:r>
              <a:rPr lang="tr-TR" sz="1600" b="0" i="0" u="none" strike="noStrike" cap="none">
                <a:solidFill>
                  <a:schemeClr val="dk1"/>
                </a:solidFill>
                <a:latin typeface="Consolas"/>
                <a:ea typeface="Consolas"/>
                <a:cs typeface="Consolas"/>
                <a:sym typeface="Consolas"/>
              </a:rPr>
              <a:t>(double x, double y); // ondalıklı versiyonu</a:t>
            </a:r>
            <a:endParaRPr/>
          </a:p>
          <a:p>
            <a:pPr marL="201168" marR="0" lvl="1" indent="0" algn="just" rtl="0">
              <a:lnSpc>
                <a:spcPct val="125000"/>
              </a:lnSpc>
              <a:spcBef>
                <a:spcPts val="600"/>
              </a:spcBef>
              <a:spcAft>
                <a:spcPts val="0"/>
              </a:spcAft>
              <a:buClr>
                <a:schemeClr val="accent1"/>
              </a:buClr>
              <a:buSzPts val="1600"/>
              <a:buFont typeface="Calibri"/>
              <a:buNone/>
            </a:pPr>
            <a:endParaRPr sz="1600" b="0" i="0" u="none" strike="noStrike" cap="none">
              <a:solidFill>
                <a:schemeClr val="dk1"/>
              </a:solidFill>
              <a:latin typeface="Consolas"/>
              <a:ea typeface="Consolas"/>
              <a:cs typeface="Consolas"/>
              <a:sym typeface="Consolas"/>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Derleyici, fonksiyon çağrısında kullanılan argümanlara göre hangi </a:t>
            </a:r>
            <a:r>
              <a:rPr lang="tr-TR" sz="1600" b="1" i="0" u="none" strike="noStrike" cap="none">
                <a:solidFill>
                  <a:schemeClr val="lt1"/>
                </a:solidFill>
                <a:latin typeface="Consolas"/>
                <a:ea typeface="Consolas"/>
                <a:cs typeface="Consolas"/>
                <a:sym typeface="Consolas"/>
              </a:rPr>
              <a:t>toplama() </a:t>
            </a:r>
            <a:r>
              <a:rPr lang="tr-TR" sz="1800" b="0" i="0" u="none" strike="noStrike" cap="none">
                <a:solidFill>
                  <a:schemeClr val="dk1"/>
                </a:solidFill>
                <a:latin typeface="Times New Roman"/>
                <a:ea typeface="Times New Roman"/>
                <a:cs typeface="Times New Roman"/>
                <a:sym typeface="Times New Roman"/>
              </a:rPr>
              <a:t>fonksiyonunun çağrılacağını çakışma olmaksızın belirleyebilir.</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Her </a:t>
            </a:r>
            <a:r>
              <a:rPr lang="tr-TR" sz="1800" b="1" i="0" u="none" strike="noStrike" cap="none">
                <a:solidFill>
                  <a:schemeClr val="lt1"/>
                </a:solidFill>
                <a:latin typeface="Consolas"/>
                <a:ea typeface="Consolas"/>
                <a:cs typeface="Consolas"/>
                <a:sym typeface="Consolas"/>
              </a:rPr>
              <a:t>toplama() </a:t>
            </a:r>
            <a:r>
              <a:rPr lang="tr-TR" sz="1800" b="0" i="0" u="none" strike="noStrike" cap="none">
                <a:solidFill>
                  <a:schemeClr val="dk1"/>
                </a:solidFill>
                <a:latin typeface="Times New Roman"/>
                <a:ea typeface="Times New Roman"/>
                <a:cs typeface="Times New Roman"/>
                <a:sym typeface="Times New Roman"/>
              </a:rPr>
              <a:t>fonksiyonu için benzersiz parametrelere sahip olduğu sürece istenildiği kadar aşırı yükleme yapılabilir.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
        <p:nvSpPr>
          <p:cNvPr id="121" name="Google Shape;121;p3"/>
          <p:cNvSpPr txBox="1"/>
          <p:nvPr/>
        </p:nvSpPr>
        <p:spPr>
          <a:xfrm>
            <a:off x="940905" y="1249960"/>
            <a:ext cx="4261060"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b="1">
                <a:solidFill>
                  <a:srgbClr val="0070C0"/>
                </a:solidFill>
                <a:latin typeface="Consolas"/>
                <a:ea typeface="Consolas"/>
                <a:cs typeface="Consolas"/>
                <a:sym typeface="Consolas"/>
              </a:rPr>
              <a:t>double</a:t>
            </a:r>
            <a:r>
              <a:rPr lang="tr-TR" sz="1600">
                <a:solidFill>
                  <a:schemeClr val="lt1"/>
                </a:solidFill>
                <a:latin typeface="Consolas"/>
                <a:ea typeface="Consolas"/>
                <a:cs typeface="Consolas"/>
                <a:sym typeface="Consolas"/>
              </a:rPr>
              <a:t> </a:t>
            </a:r>
            <a:r>
              <a:rPr lang="tr-TR" sz="1600" b="1">
                <a:solidFill>
                  <a:schemeClr val="lt1"/>
                </a:solidFill>
                <a:latin typeface="Consolas"/>
                <a:ea typeface="Consolas"/>
                <a:cs typeface="Consolas"/>
                <a:sym typeface="Consolas"/>
              </a:rPr>
              <a:t>toplama</a:t>
            </a:r>
            <a:r>
              <a:rPr lang="tr-TR" sz="1600">
                <a:solidFill>
                  <a:schemeClr val="lt1"/>
                </a:solidFill>
                <a:latin typeface="Consolas"/>
                <a:ea typeface="Consolas"/>
                <a:cs typeface="Consolas"/>
                <a:sym typeface="Consolas"/>
              </a:rPr>
              <a:t>(double x, double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    return x + y;</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a:t>
            </a:r>
            <a:endParaRPr sz="1600">
              <a:solidFill>
                <a:schemeClr val="lt1"/>
              </a:solidFill>
              <a:latin typeface="Consolas"/>
              <a:ea typeface="Consolas"/>
              <a:cs typeface="Consolas"/>
              <a:sym typeface="Consolas"/>
            </a:endParaRPr>
          </a:p>
        </p:txBody>
      </p:sp>
      <p:sp>
        <p:nvSpPr>
          <p:cNvPr id="122" name="Google Shape;122;p3"/>
          <p:cNvSpPr txBox="1"/>
          <p:nvPr/>
        </p:nvSpPr>
        <p:spPr>
          <a:xfrm>
            <a:off x="940905" y="5217357"/>
            <a:ext cx="6096000" cy="10310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500">
                <a:solidFill>
                  <a:schemeClr val="lt1"/>
                </a:solidFill>
                <a:latin typeface="Consolas"/>
                <a:ea typeface="Consolas"/>
                <a:cs typeface="Consolas"/>
                <a:sym typeface="Consolas"/>
              </a:rPr>
              <a:t>int </a:t>
            </a:r>
            <a:r>
              <a:rPr lang="tr-TR" sz="1600" b="1">
                <a:solidFill>
                  <a:schemeClr val="dk1"/>
                </a:solidFill>
                <a:latin typeface="Consolas"/>
                <a:ea typeface="Consolas"/>
                <a:cs typeface="Consolas"/>
                <a:sym typeface="Consolas"/>
              </a:rPr>
              <a:t>add</a:t>
            </a:r>
            <a:r>
              <a:rPr lang="tr-TR" sz="1500">
                <a:solidFill>
                  <a:schemeClr val="lt1"/>
                </a:solidFill>
                <a:latin typeface="Consolas"/>
                <a:ea typeface="Consolas"/>
                <a:cs typeface="Consolas"/>
                <a:sym typeface="Consolas"/>
              </a:rPr>
              <a:t>(int x, int y, int z)</a:t>
            </a:r>
            <a:endParaRPr/>
          </a:p>
          <a:p>
            <a:pPr marL="0" marR="0" lvl="0" indent="0" algn="l" rtl="0">
              <a:spcBef>
                <a:spcPts val="0"/>
              </a:spcBef>
              <a:spcAft>
                <a:spcPts val="0"/>
              </a:spcAft>
              <a:buNone/>
            </a:pPr>
            <a:r>
              <a:rPr lang="tr-TR" sz="1500">
                <a:solidFill>
                  <a:schemeClr val="lt1"/>
                </a:solidFill>
                <a:latin typeface="Consolas"/>
                <a:ea typeface="Consolas"/>
                <a:cs typeface="Consolas"/>
                <a:sym typeface="Consolas"/>
              </a:rPr>
              <a:t>{</a:t>
            </a:r>
            <a:endParaRPr/>
          </a:p>
          <a:p>
            <a:pPr marL="0" marR="0" lvl="0" indent="0" algn="l" rtl="0">
              <a:spcBef>
                <a:spcPts val="0"/>
              </a:spcBef>
              <a:spcAft>
                <a:spcPts val="0"/>
              </a:spcAft>
              <a:buNone/>
            </a:pPr>
            <a:r>
              <a:rPr lang="tr-TR" sz="1500">
                <a:solidFill>
                  <a:schemeClr val="lt1"/>
                </a:solidFill>
                <a:latin typeface="Consolas"/>
                <a:ea typeface="Consolas"/>
                <a:cs typeface="Consolas"/>
                <a:sym typeface="Consolas"/>
              </a:rPr>
              <a:t>    return x + y + z;</a:t>
            </a:r>
            <a:endParaRPr/>
          </a:p>
          <a:p>
            <a:pPr marL="0" marR="0" lvl="0" indent="0" algn="l" rtl="0">
              <a:spcBef>
                <a:spcPts val="0"/>
              </a:spcBef>
              <a:spcAft>
                <a:spcPts val="0"/>
              </a:spcAft>
              <a:buNone/>
            </a:pPr>
            <a:r>
              <a:rPr lang="tr-TR" sz="1500">
                <a:solidFill>
                  <a:schemeClr val="lt1"/>
                </a:solidFill>
                <a:latin typeface="Consolas"/>
                <a:ea typeface="Consolas"/>
                <a:cs typeface="Consolas"/>
                <a:sym typeface="Consolas"/>
              </a:rPr>
              <a:t>} // üç girdili versiyon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Fonksiyon Aşırı Yükleme (Function Overloading)  </a:t>
            </a:r>
            <a:endParaRPr sz="2000" b="1" i="0" u="none" strike="noStrike" cap="none">
              <a:solidFill>
                <a:schemeClr val="lt1"/>
              </a:solidFill>
              <a:latin typeface="Times New Roman"/>
              <a:ea typeface="Times New Roman"/>
              <a:cs typeface="Times New Roman"/>
              <a:sym typeface="Times New Roman"/>
            </a:endParaRPr>
          </a:p>
        </p:txBody>
      </p:sp>
      <p:sp>
        <p:nvSpPr>
          <p:cNvPr id="128" name="Google Shape;128;p4"/>
          <p:cNvSpPr txBox="1"/>
          <p:nvPr/>
        </p:nvSpPr>
        <p:spPr>
          <a:xfrm>
            <a:off x="92279" y="624980"/>
            <a:ext cx="11807622" cy="5351750"/>
          </a:xfrm>
          <a:prstGeom prst="rect">
            <a:avLst/>
          </a:prstGeom>
          <a:noFill/>
          <a:ln>
            <a:noFill/>
          </a:ln>
        </p:spPr>
        <p:txBody>
          <a:bodyPr spcFirstLastPara="1" wrap="square" lIns="0" tIns="45700" rIns="0" bIns="45700" anchor="t" anchorCtr="0">
            <a:normAutofit/>
          </a:bodyPr>
          <a:lstStyle/>
          <a:p>
            <a:pPr marL="201168" marR="0" lvl="1" indent="0" algn="just" rtl="0">
              <a:lnSpc>
                <a:spcPct val="125000"/>
              </a:lnSpc>
              <a:spcBef>
                <a:spcPts val="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Ancak benzersizlik yani çakışmama için fonksiyon dönüş türleri dikkate alınmaz. Yani aşırı yüklemede fonksiyonun dönüş türü etkisizdir. Bir fonksiyon çağrısı yalnızca argümanlarına bakılarak gerçekleşir. </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Eğer dönüş türleri de aşırı yükleme olayına dahil edilmiş bir yol olsaydı, fonksiyonun hangi versiyonunun çağrıldığını asla anlayamazdık. </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Rastgele bir sayı döndüren bir fonksiyon yazmak istediğimizi düşünelim. Burada hem bir int döndürecek versiyona hem de bir double döndüren başka bir versiyona ihtiyacımız var.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Derleyici bu durumu hata olarak işaretleyecektir. Bu iki fonksiyon aynı parametrelere sahiptir. Dolayısıyla ikinci rastgele() için derleyici hatalı bir yeniden bildirim uyarısı verecektir. </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Bu durumun bir  çözümü ayrı ayrı fonksiyonlar oluşturmak olabilir. İkinci bir yöntem, fonksiyonların void dönmesini sağlamak ve dönüş değerinin, bir çıkış parametresi olarak çağırana geri iletilmesini sağlamaktır.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
        <p:nvSpPr>
          <p:cNvPr id="129" name="Google Shape;129;p4"/>
          <p:cNvSpPr txBox="1"/>
          <p:nvPr/>
        </p:nvSpPr>
        <p:spPr>
          <a:xfrm>
            <a:off x="1179443" y="3008467"/>
            <a:ext cx="6096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int rastgele();</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double rastgele();</a:t>
            </a:r>
            <a:endParaRPr/>
          </a:p>
        </p:txBody>
      </p:sp>
      <p:sp>
        <p:nvSpPr>
          <p:cNvPr id="130" name="Google Shape;130;p4"/>
          <p:cNvSpPr txBox="1"/>
          <p:nvPr/>
        </p:nvSpPr>
        <p:spPr>
          <a:xfrm>
            <a:off x="1179443" y="5391952"/>
            <a:ext cx="32335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int rastgeleInt();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double rastgeleDouble();</a:t>
            </a:r>
            <a:endParaRPr/>
          </a:p>
        </p:txBody>
      </p:sp>
      <p:sp>
        <p:nvSpPr>
          <p:cNvPr id="131" name="Google Shape;131;p4"/>
          <p:cNvSpPr txBox="1"/>
          <p:nvPr/>
        </p:nvSpPr>
        <p:spPr>
          <a:xfrm>
            <a:off x="5102087" y="5391953"/>
            <a:ext cx="60960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void rastgele(int &amp;out);</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void rastgele(double &amp;out);</a:t>
            </a:r>
            <a:endParaRPr sz="1600">
              <a:solidFill>
                <a:schemeClr val="lt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Operatör Aşırı Yükleme (Operator Overloading)  </a:t>
            </a:r>
            <a:endParaRPr sz="2000" b="1" i="0" u="none" strike="noStrike" cap="none">
              <a:solidFill>
                <a:schemeClr val="lt1"/>
              </a:solidFill>
              <a:latin typeface="Times New Roman"/>
              <a:ea typeface="Times New Roman"/>
              <a:cs typeface="Times New Roman"/>
              <a:sym typeface="Times New Roman"/>
            </a:endParaRPr>
          </a:p>
        </p:txBody>
      </p:sp>
      <p:sp>
        <p:nvSpPr>
          <p:cNvPr id="137" name="Google Shape;137;p5"/>
          <p:cNvSpPr txBox="1"/>
          <p:nvPr/>
        </p:nvSpPr>
        <p:spPr>
          <a:xfrm>
            <a:off x="192189" y="624980"/>
            <a:ext cx="11807622" cy="5351750"/>
          </a:xfrm>
          <a:prstGeom prst="rect">
            <a:avLst/>
          </a:prstGeom>
          <a:noFill/>
          <a:ln>
            <a:noFill/>
          </a:ln>
        </p:spPr>
        <p:txBody>
          <a:bodyPr spcFirstLastPara="1" wrap="square" lIns="0" tIns="45700" rIns="0" bIns="45700" anchor="t" anchorCtr="0">
            <a:normAutofit/>
          </a:bodyPr>
          <a:lstStyle/>
          <a:p>
            <a:pPr marL="201168" marR="0" lvl="1" indent="0" algn="just" rtl="0">
              <a:lnSpc>
                <a:spcPct val="100000"/>
              </a:lnSpc>
              <a:spcBef>
                <a:spcPts val="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C++’da mevcut durumda olan operatörlere yerleşik (built-in) operatörler denir. +, *, &lt;, &amp;&amp; gibi…</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Fonksiyonlarda olduğu gibi , farklı veri türleriyle (hatta kullanıcı tanımlı sınıf türleriyle) çalışan operatör versiyonları tanımlamak mümkündür. </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Operatörlerin bu şekilde kullanılabilmesi için fonksiyon aşırı yüklemesi kullanılmasına operatör aşırı yükleme denir.  </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Aşağıdaki örneği düşünelim: </a:t>
            </a:r>
            <a:endParaRPr/>
          </a:p>
          <a:p>
            <a:pPr marL="201168" marR="0" lvl="1" indent="0" algn="just" rtl="0">
              <a:lnSpc>
                <a:spcPct val="125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
        <p:nvSpPr>
          <p:cNvPr id="138" name="Google Shape;138;p5"/>
          <p:cNvSpPr txBox="1"/>
          <p:nvPr/>
        </p:nvSpPr>
        <p:spPr>
          <a:xfrm>
            <a:off x="292099" y="2372410"/>
            <a:ext cx="332574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int x = 2;</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int y = 3;</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std::cout &lt;&lt; x + y &lt;&lt; '\n';</a:t>
            </a:r>
            <a:endParaRPr sz="1600">
              <a:solidFill>
                <a:schemeClr val="lt1"/>
              </a:solidFill>
              <a:latin typeface="Consolas"/>
              <a:ea typeface="Consolas"/>
              <a:cs typeface="Consolas"/>
              <a:sym typeface="Consolas"/>
            </a:endParaRPr>
          </a:p>
        </p:txBody>
      </p:sp>
      <p:sp>
        <p:nvSpPr>
          <p:cNvPr id="139" name="Google Shape;139;p5"/>
          <p:cNvSpPr txBox="1"/>
          <p:nvPr/>
        </p:nvSpPr>
        <p:spPr>
          <a:xfrm>
            <a:off x="3936414" y="2372410"/>
            <a:ext cx="332574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double z = 2.0;</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double w = 3.0;</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std::cout &lt;&lt; w + z &lt;&lt; '\n';</a:t>
            </a:r>
            <a:endParaRPr sz="1600">
              <a:solidFill>
                <a:schemeClr val="lt1"/>
              </a:solidFill>
              <a:latin typeface="Consolas"/>
              <a:ea typeface="Consolas"/>
              <a:cs typeface="Consolas"/>
              <a:sym typeface="Consolas"/>
            </a:endParaRPr>
          </a:p>
        </p:txBody>
      </p:sp>
      <p:sp>
        <p:nvSpPr>
          <p:cNvPr id="140" name="Google Shape;140;p5"/>
          <p:cNvSpPr txBox="1"/>
          <p:nvPr/>
        </p:nvSpPr>
        <p:spPr>
          <a:xfrm>
            <a:off x="7580730" y="2334814"/>
            <a:ext cx="451899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Consolas"/>
                <a:ea typeface="Consolas"/>
                <a:cs typeface="Consolas"/>
                <a:sym typeface="Consolas"/>
              </a:rPr>
              <a:t>Mystring string1 = "Hello, ";</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Mystring string2 = "World!";</a:t>
            </a:r>
            <a:endParaRPr/>
          </a:p>
          <a:p>
            <a:pPr marL="0" marR="0" lvl="0" indent="0" algn="l" rtl="0">
              <a:spcBef>
                <a:spcPts val="0"/>
              </a:spcBef>
              <a:spcAft>
                <a:spcPts val="0"/>
              </a:spcAft>
              <a:buNone/>
            </a:pPr>
            <a:r>
              <a:rPr lang="tr-TR" sz="1600">
                <a:solidFill>
                  <a:schemeClr val="lt1"/>
                </a:solidFill>
                <a:latin typeface="Consolas"/>
                <a:ea typeface="Consolas"/>
                <a:cs typeface="Consolas"/>
                <a:sym typeface="Consolas"/>
              </a:rPr>
              <a:t>std::cout &lt;&lt; string1 + string2 &lt;&lt; '\n';</a:t>
            </a:r>
            <a:endParaRPr/>
          </a:p>
        </p:txBody>
      </p:sp>
      <p:sp>
        <p:nvSpPr>
          <p:cNvPr id="141" name="Google Shape;141;p5"/>
          <p:cNvSpPr txBox="1"/>
          <p:nvPr/>
        </p:nvSpPr>
        <p:spPr>
          <a:xfrm>
            <a:off x="292099" y="3460260"/>
            <a:ext cx="3100458"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Times New Roman"/>
                <a:ea typeface="Times New Roman"/>
                <a:cs typeface="Times New Roman"/>
                <a:sym typeface="Times New Roman"/>
              </a:rPr>
              <a:t>x ve y tam sayılarını toplar ve bir tamsayı sonucu döndürür. </a:t>
            </a:r>
            <a:endParaRPr/>
          </a:p>
          <a:p>
            <a:pPr marL="0" marR="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600" b="1">
                <a:solidFill>
                  <a:schemeClr val="lt1"/>
                </a:solidFill>
                <a:latin typeface="Consolas"/>
                <a:ea typeface="Consolas"/>
                <a:cs typeface="Consolas"/>
                <a:sym typeface="Consolas"/>
              </a:rPr>
              <a:t>x + y  </a:t>
            </a:r>
            <a:r>
              <a:rPr lang="tr-TR" sz="1600">
                <a:solidFill>
                  <a:schemeClr val="lt1"/>
                </a:solidFill>
                <a:latin typeface="Times New Roman"/>
                <a:ea typeface="Times New Roman"/>
                <a:cs typeface="Times New Roman"/>
                <a:sym typeface="Times New Roman"/>
              </a:rPr>
              <a:t>ifadesini </a:t>
            </a:r>
            <a:endParaRPr/>
          </a:p>
          <a:p>
            <a:pPr marL="0" marR="0" lvl="0" indent="0" algn="l" rtl="0">
              <a:spcBef>
                <a:spcPts val="0"/>
              </a:spcBef>
              <a:spcAft>
                <a:spcPts val="0"/>
              </a:spcAft>
              <a:buNone/>
            </a:pPr>
            <a:r>
              <a:rPr lang="tr-TR" sz="1600" b="1">
                <a:solidFill>
                  <a:schemeClr val="lt1"/>
                </a:solidFill>
                <a:latin typeface="Consolas"/>
                <a:ea typeface="Consolas"/>
                <a:cs typeface="Consolas"/>
                <a:sym typeface="Consolas"/>
              </a:rPr>
              <a:t>operator+ (x, y) </a:t>
            </a:r>
            <a:r>
              <a:rPr lang="tr-TR" sz="1600">
                <a:solidFill>
                  <a:schemeClr val="lt1"/>
                </a:solidFill>
                <a:latin typeface="Times New Roman"/>
                <a:ea typeface="Times New Roman"/>
                <a:cs typeface="Times New Roman"/>
                <a:sym typeface="Times New Roman"/>
              </a:rPr>
              <a:t>fonksiyonu gibi düşünebiliriz. </a:t>
            </a:r>
            <a:endParaRPr/>
          </a:p>
          <a:p>
            <a:pPr marL="0" marR="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600">
                <a:solidFill>
                  <a:schemeClr val="lt1"/>
                </a:solidFill>
                <a:latin typeface="Times New Roman"/>
                <a:ea typeface="Times New Roman"/>
                <a:cs typeface="Times New Roman"/>
                <a:sym typeface="Times New Roman"/>
              </a:rPr>
              <a:t>Burada </a:t>
            </a:r>
            <a:r>
              <a:rPr lang="tr-TR" sz="1600" b="1">
                <a:solidFill>
                  <a:schemeClr val="lt1"/>
                </a:solidFill>
                <a:latin typeface="Consolas"/>
                <a:ea typeface="Consolas"/>
                <a:cs typeface="Consolas"/>
                <a:sym typeface="Consolas"/>
              </a:rPr>
              <a:t>operator+ </a:t>
            </a:r>
            <a:r>
              <a:rPr lang="tr-TR" sz="1600">
                <a:solidFill>
                  <a:schemeClr val="lt1"/>
                </a:solidFill>
                <a:latin typeface="Times New Roman"/>
                <a:ea typeface="Times New Roman"/>
                <a:cs typeface="Times New Roman"/>
                <a:sym typeface="Times New Roman"/>
              </a:rPr>
              <a:t>fonksiyonun adıdır.</a:t>
            </a:r>
            <a:endParaRPr/>
          </a:p>
        </p:txBody>
      </p:sp>
      <p:sp>
        <p:nvSpPr>
          <p:cNvPr id="142" name="Google Shape;142;p5"/>
          <p:cNvSpPr txBox="1"/>
          <p:nvPr/>
        </p:nvSpPr>
        <p:spPr>
          <a:xfrm>
            <a:off x="3936414" y="3429000"/>
            <a:ext cx="2994440"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lt1"/>
                </a:solidFill>
                <a:latin typeface="Times New Roman"/>
                <a:ea typeface="Times New Roman"/>
                <a:cs typeface="Times New Roman"/>
                <a:sym typeface="Times New Roman"/>
              </a:rPr>
              <a:t>w ve z ondalıklı sayılarını toplar ve bir tamsayı sonucu döndürür. </a:t>
            </a:r>
            <a:endParaRPr/>
          </a:p>
          <a:p>
            <a:pPr marL="0" marR="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600" b="1">
                <a:solidFill>
                  <a:schemeClr val="lt1"/>
                </a:solidFill>
                <a:latin typeface="Consolas"/>
                <a:ea typeface="Consolas"/>
                <a:cs typeface="Consolas"/>
                <a:sym typeface="Consolas"/>
              </a:rPr>
              <a:t>w+z </a:t>
            </a:r>
            <a:r>
              <a:rPr lang="tr-TR" sz="1600">
                <a:solidFill>
                  <a:schemeClr val="lt1"/>
                </a:solidFill>
                <a:latin typeface="Times New Roman"/>
                <a:ea typeface="Times New Roman"/>
                <a:cs typeface="Times New Roman"/>
                <a:sym typeface="Times New Roman"/>
              </a:rPr>
              <a:t>ifadesini</a:t>
            </a:r>
            <a:r>
              <a:rPr lang="tr-TR" sz="1600" b="1">
                <a:solidFill>
                  <a:schemeClr val="lt1"/>
                </a:solidFill>
                <a:latin typeface="Consolas"/>
                <a:ea typeface="Consolas"/>
                <a:cs typeface="Consolas"/>
                <a:sym typeface="Consolas"/>
              </a:rPr>
              <a:t> </a:t>
            </a:r>
            <a:endParaRPr/>
          </a:p>
          <a:p>
            <a:pPr marL="0" marR="0" lvl="0" indent="0" algn="l" rtl="0">
              <a:spcBef>
                <a:spcPts val="0"/>
              </a:spcBef>
              <a:spcAft>
                <a:spcPts val="0"/>
              </a:spcAft>
              <a:buNone/>
            </a:pPr>
            <a:r>
              <a:rPr lang="tr-TR" sz="1600" b="1">
                <a:solidFill>
                  <a:schemeClr val="lt1"/>
                </a:solidFill>
                <a:latin typeface="Consolas"/>
                <a:ea typeface="Consolas"/>
                <a:cs typeface="Consolas"/>
                <a:sym typeface="Consolas"/>
              </a:rPr>
              <a:t>operator+ (w, z) </a:t>
            </a:r>
            <a:r>
              <a:rPr lang="tr-TR" sz="1600">
                <a:solidFill>
                  <a:schemeClr val="lt1"/>
                </a:solidFill>
                <a:latin typeface="Times New Roman"/>
                <a:ea typeface="Times New Roman"/>
                <a:cs typeface="Times New Roman"/>
                <a:sym typeface="Times New Roman"/>
              </a:rPr>
              <a:t>fonksiyonu gibi düşünebiliriz. </a:t>
            </a:r>
            <a:endParaRPr/>
          </a:p>
          <a:p>
            <a:pPr marL="0" marR="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p:txBody>
      </p:sp>
      <p:sp>
        <p:nvSpPr>
          <p:cNvPr id="143" name="Google Shape;143;p5"/>
          <p:cNvSpPr txBox="1"/>
          <p:nvPr/>
        </p:nvSpPr>
        <p:spPr>
          <a:xfrm>
            <a:off x="7580730" y="3394178"/>
            <a:ext cx="4319171" cy="329320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Kullanıcı tanımlı bir sınıfa ait iki nesnenin toplanmasına ilişkin bir örnek.</a:t>
            </a:r>
            <a:endParaRPr/>
          </a:p>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Bu durumda Mystring türü için yerleşik bir </a:t>
            </a:r>
            <a:r>
              <a:rPr lang="tr-TR" sz="1600" b="1">
                <a:solidFill>
                  <a:schemeClr val="lt1"/>
                </a:solidFill>
                <a:latin typeface="Times New Roman"/>
                <a:ea typeface="Times New Roman"/>
                <a:cs typeface="Times New Roman"/>
                <a:sym typeface="Times New Roman"/>
              </a:rPr>
              <a:t>+</a:t>
            </a:r>
            <a:r>
              <a:rPr lang="tr-TR" sz="1600">
                <a:solidFill>
                  <a:schemeClr val="lt1"/>
                </a:solidFill>
                <a:latin typeface="Times New Roman"/>
                <a:ea typeface="Times New Roman"/>
                <a:cs typeface="Times New Roman"/>
                <a:sym typeface="Times New Roman"/>
              </a:rPr>
              <a:t> </a:t>
            </a:r>
            <a:r>
              <a:rPr lang="tr-TR" sz="1600" b="1">
                <a:solidFill>
                  <a:schemeClr val="lt1"/>
                </a:solidFill>
                <a:latin typeface="Times New Roman"/>
                <a:ea typeface="Times New Roman"/>
                <a:cs typeface="Times New Roman"/>
                <a:sym typeface="Times New Roman"/>
              </a:rPr>
              <a:t>operatörü</a:t>
            </a:r>
            <a:r>
              <a:rPr lang="tr-TR" sz="1600">
                <a:solidFill>
                  <a:schemeClr val="lt1"/>
                </a:solidFill>
                <a:latin typeface="Times New Roman"/>
                <a:ea typeface="Times New Roman"/>
                <a:cs typeface="Times New Roman"/>
                <a:sym typeface="Times New Roman"/>
              </a:rPr>
              <a:t> versiyonu olmadığından derleyici hata verecektir.  Bunun için Mystring türünde iki operandı alan aşırı yükleme yapılmış bir fonksiyon yazmalıyız. </a:t>
            </a:r>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Şimdi bunun nasıl yapılacağını örneklerle birlikte öğreneceğiz! </a:t>
            </a:r>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6"/>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Operatör Aşırı Yükleme (Operator Overloading)  </a:t>
            </a:r>
            <a:endParaRPr sz="2000" b="1" i="0" u="none" strike="noStrike" cap="none">
              <a:solidFill>
                <a:schemeClr val="lt1"/>
              </a:solidFill>
              <a:latin typeface="Times New Roman"/>
              <a:ea typeface="Times New Roman"/>
              <a:cs typeface="Times New Roman"/>
              <a:sym typeface="Times New Roman"/>
            </a:endParaRPr>
          </a:p>
        </p:txBody>
      </p:sp>
      <p:sp>
        <p:nvSpPr>
          <p:cNvPr id="149" name="Google Shape;149;p6"/>
          <p:cNvSpPr txBox="1"/>
          <p:nvPr/>
        </p:nvSpPr>
        <p:spPr>
          <a:xfrm>
            <a:off x="92279" y="624979"/>
            <a:ext cx="11807622" cy="5828829"/>
          </a:xfrm>
          <a:prstGeom prst="rect">
            <a:avLst/>
          </a:prstGeom>
          <a:noFill/>
          <a:ln>
            <a:noFill/>
          </a:ln>
        </p:spPr>
        <p:txBody>
          <a:bodyPr spcFirstLastPara="1" wrap="square" lIns="0" tIns="45700" rIns="0" bIns="45700" anchor="t" anchorCtr="0">
            <a:normAutofit lnSpcReduction="10000"/>
          </a:bodyPr>
          <a:lstStyle/>
          <a:p>
            <a:pPr marL="201168" marR="0" lvl="1" indent="0" algn="just" rtl="0">
              <a:lnSpc>
                <a:spcPct val="125000"/>
              </a:lnSpc>
              <a:spcBef>
                <a:spcPts val="0"/>
              </a:spcBef>
              <a:spcAft>
                <a:spcPts val="0"/>
              </a:spcAft>
              <a:buClr>
                <a:schemeClr val="accent1"/>
              </a:buClr>
              <a:buSzPts val="1800"/>
              <a:buFont typeface="Calibri"/>
              <a:buNone/>
            </a:pPr>
            <a:r>
              <a:rPr lang="tr-TR" sz="1800" b="1" i="0" u="sng" strike="noStrike" cap="none">
                <a:solidFill>
                  <a:schemeClr val="dk1"/>
                </a:solidFill>
                <a:latin typeface="Times New Roman"/>
                <a:ea typeface="Times New Roman"/>
                <a:cs typeface="Times New Roman"/>
                <a:sym typeface="Times New Roman"/>
              </a:rPr>
              <a:t>Bazı önemli kurallar:</a:t>
            </a:r>
            <a:endParaRPr/>
          </a:p>
          <a:p>
            <a:pPr marL="201168" marR="0" lvl="1" indent="0" algn="just" rtl="0">
              <a:lnSpc>
                <a:spcPct val="125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C++’da hemen hemen tüm mevcut operatörler aşırı yüklenebilir. Şunlar hariç: </a:t>
            </a:r>
            <a:endParaRPr/>
          </a:p>
          <a:p>
            <a:pPr marL="566928" marR="0" lvl="2" indent="-182880" algn="just" rtl="0">
              <a:lnSpc>
                <a:spcPct val="100000"/>
              </a:lnSpc>
              <a:spcBef>
                <a:spcPts val="600"/>
              </a:spcBef>
              <a:spcAft>
                <a:spcPts val="0"/>
              </a:spcAft>
              <a:buClr>
                <a:schemeClr val="accent1"/>
              </a:buClr>
              <a:buSzPts val="1600"/>
              <a:buFont typeface="Calibri"/>
              <a:buChar char="◦"/>
            </a:pPr>
            <a:r>
              <a:rPr lang="tr-TR" sz="1600" b="0" i="0" u="none" strike="noStrike" cap="none">
                <a:solidFill>
                  <a:schemeClr val="dk1"/>
                </a:solidFill>
                <a:latin typeface="Times New Roman"/>
                <a:ea typeface="Times New Roman"/>
                <a:cs typeface="Times New Roman"/>
                <a:sym typeface="Times New Roman"/>
              </a:rPr>
              <a:t>Koşul (?:)</a:t>
            </a:r>
            <a:endParaRPr/>
          </a:p>
          <a:p>
            <a:pPr marL="566928" marR="0" lvl="2" indent="-182880" algn="just" rtl="0">
              <a:lnSpc>
                <a:spcPct val="100000"/>
              </a:lnSpc>
              <a:spcBef>
                <a:spcPts val="600"/>
              </a:spcBef>
              <a:spcAft>
                <a:spcPts val="0"/>
              </a:spcAft>
              <a:buClr>
                <a:schemeClr val="accent1"/>
              </a:buClr>
              <a:buSzPts val="1600"/>
              <a:buFont typeface="Calibri"/>
              <a:buChar char="◦"/>
            </a:pPr>
            <a:r>
              <a:rPr lang="tr-TR" sz="1600" b="0" i="0" u="none" strike="noStrike" cap="none">
                <a:solidFill>
                  <a:schemeClr val="dk1"/>
                </a:solidFill>
                <a:latin typeface="Times New Roman"/>
                <a:ea typeface="Times New Roman"/>
                <a:cs typeface="Times New Roman"/>
                <a:sym typeface="Times New Roman"/>
              </a:rPr>
              <a:t>Scope (::)</a:t>
            </a:r>
            <a:endParaRPr/>
          </a:p>
          <a:p>
            <a:pPr marL="566928" marR="0" lvl="2" indent="-182880" algn="just" rtl="0">
              <a:lnSpc>
                <a:spcPct val="100000"/>
              </a:lnSpc>
              <a:spcBef>
                <a:spcPts val="600"/>
              </a:spcBef>
              <a:spcAft>
                <a:spcPts val="0"/>
              </a:spcAft>
              <a:buClr>
                <a:schemeClr val="accent1"/>
              </a:buClr>
              <a:buSzPts val="1600"/>
              <a:buFont typeface="Calibri"/>
              <a:buChar char="◦"/>
            </a:pPr>
            <a:r>
              <a:rPr lang="tr-TR" sz="1600" b="0" i="0" u="none" strike="noStrike" cap="none">
                <a:solidFill>
                  <a:schemeClr val="dk1"/>
                </a:solidFill>
                <a:latin typeface="Times New Roman"/>
                <a:ea typeface="Times New Roman"/>
                <a:cs typeface="Times New Roman"/>
                <a:sym typeface="Times New Roman"/>
              </a:rPr>
              <a:t>Üye seçici (.)</a:t>
            </a:r>
            <a:endParaRPr/>
          </a:p>
          <a:p>
            <a:pPr marL="566928" marR="0" lvl="2" indent="-182880" algn="just" rtl="0">
              <a:lnSpc>
                <a:spcPct val="100000"/>
              </a:lnSpc>
              <a:spcBef>
                <a:spcPts val="600"/>
              </a:spcBef>
              <a:spcAft>
                <a:spcPts val="0"/>
              </a:spcAft>
              <a:buClr>
                <a:schemeClr val="accent1"/>
              </a:buClr>
              <a:buSzPts val="1600"/>
              <a:buFont typeface="Calibri"/>
              <a:buChar char="◦"/>
            </a:pPr>
            <a:r>
              <a:rPr lang="tr-TR" sz="1600" b="0" i="0" u="none" strike="noStrike" cap="none">
                <a:solidFill>
                  <a:schemeClr val="dk1"/>
                </a:solidFill>
                <a:latin typeface="Times New Roman"/>
                <a:ea typeface="Times New Roman"/>
                <a:cs typeface="Times New Roman"/>
                <a:sym typeface="Times New Roman"/>
              </a:rPr>
              <a:t>Üye pointer seçici (.*)</a:t>
            </a:r>
            <a:endParaRPr sz="14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Yalnızca var olan operatörleri aşırı yükleyebilirsiniz. Yeni operatörler oluşturamaz veya mevcut operatörleri yeniden adlandıramazsınız. </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Aşırı yüklenmiş bir operatördeki işlenenlerden en az biri, kullanıcı tanımlı tipte olmalıdır. Bu, + operatörünü bir tam sayı ve bir ondalıklı ile çalışmak için aşırı yükleyemeyeceğiniz anlamına gelir. Ancak, + operatörünü bir tamsayı ve Mystring ile çalışmak için aşırı yükleyebilirsiniz.</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Bir operatörün desteklediği işlenenlerin sayısını değiştirmek mümkün değildir. Yani + operatörü 2 operanda sahipse bu şekilde aşırı yükleme yapılır.</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Tüm operatörler varsayılan önceliklerini ve ilişkilendirilebilirliklerini (ne için kullanıldıklarına bakılmaksızın) korur ve bu değiştirilemez.</a:t>
            </a:r>
            <a:endParaRPr/>
          </a:p>
          <a:p>
            <a:pPr marL="201168" marR="0" lvl="1" indent="0" algn="just" rtl="0">
              <a:lnSpc>
                <a:spcPct val="100000"/>
              </a:lnSpc>
              <a:spcBef>
                <a:spcPts val="600"/>
              </a:spcBef>
              <a:spcAft>
                <a:spcPts val="0"/>
              </a:spcAft>
              <a:buClr>
                <a:schemeClr val="accent1"/>
              </a:buClr>
              <a:buSzPts val="1800"/>
              <a:buFont typeface="Calibri"/>
              <a:buNone/>
            </a:pPr>
            <a:r>
              <a:rPr lang="tr-TR" sz="1800" b="0" i="0" u="none" strike="noStrike" cap="none">
                <a:solidFill>
                  <a:schemeClr val="dk1"/>
                </a:solidFill>
                <a:latin typeface="Times New Roman"/>
                <a:ea typeface="Times New Roman"/>
                <a:cs typeface="Times New Roman"/>
                <a:sym typeface="Times New Roman"/>
              </a:rPr>
              <a:t>Operatör aşırı yüklemesi iki şekilde gerçekleştirilebilir: </a:t>
            </a:r>
            <a:endParaRPr/>
          </a:p>
          <a:p>
            <a:pPr marL="566928" marR="0" lvl="2" indent="-182880" algn="just" rtl="0">
              <a:lnSpc>
                <a:spcPct val="100000"/>
              </a:lnSpc>
              <a:spcBef>
                <a:spcPts val="600"/>
              </a:spcBef>
              <a:spcAft>
                <a:spcPts val="0"/>
              </a:spcAft>
              <a:buClr>
                <a:schemeClr val="accent1"/>
              </a:buClr>
              <a:buSzPts val="1400"/>
              <a:buFont typeface="Calibri"/>
              <a:buChar char="◦"/>
            </a:pPr>
            <a:r>
              <a:rPr lang="tr-TR" sz="1400" b="0" i="0" u="none" strike="noStrike" cap="none">
                <a:solidFill>
                  <a:schemeClr val="dk1"/>
                </a:solidFill>
                <a:latin typeface="Times New Roman"/>
                <a:ea typeface="Times New Roman"/>
                <a:cs typeface="Times New Roman"/>
                <a:sym typeface="Times New Roman"/>
              </a:rPr>
              <a:t>Sınıfın üye fonksiyonu ile,</a:t>
            </a:r>
            <a:endParaRPr/>
          </a:p>
          <a:p>
            <a:pPr marL="566928" marR="0" lvl="2" indent="-182880" algn="just" rtl="0">
              <a:lnSpc>
                <a:spcPct val="100000"/>
              </a:lnSpc>
              <a:spcBef>
                <a:spcPts val="600"/>
              </a:spcBef>
              <a:spcAft>
                <a:spcPts val="0"/>
              </a:spcAft>
              <a:buClr>
                <a:schemeClr val="accent1"/>
              </a:buClr>
              <a:buSzPts val="1400"/>
              <a:buFont typeface="Calibri"/>
              <a:buChar char="◦"/>
            </a:pPr>
            <a:r>
              <a:rPr lang="tr-TR" sz="1400" b="0" i="0" u="none" strike="noStrike" cap="none">
                <a:solidFill>
                  <a:schemeClr val="dk1"/>
                </a:solidFill>
                <a:latin typeface="Times New Roman"/>
                <a:ea typeface="Times New Roman"/>
                <a:cs typeface="Times New Roman"/>
                <a:sym typeface="Times New Roman"/>
              </a:rPr>
              <a:t>Üye olmayan arkadaş (friend) fonksiyon ile.</a:t>
            </a:r>
            <a:endParaRPr/>
          </a:p>
          <a:p>
            <a:pPr marL="201168" marR="0" lvl="1" indent="0" algn="just" rtl="0">
              <a:lnSpc>
                <a:spcPct val="100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00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201168" marR="0" lvl="1" indent="0" algn="just" rtl="0">
              <a:lnSpc>
                <a:spcPct val="100000"/>
              </a:lnSpc>
              <a:spcBef>
                <a:spcPts val="600"/>
              </a:spcBef>
              <a:spcAft>
                <a:spcPts val="0"/>
              </a:spcAft>
              <a:buClr>
                <a:schemeClr val="accent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Tekli (Unary) Operatör Aşırı Yükleme</a:t>
            </a:r>
            <a:endParaRPr sz="2000" b="1" i="0" u="none" strike="noStrike" cap="none">
              <a:solidFill>
                <a:schemeClr val="lt1"/>
              </a:solidFill>
              <a:latin typeface="Times New Roman"/>
              <a:ea typeface="Times New Roman"/>
              <a:cs typeface="Times New Roman"/>
              <a:sym typeface="Times New Roman"/>
            </a:endParaRPr>
          </a:p>
        </p:txBody>
      </p:sp>
      <p:sp>
        <p:nvSpPr>
          <p:cNvPr id="155" name="Google Shape;155;p7"/>
          <p:cNvSpPr txBox="1"/>
          <p:nvPr/>
        </p:nvSpPr>
        <p:spPr>
          <a:xfrm>
            <a:off x="265043" y="597960"/>
            <a:ext cx="11709253" cy="26930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Tek bir operand üzerinde çalışan operatörlere tekli (unary) operatörler denir. Bunlara örnek olarak:</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	Arttırma (++) ve azaltma (--) operatörleri.</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	Tekli çıkarma (-) operatörü.</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	Lojik DEĞİL (!) operatörü ü.</a:t>
            </a:r>
            <a:endParaRPr sz="1800" b="0" i="0" u="none" strike="noStrike" cap="none">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Bir </a:t>
            </a:r>
            <a:r>
              <a:rPr lang="tr-TR" sz="1800" b="1">
                <a:solidFill>
                  <a:schemeClr val="lt1"/>
                </a:solidFill>
                <a:latin typeface="Times New Roman"/>
                <a:ea typeface="Times New Roman"/>
                <a:cs typeface="Times New Roman"/>
                <a:sym typeface="Times New Roman"/>
              </a:rPr>
              <a:t>obj</a:t>
            </a:r>
            <a:r>
              <a:rPr lang="tr-TR" sz="1800">
                <a:solidFill>
                  <a:schemeClr val="lt1"/>
                </a:solidFill>
                <a:latin typeface="Times New Roman"/>
                <a:ea typeface="Times New Roman"/>
                <a:cs typeface="Times New Roman"/>
                <a:sym typeface="Times New Roman"/>
              </a:rPr>
              <a:t> nesnemiz olsun. Bu operatörler normalde nesnenin solunda </a:t>
            </a:r>
            <a:r>
              <a:rPr lang="tr-TR" sz="1800" b="1">
                <a:solidFill>
                  <a:srgbClr val="FF3399"/>
                </a:solidFill>
                <a:latin typeface="Times New Roman"/>
                <a:ea typeface="Times New Roman"/>
                <a:cs typeface="Times New Roman"/>
                <a:sym typeface="Times New Roman"/>
              </a:rPr>
              <a:t>!obj</a:t>
            </a:r>
            <a:r>
              <a:rPr lang="tr-TR" sz="1800">
                <a:solidFill>
                  <a:schemeClr val="lt1"/>
                </a:solidFill>
                <a:latin typeface="Times New Roman"/>
                <a:ea typeface="Times New Roman"/>
                <a:cs typeface="Times New Roman"/>
                <a:sym typeface="Times New Roman"/>
              </a:rPr>
              <a:t>, </a:t>
            </a:r>
            <a:r>
              <a:rPr lang="tr-TR" sz="1800" b="1">
                <a:solidFill>
                  <a:srgbClr val="FF3399"/>
                </a:solidFill>
                <a:latin typeface="Times New Roman"/>
                <a:ea typeface="Times New Roman"/>
                <a:cs typeface="Times New Roman"/>
                <a:sym typeface="Times New Roman"/>
              </a:rPr>
              <a:t>-obj</a:t>
            </a:r>
            <a:r>
              <a:rPr lang="tr-TR" sz="1800">
                <a:solidFill>
                  <a:srgbClr val="181818"/>
                </a:solidFill>
                <a:latin typeface="Times New Roman"/>
                <a:ea typeface="Times New Roman"/>
                <a:cs typeface="Times New Roman"/>
                <a:sym typeface="Times New Roman"/>
              </a:rPr>
              <a:t>,</a:t>
            </a:r>
            <a:r>
              <a:rPr lang="tr-TR" sz="1800" b="1">
                <a:solidFill>
                  <a:srgbClr val="181818"/>
                </a:solidFill>
                <a:latin typeface="Times New Roman"/>
                <a:ea typeface="Times New Roman"/>
                <a:cs typeface="Times New Roman"/>
                <a:sym typeface="Times New Roman"/>
              </a:rPr>
              <a:t> </a:t>
            </a:r>
            <a:r>
              <a:rPr lang="tr-TR" sz="1800" b="1">
                <a:solidFill>
                  <a:srgbClr val="FF3399"/>
                </a:solidFill>
                <a:latin typeface="Times New Roman"/>
                <a:ea typeface="Times New Roman"/>
                <a:cs typeface="Times New Roman"/>
                <a:sym typeface="Times New Roman"/>
              </a:rPr>
              <a:t>++obj </a:t>
            </a:r>
            <a:r>
              <a:rPr lang="tr-TR" sz="1800">
                <a:solidFill>
                  <a:schemeClr val="lt1"/>
                </a:solidFill>
                <a:latin typeface="Times New Roman"/>
                <a:ea typeface="Times New Roman"/>
                <a:cs typeface="Times New Roman"/>
                <a:sym typeface="Times New Roman"/>
              </a:rPr>
              <a:t>veya </a:t>
            </a:r>
            <a:r>
              <a:rPr lang="tr-TR" sz="1800" b="1">
                <a:solidFill>
                  <a:srgbClr val="FF3399"/>
                </a:solidFill>
                <a:latin typeface="Times New Roman"/>
                <a:ea typeface="Times New Roman"/>
                <a:cs typeface="Times New Roman"/>
                <a:sym typeface="Times New Roman"/>
              </a:rPr>
              <a:t>–obj </a:t>
            </a:r>
            <a:r>
              <a:rPr lang="tr-TR" sz="1800">
                <a:solidFill>
                  <a:schemeClr val="lt1"/>
                </a:solidFill>
                <a:latin typeface="Times New Roman"/>
                <a:ea typeface="Times New Roman"/>
                <a:cs typeface="Times New Roman"/>
                <a:sym typeface="Times New Roman"/>
              </a:rPr>
              <a:t>yani prefix olarak görünür ancak </a:t>
            </a:r>
            <a:r>
              <a:rPr lang="tr-TR" sz="1800" b="1">
                <a:solidFill>
                  <a:srgbClr val="FF3399"/>
                </a:solidFill>
                <a:latin typeface="Times New Roman"/>
                <a:ea typeface="Times New Roman"/>
                <a:cs typeface="Times New Roman"/>
                <a:sym typeface="Times New Roman"/>
              </a:rPr>
              <a:t>obj++ </a:t>
            </a:r>
            <a:r>
              <a:rPr lang="tr-TR" sz="1800">
                <a:solidFill>
                  <a:schemeClr val="lt1"/>
                </a:solidFill>
                <a:latin typeface="Times New Roman"/>
                <a:ea typeface="Times New Roman"/>
                <a:cs typeface="Times New Roman"/>
                <a:sym typeface="Times New Roman"/>
              </a:rPr>
              <a:t>ve </a:t>
            </a:r>
            <a:r>
              <a:rPr lang="tr-TR" sz="1800" b="1">
                <a:solidFill>
                  <a:srgbClr val="FF3399"/>
                </a:solidFill>
                <a:latin typeface="Times New Roman"/>
                <a:ea typeface="Times New Roman"/>
                <a:cs typeface="Times New Roman"/>
                <a:sym typeface="Times New Roman"/>
              </a:rPr>
              <a:t>obj– </a:t>
            </a:r>
            <a:r>
              <a:rPr lang="tr-TR" sz="1800">
                <a:solidFill>
                  <a:schemeClr val="lt1"/>
                </a:solidFill>
                <a:latin typeface="Times New Roman"/>
                <a:ea typeface="Times New Roman"/>
                <a:cs typeface="Times New Roman"/>
                <a:sym typeface="Times New Roman"/>
              </a:rPr>
              <a:t>gibi postfix olarak da kullanılabilirler.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2500" b="1">
                <a:solidFill>
                  <a:srgbClr val="0070C0"/>
                </a:solidFill>
                <a:latin typeface="Times New Roman"/>
                <a:ea typeface="Times New Roman"/>
                <a:cs typeface="Times New Roman"/>
                <a:sym typeface="Times New Roman"/>
              </a:rPr>
              <a:t>- </a:t>
            </a:r>
            <a:r>
              <a:rPr lang="tr-TR" sz="1800" b="1">
                <a:solidFill>
                  <a:srgbClr val="0070C0"/>
                </a:solidFill>
                <a:latin typeface="Times New Roman"/>
                <a:ea typeface="Times New Roman"/>
                <a:cs typeface="Times New Roman"/>
                <a:sym typeface="Times New Roman"/>
              </a:rPr>
              <a:t>(eksi) </a:t>
            </a:r>
            <a:r>
              <a:rPr lang="tr-TR" sz="1800">
                <a:solidFill>
                  <a:schemeClr val="lt1"/>
                </a:solidFill>
                <a:latin typeface="Times New Roman"/>
                <a:ea typeface="Times New Roman"/>
                <a:cs typeface="Times New Roman"/>
                <a:sym typeface="Times New Roman"/>
              </a:rPr>
              <a:t>operatörünün prefix (önek) ve postfix(sonek) olarak aşırı yüklenmesini görelim: - operatörü pozitif değere sahip bir sayıyı negatif yapar. Örneğin bir </a:t>
            </a:r>
            <a:r>
              <a:rPr lang="tr-TR" sz="1800" b="1">
                <a:solidFill>
                  <a:srgbClr val="00B050"/>
                </a:solidFill>
                <a:latin typeface="Times New Roman"/>
                <a:ea typeface="Times New Roman"/>
                <a:cs typeface="Times New Roman"/>
                <a:sym typeface="Times New Roman"/>
              </a:rPr>
              <a:t>value</a:t>
            </a:r>
            <a:r>
              <a:rPr lang="tr-TR" sz="1800">
                <a:solidFill>
                  <a:schemeClr val="lt1"/>
                </a:solidFill>
                <a:latin typeface="Times New Roman"/>
                <a:ea typeface="Times New Roman"/>
                <a:cs typeface="Times New Roman"/>
                <a:sym typeface="Times New Roman"/>
              </a:rPr>
              <a:t> değişkeninin değeri </a:t>
            </a:r>
            <a:r>
              <a:rPr lang="tr-TR" sz="1800" b="1">
                <a:solidFill>
                  <a:schemeClr val="lt1"/>
                </a:solidFill>
                <a:latin typeface="Times New Roman"/>
                <a:ea typeface="Times New Roman"/>
                <a:cs typeface="Times New Roman"/>
                <a:sym typeface="Times New Roman"/>
              </a:rPr>
              <a:t>50</a:t>
            </a:r>
            <a:r>
              <a:rPr lang="tr-TR" sz="1800">
                <a:solidFill>
                  <a:schemeClr val="lt1"/>
                </a:solidFill>
                <a:latin typeface="Times New Roman"/>
                <a:ea typeface="Times New Roman"/>
                <a:cs typeface="Times New Roman"/>
                <a:sym typeface="Times New Roman"/>
              </a:rPr>
              <a:t> olsun. Bu durumda </a:t>
            </a:r>
            <a:r>
              <a:rPr lang="tr-TR" sz="1800" b="1">
                <a:solidFill>
                  <a:srgbClr val="00B050"/>
                </a:solidFill>
                <a:latin typeface="Times New Roman"/>
                <a:ea typeface="Times New Roman"/>
                <a:cs typeface="Times New Roman"/>
                <a:sym typeface="Times New Roman"/>
              </a:rPr>
              <a:t>–value</a:t>
            </a:r>
            <a:r>
              <a:rPr lang="tr-TR" sz="1800">
                <a:solidFill>
                  <a:schemeClr val="lt1"/>
                </a:solidFill>
                <a:latin typeface="Times New Roman"/>
                <a:ea typeface="Times New Roman"/>
                <a:cs typeface="Times New Roman"/>
                <a:sym typeface="Times New Roman"/>
              </a:rPr>
              <a:t>’nun değeri </a:t>
            </a:r>
            <a:r>
              <a:rPr lang="tr-TR" sz="1800" b="1">
                <a:solidFill>
                  <a:schemeClr val="lt1"/>
                </a:solidFill>
                <a:latin typeface="Times New Roman"/>
                <a:ea typeface="Times New Roman"/>
                <a:cs typeface="Times New Roman"/>
                <a:sym typeface="Times New Roman"/>
              </a:rPr>
              <a:t>-50</a:t>
            </a:r>
            <a:r>
              <a:rPr lang="tr-TR" sz="1800">
                <a:solidFill>
                  <a:schemeClr val="lt1"/>
                </a:solidFill>
                <a:latin typeface="Times New Roman"/>
                <a:ea typeface="Times New Roman"/>
                <a:cs typeface="Times New Roman"/>
                <a:sym typeface="Times New Roman"/>
              </a:rPr>
              <a:t>’dir.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 Eksi operatörü için aşırı yükleme</a:t>
            </a:r>
            <a:endParaRPr sz="2000" b="1" i="0" u="none" strike="noStrike" cap="none">
              <a:solidFill>
                <a:schemeClr val="lt1"/>
              </a:solidFill>
              <a:latin typeface="Times New Roman"/>
              <a:ea typeface="Times New Roman"/>
              <a:cs typeface="Times New Roman"/>
              <a:sym typeface="Times New Roman"/>
            </a:endParaRPr>
          </a:p>
        </p:txBody>
      </p:sp>
      <p:pic>
        <p:nvPicPr>
          <p:cNvPr id="161" name="Google Shape;161;p8"/>
          <p:cNvPicPr preferRelativeResize="0"/>
          <p:nvPr/>
        </p:nvPicPr>
        <p:blipFill rotWithShape="1">
          <a:blip r:embed="rId3">
            <a:alphaModFix/>
          </a:blip>
          <a:srcRect/>
          <a:stretch/>
        </p:blipFill>
        <p:spPr>
          <a:xfrm>
            <a:off x="314028" y="518030"/>
            <a:ext cx="5490752" cy="4715152"/>
          </a:xfrm>
          <a:prstGeom prst="rect">
            <a:avLst/>
          </a:prstGeom>
          <a:noFill/>
          <a:ln>
            <a:noFill/>
          </a:ln>
        </p:spPr>
      </p:pic>
      <p:pic>
        <p:nvPicPr>
          <p:cNvPr id="162" name="Google Shape;162;p8"/>
          <p:cNvPicPr preferRelativeResize="0"/>
          <p:nvPr/>
        </p:nvPicPr>
        <p:blipFill rotWithShape="1">
          <a:blip r:embed="rId4">
            <a:alphaModFix/>
          </a:blip>
          <a:srcRect/>
          <a:stretch/>
        </p:blipFill>
        <p:spPr>
          <a:xfrm>
            <a:off x="6052438" y="518031"/>
            <a:ext cx="4864092" cy="2301290"/>
          </a:xfrm>
          <a:prstGeom prst="rect">
            <a:avLst/>
          </a:prstGeom>
          <a:noFill/>
          <a:ln>
            <a:noFill/>
          </a:ln>
        </p:spPr>
      </p:pic>
      <p:sp>
        <p:nvSpPr>
          <p:cNvPr id="163" name="Google Shape;163;p8"/>
          <p:cNvSpPr txBox="1"/>
          <p:nvPr/>
        </p:nvSpPr>
        <p:spPr>
          <a:xfrm>
            <a:off x="314028" y="5428046"/>
            <a:ext cx="559644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Benzer uygulamayı arttırma, azaltma ve lojik DEĞİL operatörü için de gerçekleştirebiliriz.  </a:t>
            </a:r>
            <a:endParaRPr sz="1800">
              <a:solidFill>
                <a:schemeClr val="lt1"/>
              </a:solidFill>
              <a:latin typeface="Calibri"/>
              <a:ea typeface="Calibri"/>
              <a:cs typeface="Calibri"/>
              <a:sym typeface="Calibri"/>
            </a:endParaRPr>
          </a:p>
        </p:txBody>
      </p:sp>
      <p:sp>
        <p:nvSpPr>
          <p:cNvPr id="164" name="Google Shape;164;p8"/>
          <p:cNvSpPr txBox="1"/>
          <p:nvPr/>
        </p:nvSpPr>
        <p:spPr>
          <a:xfrm>
            <a:off x="6003721" y="3105834"/>
            <a:ext cx="609600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Distance türünden D1 ve D2 nesneleri parametreli yapıcı ile başlatılıyor.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–D1 ve –D2 satırları gerçekleştirildiğinde, Distance sınıfına ait operatör fonksiyonu çağırılıyor: </a:t>
            </a:r>
            <a:r>
              <a:rPr lang="tr-TR" sz="1800" b="1">
                <a:solidFill>
                  <a:schemeClr val="lt1"/>
                </a:solidFill>
                <a:latin typeface="Times New Roman"/>
                <a:ea typeface="Times New Roman"/>
                <a:cs typeface="Times New Roman"/>
                <a:sym typeface="Times New Roman"/>
              </a:rPr>
              <a:t>Distance operator- ()</a:t>
            </a:r>
            <a:r>
              <a:rPr lang="tr-TR" sz="1800">
                <a:solidFill>
                  <a:schemeClr val="lt1"/>
                </a:solidFill>
                <a:latin typeface="Times New Roman"/>
                <a:ea typeface="Times New Roman"/>
                <a:cs typeface="Times New Roman"/>
                <a:sym typeface="Times New Roman"/>
              </a:rPr>
              <a:t>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Operatör fonksiyonu ile nesnenin sahip olduğu feet ve inches değerleri negatifine setleniyor ve return ile yapıcı fonksiyon olarak yeni değerler döndürülüyor.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displayDistance() fonksiyonu ile yeni değerler gösteriliyor. </a:t>
            </a:r>
            <a:endParaRPr sz="1800">
              <a:solidFill>
                <a:schemeClr val="lt1"/>
              </a:solidFill>
              <a:latin typeface="Calibri"/>
              <a:ea typeface="Calibri"/>
              <a:cs typeface="Calibri"/>
              <a:sym typeface="Calibri"/>
            </a:endParaRPr>
          </a:p>
        </p:txBody>
      </p:sp>
      <p:pic>
        <p:nvPicPr>
          <p:cNvPr id="165" name="Google Shape;165;p8"/>
          <p:cNvPicPr preferRelativeResize="0"/>
          <p:nvPr/>
        </p:nvPicPr>
        <p:blipFill rotWithShape="1">
          <a:blip r:embed="rId5">
            <a:alphaModFix/>
          </a:blip>
          <a:srcRect/>
          <a:stretch/>
        </p:blipFill>
        <p:spPr>
          <a:xfrm>
            <a:off x="4357806" y="727301"/>
            <a:ext cx="1276528" cy="4953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İkili (Binary) Operatör Aşırı Yükleme</a:t>
            </a:r>
            <a:endParaRPr sz="2000" b="1" i="0" u="none" strike="noStrike" cap="none">
              <a:solidFill>
                <a:schemeClr val="lt1"/>
              </a:solidFill>
              <a:latin typeface="Times New Roman"/>
              <a:ea typeface="Times New Roman"/>
              <a:cs typeface="Times New Roman"/>
              <a:sym typeface="Times New Roman"/>
            </a:endParaRPr>
          </a:p>
        </p:txBody>
      </p:sp>
      <p:sp>
        <p:nvSpPr>
          <p:cNvPr id="171" name="Google Shape;171;p9"/>
          <p:cNvSpPr txBox="1"/>
          <p:nvPr/>
        </p:nvSpPr>
        <p:spPr>
          <a:xfrm>
            <a:off x="265043" y="597960"/>
            <a:ext cx="11709253" cy="158504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İki operand üzerinde çalışan operatörlere ikili (binary) operatörler denir. Bunlardan sıkılıkla kullanılanları </a:t>
            </a:r>
            <a:r>
              <a:rPr lang="tr-TR" sz="1800" b="1">
                <a:solidFill>
                  <a:srgbClr val="00B050"/>
                </a:solidFill>
                <a:latin typeface="Times New Roman"/>
                <a:ea typeface="Times New Roman"/>
                <a:cs typeface="Times New Roman"/>
                <a:sym typeface="Times New Roman"/>
              </a:rPr>
              <a:t>toplama (+)</a:t>
            </a:r>
            <a:r>
              <a:rPr lang="tr-TR" sz="1800">
                <a:solidFill>
                  <a:schemeClr val="lt1"/>
                </a:solidFill>
                <a:latin typeface="Times New Roman"/>
                <a:ea typeface="Times New Roman"/>
                <a:cs typeface="Times New Roman"/>
                <a:sym typeface="Times New Roman"/>
              </a:rPr>
              <a:t>, </a:t>
            </a:r>
            <a:r>
              <a:rPr lang="tr-TR" sz="1800" b="1">
                <a:solidFill>
                  <a:srgbClr val="00B050"/>
                </a:solidFill>
                <a:latin typeface="Times New Roman"/>
                <a:ea typeface="Times New Roman"/>
                <a:cs typeface="Times New Roman"/>
                <a:sym typeface="Times New Roman"/>
              </a:rPr>
              <a:t>çıkarma (-), çarpma(*)</a:t>
            </a:r>
            <a:r>
              <a:rPr lang="tr-TR" sz="1800">
                <a:solidFill>
                  <a:schemeClr val="lt1"/>
                </a:solidFill>
                <a:latin typeface="Times New Roman"/>
                <a:ea typeface="Times New Roman"/>
                <a:cs typeface="Times New Roman"/>
                <a:sym typeface="Times New Roman"/>
              </a:rPr>
              <a:t> ve </a:t>
            </a:r>
            <a:r>
              <a:rPr lang="tr-TR" sz="1800" b="1">
                <a:solidFill>
                  <a:srgbClr val="00B050"/>
                </a:solidFill>
                <a:latin typeface="Times New Roman"/>
                <a:ea typeface="Times New Roman"/>
                <a:cs typeface="Times New Roman"/>
                <a:sym typeface="Times New Roman"/>
              </a:rPr>
              <a:t>bölme (/) </a:t>
            </a:r>
            <a:r>
              <a:rPr lang="tr-TR" sz="1800">
                <a:solidFill>
                  <a:schemeClr val="lt1"/>
                </a:solidFill>
                <a:latin typeface="Times New Roman"/>
                <a:ea typeface="Times New Roman"/>
                <a:cs typeface="Times New Roman"/>
                <a:sym typeface="Times New Roman"/>
              </a:rPr>
              <a:t>operatörleridir.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2500" b="1">
                <a:solidFill>
                  <a:srgbClr val="0070C0"/>
                </a:solidFill>
                <a:latin typeface="Times New Roman"/>
                <a:ea typeface="Times New Roman"/>
                <a:cs typeface="Times New Roman"/>
                <a:sym typeface="Times New Roman"/>
              </a:rPr>
              <a:t>+ </a:t>
            </a:r>
            <a:r>
              <a:rPr lang="tr-TR" sz="1800">
                <a:solidFill>
                  <a:schemeClr val="lt1"/>
                </a:solidFill>
                <a:latin typeface="Times New Roman"/>
                <a:ea typeface="Times New Roman"/>
                <a:cs typeface="Times New Roman"/>
                <a:sym typeface="Times New Roman"/>
              </a:rPr>
              <a:t>operatörünün aşırı yüklemesini yaygın bir örnek olan "</a:t>
            </a:r>
            <a:r>
              <a:rPr lang="tr-TR" sz="1800">
                <a:solidFill>
                  <a:srgbClr val="444444"/>
                </a:solidFill>
                <a:latin typeface="Times New Roman"/>
                <a:ea typeface="Times New Roman"/>
                <a:cs typeface="Times New Roman"/>
                <a:sym typeface="Times New Roman"/>
              </a:rPr>
              <a:t>kompleks sayı sınıfı için aritmetik operatör aşırı yükleme" örneği ile ele alalım: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0"/>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Kompleks sayı sınıfı için toplama (+) aritmetik operatörünün aşırı yüklemesi</a:t>
            </a:r>
            <a:endParaRPr sz="2000" b="1" i="0" u="none" strike="noStrike" cap="none">
              <a:solidFill>
                <a:schemeClr val="lt1"/>
              </a:solidFill>
              <a:latin typeface="Times New Roman"/>
              <a:ea typeface="Times New Roman"/>
              <a:cs typeface="Times New Roman"/>
              <a:sym typeface="Times New Roman"/>
            </a:endParaRPr>
          </a:p>
        </p:txBody>
      </p:sp>
      <p:pic>
        <p:nvPicPr>
          <p:cNvPr id="177" name="Google Shape;177;p10"/>
          <p:cNvPicPr preferRelativeResize="0"/>
          <p:nvPr/>
        </p:nvPicPr>
        <p:blipFill rotWithShape="1">
          <a:blip r:embed="rId3">
            <a:alphaModFix/>
          </a:blip>
          <a:srcRect/>
          <a:stretch/>
        </p:blipFill>
        <p:spPr>
          <a:xfrm>
            <a:off x="241968" y="624980"/>
            <a:ext cx="5603182" cy="5391507"/>
          </a:xfrm>
          <a:prstGeom prst="rect">
            <a:avLst/>
          </a:prstGeom>
          <a:noFill/>
          <a:ln>
            <a:noFill/>
          </a:ln>
        </p:spPr>
      </p:pic>
      <p:sp>
        <p:nvSpPr>
          <p:cNvPr id="178" name="Google Shape;178;p10"/>
          <p:cNvSpPr txBox="1"/>
          <p:nvPr/>
        </p:nvSpPr>
        <p:spPr>
          <a:xfrm>
            <a:off x="5970575" y="597960"/>
            <a:ext cx="6003721" cy="535531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Bu örnekte 3 tane Complex sınıfına ait nesne yaratılır: </a:t>
            </a:r>
            <a:endParaRPr/>
          </a:p>
          <a:p>
            <a:pPr marL="0" marR="0" lvl="0" indent="0" algn="just" rtl="0">
              <a:spcBef>
                <a:spcPts val="0"/>
              </a:spcBef>
              <a:spcAft>
                <a:spcPts val="0"/>
              </a:spcAft>
              <a:buNone/>
            </a:pPr>
            <a:r>
              <a:rPr lang="tr-TR" sz="1800" b="1">
                <a:solidFill>
                  <a:srgbClr val="FF3399"/>
                </a:solidFill>
                <a:latin typeface="Times New Roman"/>
                <a:ea typeface="Times New Roman"/>
                <a:cs typeface="Times New Roman"/>
                <a:sym typeface="Times New Roman"/>
              </a:rPr>
              <a:t>c1</a:t>
            </a:r>
            <a:r>
              <a:rPr lang="tr-TR" sz="1800">
                <a:solidFill>
                  <a:schemeClr val="lt1"/>
                </a:solidFill>
                <a:latin typeface="Times New Roman"/>
                <a:ea typeface="Times New Roman"/>
                <a:cs typeface="Times New Roman"/>
                <a:sym typeface="Times New Roman"/>
              </a:rPr>
              <a:t>, </a:t>
            </a:r>
            <a:r>
              <a:rPr lang="tr-TR" sz="1800" b="1">
                <a:solidFill>
                  <a:srgbClr val="FF3399"/>
                </a:solidFill>
                <a:latin typeface="Times New Roman"/>
                <a:ea typeface="Times New Roman"/>
                <a:cs typeface="Times New Roman"/>
                <a:sym typeface="Times New Roman"/>
              </a:rPr>
              <a:t>c2</a:t>
            </a:r>
            <a:r>
              <a:rPr lang="tr-TR" sz="1800">
                <a:solidFill>
                  <a:schemeClr val="lt1"/>
                </a:solidFill>
                <a:latin typeface="Times New Roman"/>
                <a:ea typeface="Times New Roman"/>
                <a:cs typeface="Times New Roman"/>
                <a:sym typeface="Times New Roman"/>
              </a:rPr>
              <a:t> ve </a:t>
            </a:r>
            <a:r>
              <a:rPr lang="tr-TR" sz="1800" b="1">
                <a:solidFill>
                  <a:srgbClr val="FF3399"/>
                </a:solidFill>
                <a:latin typeface="Times New Roman"/>
                <a:ea typeface="Times New Roman"/>
                <a:cs typeface="Times New Roman"/>
                <a:sym typeface="Times New Roman"/>
              </a:rPr>
              <a:t>c3</a:t>
            </a:r>
            <a:r>
              <a:rPr lang="tr-TR" sz="1800">
                <a:solidFill>
                  <a:schemeClr val="lt1"/>
                </a:solidFill>
                <a:latin typeface="Times New Roman"/>
                <a:ea typeface="Times New Roman"/>
                <a:cs typeface="Times New Roman"/>
                <a:sym typeface="Times New Roman"/>
              </a:rPr>
              <a:t>.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b="1">
                <a:solidFill>
                  <a:srgbClr val="FF3399"/>
                </a:solidFill>
                <a:latin typeface="Times New Roman"/>
                <a:ea typeface="Times New Roman"/>
                <a:cs typeface="Times New Roman"/>
                <a:sym typeface="Times New Roman"/>
              </a:rPr>
              <a:t>c1</a:t>
            </a:r>
            <a:r>
              <a:rPr lang="tr-TR" sz="1800">
                <a:solidFill>
                  <a:schemeClr val="lt1"/>
                </a:solidFill>
                <a:latin typeface="Times New Roman"/>
                <a:ea typeface="Times New Roman"/>
                <a:cs typeface="Times New Roman"/>
                <a:sym typeface="Times New Roman"/>
              </a:rPr>
              <a:t> ve </a:t>
            </a:r>
            <a:r>
              <a:rPr lang="tr-TR" sz="1800" b="1">
                <a:solidFill>
                  <a:srgbClr val="FF3399"/>
                </a:solidFill>
                <a:latin typeface="Times New Roman"/>
                <a:ea typeface="Times New Roman"/>
                <a:cs typeface="Times New Roman"/>
                <a:sym typeface="Times New Roman"/>
              </a:rPr>
              <a:t>c2</a:t>
            </a:r>
            <a:r>
              <a:rPr lang="tr-TR" sz="1800">
                <a:solidFill>
                  <a:schemeClr val="lt1"/>
                </a:solidFill>
                <a:latin typeface="Times New Roman"/>
                <a:ea typeface="Times New Roman"/>
                <a:cs typeface="Times New Roman"/>
                <a:sym typeface="Times New Roman"/>
              </a:rPr>
              <a:t> main()’de parametreleri yapıcı ile başlatılır, </a:t>
            </a:r>
            <a:r>
              <a:rPr lang="tr-TR" sz="1800" u="sng">
                <a:solidFill>
                  <a:schemeClr val="lt1"/>
                </a:solidFill>
                <a:latin typeface="Times New Roman"/>
                <a:ea typeface="Times New Roman"/>
                <a:cs typeface="Times New Roman"/>
                <a:sym typeface="Times New Roman"/>
              </a:rPr>
              <a:t>reel</a:t>
            </a:r>
            <a:r>
              <a:rPr lang="tr-TR" sz="1800">
                <a:solidFill>
                  <a:schemeClr val="lt1"/>
                </a:solidFill>
                <a:latin typeface="Times New Roman"/>
                <a:ea typeface="Times New Roman"/>
                <a:cs typeface="Times New Roman"/>
                <a:sym typeface="Times New Roman"/>
              </a:rPr>
              <a:t> ve </a:t>
            </a:r>
            <a:r>
              <a:rPr lang="tr-TR" sz="1800" u="sng">
                <a:solidFill>
                  <a:schemeClr val="lt1"/>
                </a:solidFill>
                <a:latin typeface="Times New Roman"/>
                <a:ea typeface="Times New Roman"/>
                <a:cs typeface="Times New Roman"/>
                <a:sym typeface="Times New Roman"/>
              </a:rPr>
              <a:t>imajiner</a:t>
            </a:r>
            <a:r>
              <a:rPr lang="tr-TR" sz="1800">
                <a:solidFill>
                  <a:schemeClr val="lt1"/>
                </a:solidFill>
                <a:latin typeface="Times New Roman"/>
                <a:ea typeface="Times New Roman"/>
                <a:cs typeface="Times New Roman"/>
                <a:sym typeface="Times New Roman"/>
              </a:rPr>
              <a:t> değerleri atanır. (real ve imag)</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Daha sonra c3=c1+c2 işlemi gerçekleşir. Bu durumda operatör fonksiyonu çağrılır:</a:t>
            </a:r>
            <a:endParaRPr/>
          </a:p>
          <a:p>
            <a:pPr marL="0" marR="0" lvl="0" indent="0" algn="just" rtl="0">
              <a:spcBef>
                <a:spcPts val="0"/>
              </a:spcBef>
              <a:spcAft>
                <a:spcPts val="0"/>
              </a:spcAft>
              <a:buNone/>
            </a:pPr>
            <a:r>
              <a:rPr lang="tr-TR" sz="1800" b="1">
                <a:solidFill>
                  <a:srgbClr val="0070C0"/>
                </a:solidFill>
                <a:latin typeface="Times New Roman"/>
                <a:ea typeface="Times New Roman"/>
                <a:cs typeface="Times New Roman"/>
                <a:sym typeface="Times New Roman"/>
              </a:rPr>
              <a:t>Complex </a:t>
            </a:r>
            <a:r>
              <a:rPr lang="tr-TR" sz="1800" b="1">
                <a:solidFill>
                  <a:srgbClr val="FF0000"/>
                </a:solidFill>
                <a:latin typeface="Times New Roman"/>
                <a:ea typeface="Times New Roman"/>
                <a:cs typeface="Times New Roman"/>
                <a:sym typeface="Times New Roman"/>
              </a:rPr>
              <a:t>operator+ </a:t>
            </a:r>
            <a:r>
              <a:rPr lang="tr-TR" sz="1800" b="1">
                <a:solidFill>
                  <a:srgbClr val="0070C0"/>
                </a:solidFill>
                <a:latin typeface="Times New Roman"/>
                <a:ea typeface="Times New Roman"/>
                <a:cs typeface="Times New Roman"/>
                <a:sym typeface="Times New Roman"/>
              </a:rPr>
              <a:t>(Complex </a:t>
            </a:r>
            <a:r>
              <a:rPr lang="tr-TR" sz="1800" b="1">
                <a:solidFill>
                  <a:srgbClr val="33CC33"/>
                </a:solidFill>
                <a:latin typeface="Times New Roman"/>
                <a:ea typeface="Times New Roman"/>
                <a:cs typeface="Times New Roman"/>
                <a:sym typeface="Times New Roman"/>
              </a:rPr>
              <a:t>obj</a:t>
            </a:r>
            <a:r>
              <a:rPr lang="tr-TR" sz="1800" b="1">
                <a:solidFill>
                  <a:srgbClr val="0070C0"/>
                </a:solidFill>
                <a:latin typeface="Times New Roman"/>
                <a:ea typeface="Times New Roman"/>
                <a:cs typeface="Times New Roman"/>
                <a:sym typeface="Times New Roman"/>
              </a:rPr>
              <a:t>);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b="1">
                <a:solidFill>
                  <a:schemeClr val="lt1"/>
                </a:solidFill>
                <a:latin typeface="Times New Roman"/>
                <a:ea typeface="Times New Roman"/>
                <a:cs typeface="Times New Roman"/>
                <a:sym typeface="Times New Roman"/>
              </a:rPr>
              <a:t>C++’ta ikili operatörlerin operatör aşırı yüklenmesi durumunda, operatörün sağ tarafındaki nesne her zaman derleyici tarafından argüman olarak kabul edilir.</a:t>
            </a:r>
            <a:endParaRPr/>
          </a:p>
          <a:p>
            <a:pPr marL="0" marR="0" lvl="0" indent="0" algn="just" rtl="0">
              <a:spcBef>
                <a:spcPts val="0"/>
              </a:spcBef>
              <a:spcAft>
                <a:spcPts val="0"/>
              </a:spcAft>
              <a:buNone/>
            </a:pPr>
            <a:endParaRPr sz="1800" b="1">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Daha sonra işlem sonucu elde edilen yeni karmaşık sayı return komutu ile döndürülür ve ekranda görüntülenir.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C++’ta ikili operatörler (örneğin -, *, &lt;,+ =…) bu şekilde aşırı yüklenebilirler.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1"/>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Arkadaş (Friend) Fonksiyonlar Kullanarak Operatör Aşırı Yükleme</a:t>
            </a:r>
            <a:endParaRPr sz="2000" b="1" i="0" u="none" strike="noStrike" cap="none">
              <a:solidFill>
                <a:schemeClr val="lt1"/>
              </a:solidFill>
              <a:latin typeface="Times New Roman"/>
              <a:ea typeface="Times New Roman"/>
              <a:cs typeface="Times New Roman"/>
              <a:sym typeface="Times New Roman"/>
            </a:endParaRPr>
          </a:p>
        </p:txBody>
      </p:sp>
      <p:sp>
        <p:nvSpPr>
          <p:cNvPr id="184" name="Google Shape;184;p11"/>
          <p:cNvSpPr txBox="1"/>
          <p:nvPr/>
        </p:nvSpPr>
        <p:spPr>
          <a:xfrm>
            <a:off x="265043" y="597960"/>
            <a:ext cx="11709253"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Operatör aşırı yüklemesini kullanan arkadaş fonksiyonu, sınıfa daha iyi esneklik sağlar.</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Bu işlevler sınıfın bir üyesi değildir ve dolayısıyla ‘this’ işaretçisine sahip değillerdir.</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Bir tekli operatörü aşırı yüklediğinizde, bir argüman iletmeniz gerekir. İkili operatörü aşırı yüklediğinizde, iki argüman iletmeniz gerekir.</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Arkadaş fonksiyonu, bir sınıfın özel üyelerine doğrudan erişebilir.</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Aşırı yüklenmiş bir operatör arkadaşı, bir sınıfın </a:t>
            </a:r>
            <a:r>
              <a:rPr lang="tr-TR" sz="1800" i="1">
                <a:solidFill>
                  <a:schemeClr val="lt1"/>
                </a:solidFill>
                <a:latin typeface="Times New Roman"/>
                <a:ea typeface="Times New Roman"/>
                <a:cs typeface="Times New Roman"/>
                <a:sym typeface="Times New Roman"/>
              </a:rPr>
              <a:t>private</a:t>
            </a:r>
            <a:r>
              <a:rPr lang="tr-TR" sz="1800">
                <a:solidFill>
                  <a:schemeClr val="lt1"/>
                </a:solidFill>
                <a:latin typeface="Times New Roman"/>
                <a:ea typeface="Times New Roman"/>
                <a:cs typeface="Times New Roman"/>
                <a:sym typeface="Times New Roman"/>
              </a:rPr>
              <a:t> veya </a:t>
            </a:r>
            <a:r>
              <a:rPr lang="tr-TR" sz="1800" i="1">
                <a:solidFill>
                  <a:schemeClr val="lt1"/>
                </a:solidFill>
                <a:latin typeface="Times New Roman"/>
                <a:ea typeface="Times New Roman"/>
                <a:cs typeface="Times New Roman"/>
                <a:sym typeface="Times New Roman"/>
              </a:rPr>
              <a:t>public</a:t>
            </a:r>
            <a:r>
              <a:rPr lang="tr-TR" sz="1800">
                <a:solidFill>
                  <a:schemeClr val="lt1"/>
                </a:solidFill>
                <a:latin typeface="Times New Roman"/>
                <a:ea typeface="Times New Roman"/>
                <a:cs typeface="Times New Roman"/>
                <a:sym typeface="Times New Roman"/>
              </a:rPr>
              <a:t> bölümünde bildirilebilir. </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Operatör aşırı yüklenmiş fonksiyon bir arkadaş fonksiyon olduğunda, kullanıcı tanımlı veri türünden </a:t>
            </a:r>
            <a:r>
              <a:rPr lang="tr-TR" sz="1800" b="1">
                <a:solidFill>
                  <a:schemeClr val="lt1"/>
                </a:solidFill>
                <a:latin typeface="Times New Roman"/>
                <a:ea typeface="Times New Roman"/>
                <a:cs typeface="Times New Roman"/>
                <a:sym typeface="Times New Roman"/>
              </a:rPr>
              <a:t>iki parametre </a:t>
            </a:r>
            <a:r>
              <a:rPr lang="tr-TR" sz="1800">
                <a:solidFill>
                  <a:schemeClr val="lt1"/>
                </a:solidFill>
                <a:latin typeface="Times New Roman"/>
                <a:ea typeface="Times New Roman"/>
                <a:cs typeface="Times New Roman"/>
                <a:sym typeface="Times New Roman"/>
              </a:rPr>
              <a:t>(operand) alır.</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Bir operatörün anlamını operatör aşırı yükleyerek arkadaş işlevini yeniden tanımlarken, temel anlamını değiştiremeyiz. Örneğin, eksi operatörünü yeniden tanımlayamayız. Sadece kullanıcı tanımlı veri türüyle çalışmasını sağlarız.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İki örnek ile arkadaş fonksiyonu ile aşırı yükleme durumunu inceleyelim: </a:t>
            </a:r>
            <a:endParaRPr/>
          </a:p>
          <a:p>
            <a:pPr marL="285750" marR="0" lvl="0" indent="-285750" algn="just" rtl="0">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Tekli eksi (-) operatörü</a:t>
            </a:r>
            <a:endParaRPr/>
          </a:p>
          <a:p>
            <a:pPr marL="285750" marR="0" lvl="0" indent="-285750" algn="just" rtl="0">
              <a:spcBef>
                <a:spcPts val="0"/>
              </a:spcBef>
              <a:spcAft>
                <a:spcPts val="0"/>
              </a:spcAft>
              <a:buClr>
                <a:schemeClr val="lt1"/>
              </a:buClr>
              <a:buSzPts val="1800"/>
              <a:buFont typeface="Arial"/>
              <a:buChar char="•"/>
            </a:pPr>
            <a:r>
              <a:rPr lang="tr-TR" sz="1800">
                <a:solidFill>
                  <a:schemeClr val="lt1"/>
                </a:solidFill>
                <a:latin typeface="Times New Roman"/>
                <a:ea typeface="Times New Roman"/>
                <a:cs typeface="Times New Roman"/>
                <a:sym typeface="Times New Roman"/>
              </a:rPr>
              <a:t>Kompleks sayı sınıfı için (+) operatörü</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Tekli eksi (-) operatörünün arkadaş fonksiyon kullanılarak </a:t>
            </a:r>
            <a:r>
              <a:rPr lang="tr-TR" sz="2000" b="1" i="0" u="none" strike="noStrike" cap="none">
                <a:solidFill>
                  <a:srgbClr val="FF0000"/>
                </a:solidFill>
                <a:latin typeface="Times New Roman"/>
                <a:ea typeface="Times New Roman"/>
                <a:cs typeface="Times New Roman"/>
                <a:sym typeface="Times New Roman"/>
              </a:rPr>
              <a:t>değer yoluyla </a:t>
            </a:r>
            <a:r>
              <a:rPr lang="tr-TR" sz="2000" b="1" i="0" u="none" strike="noStrike" cap="none">
                <a:solidFill>
                  <a:srgbClr val="444444"/>
                </a:solidFill>
                <a:latin typeface="Times New Roman"/>
                <a:ea typeface="Times New Roman"/>
                <a:cs typeface="Times New Roman"/>
                <a:sym typeface="Times New Roman"/>
              </a:rPr>
              <a:t>aşırı yüklenmesi</a:t>
            </a:r>
            <a:endParaRPr sz="2000" b="1" i="0" u="none" strike="noStrike" cap="none">
              <a:solidFill>
                <a:schemeClr val="lt1"/>
              </a:solidFill>
              <a:latin typeface="Times New Roman"/>
              <a:ea typeface="Times New Roman"/>
              <a:cs typeface="Times New Roman"/>
              <a:sym typeface="Times New Roman"/>
            </a:endParaRPr>
          </a:p>
        </p:txBody>
      </p:sp>
      <p:sp>
        <p:nvSpPr>
          <p:cNvPr id="190" name="Google Shape;190;p12"/>
          <p:cNvSpPr txBox="1"/>
          <p:nvPr/>
        </p:nvSpPr>
        <p:spPr>
          <a:xfrm>
            <a:off x="265043" y="597960"/>
            <a:ext cx="11709253"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Daha önce üye fonksiyon olarak aşırı yükleme yaptığımız tekli eksi (-) operatörünün, bu kez üye olmayan bir arkadaş fonksiyonu kullanarak aşırı yüklemesini gerçekleştirelim:</a:t>
            </a:r>
            <a:endParaRPr/>
          </a:p>
        </p:txBody>
      </p:sp>
      <p:pic>
        <p:nvPicPr>
          <p:cNvPr id="191" name="Google Shape;191;p12"/>
          <p:cNvPicPr preferRelativeResize="0"/>
          <p:nvPr/>
        </p:nvPicPr>
        <p:blipFill rotWithShape="1">
          <a:blip r:embed="rId3">
            <a:alphaModFix/>
          </a:blip>
          <a:srcRect/>
          <a:stretch/>
        </p:blipFill>
        <p:spPr>
          <a:xfrm>
            <a:off x="615484" y="1346882"/>
            <a:ext cx="4937178" cy="3408051"/>
          </a:xfrm>
          <a:prstGeom prst="rect">
            <a:avLst/>
          </a:prstGeom>
          <a:noFill/>
          <a:ln>
            <a:noFill/>
          </a:ln>
        </p:spPr>
      </p:pic>
      <p:pic>
        <p:nvPicPr>
          <p:cNvPr id="192" name="Google Shape;192;p12"/>
          <p:cNvPicPr preferRelativeResize="0"/>
          <p:nvPr/>
        </p:nvPicPr>
        <p:blipFill rotWithShape="1">
          <a:blip r:embed="rId4">
            <a:alphaModFix/>
          </a:blip>
          <a:srcRect/>
          <a:stretch/>
        </p:blipFill>
        <p:spPr>
          <a:xfrm>
            <a:off x="5670615" y="1353309"/>
            <a:ext cx="4907594" cy="3408051"/>
          </a:xfrm>
          <a:prstGeom prst="rect">
            <a:avLst/>
          </a:prstGeom>
          <a:noFill/>
          <a:ln>
            <a:noFill/>
          </a:ln>
        </p:spPr>
      </p:pic>
      <p:pic>
        <p:nvPicPr>
          <p:cNvPr id="193" name="Google Shape;193;p12"/>
          <p:cNvPicPr preferRelativeResize="0"/>
          <p:nvPr/>
        </p:nvPicPr>
        <p:blipFill rotWithShape="1">
          <a:blip r:embed="rId5">
            <a:alphaModFix/>
          </a:blip>
          <a:srcRect/>
          <a:stretch/>
        </p:blipFill>
        <p:spPr>
          <a:xfrm>
            <a:off x="4050175" y="2087748"/>
            <a:ext cx="1276528" cy="495369"/>
          </a:xfrm>
          <a:prstGeom prst="rect">
            <a:avLst/>
          </a:prstGeom>
          <a:noFill/>
          <a:ln>
            <a:noFill/>
          </a:ln>
        </p:spPr>
      </p:pic>
      <p:sp>
        <p:nvSpPr>
          <p:cNvPr id="194" name="Google Shape;194;p12"/>
          <p:cNvSpPr txBox="1"/>
          <p:nvPr/>
        </p:nvSpPr>
        <p:spPr>
          <a:xfrm>
            <a:off x="178661" y="4966081"/>
            <a:ext cx="11834678"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b="1" i="1">
                <a:solidFill>
                  <a:srgbClr val="FF0000"/>
                </a:solidFill>
                <a:latin typeface="Times New Roman"/>
                <a:ea typeface="Times New Roman"/>
                <a:cs typeface="Times New Roman"/>
                <a:sym typeface="Times New Roman"/>
              </a:rPr>
              <a:t>Çok önemli bir nokta</a:t>
            </a:r>
            <a:r>
              <a:rPr lang="tr-TR" sz="1600">
                <a:solidFill>
                  <a:schemeClr val="lt1"/>
                </a:solidFill>
                <a:latin typeface="Times New Roman"/>
                <a:ea typeface="Times New Roman"/>
                <a:cs typeface="Times New Roman"/>
                <a:sym typeface="Times New Roman"/>
              </a:rPr>
              <a:t>, operatör - aşırı yüklenmiş arkadaş fonksiyonunu çağırır ve obj nesnesinin </a:t>
            </a:r>
            <a:r>
              <a:rPr lang="tr-TR" sz="1600" b="1">
                <a:solidFill>
                  <a:schemeClr val="lt1"/>
                </a:solidFill>
                <a:latin typeface="Times New Roman"/>
                <a:ea typeface="Times New Roman"/>
                <a:cs typeface="Times New Roman"/>
                <a:sym typeface="Times New Roman"/>
              </a:rPr>
              <a:t>kopyası</a:t>
            </a:r>
            <a:r>
              <a:rPr lang="tr-TR" sz="1600">
                <a:solidFill>
                  <a:schemeClr val="lt1"/>
                </a:solidFill>
                <a:latin typeface="Times New Roman"/>
                <a:ea typeface="Times New Roman"/>
                <a:cs typeface="Times New Roman"/>
                <a:sym typeface="Times New Roman"/>
              </a:rPr>
              <a:t> işleve argüman olarak aktarılır, yani obj nesnesi arkadaş fonksiyonuna referans olarak </a:t>
            </a:r>
            <a:r>
              <a:rPr lang="tr-TR" sz="1600" u="sng">
                <a:solidFill>
                  <a:schemeClr val="lt1"/>
                </a:solidFill>
                <a:latin typeface="Times New Roman"/>
                <a:ea typeface="Times New Roman"/>
                <a:cs typeface="Times New Roman"/>
                <a:sym typeface="Times New Roman"/>
              </a:rPr>
              <a:t>değil</a:t>
            </a:r>
            <a:r>
              <a:rPr lang="tr-TR" sz="1600">
                <a:solidFill>
                  <a:schemeClr val="lt1"/>
                </a:solidFill>
                <a:latin typeface="Times New Roman"/>
                <a:ea typeface="Times New Roman"/>
                <a:cs typeface="Times New Roman"/>
                <a:sym typeface="Times New Roman"/>
              </a:rPr>
              <a:t> kopya olarak iletilir. Bu nedenle arkadaş fonksiyonundaki obje nesnesi yansıtılmayacaktır. Bunun için ayrıca bir temp nesnesi oluşturulup, main()’de bu nesne üzerinden değişen değerleri gösterdik. </a:t>
            </a:r>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Şimdi bu işlemi referans yoluyla gerçekleştirelim: </a:t>
            </a:r>
            <a:endParaRPr/>
          </a:p>
        </p:txBody>
      </p:sp>
      <p:sp>
        <p:nvSpPr>
          <p:cNvPr id="195" name="Google Shape;195;p12"/>
          <p:cNvSpPr/>
          <p:nvPr/>
        </p:nvSpPr>
        <p:spPr>
          <a:xfrm>
            <a:off x="781878" y="3057335"/>
            <a:ext cx="4532244" cy="608045"/>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12"/>
          <p:cNvSpPr/>
          <p:nvPr/>
        </p:nvSpPr>
        <p:spPr>
          <a:xfrm>
            <a:off x="5670615" y="1369729"/>
            <a:ext cx="4082985" cy="1360218"/>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7" name="Google Shape;197;p12"/>
          <p:cNvCxnSpPr/>
          <p:nvPr/>
        </p:nvCxnSpPr>
        <p:spPr>
          <a:xfrm>
            <a:off x="4492487" y="3664016"/>
            <a:ext cx="0" cy="212512"/>
          </a:xfrm>
          <a:prstGeom prst="straightConnector1">
            <a:avLst/>
          </a:prstGeom>
          <a:noFill/>
          <a:ln w="12700" cap="flat" cmpd="sng">
            <a:solidFill>
              <a:srgbClr val="33CC33"/>
            </a:solidFill>
            <a:prstDash val="solid"/>
            <a:round/>
            <a:headEnd type="none" w="sm" len="sm"/>
            <a:tailEnd type="triangle" w="med" len="med"/>
          </a:ln>
        </p:spPr>
      </p:cxnSp>
      <p:sp>
        <p:nvSpPr>
          <p:cNvPr id="198" name="Google Shape;198;p12"/>
          <p:cNvSpPr txBox="1"/>
          <p:nvPr/>
        </p:nvSpPr>
        <p:spPr>
          <a:xfrm>
            <a:off x="3511827" y="3873987"/>
            <a:ext cx="2040836" cy="276999"/>
          </a:xfrm>
          <a:prstGeom prst="rect">
            <a:avLst/>
          </a:prstGeom>
          <a:no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bildirimi</a:t>
            </a:r>
            <a:endParaRPr sz="1200">
              <a:solidFill>
                <a:srgbClr val="33CC33"/>
              </a:solidFill>
              <a:latin typeface="Calibri"/>
              <a:ea typeface="Calibri"/>
              <a:cs typeface="Calibri"/>
              <a:sym typeface="Calibri"/>
            </a:endParaRPr>
          </a:p>
        </p:txBody>
      </p:sp>
      <p:sp>
        <p:nvSpPr>
          <p:cNvPr id="199" name="Google Shape;199;p12"/>
          <p:cNvSpPr txBox="1"/>
          <p:nvPr/>
        </p:nvSpPr>
        <p:spPr>
          <a:xfrm>
            <a:off x="9753599" y="2880160"/>
            <a:ext cx="2259739" cy="276999"/>
          </a:xfrm>
          <a:prstGeom prst="rect">
            <a:avLst/>
          </a:prstGeom>
          <a:solidFill>
            <a:schemeClr val="dk1"/>
          </a:solid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tanımlaması</a:t>
            </a:r>
            <a:endParaRPr sz="1200">
              <a:solidFill>
                <a:srgbClr val="33CC33"/>
              </a:solidFill>
              <a:latin typeface="Calibri"/>
              <a:ea typeface="Calibri"/>
              <a:cs typeface="Calibri"/>
              <a:sym typeface="Calibri"/>
            </a:endParaRPr>
          </a:p>
        </p:txBody>
      </p:sp>
      <p:cxnSp>
        <p:nvCxnSpPr>
          <p:cNvPr id="200" name="Google Shape;200;p12"/>
          <p:cNvCxnSpPr>
            <a:endCxn id="199" idx="0"/>
          </p:cNvCxnSpPr>
          <p:nvPr/>
        </p:nvCxnSpPr>
        <p:spPr>
          <a:xfrm>
            <a:off x="9753669" y="1977160"/>
            <a:ext cx="1129800" cy="903000"/>
          </a:xfrm>
          <a:prstGeom prst="straightConnector1">
            <a:avLst/>
          </a:prstGeom>
          <a:noFill/>
          <a:ln w="12700" cap="flat" cmpd="sng">
            <a:solidFill>
              <a:srgbClr val="33CC33"/>
            </a:solidFill>
            <a:prstDash val="solid"/>
            <a:round/>
            <a:headEnd type="none" w="sm" len="sm"/>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3"/>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Tekli eksi (-) operatörünün arkadaş fonksiyon kullanılarak </a:t>
            </a:r>
            <a:r>
              <a:rPr lang="tr-TR" sz="2000" b="1" i="0" u="none" strike="noStrike" cap="none">
                <a:solidFill>
                  <a:srgbClr val="FF0000"/>
                </a:solidFill>
                <a:latin typeface="Times New Roman"/>
                <a:ea typeface="Times New Roman"/>
                <a:cs typeface="Times New Roman"/>
                <a:sym typeface="Times New Roman"/>
              </a:rPr>
              <a:t>referans yoluyla </a:t>
            </a:r>
            <a:r>
              <a:rPr lang="tr-TR" sz="2000" b="1" i="0" u="none" strike="noStrike" cap="none">
                <a:solidFill>
                  <a:srgbClr val="444444"/>
                </a:solidFill>
                <a:latin typeface="Times New Roman"/>
                <a:ea typeface="Times New Roman"/>
                <a:cs typeface="Times New Roman"/>
                <a:sym typeface="Times New Roman"/>
              </a:rPr>
              <a:t>aşırı yüklenmesi</a:t>
            </a:r>
            <a:endParaRPr sz="2000" b="1" i="0" u="none" strike="noStrike" cap="none">
              <a:solidFill>
                <a:schemeClr val="lt1"/>
              </a:solidFill>
              <a:latin typeface="Times New Roman"/>
              <a:ea typeface="Times New Roman"/>
              <a:cs typeface="Times New Roman"/>
              <a:sym typeface="Times New Roman"/>
            </a:endParaRPr>
          </a:p>
        </p:txBody>
      </p:sp>
      <p:sp>
        <p:nvSpPr>
          <p:cNvPr id="206" name="Google Shape;206;p13"/>
          <p:cNvSpPr txBox="1"/>
          <p:nvPr/>
        </p:nvSpPr>
        <p:spPr>
          <a:xfrm>
            <a:off x="265043" y="597960"/>
            <a:ext cx="11709253"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Daha önce üye fonksiyon olarak aşırı yükleme yaptığımız tekli eksi (-) operatörünün, bu kez üye olmayan bir arkadaş fonksiyonu kullanarak aşırı yüklemesini gerçekleştirelim:</a:t>
            </a:r>
            <a:endParaRPr/>
          </a:p>
        </p:txBody>
      </p:sp>
      <p:sp>
        <p:nvSpPr>
          <p:cNvPr id="207" name="Google Shape;207;p13"/>
          <p:cNvSpPr txBox="1"/>
          <p:nvPr/>
        </p:nvSpPr>
        <p:spPr>
          <a:xfrm>
            <a:off x="225268" y="4896886"/>
            <a:ext cx="11788072"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b="1" i="1">
                <a:solidFill>
                  <a:srgbClr val="FF0000"/>
                </a:solidFill>
                <a:latin typeface="Times New Roman"/>
                <a:ea typeface="Times New Roman"/>
                <a:cs typeface="Times New Roman"/>
                <a:sym typeface="Times New Roman"/>
              </a:rPr>
              <a:t>Referans yoluyla veya pointer kullanarak aşırı yükleme yapmak, </a:t>
            </a:r>
            <a:r>
              <a:rPr lang="tr-TR" sz="1800">
                <a:solidFill>
                  <a:schemeClr val="lt1"/>
                </a:solidFill>
                <a:latin typeface="Times New Roman"/>
                <a:ea typeface="Times New Roman"/>
                <a:cs typeface="Times New Roman"/>
                <a:sym typeface="Times New Roman"/>
              </a:rPr>
              <a:t>nesneyi arkadaş fonksiyonuna göre geçirmemize ve aktarılan nesnede kalıcı değişiklikler yapmamıza izin verir.</a:t>
            </a:r>
            <a:endParaRPr/>
          </a:p>
        </p:txBody>
      </p:sp>
      <p:pic>
        <p:nvPicPr>
          <p:cNvPr id="208" name="Google Shape;208;p13"/>
          <p:cNvPicPr preferRelativeResize="0"/>
          <p:nvPr/>
        </p:nvPicPr>
        <p:blipFill rotWithShape="1">
          <a:blip r:embed="rId3">
            <a:alphaModFix/>
          </a:blip>
          <a:srcRect/>
          <a:stretch/>
        </p:blipFill>
        <p:spPr>
          <a:xfrm>
            <a:off x="807428" y="1346566"/>
            <a:ext cx="4772691" cy="3315163"/>
          </a:xfrm>
          <a:prstGeom prst="rect">
            <a:avLst/>
          </a:prstGeom>
          <a:noFill/>
          <a:ln>
            <a:noFill/>
          </a:ln>
        </p:spPr>
      </p:pic>
      <p:pic>
        <p:nvPicPr>
          <p:cNvPr id="209" name="Google Shape;209;p13"/>
          <p:cNvPicPr preferRelativeResize="0"/>
          <p:nvPr/>
        </p:nvPicPr>
        <p:blipFill rotWithShape="1">
          <a:blip r:embed="rId4">
            <a:alphaModFix/>
          </a:blip>
          <a:srcRect/>
          <a:stretch/>
        </p:blipFill>
        <p:spPr>
          <a:xfrm>
            <a:off x="6407649" y="1346566"/>
            <a:ext cx="4317585" cy="3316406"/>
          </a:xfrm>
          <a:prstGeom prst="rect">
            <a:avLst/>
          </a:prstGeom>
          <a:noFill/>
          <a:ln>
            <a:noFill/>
          </a:ln>
        </p:spPr>
      </p:pic>
      <p:sp>
        <p:nvSpPr>
          <p:cNvPr id="210" name="Google Shape;210;p13"/>
          <p:cNvSpPr/>
          <p:nvPr/>
        </p:nvSpPr>
        <p:spPr>
          <a:xfrm>
            <a:off x="1060175" y="2951761"/>
            <a:ext cx="4267199" cy="608045"/>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13"/>
          <p:cNvSpPr txBox="1"/>
          <p:nvPr/>
        </p:nvSpPr>
        <p:spPr>
          <a:xfrm>
            <a:off x="3539283" y="3723573"/>
            <a:ext cx="2040836" cy="276999"/>
          </a:xfrm>
          <a:prstGeom prst="rect">
            <a:avLst/>
          </a:prstGeom>
          <a:no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bildirimi</a:t>
            </a:r>
            <a:endParaRPr sz="1200">
              <a:solidFill>
                <a:srgbClr val="33CC33"/>
              </a:solidFill>
              <a:latin typeface="Calibri"/>
              <a:ea typeface="Calibri"/>
              <a:cs typeface="Calibri"/>
              <a:sym typeface="Calibri"/>
            </a:endParaRPr>
          </a:p>
        </p:txBody>
      </p:sp>
      <p:cxnSp>
        <p:nvCxnSpPr>
          <p:cNvPr id="212" name="Google Shape;212;p13"/>
          <p:cNvCxnSpPr/>
          <p:nvPr/>
        </p:nvCxnSpPr>
        <p:spPr>
          <a:xfrm>
            <a:off x="4492487" y="3558000"/>
            <a:ext cx="0" cy="212512"/>
          </a:xfrm>
          <a:prstGeom prst="straightConnector1">
            <a:avLst/>
          </a:prstGeom>
          <a:noFill/>
          <a:ln w="12700" cap="flat" cmpd="sng">
            <a:solidFill>
              <a:srgbClr val="33CC33"/>
            </a:solidFill>
            <a:prstDash val="solid"/>
            <a:round/>
            <a:headEnd type="none" w="sm" len="sm"/>
            <a:tailEnd type="triangle" w="med" len="med"/>
          </a:ln>
        </p:spPr>
      </p:cxnSp>
      <p:cxnSp>
        <p:nvCxnSpPr>
          <p:cNvPr id="213" name="Google Shape;213;p13"/>
          <p:cNvCxnSpPr/>
          <p:nvPr/>
        </p:nvCxnSpPr>
        <p:spPr>
          <a:xfrm rot="10800000" flipH="1">
            <a:off x="4173170" y="2647409"/>
            <a:ext cx="160291" cy="593064"/>
          </a:xfrm>
          <a:prstGeom prst="straightConnector1">
            <a:avLst/>
          </a:prstGeom>
          <a:noFill/>
          <a:ln w="12700" cap="flat" cmpd="sng">
            <a:solidFill>
              <a:srgbClr val="C00000"/>
            </a:solidFill>
            <a:prstDash val="solid"/>
            <a:round/>
            <a:headEnd type="none" w="sm" len="sm"/>
            <a:tailEnd type="triangle" w="med" len="med"/>
          </a:ln>
        </p:spPr>
      </p:cxnSp>
      <p:sp>
        <p:nvSpPr>
          <p:cNvPr id="214" name="Google Shape;214;p13"/>
          <p:cNvSpPr txBox="1"/>
          <p:nvPr/>
        </p:nvSpPr>
        <p:spPr>
          <a:xfrm>
            <a:off x="3953049" y="2184458"/>
            <a:ext cx="1533352" cy="461665"/>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FF0000"/>
                </a:solidFill>
                <a:latin typeface="Times New Roman"/>
                <a:ea typeface="Times New Roman"/>
                <a:cs typeface="Times New Roman"/>
                <a:sym typeface="Times New Roman"/>
              </a:rPr>
              <a:t>Referans yoluyla argüman geçirme</a:t>
            </a:r>
            <a:endParaRPr sz="1200">
              <a:solidFill>
                <a:srgbClr val="FF0000"/>
              </a:solidFill>
              <a:latin typeface="Calibri"/>
              <a:ea typeface="Calibri"/>
              <a:cs typeface="Calibri"/>
              <a:sym typeface="Calibri"/>
            </a:endParaRPr>
          </a:p>
        </p:txBody>
      </p:sp>
      <p:sp>
        <p:nvSpPr>
          <p:cNvPr id="215" name="Google Shape;215;p13"/>
          <p:cNvSpPr/>
          <p:nvPr/>
        </p:nvSpPr>
        <p:spPr>
          <a:xfrm>
            <a:off x="6407649" y="1340215"/>
            <a:ext cx="3783273" cy="1305908"/>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3"/>
          <p:cNvSpPr txBox="1"/>
          <p:nvPr/>
        </p:nvSpPr>
        <p:spPr>
          <a:xfrm>
            <a:off x="9832400" y="2858433"/>
            <a:ext cx="2180939" cy="276999"/>
          </a:xfrm>
          <a:prstGeom prst="rect">
            <a:avLst/>
          </a:prstGeom>
          <a:solidFill>
            <a:schemeClr val="dk1"/>
          </a:solid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tanımlaması</a:t>
            </a:r>
            <a:endParaRPr sz="1200">
              <a:solidFill>
                <a:srgbClr val="33CC33"/>
              </a:solidFill>
              <a:latin typeface="Calibri"/>
              <a:ea typeface="Calibri"/>
              <a:cs typeface="Calibri"/>
              <a:sym typeface="Calibri"/>
            </a:endParaRPr>
          </a:p>
        </p:txBody>
      </p:sp>
      <p:cxnSp>
        <p:nvCxnSpPr>
          <p:cNvPr id="217" name="Google Shape;217;p13"/>
          <p:cNvCxnSpPr>
            <a:stCxn id="215" idx="3"/>
            <a:endCxn id="216" idx="0"/>
          </p:cNvCxnSpPr>
          <p:nvPr/>
        </p:nvCxnSpPr>
        <p:spPr>
          <a:xfrm>
            <a:off x="10190922" y="1993169"/>
            <a:ext cx="732000" cy="865200"/>
          </a:xfrm>
          <a:prstGeom prst="straightConnector1">
            <a:avLst/>
          </a:prstGeom>
          <a:noFill/>
          <a:ln w="12700" cap="flat" cmpd="sng">
            <a:solidFill>
              <a:srgbClr val="33CC33"/>
            </a:solidFill>
            <a:prstDash val="solid"/>
            <a:round/>
            <a:headEnd type="none" w="sm" len="sm"/>
            <a:tailEnd type="triangle" w="med" len="med"/>
          </a:ln>
        </p:spPr>
      </p:cxnSp>
      <p:sp>
        <p:nvSpPr>
          <p:cNvPr id="218" name="Google Shape;218;p13"/>
          <p:cNvSpPr txBox="1"/>
          <p:nvPr/>
        </p:nvSpPr>
        <p:spPr>
          <a:xfrm>
            <a:off x="9691402" y="1560218"/>
            <a:ext cx="1533352" cy="461665"/>
          </a:xfrm>
          <a:prstGeom prst="rect">
            <a:avLst/>
          </a:prstGeom>
          <a:solidFill>
            <a:schemeClr val="dk1"/>
          </a:solidFill>
          <a:ln w="9525"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FF0000"/>
                </a:solidFill>
                <a:latin typeface="Times New Roman"/>
                <a:ea typeface="Times New Roman"/>
                <a:cs typeface="Times New Roman"/>
                <a:sym typeface="Times New Roman"/>
              </a:rPr>
              <a:t>Referans yoluyla argüman geçirme</a:t>
            </a:r>
            <a:endParaRPr sz="1200">
              <a:solidFill>
                <a:srgbClr val="FF0000"/>
              </a:solidFill>
              <a:latin typeface="Calibri"/>
              <a:ea typeface="Calibri"/>
              <a:cs typeface="Calibri"/>
              <a:sym typeface="Calibri"/>
            </a:endParaRPr>
          </a:p>
        </p:txBody>
      </p:sp>
      <p:cxnSp>
        <p:nvCxnSpPr>
          <p:cNvPr id="219" name="Google Shape;219;p13"/>
          <p:cNvCxnSpPr/>
          <p:nvPr/>
        </p:nvCxnSpPr>
        <p:spPr>
          <a:xfrm>
            <a:off x="9269674" y="1560218"/>
            <a:ext cx="421728" cy="199544"/>
          </a:xfrm>
          <a:prstGeom prst="straightConnector1">
            <a:avLst/>
          </a:prstGeom>
          <a:noFill/>
          <a:ln w="12700" cap="flat" cmpd="sng">
            <a:solidFill>
              <a:srgbClr val="C00000"/>
            </a:solidFill>
            <a:prstDash val="solid"/>
            <a:round/>
            <a:headEnd type="none" w="sm" len="sm"/>
            <a:tailEnd type="triangle" w="med" len="med"/>
          </a:ln>
        </p:spPr>
      </p:cxnSp>
      <p:sp>
        <p:nvSpPr>
          <p:cNvPr id="220" name="Google Shape;220;p13"/>
          <p:cNvSpPr txBox="1"/>
          <p:nvPr/>
        </p:nvSpPr>
        <p:spPr>
          <a:xfrm>
            <a:off x="4019407" y="3245507"/>
            <a:ext cx="387038" cy="309265"/>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200">
              <a:solidFill>
                <a:srgbClr val="FF0000"/>
              </a:solidFill>
              <a:latin typeface="Calibri"/>
              <a:ea typeface="Calibri"/>
              <a:cs typeface="Calibri"/>
              <a:sym typeface="Calibri"/>
            </a:endParaRPr>
          </a:p>
        </p:txBody>
      </p:sp>
      <p:sp>
        <p:nvSpPr>
          <p:cNvPr id="221" name="Google Shape;221;p13"/>
          <p:cNvSpPr txBox="1"/>
          <p:nvPr/>
        </p:nvSpPr>
        <p:spPr>
          <a:xfrm>
            <a:off x="8963570" y="1277418"/>
            <a:ext cx="530195" cy="313071"/>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endParaRPr sz="1200">
              <a:solidFill>
                <a:srgbClr val="FF0000"/>
              </a:solidFill>
              <a:latin typeface="Calibri"/>
              <a:ea typeface="Calibri"/>
              <a:cs typeface="Calibri"/>
              <a:sym typeface="Calibri"/>
            </a:endParaRPr>
          </a:p>
        </p:txBody>
      </p:sp>
      <p:pic>
        <p:nvPicPr>
          <p:cNvPr id="222" name="Google Shape;222;p13"/>
          <p:cNvPicPr preferRelativeResize="0"/>
          <p:nvPr/>
        </p:nvPicPr>
        <p:blipFill rotWithShape="1">
          <a:blip r:embed="rId5">
            <a:alphaModFix/>
          </a:blip>
          <a:srcRect/>
          <a:stretch/>
        </p:blipFill>
        <p:spPr>
          <a:xfrm>
            <a:off x="4559701" y="1462872"/>
            <a:ext cx="926729" cy="3596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Kompleks sayı sınıfı için (+) operatörünün arkadaş fonksiyon kullanılarak aşırı yüklenmesi</a:t>
            </a:r>
            <a:endParaRPr sz="2000" b="1" i="0" u="none" strike="noStrike" cap="none">
              <a:solidFill>
                <a:schemeClr val="lt1"/>
              </a:solidFill>
              <a:latin typeface="Times New Roman"/>
              <a:ea typeface="Times New Roman"/>
              <a:cs typeface="Times New Roman"/>
              <a:sym typeface="Times New Roman"/>
            </a:endParaRPr>
          </a:p>
        </p:txBody>
      </p:sp>
      <p:sp>
        <p:nvSpPr>
          <p:cNvPr id="228" name="Google Shape;228;p14"/>
          <p:cNvSpPr txBox="1"/>
          <p:nvPr/>
        </p:nvSpPr>
        <p:spPr>
          <a:xfrm>
            <a:off x="178661" y="4966081"/>
            <a:ext cx="11834678"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Burada satırı, operatör + aşırı yüklenmiş arkadaş fonksiyonu çağırılır ve obj1 ve obj2 nesneleri, bu fonksiyona referans yoluyla argümanlar olarak iletilir. Daha sonra bu iki nesnenin toplamının sonuç değeri döndürülür. </a:t>
            </a:r>
            <a:endParaRPr/>
          </a:p>
        </p:txBody>
      </p:sp>
      <p:pic>
        <p:nvPicPr>
          <p:cNvPr id="229" name="Google Shape;229;p14"/>
          <p:cNvPicPr preferRelativeResize="0"/>
          <p:nvPr/>
        </p:nvPicPr>
        <p:blipFill rotWithShape="1">
          <a:blip r:embed="rId3">
            <a:alphaModFix/>
          </a:blip>
          <a:srcRect/>
          <a:stretch/>
        </p:blipFill>
        <p:spPr>
          <a:xfrm>
            <a:off x="219375" y="638375"/>
            <a:ext cx="5391719" cy="3841003"/>
          </a:xfrm>
          <a:prstGeom prst="rect">
            <a:avLst/>
          </a:prstGeom>
          <a:noFill/>
          <a:ln>
            <a:noFill/>
          </a:ln>
        </p:spPr>
      </p:pic>
      <p:pic>
        <p:nvPicPr>
          <p:cNvPr id="230" name="Google Shape;230;p14"/>
          <p:cNvPicPr preferRelativeResize="0"/>
          <p:nvPr/>
        </p:nvPicPr>
        <p:blipFill rotWithShape="1">
          <a:blip r:embed="rId4">
            <a:alphaModFix/>
          </a:blip>
          <a:srcRect/>
          <a:stretch/>
        </p:blipFill>
        <p:spPr>
          <a:xfrm>
            <a:off x="5830468" y="616607"/>
            <a:ext cx="5321194" cy="3849375"/>
          </a:xfrm>
          <a:prstGeom prst="rect">
            <a:avLst/>
          </a:prstGeom>
          <a:noFill/>
          <a:ln>
            <a:noFill/>
          </a:ln>
        </p:spPr>
      </p:pic>
      <p:sp>
        <p:nvSpPr>
          <p:cNvPr id="231" name="Google Shape;231;p14"/>
          <p:cNvSpPr/>
          <p:nvPr/>
        </p:nvSpPr>
        <p:spPr>
          <a:xfrm>
            <a:off x="529842" y="2460987"/>
            <a:ext cx="5147326" cy="608045"/>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2" name="Google Shape;232;p14"/>
          <p:cNvCxnSpPr/>
          <p:nvPr/>
        </p:nvCxnSpPr>
        <p:spPr>
          <a:xfrm>
            <a:off x="4481909" y="3089820"/>
            <a:ext cx="143100" cy="339180"/>
          </a:xfrm>
          <a:prstGeom prst="straightConnector1">
            <a:avLst/>
          </a:prstGeom>
          <a:noFill/>
          <a:ln w="12700" cap="flat" cmpd="sng">
            <a:solidFill>
              <a:srgbClr val="33CC33"/>
            </a:solidFill>
            <a:prstDash val="solid"/>
            <a:round/>
            <a:headEnd type="none" w="sm" len="sm"/>
            <a:tailEnd type="triangle" w="med" len="med"/>
          </a:ln>
        </p:spPr>
      </p:cxnSp>
      <p:sp>
        <p:nvSpPr>
          <p:cNvPr id="233" name="Google Shape;233;p14"/>
          <p:cNvSpPr txBox="1"/>
          <p:nvPr/>
        </p:nvSpPr>
        <p:spPr>
          <a:xfrm>
            <a:off x="3688049" y="3430631"/>
            <a:ext cx="1923045" cy="276999"/>
          </a:xfrm>
          <a:prstGeom prst="rect">
            <a:avLst/>
          </a:prstGeom>
          <a:no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bildirimi</a:t>
            </a:r>
            <a:endParaRPr sz="1200">
              <a:solidFill>
                <a:srgbClr val="33CC33"/>
              </a:solidFill>
              <a:latin typeface="Calibri"/>
              <a:ea typeface="Calibri"/>
              <a:cs typeface="Calibri"/>
              <a:sym typeface="Calibri"/>
            </a:endParaRPr>
          </a:p>
        </p:txBody>
      </p:sp>
      <p:sp>
        <p:nvSpPr>
          <p:cNvPr id="234" name="Google Shape;234;p14"/>
          <p:cNvSpPr/>
          <p:nvPr/>
        </p:nvSpPr>
        <p:spPr>
          <a:xfrm>
            <a:off x="5851036" y="598646"/>
            <a:ext cx="5147326" cy="1836008"/>
          </a:xfrm>
          <a:prstGeom prst="rect">
            <a:avLst/>
          </a:prstGeom>
          <a:noFill/>
          <a:ln w="15875" cap="flat" cmpd="sng">
            <a:solidFill>
              <a:srgbClr val="33CC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5" name="Google Shape;235;p14"/>
          <p:cNvCxnSpPr>
            <a:endCxn id="236" idx="0"/>
          </p:cNvCxnSpPr>
          <p:nvPr/>
        </p:nvCxnSpPr>
        <p:spPr>
          <a:xfrm>
            <a:off x="10643913" y="2427933"/>
            <a:ext cx="431100" cy="422100"/>
          </a:xfrm>
          <a:prstGeom prst="straightConnector1">
            <a:avLst/>
          </a:prstGeom>
          <a:noFill/>
          <a:ln w="12700" cap="flat" cmpd="sng">
            <a:solidFill>
              <a:srgbClr val="33CC33"/>
            </a:solidFill>
            <a:prstDash val="solid"/>
            <a:round/>
            <a:headEnd type="none" w="sm" len="sm"/>
            <a:tailEnd type="triangle" w="med" len="med"/>
          </a:ln>
        </p:spPr>
      </p:cxnSp>
      <p:sp>
        <p:nvSpPr>
          <p:cNvPr id="236" name="Google Shape;236;p14"/>
          <p:cNvSpPr txBox="1"/>
          <p:nvPr/>
        </p:nvSpPr>
        <p:spPr>
          <a:xfrm>
            <a:off x="9916111" y="2850033"/>
            <a:ext cx="2317803" cy="276999"/>
          </a:xfrm>
          <a:prstGeom prst="rect">
            <a:avLst/>
          </a:prstGeom>
          <a:solidFill>
            <a:schemeClr val="dk1"/>
          </a:solidFill>
          <a:ln w="9525" cap="flat" cmpd="sng">
            <a:solidFill>
              <a:srgbClr val="33CC33"/>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1200">
                <a:solidFill>
                  <a:srgbClr val="33CC33"/>
                </a:solidFill>
                <a:latin typeface="Times New Roman"/>
                <a:ea typeface="Times New Roman"/>
                <a:cs typeface="Times New Roman"/>
                <a:sym typeface="Times New Roman"/>
              </a:rPr>
              <a:t>Arkadaş fonksiyon tanımlaması</a:t>
            </a:r>
            <a:endParaRPr sz="1200">
              <a:solidFill>
                <a:srgbClr val="33CC33"/>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5"/>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İlişkisel Operatörlerin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242" name="Google Shape;242;p15"/>
          <p:cNvSpPr txBox="1"/>
          <p:nvPr/>
        </p:nvSpPr>
        <p:spPr>
          <a:xfrm>
            <a:off x="265043" y="597960"/>
            <a:ext cx="11709253" cy="213904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C++ dilinde yerleşik veri türlerini karşılaştırmak için kullanılabilen (&lt;, &gt;, &lt;=, &gt;=, ==, ... gibi) çeşitli ilişkisel operatörler vardır.</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2500" b="1">
                <a:solidFill>
                  <a:srgbClr val="0070C0"/>
                </a:solidFill>
                <a:latin typeface="Times New Roman"/>
                <a:ea typeface="Times New Roman"/>
                <a:cs typeface="Times New Roman"/>
                <a:sym typeface="Times New Roman"/>
              </a:rPr>
              <a:t>&lt; </a:t>
            </a:r>
            <a:r>
              <a:rPr lang="tr-TR" sz="1800">
                <a:solidFill>
                  <a:schemeClr val="lt1"/>
                </a:solidFill>
                <a:latin typeface="Times New Roman"/>
                <a:ea typeface="Times New Roman"/>
                <a:cs typeface="Times New Roman"/>
                <a:sym typeface="Times New Roman"/>
              </a:rPr>
              <a:t>operatörünün aşırı yüklemesini kesirli iki sayının karşılaştırılması örneği için ele alalım:</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6"/>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 Küçüktür (&lt;) operatörü için aşırı yükleme</a:t>
            </a:r>
            <a:endParaRPr sz="2000" b="1" i="0" u="none" strike="noStrike" cap="none">
              <a:solidFill>
                <a:schemeClr val="lt1"/>
              </a:solidFill>
              <a:latin typeface="Times New Roman"/>
              <a:ea typeface="Times New Roman"/>
              <a:cs typeface="Times New Roman"/>
              <a:sym typeface="Times New Roman"/>
            </a:endParaRPr>
          </a:p>
        </p:txBody>
      </p:sp>
      <p:sp>
        <p:nvSpPr>
          <p:cNvPr id="248" name="Google Shape;248;p16"/>
          <p:cNvSpPr txBox="1"/>
          <p:nvPr/>
        </p:nvSpPr>
        <p:spPr>
          <a:xfrm>
            <a:off x="5870674" y="2872862"/>
            <a:ext cx="6096000" cy="35394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Rational türünden R1 ve R2 nesneleri parametreli yapıcı ile başlatılıyor. İlk olarak bu rasyonel sayıların değeri sınıfın üye fonksiyonu olan displayResult() fonksiyonu çağırılarak gösteriliyor. </a:t>
            </a:r>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600" b="1">
                <a:solidFill>
                  <a:schemeClr val="lt1"/>
                </a:solidFill>
                <a:latin typeface="Times New Roman"/>
                <a:ea typeface="Times New Roman"/>
                <a:cs typeface="Times New Roman"/>
                <a:sym typeface="Times New Roman"/>
              </a:rPr>
              <a:t>if</a:t>
            </a:r>
            <a:r>
              <a:rPr lang="tr-TR" sz="1600">
                <a:solidFill>
                  <a:schemeClr val="lt1"/>
                </a:solidFill>
                <a:latin typeface="Times New Roman"/>
                <a:ea typeface="Times New Roman"/>
                <a:cs typeface="Times New Roman"/>
                <a:sym typeface="Times New Roman"/>
              </a:rPr>
              <a:t> koşulu ile R1&lt;R2 satırı gerçeklendiği anda, Rational sınıfının operatör fonksiyonu çağırılıyor: </a:t>
            </a:r>
            <a:endParaRPr/>
          </a:p>
          <a:p>
            <a:pPr marL="0" marR="0" lvl="0" indent="0" algn="just" rtl="0">
              <a:spcBef>
                <a:spcPts val="0"/>
              </a:spcBef>
              <a:spcAft>
                <a:spcPts val="0"/>
              </a:spcAft>
              <a:buNone/>
            </a:pPr>
            <a:r>
              <a:rPr lang="tr-TR" sz="1600" b="1">
                <a:solidFill>
                  <a:srgbClr val="414141"/>
                </a:solidFill>
                <a:latin typeface="Times New Roman"/>
                <a:ea typeface="Times New Roman"/>
                <a:cs typeface="Times New Roman"/>
                <a:sym typeface="Times New Roman"/>
              </a:rPr>
              <a:t>bool</a:t>
            </a:r>
            <a:r>
              <a:rPr lang="tr-TR" sz="1600" b="1">
                <a:solidFill>
                  <a:schemeClr val="lt1"/>
                </a:solidFill>
                <a:latin typeface="Times New Roman"/>
                <a:ea typeface="Times New Roman"/>
                <a:cs typeface="Times New Roman"/>
                <a:sym typeface="Times New Roman"/>
              </a:rPr>
              <a:t> </a:t>
            </a:r>
            <a:r>
              <a:rPr lang="tr-TR" sz="1600" b="1">
                <a:solidFill>
                  <a:srgbClr val="FF0000"/>
                </a:solidFill>
                <a:latin typeface="Times New Roman"/>
                <a:ea typeface="Times New Roman"/>
                <a:cs typeface="Times New Roman"/>
                <a:sym typeface="Times New Roman"/>
              </a:rPr>
              <a:t>operator&lt; </a:t>
            </a:r>
            <a:r>
              <a:rPr lang="tr-TR" sz="1600" b="1">
                <a:solidFill>
                  <a:schemeClr val="lt1"/>
                </a:solidFill>
                <a:latin typeface="Times New Roman"/>
                <a:ea typeface="Times New Roman"/>
                <a:cs typeface="Times New Roman"/>
                <a:sym typeface="Times New Roman"/>
              </a:rPr>
              <a:t>(</a:t>
            </a:r>
            <a:r>
              <a:rPr lang="tr-TR" sz="1600" b="1">
                <a:solidFill>
                  <a:srgbClr val="0070C0"/>
                </a:solidFill>
                <a:latin typeface="Times New Roman"/>
                <a:ea typeface="Times New Roman"/>
                <a:cs typeface="Times New Roman"/>
                <a:sym typeface="Times New Roman"/>
              </a:rPr>
              <a:t>Rational</a:t>
            </a:r>
            <a:r>
              <a:rPr lang="tr-TR" sz="1600" b="1">
                <a:solidFill>
                  <a:schemeClr val="lt1"/>
                </a:solidFill>
                <a:latin typeface="Times New Roman"/>
                <a:ea typeface="Times New Roman"/>
                <a:cs typeface="Times New Roman"/>
                <a:sym typeface="Times New Roman"/>
              </a:rPr>
              <a:t> </a:t>
            </a:r>
            <a:r>
              <a:rPr lang="tr-TR" sz="1600" b="1">
                <a:solidFill>
                  <a:srgbClr val="33CC33"/>
                </a:solidFill>
                <a:latin typeface="Times New Roman"/>
                <a:ea typeface="Times New Roman"/>
                <a:cs typeface="Times New Roman"/>
                <a:sym typeface="Times New Roman"/>
              </a:rPr>
              <a:t>obj</a:t>
            </a:r>
            <a:r>
              <a:rPr lang="tr-TR" sz="1600" b="1">
                <a:solidFill>
                  <a:schemeClr val="lt1"/>
                </a:solidFill>
                <a:latin typeface="Times New Roman"/>
                <a:ea typeface="Times New Roman"/>
                <a:cs typeface="Times New Roman"/>
                <a:sym typeface="Times New Roman"/>
              </a:rPr>
              <a:t> )</a:t>
            </a:r>
            <a:r>
              <a:rPr lang="tr-TR" sz="1600">
                <a:solidFill>
                  <a:schemeClr val="lt1"/>
                </a:solidFill>
                <a:latin typeface="Times New Roman"/>
                <a:ea typeface="Times New Roman"/>
                <a:cs typeface="Times New Roman"/>
                <a:sym typeface="Times New Roman"/>
              </a:rPr>
              <a:t> </a:t>
            </a:r>
            <a:endParaRPr/>
          </a:p>
          <a:p>
            <a:pPr marL="0" marR="0" lvl="0" indent="0" algn="l" rtl="0">
              <a:spcBef>
                <a:spcPts val="0"/>
              </a:spcBef>
              <a:spcAft>
                <a:spcPts val="0"/>
              </a:spcAft>
              <a:buNone/>
            </a:pPr>
            <a:endParaRPr sz="1600" b="1">
              <a:solidFill>
                <a:srgbClr val="414141"/>
              </a:solidFill>
              <a:latin typeface="Times New Roman"/>
              <a:ea typeface="Times New Roman"/>
              <a:cs typeface="Times New Roman"/>
              <a:sym typeface="Times New Roman"/>
            </a:endParaRPr>
          </a:p>
          <a:p>
            <a:pPr marL="0" marR="0" lvl="0" indent="0" algn="l" rtl="0">
              <a:spcBef>
                <a:spcPts val="0"/>
              </a:spcBef>
              <a:spcAft>
                <a:spcPts val="0"/>
              </a:spcAft>
              <a:buNone/>
            </a:pPr>
            <a:r>
              <a:rPr lang="tr-TR" sz="1600" b="1">
                <a:solidFill>
                  <a:srgbClr val="414141"/>
                </a:solidFill>
                <a:latin typeface="Times New Roman"/>
                <a:ea typeface="Times New Roman"/>
                <a:cs typeface="Times New Roman"/>
                <a:sym typeface="Times New Roman"/>
              </a:rPr>
              <a:t>bool</a:t>
            </a:r>
            <a:r>
              <a:rPr lang="tr-TR" sz="1600">
                <a:solidFill>
                  <a:schemeClr val="lt1"/>
                </a:solidFill>
                <a:latin typeface="Times New Roman"/>
                <a:ea typeface="Times New Roman"/>
                <a:cs typeface="Times New Roman"/>
                <a:sym typeface="Times New Roman"/>
              </a:rPr>
              <a:t> geri dönüş değerine sahip fonksiyonların geri döndürdüğü değer </a:t>
            </a:r>
            <a:r>
              <a:rPr lang="tr-TR" sz="1600" b="1">
                <a:solidFill>
                  <a:srgbClr val="0070C0"/>
                </a:solidFill>
                <a:latin typeface="Times New Roman"/>
                <a:ea typeface="Times New Roman"/>
                <a:cs typeface="Times New Roman"/>
                <a:sym typeface="Times New Roman"/>
              </a:rPr>
              <a:t>true</a:t>
            </a:r>
            <a:r>
              <a:rPr lang="tr-TR" sz="1600">
                <a:solidFill>
                  <a:schemeClr val="lt1"/>
                </a:solidFill>
                <a:latin typeface="Times New Roman"/>
                <a:ea typeface="Times New Roman"/>
                <a:cs typeface="Times New Roman"/>
                <a:sym typeface="Times New Roman"/>
              </a:rPr>
              <a:t> ya da </a:t>
            </a:r>
            <a:r>
              <a:rPr lang="tr-TR" sz="1600" b="1">
                <a:solidFill>
                  <a:srgbClr val="0070C0"/>
                </a:solidFill>
                <a:latin typeface="Times New Roman"/>
                <a:ea typeface="Times New Roman"/>
                <a:cs typeface="Times New Roman"/>
                <a:sym typeface="Times New Roman"/>
              </a:rPr>
              <a:t>false</a:t>
            </a:r>
            <a:r>
              <a:rPr lang="tr-TR" sz="1600">
                <a:solidFill>
                  <a:schemeClr val="lt1"/>
                </a:solidFill>
                <a:latin typeface="Times New Roman"/>
                <a:ea typeface="Times New Roman"/>
                <a:cs typeface="Times New Roman"/>
                <a:sym typeface="Times New Roman"/>
              </a:rPr>
              <a:t> olur.</a:t>
            </a:r>
            <a:endParaRPr/>
          </a:p>
          <a:p>
            <a:pPr marL="0" marR="0" lvl="0" indent="0" algn="l"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600">
                <a:solidFill>
                  <a:schemeClr val="lt1"/>
                </a:solidFill>
                <a:latin typeface="Times New Roman"/>
                <a:ea typeface="Times New Roman"/>
                <a:cs typeface="Times New Roman"/>
                <a:sym typeface="Times New Roman"/>
              </a:rPr>
              <a:t>Peki operatör fonksiyonun içerisinde neler oluyor? </a:t>
            </a:r>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600">
              <a:solidFill>
                <a:schemeClr val="lt1"/>
              </a:solidFill>
              <a:latin typeface="Times New Roman"/>
              <a:ea typeface="Times New Roman"/>
              <a:cs typeface="Times New Roman"/>
              <a:sym typeface="Times New Roman"/>
            </a:endParaRPr>
          </a:p>
        </p:txBody>
      </p:sp>
      <p:pic>
        <p:nvPicPr>
          <p:cNvPr id="249" name="Google Shape;249;p16"/>
          <p:cNvPicPr preferRelativeResize="0"/>
          <p:nvPr/>
        </p:nvPicPr>
        <p:blipFill rotWithShape="1">
          <a:blip r:embed="rId3">
            <a:alphaModFix/>
          </a:blip>
          <a:srcRect/>
          <a:stretch/>
        </p:blipFill>
        <p:spPr>
          <a:xfrm>
            <a:off x="180914" y="595824"/>
            <a:ext cx="5508846" cy="4238304"/>
          </a:xfrm>
          <a:prstGeom prst="rect">
            <a:avLst/>
          </a:prstGeom>
          <a:noFill/>
          <a:ln>
            <a:noFill/>
          </a:ln>
        </p:spPr>
      </p:pic>
      <p:pic>
        <p:nvPicPr>
          <p:cNvPr id="250" name="Google Shape;250;p16"/>
          <p:cNvPicPr preferRelativeResize="0"/>
          <p:nvPr/>
        </p:nvPicPr>
        <p:blipFill rotWithShape="1">
          <a:blip r:embed="rId4">
            <a:alphaModFix/>
          </a:blip>
          <a:srcRect/>
          <a:stretch/>
        </p:blipFill>
        <p:spPr>
          <a:xfrm>
            <a:off x="5870674" y="595824"/>
            <a:ext cx="3714102" cy="2277038"/>
          </a:xfrm>
          <a:prstGeom prst="rect">
            <a:avLst/>
          </a:prstGeom>
          <a:noFill/>
          <a:ln>
            <a:noFill/>
          </a:ln>
        </p:spPr>
      </p:pic>
      <p:sp>
        <p:nvSpPr>
          <p:cNvPr id="251" name="Google Shape;251;p16"/>
          <p:cNvSpPr txBox="1"/>
          <p:nvPr/>
        </p:nvSpPr>
        <p:spPr>
          <a:xfrm>
            <a:off x="3355729" y="805305"/>
            <a:ext cx="2200347" cy="830997"/>
          </a:xfrm>
          <a:prstGeom prst="rect">
            <a:avLst/>
          </a:prstGeom>
          <a:solidFill>
            <a:schemeClr val="dk2"/>
          </a:solidFill>
          <a:ln w="9525" cap="flat" cmpd="sng">
            <a:solidFill>
              <a:srgbClr val="59347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chemeClr val="dk1"/>
                </a:solidFill>
                <a:latin typeface="Consolas"/>
                <a:ea typeface="Consolas"/>
                <a:cs typeface="Consolas"/>
                <a:sym typeface="Consolas"/>
              </a:rPr>
              <a:t>Result: 0.6</a:t>
            </a:r>
            <a:endParaRPr/>
          </a:p>
          <a:p>
            <a:pPr marL="0" marR="0" lvl="0" indent="0" algn="l" rtl="0">
              <a:spcBef>
                <a:spcPts val="0"/>
              </a:spcBef>
              <a:spcAft>
                <a:spcPts val="0"/>
              </a:spcAft>
              <a:buNone/>
            </a:pPr>
            <a:r>
              <a:rPr lang="tr-TR" sz="1600">
                <a:solidFill>
                  <a:schemeClr val="dk1"/>
                </a:solidFill>
                <a:latin typeface="Consolas"/>
                <a:ea typeface="Consolas"/>
                <a:cs typeface="Consolas"/>
                <a:sym typeface="Consolas"/>
              </a:rPr>
              <a:t>Result: 0.571429</a:t>
            </a:r>
            <a:endParaRPr/>
          </a:p>
          <a:p>
            <a:pPr marL="0" marR="0" lvl="0" indent="0" algn="l" rtl="0">
              <a:spcBef>
                <a:spcPts val="0"/>
              </a:spcBef>
              <a:spcAft>
                <a:spcPts val="0"/>
              </a:spcAft>
              <a:buNone/>
            </a:pPr>
            <a:r>
              <a:rPr lang="tr-TR" sz="1600">
                <a:solidFill>
                  <a:schemeClr val="dk1"/>
                </a:solidFill>
                <a:latin typeface="Consolas"/>
                <a:ea typeface="Consolas"/>
                <a:cs typeface="Consolas"/>
                <a:sym typeface="Consolas"/>
              </a:rPr>
              <a:t>R2 is less than R1</a:t>
            </a:r>
            <a:endParaRPr/>
          </a:p>
        </p:txBody>
      </p:sp>
      <p:pic>
        <p:nvPicPr>
          <p:cNvPr id="252" name="Google Shape;252;p16" descr="Direction, finger, hand, indexfinger icon - Download on Iconfinder"/>
          <p:cNvPicPr preferRelativeResize="0"/>
          <p:nvPr/>
        </p:nvPicPr>
        <p:blipFill rotWithShape="1">
          <a:blip r:embed="rId5">
            <a:alphaModFix/>
          </a:blip>
          <a:srcRect/>
          <a:stretch/>
        </p:blipFill>
        <p:spPr>
          <a:xfrm>
            <a:off x="10615546" y="5049196"/>
            <a:ext cx="1351128" cy="13511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7"/>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 Küçüktür (&lt;) operatörü için aşırı yükleme</a:t>
            </a:r>
            <a:endParaRPr sz="2000" b="1" i="0" u="none" strike="noStrike" cap="none">
              <a:solidFill>
                <a:schemeClr val="lt1"/>
              </a:solidFill>
              <a:latin typeface="Times New Roman"/>
              <a:ea typeface="Times New Roman"/>
              <a:cs typeface="Times New Roman"/>
              <a:sym typeface="Times New Roman"/>
            </a:endParaRPr>
          </a:p>
        </p:txBody>
      </p:sp>
      <p:sp>
        <p:nvSpPr>
          <p:cNvPr id="258" name="Google Shape;258;p17"/>
          <p:cNvSpPr txBox="1"/>
          <p:nvPr/>
        </p:nvSpPr>
        <p:spPr>
          <a:xfrm>
            <a:off x="265043" y="597960"/>
            <a:ext cx="11709253"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Toplama (+) operatöründe olduğu gibi, küçüktür (&lt;) operatörü için de operatör fonksiyonunun sağ tarafındaki nesne her zaman derleyici tarafından argüman olarak kabul edilir.</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Operatör fonksiyonu içerisinde kesirli sayılar pay ve payda cinsinden incelenip </a:t>
            </a:r>
            <a:r>
              <a:rPr lang="tr-TR" sz="1800" i="1">
                <a:solidFill>
                  <a:srgbClr val="0070C0"/>
                </a:solidFill>
                <a:latin typeface="Times New Roman"/>
                <a:ea typeface="Times New Roman"/>
                <a:cs typeface="Times New Roman"/>
                <a:sym typeface="Times New Roman"/>
              </a:rPr>
              <a:t>true</a:t>
            </a:r>
            <a:r>
              <a:rPr lang="tr-TR" sz="1800">
                <a:solidFill>
                  <a:schemeClr val="lt1"/>
                </a:solidFill>
                <a:latin typeface="Times New Roman"/>
                <a:ea typeface="Times New Roman"/>
                <a:cs typeface="Times New Roman"/>
                <a:sym typeface="Times New Roman"/>
              </a:rPr>
              <a:t> veya </a:t>
            </a:r>
            <a:r>
              <a:rPr lang="tr-TR" sz="1800" i="1">
                <a:solidFill>
                  <a:srgbClr val="FF0000"/>
                </a:solidFill>
                <a:latin typeface="Times New Roman"/>
                <a:ea typeface="Times New Roman"/>
                <a:cs typeface="Times New Roman"/>
                <a:sym typeface="Times New Roman"/>
              </a:rPr>
              <a:t>false</a:t>
            </a:r>
            <a:r>
              <a:rPr lang="tr-TR" sz="1800">
                <a:solidFill>
                  <a:schemeClr val="lt1"/>
                </a:solidFill>
                <a:latin typeface="Times New Roman"/>
                <a:ea typeface="Times New Roman"/>
                <a:cs typeface="Times New Roman"/>
                <a:sym typeface="Times New Roman"/>
              </a:rPr>
              <a:t> değer döndürmesi sağlanıyor.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Buna göre aşağıdaki 3 durum için operatör fonksiyonunun </a:t>
            </a:r>
            <a:r>
              <a:rPr lang="tr-TR" sz="1800" i="1">
                <a:solidFill>
                  <a:srgbClr val="0070C0"/>
                </a:solidFill>
                <a:latin typeface="Times New Roman"/>
                <a:ea typeface="Times New Roman"/>
                <a:cs typeface="Times New Roman"/>
                <a:sym typeface="Times New Roman"/>
              </a:rPr>
              <a:t>true</a:t>
            </a:r>
            <a:r>
              <a:rPr lang="tr-TR" sz="1800">
                <a:solidFill>
                  <a:schemeClr val="lt1"/>
                </a:solidFill>
                <a:latin typeface="Times New Roman"/>
                <a:ea typeface="Times New Roman"/>
                <a:cs typeface="Times New Roman"/>
                <a:sym typeface="Times New Roman"/>
              </a:rPr>
              <a:t> dönmesi gerekir: </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Paylar eşitse, paydası büyük olan KÜÇÜKTÜR. </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Paydalar eşitse, payı küçük olan KÜÇÜKTÜR.</a:t>
            </a:r>
            <a:endParaRPr/>
          </a:p>
          <a:p>
            <a:pPr marL="742950" marR="0" lvl="1" indent="-285750" algn="just" rtl="0">
              <a:spcBef>
                <a:spcPts val="0"/>
              </a:spcBef>
              <a:spcAft>
                <a:spcPts val="0"/>
              </a:spcAft>
              <a:buClr>
                <a:schemeClr val="lt1"/>
              </a:buClr>
              <a:buSzPts val="1800"/>
              <a:buFont typeface="Arial"/>
              <a:buChar char="•"/>
            </a:pPr>
            <a:r>
              <a:rPr lang="tr-TR" sz="1800" b="0" i="0" u="none" strike="noStrike" cap="none">
                <a:solidFill>
                  <a:schemeClr val="lt1"/>
                </a:solidFill>
                <a:latin typeface="Times New Roman"/>
                <a:ea typeface="Times New Roman"/>
                <a:cs typeface="Times New Roman"/>
                <a:sym typeface="Times New Roman"/>
              </a:rPr>
              <a:t>Pay ve paydalar farklı ise, payda eşitlemesi yapılır. Eşitleme sonrasında yeni pay değeri küçük olan KÜÇÜKTÜR.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Küçüktür operatörüne aşırı yükleme yaptığımız için, küçük olan durumlar üzerinden algoritmamızı kurduk. </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Bunun dışında kalan tüm durumlar için fonksiyonun </a:t>
            </a:r>
            <a:r>
              <a:rPr lang="tr-TR" sz="1800" i="1">
                <a:solidFill>
                  <a:srgbClr val="FF0000"/>
                </a:solidFill>
                <a:latin typeface="Times New Roman"/>
                <a:ea typeface="Times New Roman"/>
                <a:cs typeface="Times New Roman"/>
                <a:sym typeface="Times New Roman"/>
              </a:rPr>
              <a:t>false</a:t>
            </a:r>
            <a:r>
              <a:rPr lang="tr-TR" sz="1800">
                <a:solidFill>
                  <a:schemeClr val="lt1"/>
                </a:solidFill>
                <a:latin typeface="Times New Roman"/>
                <a:ea typeface="Times New Roman"/>
                <a:cs typeface="Times New Roman"/>
                <a:sym typeface="Times New Roman"/>
              </a:rPr>
              <a:t> döndürmesi gerekiyor. </a:t>
            </a:r>
            <a:r>
              <a:rPr lang="tr-TR" sz="1800" i="1">
                <a:solidFill>
                  <a:schemeClr val="lt1"/>
                </a:solidFill>
                <a:latin typeface="Times New Roman"/>
                <a:ea typeface="Times New Roman"/>
                <a:cs typeface="Times New Roman"/>
                <a:sym typeface="Times New Roman"/>
              </a:rPr>
              <a:t>return </a:t>
            </a:r>
            <a:r>
              <a:rPr lang="tr-TR" sz="1800" i="1">
                <a:solidFill>
                  <a:srgbClr val="FF0000"/>
                </a:solidFill>
                <a:latin typeface="Times New Roman"/>
                <a:ea typeface="Times New Roman"/>
                <a:cs typeface="Times New Roman"/>
                <a:sym typeface="Times New Roman"/>
              </a:rPr>
              <a:t>false</a:t>
            </a:r>
            <a:r>
              <a:rPr lang="tr-TR" sz="1800">
                <a:solidFill>
                  <a:schemeClr val="lt1"/>
                </a:solidFill>
                <a:latin typeface="Times New Roman"/>
                <a:ea typeface="Times New Roman"/>
                <a:cs typeface="Times New Roman"/>
                <a:sym typeface="Times New Roman"/>
              </a:rPr>
              <a:t> satırı da geri kalan bu durumları karşılıyor.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8"/>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Giriş/Çıkış (Input/Output) Operatörlerinin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264" name="Google Shape;264;p18"/>
          <p:cNvSpPr txBox="1"/>
          <p:nvPr/>
        </p:nvSpPr>
        <p:spPr>
          <a:xfrm>
            <a:off x="265043" y="597960"/>
            <a:ext cx="11709253"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Akış ekleme (&gt;&gt;) ve akış çıkarma (&lt;&lt;) operatörleri, nesne gibi kullanıcı tanımlı türler için girdi ve çıktı işlemini gerçekleştirmek üzere aşırı yüklenebilir. Bu iki operatör için parametre türlerinin farklı olması dışında, aşırı yükleme operatörü + 'ya benzer şekilde aşırı yükleme yapılır. Her ikisi de ikili operatördür.</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Burada, bir nesne oluşturmadan çağrılacağı için, operatör aşırı yükleme işlevini sınıfın bir arkadaşı yapmak önemlidir.</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Çıkarma (&lt;&lt;) operatörü için bir örnek yapalım:</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9"/>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Çıkış (&lt;&lt;) Operatörünün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270" name="Google Shape;270;p19"/>
          <p:cNvSpPr txBox="1"/>
          <p:nvPr/>
        </p:nvSpPr>
        <p:spPr>
          <a:xfrm>
            <a:off x="145774" y="4688127"/>
            <a:ext cx="595022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400" b="0" i="0">
                <a:solidFill>
                  <a:srgbClr val="800080"/>
                </a:solidFill>
                <a:latin typeface="Consolas"/>
                <a:ea typeface="Consolas"/>
                <a:cs typeface="Consolas"/>
                <a:sym typeface="Consolas"/>
              </a:rPr>
              <a:t>friend</a:t>
            </a:r>
            <a:r>
              <a:rPr lang="tr-TR" sz="1400" b="0" i="0">
                <a:solidFill>
                  <a:srgbClr val="006FE0"/>
                </a:solidFill>
                <a:latin typeface="Consolas"/>
                <a:ea typeface="Consolas"/>
                <a:cs typeface="Consolas"/>
                <a:sym typeface="Consolas"/>
              </a:rPr>
              <a:t> </a:t>
            </a:r>
            <a:r>
              <a:rPr lang="tr-TR" sz="1400" b="0" i="0">
                <a:solidFill>
                  <a:srgbClr val="002D7A"/>
                </a:solidFill>
                <a:latin typeface="Consolas"/>
                <a:ea typeface="Consolas"/>
                <a:cs typeface="Consolas"/>
                <a:sym typeface="Consolas"/>
              </a:rPr>
              <a:t>ostream</a:t>
            </a:r>
            <a:r>
              <a:rPr lang="tr-TR" sz="1400" b="0" i="0">
                <a:solidFill>
                  <a:srgbClr val="006FE0"/>
                </a:solidFill>
                <a:latin typeface="Consolas"/>
                <a:ea typeface="Consolas"/>
                <a:cs typeface="Consolas"/>
                <a:sym typeface="Consolas"/>
              </a:rPr>
              <a:t>&amp; </a:t>
            </a:r>
            <a:r>
              <a:rPr lang="tr-TR" sz="1400" b="0" i="0">
                <a:solidFill>
                  <a:srgbClr val="800080"/>
                </a:solidFill>
                <a:latin typeface="Consolas"/>
                <a:ea typeface="Consolas"/>
                <a:cs typeface="Consolas"/>
                <a:sym typeface="Consolas"/>
              </a:rPr>
              <a:t>operator</a:t>
            </a:r>
            <a:r>
              <a:rPr lang="tr-TR" sz="1400" b="0" i="0">
                <a:solidFill>
                  <a:srgbClr val="006FE0"/>
                </a:solidFill>
                <a:latin typeface="Consolas"/>
                <a:ea typeface="Consolas"/>
                <a:cs typeface="Consolas"/>
                <a:sym typeface="Consolas"/>
              </a:rPr>
              <a:t>&lt;&lt; </a:t>
            </a:r>
            <a:r>
              <a:rPr lang="tr-TR" sz="1400" b="0" i="0">
                <a:solidFill>
                  <a:srgbClr val="333333"/>
                </a:solidFill>
                <a:latin typeface="Consolas"/>
                <a:ea typeface="Consolas"/>
                <a:cs typeface="Consolas"/>
                <a:sym typeface="Consolas"/>
              </a:rPr>
              <a:t>(</a:t>
            </a:r>
            <a:r>
              <a:rPr lang="tr-TR" sz="1400" b="0" i="0">
                <a:solidFill>
                  <a:srgbClr val="002D7A"/>
                </a:solidFill>
                <a:latin typeface="Consolas"/>
                <a:ea typeface="Consolas"/>
                <a:cs typeface="Consolas"/>
                <a:sym typeface="Consolas"/>
              </a:rPr>
              <a:t>ostream</a:t>
            </a:r>
            <a:r>
              <a:rPr lang="tr-TR" sz="1400" b="0" i="0">
                <a:solidFill>
                  <a:srgbClr val="006FE0"/>
                </a:solidFill>
                <a:latin typeface="Consolas"/>
                <a:ea typeface="Consolas"/>
                <a:cs typeface="Consolas"/>
                <a:sym typeface="Consolas"/>
              </a:rPr>
              <a:t> </a:t>
            </a:r>
            <a:r>
              <a:rPr lang="tr-TR" sz="1400" b="0" i="0">
                <a:solidFill>
                  <a:srgbClr val="002D7A"/>
                </a:solidFill>
                <a:latin typeface="Consolas"/>
                <a:ea typeface="Consolas"/>
                <a:cs typeface="Consolas"/>
                <a:sym typeface="Consolas"/>
              </a:rPr>
              <a:t>&amp;out</a:t>
            </a:r>
            <a:r>
              <a:rPr lang="tr-TR" sz="1400" b="0" i="0">
                <a:solidFill>
                  <a:srgbClr val="333333"/>
                </a:solidFill>
                <a:latin typeface="Consolas"/>
                <a:ea typeface="Consolas"/>
                <a:cs typeface="Consolas"/>
                <a:sym typeface="Consolas"/>
              </a:rPr>
              <a:t>,</a:t>
            </a:r>
            <a:r>
              <a:rPr lang="tr-TR" sz="1400" b="0" i="0">
                <a:solidFill>
                  <a:srgbClr val="006FE0"/>
                </a:solidFill>
                <a:latin typeface="Consolas"/>
                <a:ea typeface="Consolas"/>
                <a:cs typeface="Consolas"/>
                <a:sym typeface="Consolas"/>
              </a:rPr>
              <a:t> </a:t>
            </a:r>
            <a:r>
              <a:rPr lang="tr-TR" sz="1400" b="0" i="0">
                <a:solidFill>
                  <a:srgbClr val="002D7A"/>
                </a:solidFill>
                <a:latin typeface="Consolas"/>
                <a:ea typeface="Consolas"/>
                <a:cs typeface="Consolas"/>
                <a:sym typeface="Consolas"/>
              </a:rPr>
              <a:t>Point</a:t>
            </a:r>
            <a:r>
              <a:rPr lang="tr-TR" sz="1400" b="0" i="0">
                <a:solidFill>
                  <a:srgbClr val="006FE0"/>
                </a:solidFill>
                <a:latin typeface="Consolas"/>
                <a:ea typeface="Consolas"/>
                <a:cs typeface="Consolas"/>
                <a:sym typeface="Consolas"/>
              </a:rPr>
              <a:t> </a:t>
            </a:r>
            <a:r>
              <a:rPr lang="tr-TR" sz="1400" b="0" i="0">
                <a:solidFill>
                  <a:srgbClr val="002D7A"/>
                </a:solidFill>
                <a:latin typeface="Consolas"/>
                <a:ea typeface="Consolas"/>
                <a:cs typeface="Consolas"/>
                <a:sym typeface="Consolas"/>
              </a:rPr>
              <a:t>&amp;point</a:t>
            </a:r>
            <a:r>
              <a:rPr lang="tr-TR" sz="1400" b="0" i="0">
                <a:solidFill>
                  <a:srgbClr val="333333"/>
                </a:solidFill>
                <a:latin typeface="Consolas"/>
                <a:ea typeface="Consolas"/>
                <a:cs typeface="Consolas"/>
                <a:sym typeface="Consolas"/>
              </a:rPr>
              <a:t>);</a:t>
            </a:r>
            <a:endParaRPr/>
          </a:p>
        </p:txBody>
      </p:sp>
      <p:pic>
        <p:nvPicPr>
          <p:cNvPr id="271" name="Google Shape;271;p19"/>
          <p:cNvPicPr preferRelativeResize="0"/>
          <p:nvPr/>
        </p:nvPicPr>
        <p:blipFill rotWithShape="1">
          <a:blip r:embed="rId3">
            <a:alphaModFix/>
          </a:blip>
          <a:srcRect/>
          <a:stretch/>
        </p:blipFill>
        <p:spPr>
          <a:xfrm>
            <a:off x="0" y="531357"/>
            <a:ext cx="4982270" cy="2838846"/>
          </a:xfrm>
          <a:prstGeom prst="rect">
            <a:avLst/>
          </a:prstGeom>
          <a:noFill/>
          <a:ln>
            <a:noFill/>
          </a:ln>
        </p:spPr>
      </p:pic>
      <p:pic>
        <p:nvPicPr>
          <p:cNvPr id="272" name="Google Shape;272;p19"/>
          <p:cNvPicPr preferRelativeResize="0"/>
          <p:nvPr/>
        </p:nvPicPr>
        <p:blipFill rotWithShape="1">
          <a:blip r:embed="rId4">
            <a:alphaModFix/>
          </a:blip>
          <a:srcRect/>
          <a:stretch/>
        </p:blipFill>
        <p:spPr>
          <a:xfrm>
            <a:off x="5019542" y="531357"/>
            <a:ext cx="7127315" cy="2838846"/>
          </a:xfrm>
          <a:prstGeom prst="rect">
            <a:avLst/>
          </a:prstGeom>
          <a:noFill/>
          <a:ln>
            <a:noFill/>
          </a:ln>
        </p:spPr>
      </p:pic>
      <p:sp>
        <p:nvSpPr>
          <p:cNvPr id="273" name="Google Shape;273;p19"/>
          <p:cNvSpPr txBox="1"/>
          <p:nvPr/>
        </p:nvSpPr>
        <p:spPr>
          <a:xfrm>
            <a:off x="10483641" y="2856504"/>
            <a:ext cx="1430063" cy="369332"/>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Calibri"/>
                <a:ea typeface="Calibri"/>
                <a:cs typeface="Calibri"/>
                <a:sym typeface="Calibri"/>
              </a:rPr>
              <a:t>Point(2, 3, 4)</a:t>
            </a:r>
            <a:endParaRPr/>
          </a:p>
        </p:txBody>
      </p:sp>
      <p:sp>
        <p:nvSpPr>
          <p:cNvPr id="274" name="Google Shape;274;p19"/>
          <p:cNvSpPr txBox="1"/>
          <p:nvPr/>
        </p:nvSpPr>
        <p:spPr>
          <a:xfrm>
            <a:off x="145774" y="3487798"/>
            <a:ext cx="1176793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cout &lt;&lt; ifadesini inceleyelim: Operatör &lt;&lt; ise, operandlar nelerdir? Soldaki operand </a:t>
            </a:r>
            <a:r>
              <a:rPr lang="tr-TR" sz="1800" b="1">
                <a:solidFill>
                  <a:schemeClr val="lt1"/>
                </a:solidFill>
                <a:latin typeface="Times New Roman"/>
                <a:ea typeface="Times New Roman"/>
                <a:cs typeface="Times New Roman"/>
                <a:sym typeface="Times New Roman"/>
              </a:rPr>
              <a:t>cout</a:t>
            </a:r>
            <a:r>
              <a:rPr lang="tr-TR" sz="1800">
                <a:solidFill>
                  <a:schemeClr val="lt1"/>
                </a:solidFill>
                <a:latin typeface="Times New Roman"/>
                <a:ea typeface="Times New Roman"/>
                <a:cs typeface="Times New Roman"/>
                <a:sym typeface="Times New Roman"/>
              </a:rPr>
              <a:t> nesnesidir ve sağdaki operand, </a:t>
            </a:r>
            <a:r>
              <a:rPr lang="tr-TR" sz="1800" b="1">
                <a:solidFill>
                  <a:schemeClr val="lt1"/>
                </a:solidFill>
                <a:latin typeface="Times New Roman"/>
                <a:ea typeface="Times New Roman"/>
                <a:cs typeface="Times New Roman"/>
                <a:sym typeface="Times New Roman"/>
              </a:rPr>
              <a:t>Point</a:t>
            </a:r>
            <a:r>
              <a:rPr lang="tr-TR" sz="1800">
                <a:solidFill>
                  <a:schemeClr val="lt1"/>
                </a:solidFill>
                <a:latin typeface="Times New Roman"/>
                <a:ea typeface="Times New Roman"/>
                <a:cs typeface="Times New Roman"/>
                <a:sym typeface="Times New Roman"/>
              </a:rPr>
              <a:t> sınıfı nesnenizdir. </a:t>
            </a:r>
            <a:endParaRPr/>
          </a:p>
          <a:p>
            <a:pPr marL="0" marR="0" lvl="0" indent="0" algn="l" rtl="0">
              <a:spcBef>
                <a:spcPts val="0"/>
              </a:spcBef>
              <a:spcAft>
                <a:spcPts val="0"/>
              </a:spcAft>
              <a:buNone/>
            </a:pPr>
            <a:r>
              <a:rPr lang="tr-TR" sz="1800" b="1">
                <a:solidFill>
                  <a:schemeClr val="lt1"/>
                </a:solidFill>
                <a:latin typeface="Times New Roman"/>
                <a:ea typeface="Times New Roman"/>
                <a:cs typeface="Times New Roman"/>
                <a:sym typeface="Times New Roman"/>
              </a:rPr>
              <a:t>cout</a:t>
            </a:r>
            <a:r>
              <a:rPr lang="tr-TR" sz="1800">
                <a:solidFill>
                  <a:schemeClr val="lt1"/>
                </a:solidFill>
                <a:latin typeface="Times New Roman"/>
                <a:ea typeface="Times New Roman"/>
                <a:cs typeface="Times New Roman"/>
                <a:sym typeface="Times New Roman"/>
              </a:rPr>
              <a:t> aslında </a:t>
            </a:r>
            <a:r>
              <a:rPr lang="tr-TR" sz="1800" b="1">
                <a:solidFill>
                  <a:schemeClr val="lt1"/>
                </a:solidFill>
                <a:latin typeface="Times New Roman"/>
                <a:ea typeface="Times New Roman"/>
                <a:cs typeface="Times New Roman"/>
                <a:sym typeface="Times New Roman"/>
              </a:rPr>
              <a:t>ostream</a:t>
            </a:r>
            <a:r>
              <a:rPr lang="tr-TR" sz="1800">
                <a:solidFill>
                  <a:schemeClr val="lt1"/>
                </a:solidFill>
                <a:latin typeface="Times New Roman"/>
                <a:ea typeface="Times New Roman"/>
                <a:cs typeface="Times New Roman"/>
                <a:sym typeface="Times New Roman"/>
              </a:rPr>
              <a:t> türünde bir nesnedir. Yani ostream, cout nesnesinin kullanıcı tanımlı bir tipidir.  </a:t>
            </a:r>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Bu nedenle, aşırı yüklenmiş fonksiyonumuz aşağıdaki gibi görünecektir:</a:t>
            </a:r>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Çıktı fonksiyonu daha önceki örneklerde kullandığımı print() fonksiyonlarına oldukça benzemektedir. Buradaki en dikkat çekici fark, cout’un bir parametre haline gelmesidir. Bu fonksiyon çağrıldığında, cout’a bir referans olacaktır.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0"/>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Örnek: Çıkış (&lt;&lt;) Operatörünün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280" name="Google Shape;280;p20"/>
          <p:cNvSpPr txBox="1"/>
          <p:nvPr/>
        </p:nvSpPr>
        <p:spPr>
          <a:xfrm>
            <a:off x="145774" y="608415"/>
            <a:ext cx="11767930"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Buradaki en zor kısım dönüş tipidir. Aritmetik operatörlerle, değere göre bir sonuç bulduk ve bunu döndürdük. Ancak, ostream’in değere göre döndürülmesi derleyici hatasına sebep olur. Bunun nedeni ise, ostream’in kopyalanmaya özellikle izin vermemesidir. Bu durumda, ostream parametresini yani sol tarafı referans olarak döndürüyoruz. </a:t>
            </a:r>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Bu işlem sadece kopya oluşumunu engellemekle kalmaz, aynı zamanda zincir çık std :: ostream kopyasının oluşturulmasını engellemekle kalmaz, aynı zamanda çıktı komutlarını birlikte “zincirlememize” izin verir. Örneğin; </a:t>
            </a:r>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800">
                <a:solidFill>
                  <a:schemeClr val="lt1"/>
                </a:solidFill>
                <a:latin typeface="Consolas"/>
                <a:ea typeface="Consolas"/>
                <a:cs typeface="Consolas"/>
                <a:sym typeface="Consolas"/>
              </a:rPr>
              <a:t>cout &lt;&lt; point &lt;&lt; endl;</a:t>
            </a:r>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Aşırı yüklenmiş ikili operatörlerimizin bu şekilde zincirlenebilir olmasını istediğimiz her zaman, sol operand referans olarak döndürülmelidir. </a:t>
            </a:r>
            <a:endParaRPr/>
          </a:p>
          <a:p>
            <a:pPr marL="0" marR="0" lvl="0" indent="0" algn="l"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Benzer şekilde Ekleme (&gt;&gt;) operatörünün aşırı yüklemesini de siz deneyin ☺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1"/>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Arttırma (++) ve Azaltma (--)  Operatörlerin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286" name="Google Shape;286;p21"/>
          <p:cNvSpPr txBox="1"/>
          <p:nvPr/>
        </p:nvSpPr>
        <p:spPr>
          <a:xfrm>
            <a:off x="265043" y="597960"/>
            <a:ext cx="11709253"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Arttırma (++) ve azaltma (-) operatörleri, C ++ 'da bulunan iki önemli tekli operatördür.</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Arttırma (++) operatörünün önek ve sonek  (prefix ve postfix) kullanımı için nasıl aşırı yüklenebileceğini görelim:</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NOT: Azaltma (--) operatörünü de benzer şekilde aşırı yükleyebilirsiniz.</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Örnek : Arttırma (++) Operatörünün Önek (Prefix) ve Sonek (Postfix) Olarak Aşırı Yüklemesi</a:t>
            </a:r>
            <a:endParaRPr sz="2000" b="1" i="0" u="none" strike="noStrike" cap="none">
              <a:solidFill>
                <a:schemeClr val="lt1"/>
              </a:solidFill>
              <a:latin typeface="Times New Roman"/>
              <a:ea typeface="Times New Roman"/>
              <a:cs typeface="Times New Roman"/>
              <a:sym typeface="Times New Roman"/>
            </a:endParaRPr>
          </a:p>
        </p:txBody>
      </p:sp>
      <p:pic>
        <p:nvPicPr>
          <p:cNvPr id="292" name="Google Shape;292;p22"/>
          <p:cNvPicPr preferRelativeResize="0"/>
          <p:nvPr/>
        </p:nvPicPr>
        <p:blipFill rotWithShape="1">
          <a:blip r:embed="rId3">
            <a:alphaModFix/>
          </a:blip>
          <a:srcRect b="40424"/>
          <a:stretch/>
        </p:blipFill>
        <p:spPr>
          <a:xfrm>
            <a:off x="150143" y="1352617"/>
            <a:ext cx="3079412" cy="2144725"/>
          </a:xfrm>
          <a:prstGeom prst="rect">
            <a:avLst/>
          </a:prstGeom>
          <a:noFill/>
          <a:ln>
            <a:noFill/>
          </a:ln>
        </p:spPr>
      </p:pic>
      <p:pic>
        <p:nvPicPr>
          <p:cNvPr id="293" name="Google Shape;293;p22"/>
          <p:cNvPicPr preferRelativeResize="0"/>
          <p:nvPr/>
        </p:nvPicPr>
        <p:blipFill rotWithShape="1">
          <a:blip r:embed="rId4">
            <a:alphaModFix/>
          </a:blip>
          <a:srcRect/>
          <a:stretch/>
        </p:blipFill>
        <p:spPr>
          <a:xfrm>
            <a:off x="8020170" y="624979"/>
            <a:ext cx="3600000" cy="3600000"/>
          </a:xfrm>
          <a:prstGeom prst="rect">
            <a:avLst/>
          </a:prstGeom>
          <a:noFill/>
          <a:ln>
            <a:noFill/>
          </a:ln>
        </p:spPr>
      </p:pic>
      <p:cxnSp>
        <p:nvCxnSpPr>
          <p:cNvPr id="294" name="Google Shape;294;p22"/>
          <p:cNvCxnSpPr>
            <a:stCxn id="292" idx="3"/>
            <a:endCxn id="295" idx="1"/>
          </p:cNvCxnSpPr>
          <p:nvPr/>
        </p:nvCxnSpPr>
        <p:spPr>
          <a:xfrm rot="10800000" flipH="1">
            <a:off x="3229555" y="1412179"/>
            <a:ext cx="835200" cy="1012800"/>
          </a:xfrm>
          <a:prstGeom prst="straightConnector1">
            <a:avLst/>
          </a:prstGeom>
          <a:noFill/>
          <a:ln w="12700" cap="flat" cmpd="sng">
            <a:solidFill>
              <a:schemeClr val="dk1"/>
            </a:solidFill>
            <a:prstDash val="solid"/>
            <a:round/>
            <a:headEnd type="none" w="sm" len="sm"/>
            <a:tailEnd type="triangle" w="med" len="med"/>
          </a:ln>
        </p:spPr>
      </p:cxnSp>
      <p:sp>
        <p:nvSpPr>
          <p:cNvPr id="296" name="Google Shape;296;p22"/>
          <p:cNvSpPr txBox="1"/>
          <p:nvPr/>
        </p:nvSpPr>
        <p:spPr>
          <a:xfrm>
            <a:off x="4052869" y="2770203"/>
            <a:ext cx="16319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Prefix durumda</a:t>
            </a:r>
            <a:endParaRPr/>
          </a:p>
        </p:txBody>
      </p:sp>
      <p:sp>
        <p:nvSpPr>
          <p:cNvPr id="297" name="Google Shape;297;p22"/>
          <p:cNvSpPr txBox="1"/>
          <p:nvPr/>
        </p:nvSpPr>
        <p:spPr>
          <a:xfrm>
            <a:off x="5713591" y="5283226"/>
            <a:ext cx="1828800" cy="954107"/>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400">
                <a:solidFill>
                  <a:schemeClr val="lt1"/>
                </a:solidFill>
                <a:latin typeface="Calibri"/>
                <a:ea typeface="Calibri"/>
                <a:cs typeface="Calibri"/>
                <a:sym typeface="Calibri"/>
              </a:rPr>
              <a:t>Before increment:</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(2,5)</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After pre increment:</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(2,5)</a:t>
            </a:r>
            <a:endParaRPr/>
          </a:p>
        </p:txBody>
      </p:sp>
      <p:cxnSp>
        <p:nvCxnSpPr>
          <p:cNvPr id="298" name="Google Shape;298;p22"/>
          <p:cNvCxnSpPr>
            <a:stCxn id="295" idx="3"/>
            <a:endCxn id="293" idx="1"/>
          </p:cNvCxnSpPr>
          <p:nvPr/>
        </p:nvCxnSpPr>
        <p:spPr>
          <a:xfrm>
            <a:off x="7304791" y="1412097"/>
            <a:ext cx="715500" cy="1012800"/>
          </a:xfrm>
          <a:prstGeom prst="straightConnector1">
            <a:avLst/>
          </a:prstGeom>
          <a:noFill/>
          <a:ln w="12700" cap="flat" cmpd="sng">
            <a:solidFill>
              <a:schemeClr val="dk1"/>
            </a:solidFill>
            <a:prstDash val="solid"/>
            <a:round/>
            <a:headEnd type="none" w="sm" len="sm"/>
            <a:tailEnd type="triangle" w="med" len="med"/>
          </a:ln>
        </p:spPr>
      </p:cxnSp>
      <p:pic>
        <p:nvPicPr>
          <p:cNvPr id="299" name="Google Shape;299;p22"/>
          <p:cNvPicPr preferRelativeResize="0"/>
          <p:nvPr/>
        </p:nvPicPr>
        <p:blipFill rotWithShape="1">
          <a:blip r:embed="rId5">
            <a:alphaModFix/>
          </a:blip>
          <a:srcRect/>
          <a:stretch/>
        </p:blipFill>
        <p:spPr>
          <a:xfrm>
            <a:off x="4064791" y="3485827"/>
            <a:ext cx="3240000" cy="1740000"/>
          </a:xfrm>
          <a:prstGeom prst="rect">
            <a:avLst/>
          </a:prstGeom>
          <a:noFill/>
          <a:ln>
            <a:noFill/>
          </a:ln>
        </p:spPr>
      </p:pic>
      <p:pic>
        <p:nvPicPr>
          <p:cNvPr id="295" name="Google Shape;295;p22"/>
          <p:cNvPicPr preferRelativeResize="0"/>
          <p:nvPr/>
        </p:nvPicPr>
        <p:blipFill rotWithShape="1">
          <a:blip r:embed="rId6">
            <a:alphaModFix/>
          </a:blip>
          <a:srcRect/>
          <a:stretch/>
        </p:blipFill>
        <p:spPr>
          <a:xfrm>
            <a:off x="4064791" y="511522"/>
            <a:ext cx="3240000" cy="1801150"/>
          </a:xfrm>
          <a:prstGeom prst="rect">
            <a:avLst/>
          </a:prstGeom>
          <a:noFill/>
          <a:ln>
            <a:noFill/>
          </a:ln>
        </p:spPr>
      </p:pic>
      <p:sp>
        <p:nvSpPr>
          <p:cNvPr id="300" name="Google Shape;300;p22"/>
          <p:cNvSpPr txBox="1"/>
          <p:nvPr/>
        </p:nvSpPr>
        <p:spPr>
          <a:xfrm>
            <a:off x="5684791" y="2394390"/>
            <a:ext cx="1828800" cy="954107"/>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400">
                <a:solidFill>
                  <a:schemeClr val="lt1"/>
                </a:solidFill>
                <a:latin typeface="Calibri"/>
                <a:ea typeface="Calibri"/>
                <a:cs typeface="Calibri"/>
                <a:sym typeface="Calibri"/>
              </a:rPr>
              <a:t>Before increment:</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(2,5)</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After pre increment:</a:t>
            </a:r>
            <a:endParaRPr/>
          </a:p>
          <a:p>
            <a:pPr marL="0" marR="0" lvl="0" indent="0" algn="l" rtl="0">
              <a:spcBef>
                <a:spcPts val="0"/>
              </a:spcBef>
              <a:spcAft>
                <a:spcPts val="0"/>
              </a:spcAft>
              <a:buNone/>
            </a:pPr>
            <a:r>
              <a:rPr lang="tr-TR" sz="1400">
                <a:solidFill>
                  <a:schemeClr val="lt1"/>
                </a:solidFill>
                <a:latin typeface="Calibri"/>
                <a:ea typeface="Calibri"/>
                <a:cs typeface="Calibri"/>
                <a:sym typeface="Calibri"/>
              </a:rPr>
              <a:t>(3,6)</a:t>
            </a:r>
            <a:endParaRPr/>
          </a:p>
        </p:txBody>
      </p:sp>
      <p:sp>
        <p:nvSpPr>
          <p:cNvPr id="301" name="Google Shape;301;p22"/>
          <p:cNvSpPr txBox="1"/>
          <p:nvPr/>
        </p:nvSpPr>
        <p:spPr>
          <a:xfrm>
            <a:off x="4052869" y="5575613"/>
            <a:ext cx="17171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Postfix durumda</a:t>
            </a:r>
            <a:endParaRPr/>
          </a:p>
        </p:txBody>
      </p:sp>
      <p:cxnSp>
        <p:nvCxnSpPr>
          <p:cNvPr id="302" name="Google Shape;302;p22"/>
          <p:cNvCxnSpPr>
            <a:stCxn id="292" idx="3"/>
            <a:endCxn id="299" idx="1"/>
          </p:cNvCxnSpPr>
          <p:nvPr/>
        </p:nvCxnSpPr>
        <p:spPr>
          <a:xfrm>
            <a:off x="3229555" y="2424980"/>
            <a:ext cx="835200" cy="1930800"/>
          </a:xfrm>
          <a:prstGeom prst="straightConnector1">
            <a:avLst/>
          </a:prstGeom>
          <a:noFill/>
          <a:ln w="12700" cap="flat" cmpd="sng">
            <a:solidFill>
              <a:schemeClr val="dk1"/>
            </a:solidFill>
            <a:prstDash val="solid"/>
            <a:round/>
            <a:headEnd type="none" w="sm" len="sm"/>
            <a:tailEnd type="triangle" w="med" len="med"/>
          </a:ln>
        </p:spPr>
      </p:cxnSp>
      <p:cxnSp>
        <p:nvCxnSpPr>
          <p:cNvPr id="303" name="Google Shape;303;p22"/>
          <p:cNvCxnSpPr>
            <a:endCxn id="293" idx="1"/>
          </p:cNvCxnSpPr>
          <p:nvPr/>
        </p:nvCxnSpPr>
        <p:spPr>
          <a:xfrm rot="10800000" flipH="1">
            <a:off x="7387170" y="2424979"/>
            <a:ext cx="633000" cy="2177100"/>
          </a:xfrm>
          <a:prstGeom prst="straightConnector1">
            <a:avLst/>
          </a:prstGeom>
          <a:noFill/>
          <a:ln w="12700" cap="flat" cmpd="sng">
            <a:solidFill>
              <a:schemeClr val="dk1"/>
            </a:solidFill>
            <a:prstDash val="solid"/>
            <a:round/>
            <a:headEnd type="none" w="sm" len="sm"/>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3"/>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Atama (Assignment) Operatörünün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309" name="Google Shape;309;p23"/>
          <p:cNvSpPr txBox="1"/>
          <p:nvPr/>
        </p:nvSpPr>
        <p:spPr>
          <a:xfrm>
            <a:off x="265043" y="597960"/>
            <a:ext cx="11709253"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Atama operatörünü de (=) diğer operatörlerde olduğu gibi aşırı yükleyebilirsiniz ve kopya yapıcısı gibi bir nesne oluşturmak için kullanılabilir. (İki nesnenin birbirine aktarılması işleminde kopya yapıcının çağrıldığını hatırlayın ☺ )</a:t>
            </a: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Atama operatörünün nasıl aşırı yüklenebileceğini Distance sınıfı örneğimiz üzerinden açıklayalım: </a:t>
            </a:r>
            <a:endParaRPr/>
          </a:p>
        </p:txBody>
      </p:sp>
      <p:pic>
        <p:nvPicPr>
          <p:cNvPr id="310" name="Google Shape;310;p23"/>
          <p:cNvPicPr preferRelativeResize="0"/>
          <p:nvPr/>
        </p:nvPicPr>
        <p:blipFill rotWithShape="1">
          <a:blip r:embed="rId3">
            <a:alphaModFix/>
          </a:blip>
          <a:srcRect/>
          <a:stretch/>
        </p:blipFill>
        <p:spPr>
          <a:xfrm>
            <a:off x="1351722" y="1716362"/>
            <a:ext cx="5647965" cy="4543678"/>
          </a:xfrm>
          <a:prstGeom prst="rect">
            <a:avLst/>
          </a:prstGeom>
          <a:noFill/>
          <a:ln>
            <a:noFill/>
          </a:ln>
        </p:spPr>
      </p:pic>
      <p:pic>
        <p:nvPicPr>
          <p:cNvPr id="311" name="Google Shape;311;p23"/>
          <p:cNvPicPr preferRelativeResize="0"/>
          <p:nvPr/>
        </p:nvPicPr>
        <p:blipFill rotWithShape="1">
          <a:blip r:embed="rId4">
            <a:alphaModFix/>
          </a:blip>
          <a:srcRect/>
          <a:stretch/>
        </p:blipFill>
        <p:spPr>
          <a:xfrm>
            <a:off x="7136539" y="1711693"/>
            <a:ext cx="3605862" cy="3044950"/>
          </a:xfrm>
          <a:prstGeom prst="rect">
            <a:avLst/>
          </a:prstGeom>
          <a:noFill/>
          <a:ln>
            <a:noFill/>
          </a:ln>
        </p:spPr>
      </p:pic>
      <p:sp>
        <p:nvSpPr>
          <p:cNvPr id="312" name="Google Shape;312;p23"/>
          <p:cNvSpPr txBox="1"/>
          <p:nvPr/>
        </p:nvSpPr>
        <p:spPr>
          <a:xfrm>
            <a:off x="7660929" y="5146307"/>
            <a:ext cx="2848045" cy="923330"/>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Calibri"/>
                <a:ea typeface="Calibri"/>
                <a:cs typeface="Calibri"/>
                <a:sym typeface="Calibri"/>
              </a:rPr>
              <a:t>First Distance : F: 11 I:10</a:t>
            </a:r>
            <a:endParaRPr/>
          </a:p>
          <a:p>
            <a:pPr marL="0" marR="0" lvl="0" indent="0" algn="l" rtl="0">
              <a:spcBef>
                <a:spcPts val="0"/>
              </a:spcBef>
              <a:spcAft>
                <a:spcPts val="0"/>
              </a:spcAft>
              <a:buNone/>
            </a:pPr>
            <a:r>
              <a:rPr lang="tr-TR" sz="1800">
                <a:solidFill>
                  <a:schemeClr val="lt1"/>
                </a:solidFill>
                <a:latin typeface="Calibri"/>
                <a:ea typeface="Calibri"/>
                <a:cs typeface="Calibri"/>
                <a:sym typeface="Calibri"/>
              </a:rPr>
              <a:t>Second Distance :F: 5 I:11</a:t>
            </a:r>
            <a:endParaRPr/>
          </a:p>
          <a:p>
            <a:pPr marL="0" marR="0" lvl="0" indent="0" algn="l" rtl="0">
              <a:spcBef>
                <a:spcPts val="0"/>
              </a:spcBef>
              <a:spcAft>
                <a:spcPts val="0"/>
              </a:spcAft>
              <a:buNone/>
            </a:pPr>
            <a:r>
              <a:rPr lang="tr-TR" sz="1800">
                <a:solidFill>
                  <a:schemeClr val="lt1"/>
                </a:solidFill>
                <a:latin typeface="Calibri"/>
                <a:ea typeface="Calibri"/>
                <a:cs typeface="Calibri"/>
                <a:sym typeface="Calibri"/>
              </a:rPr>
              <a:t>First Distance :F: 5 I:11</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4"/>
          <p:cNvSpPr txBox="1"/>
          <p:nvPr/>
        </p:nvSpPr>
        <p:spPr>
          <a:xfrm>
            <a:off x="0" y="0"/>
            <a:ext cx="12099721" cy="624980"/>
          </a:xfrm>
          <a:prstGeom prst="rect">
            <a:avLst/>
          </a:prstGeom>
          <a:noFill/>
          <a:ln>
            <a:noFill/>
          </a:ln>
        </p:spPr>
        <p:txBody>
          <a:bodyPr spcFirstLastPara="1" wrap="square" lIns="0" tIns="45700" rIns="0" bIns="45700" anchor="ctr" anchorCtr="0">
            <a:noAutofit/>
          </a:bodyPr>
          <a:lstStyle/>
          <a:p>
            <a:pPr marL="292608" marR="0" lvl="1" indent="0" algn="l" rtl="0">
              <a:lnSpc>
                <a:spcPct val="90000"/>
              </a:lnSpc>
              <a:spcBef>
                <a:spcPts val="0"/>
              </a:spcBef>
              <a:spcAft>
                <a:spcPts val="0"/>
              </a:spcAft>
              <a:buClr>
                <a:schemeClr val="accent1"/>
              </a:buClr>
              <a:buSzPts val="2000"/>
              <a:buFont typeface="Calibri"/>
              <a:buNone/>
            </a:pPr>
            <a:r>
              <a:rPr lang="tr-TR" sz="2000" b="1" i="0" u="none" strike="noStrike" cap="none">
                <a:solidFill>
                  <a:srgbClr val="444444"/>
                </a:solidFill>
                <a:latin typeface="Times New Roman"/>
                <a:ea typeface="Times New Roman"/>
                <a:cs typeface="Times New Roman"/>
                <a:sym typeface="Times New Roman"/>
              </a:rPr>
              <a:t>Fonksiyon Çağrısı Operatörünün ( ) Aşırı Yüklemesi</a:t>
            </a:r>
            <a:endParaRPr sz="2000" b="1" i="0" u="none" strike="noStrike" cap="none">
              <a:solidFill>
                <a:schemeClr val="lt1"/>
              </a:solidFill>
              <a:latin typeface="Times New Roman"/>
              <a:ea typeface="Times New Roman"/>
              <a:cs typeface="Times New Roman"/>
              <a:sym typeface="Times New Roman"/>
            </a:endParaRPr>
          </a:p>
        </p:txBody>
      </p:sp>
      <p:sp>
        <p:nvSpPr>
          <p:cNvPr id="318" name="Google Shape;318;p24"/>
          <p:cNvSpPr txBox="1"/>
          <p:nvPr/>
        </p:nvSpPr>
        <p:spPr>
          <a:xfrm>
            <a:off x="265043" y="597960"/>
            <a:ext cx="11709253"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Fonksiyon çağrısı operatörü (), sınıf türündeki nesneler için aşırı yüklenebilir. </a:t>
            </a:r>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 operatörünü aşırı yüklediğinizde (), bir fonksiyonu çağırmanın yeni bir yolunu oluşturmuyoruz. Bunun yerine, rastgele sayıda parametre aktarılabilen bir operatör fonksiyonu oluşturuyoruz.</a:t>
            </a:r>
            <a:endParaRPr/>
          </a:p>
          <a:p>
            <a:pPr marL="0" marR="0" lvl="0" indent="0" algn="just" rtl="0">
              <a:spcBef>
                <a:spcPts val="0"/>
              </a:spcBef>
              <a:spcAft>
                <a:spcPts val="0"/>
              </a:spcAft>
              <a:buNone/>
            </a:pPr>
            <a:endParaRPr sz="1800">
              <a:solidFill>
                <a:schemeClr val="lt1"/>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chemeClr val="lt1"/>
                </a:solidFill>
                <a:latin typeface="Times New Roman"/>
                <a:ea typeface="Times New Roman"/>
                <a:cs typeface="Times New Roman"/>
                <a:sym typeface="Times New Roman"/>
              </a:rPr>
              <a:t>Yine Distance sınıfını kullanan bir örnekle açıklayalım: </a:t>
            </a:r>
            <a:endParaRPr/>
          </a:p>
        </p:txBody>
      </p:sp>
      <p:pic>
        <p:nvPicPr>
          <p:cNvPr id="319" name="Google Shape;319;p24"/>
          <p:cNvPicPr preferRelativeResize="0"/>
          <p:nvPr/>
        </p:nvPicPr>
        <p:blipFill rotWithShape="1">
          <a:blip r:embed="rId3">
            <a:alphaModFix/>
          </a:blip>
          <a:srcRect/>
          <a:stretch/>
        </p:blipFill>
        <p:spPr>
          <a:xfrm>
            <a:off x="1504691" y="2266323"/>
            <a:ext cx="4591309" cy="4377111"/>
          </a:xfrm>
          <a:prstGeom prst="rect">
            <a:avLst/>
          </a:prstGeom>
          <a:noFill/>
          <a:ln>
            <a:noFill/>
          </a:ln>
        </p:spPr>
      </p:pic>
      <p:pic>
        <p:nvPicPr>
          <p:cNvPr id="320" name="Google Shape;320;p24"/>
          <p:cNvPicPr preferRelativeResize="0"/>
          <p:nvPr/>
        </p:nvPicPr>
        <p:blipFill rotWithShape="1">
          <a:blip r:embed="rId4">
            <a:alphaModFix/>
          </a:blip>
          <a:srcRect/>
          <a:stretch/>
        </p:blipFill>
        <p:spPr>
          <a:xfrm>
            <a:off x="6169649" y="2266324"/>
            <a:ext cx="4088009" cy="2159902"/>
          </a:xfrm>
          <a:prstGeom prst="rect">
            <a:avLst/>
          </a:prstGeom>
          <a:noFill/>
          <a:ln>
            <a:noFill/>
          </a:ln>
        </p:spPr>
      </p:pic>
      <p:sp>
        <p:nvSpPr>
          <p:cNvPr id="321" name="Google Shape;321;p24"/>
          <p:cNvSpPr txBox="1"/>
          <p:nvPr/>
        </p:nvSpPr>
        <p:spPr>
          <a:xfrm>
            <a:off x="6775792" y="4684833"/>
            <a:ext cx="2875722" cy="646331"/>
          </a:xfrm>
          <a:prstGeom prst="rect">
            <a:avLst/>
          </a:prstGeom>
          <a:solidFill>
            <a:schemeClr val="dk2"/>
          </a:soli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Calibri"/>
                <a:ea typeface="Calibri"/>
                <a:cs typeface="Calibri"/>
                <a:sym typeface="Calibri"/>
              </a:rPr>
              <a:t>First Distance : F: 11 I:10</a:t>
            </a:r>
            <a:endParaRPr/>
          </a:p>
          <a:p>
            <a:pPr marL="0" marR="0" lvl="0" indent="0" algn="l" rtl="0">
              <a:spcBef>
                <a:spcPts val="0"/>
              </a:spcBef>
              <a:spcAft>
                <a:spcPts val="0"/>
              </a:spcAft>
              <a:buNone/>
            </a:pPr>
            <a:r>
              <a:rPr lang="tr-TR" sz="1800">
                <a:solidFill>
                  <a:schemeClr val="lt1"/>
                </a:solidFill>
                <a:latin typeface="Calibri"/>
                <a:ea typeface="Calibri"/>
                <a:cs typeface="Calibri"/>
                <a:sym typeface="Calibri"/>
              </a:rPr>
              <a:t>Second Distance :F: 30 I:120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p:nvPr/>
        </p:nvSpPr>
        <p:spPr>
          <a:xfrm>
            <a:off x="0" y="0"/>
            <a:ext cx="609460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327" name="Google Shape;327;p25"/>
          <p:cNvSpPr txBox="1"/>
          <p:nvPr/>
        </p:nvSpPr>
        <p:spPr>
          <a:xfrm>
            <a:off x="0" y="461665"/>
            <a:ext cx="12192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lang="tr-TR" sz="1800" b="1" i="1">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a:t>
            </a:r>
            <a:r>
              <a:rPr lang="tr-TR" sz="1800" b="1" i="1">
                <a:solidFill>
                  <a:schemeClr val="lt1"/>
                </a:solidFill>
                <a:latin typeface="Times New Roman"/>
                <a:ea typeface="Times New Roman"/>
                <a:cs typeface="Times New Roman"/>
                <a:sym typeface="Times New Roman"/>
              </a:rPr>
              <a:t>C++ Programlama Dili</a:t>
            </a:r>
            <a:r>
              <a:rPr lang="tr-TR" sz="1800">
                <a:solidFill>
                  <a:schemeClr val="lt1"/>
                </a:solidFill>
                <a:latin typeface="Times New Roman"/>
                <a:ea typeface="Times New Roman"/>
                <a:cs typeface="Times New Roman"/>
                <a:sym typeface="Times New Roman"/>
              </a:rPr>
              <a:t>, Seçkin Yayıncılık.</a:t>
            </a:r>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[3] M. Mastar, S. Eriş, </a:t>
            </a:r>
            <a:r>
              <a:rPr lang="tr-TR" sz="1800" b="1" i="1">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Kodlab Yayın Dağıtım.</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2568</Words>
  <Application>Microsoft Office PowerPoint</Application>
  <PresentationFormat>Geniş ekran</PresentationFormat>
  <Paragraphs>267</Paragraphs>
  <Slides>25</Slides>
  <Notes>25</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25</vt:i4>
      </vt:variant>
    </vt:vector>
  </HeadingPairs>
  <TitlesOfParts>
    <vt:vector size="31" baseType="lpstr">
      <vt:lpstr>Arial</vt:lpstr>
      <vt:lpstr>Calibri</vt:lpstr>
      <vt:lpstr>Consolas</vt:lpstr>
      <vt:lpstr>Noto Sans Symbols</vt:lpstr>
      <vt:lpstr>Times New Roman</vt:lpstr>
      <vt:lpstr>Geçmişe bakış</vt:lpstr>
      <vt:lpstr>BİL102-ALGORİTMA ve PROGRAMLAMA II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FUNDA KUTLU ONAY</dc:creator>
  <cp:lastModifiedBy>FUNDA KUTLU ONAY</cp:lastModifiedBy>
  <cp:revision>1</cp:revision>
  <dcterms:created xsi:type="dcterms:W3CDTF">2021-02-24T12:37:41Z</dcterms:created>
  <dcterms:modified xsi:type="dcterms:W3CDTF">2026-03-26T14:48:00Z</dcterms:modified>
</cp:coreProperties>
</file>