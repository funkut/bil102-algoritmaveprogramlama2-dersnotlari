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YXh51HWYdSADra4XemdT5yQyX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2BC047-CF44-4571-AF3F-53D48808976B}">
  <a:tblStyle styleId="{4F2BC047-CF44-4571-AF3F-53D48808976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1ECF5"/>
          </a:solidFill>
        </a:fill>
      </a:tcStyle>
    </a:wholeTbl>
    <a:band1H>
      <a:tcTxStyle/>
      <a:tcStyle>
        <a:fill>
          <a:solidFill>
            <a:srgbClr val="E2D8EA"/>
          </a:solidFill>
        </a:fill>
      </a:tcStyle>
    </a:band1H>
    <a:band2H>
      <a:tcTxStyle/>
    </a:band2H>
    <a:band1V>
      <a:tcTxStyle/>
      <a:tcStyle>
        <a:fill>
          <a:solidFill>
            <a:srgbClr val="E2D8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55EF2636-AE98-4300-ADBC-0E5E73BF269A}" styleName="Table_1">
    <a:wholeTbl>
      <a:tcTxStyle b="off" i="off">
        <a:font>
          <a:latin typeface="Calibri"/>
          <a:ea typeface="Calibri"/>
          <a:cs typeface="Calibri"/>
        </a:font>
        <a:schemeClr val="lt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12700">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20000"/>
            </a:schemeClr>
          </a:solidFill>
        </a:fill>
      </a:tcStyle>
    </a:band1H>
    <a:band2H>
      <a:tcTxStyle/>
    </a:band2H>
    <a:band1V>
      <a:tcTxStyle/>
      <a:tcStyle>
        <a:fill>
          <a:solidFill>
            <a:schemeClr val="accent2">
              <a:alpha val="20000"/>
            </a:schemeClr>
          </a:solidFill>
        </a:fill>
      </a:tcStyle>
    </a:band1V>
    <a:band2V>
      <a:tcTx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2"/>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14" name="Shape 14"/>
        <p:cNvGrpSpPr/>
        <p:nvPr/>
      </p:nvGrpSpPr>
      <p:grpSpPr>
        <a:xfrm>
          <a:off x="0" y="0"/>
          <a:ext cx="0" cy="0"/>
          <a:chOff x="0" y="0"/>
          <a:chExt cx="0" cy="0"/>
        </a:xfrm>
      </p:grpSpPr>
      <p:sp>
        <p:nvSpPr>
          <p:cNvPr id="15" name="Google Shape;15;p22"/>
          <p:cNvSpPr/>
          <p:nvPr/>
        </p:nvSpPr>
        <p:spPr>
          <a:xfrm>
            <a:off x="3175" y="6400800"/>
            <a:ext cx="12188825" cy="457200"/>
          </a:xfrm>
          <a:prstGeom prst="rect">
            <a:avLst/>
          </a:prstGeom>
          <a:solidFill>
            <a:srgbClr val="5934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6" name="Google Shape;16;p22"/>
          <p:cNvSpPr/>
          <p:nvPr/>
        </p:nvSpPr>
        <p:spPr>
          <a:xfrm>
            <a:off x="15" y="6334316"/>
            <a:ext cx="12188825" cy="6400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7" name="Google Shape;17;p2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22" name="Google Shape;22;p22"/>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23" name="Shape 23"/>
        <p:cNvGrpSpPr/>
        <p:nvPr/>
      </p:nvGrpSpPr>
      <p:grpSpPr>
        <a:xfrm>
          <a:off x="0" y="0"/>
          <a:ext cx="0" cy="0"/>
          <a:chOff x="0" y="0"/>
          <a:chExt cx="0" cy="0"/>
        </a:xfrm>
      </p:grpSpPr>
      <p:sp>
        <p:nvSpPr>
          <p:cNvPr id="24" name="Google Shape;24;p23"/>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9" name="Shape 29"/>
        <p:cNvGrpSpPr/>
        <p:nvPr/>
      </p:nvGrpSpPr>
      <p:grpSpPr>
        <a:xfrm>
          <a:off x="0" y="0"/>
          <a:ext cx="0" cy="0"/>
          <a:chOff x="0" y="0"/>
          <a:chExt cx="0" cy="0"/>
        </a:xfrm>
      </p:grpSpPr>
      <p:sp>
        <p:nvSpPr>
          <p:cNvPr id="30" name="Google Shape;30;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 Bilgisi" showMasterSp="0" type="secHead">
  <p:cSld name="SECTION_HEADER">
    <p:spTree>
      <p:nvGrpSpPr>
        <p:cNvPr id="35" name="Shape 35"/>
        <p:cNvGrpSpPr/>
        <p:nvPr/>
      </p:nvGrpSpPr>
      <p:grpSpPr>
        <a:xfrm>
          <a:off x="0" y="0"/>
          <a:ext cx="0" cy="0"/>
          <a:chOff x="0" y="0"/>
          <a:chExt cx="0" cy="0"/>
        </a:xfrm>
      </p:grpSpPr>
      <p:sp>
        <p:nvSpPr>
          <p:cNvPr id="36" name="Google Shape;36;p25"/>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5"/>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b="0"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5"/>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C8C8C"/>
                </a:solidFill>
              </a:defRPr>
            </a:lvl2pPr>
            <a:lvl3pPr indent="-228600" lvl="2" marL="1371600" algn="l">
              <a:lnSpc>
                <a:spcPct val="90000"/>
              </a:lnSpc>
              <a:spcBef>
                <a:spcPts val="400"/>
              </a:spcBef>
              <a:spcAft>
                <a:spcPts val="0"/>
              </a:spcAft>
              <a:buSzPts val="1600"/>
              <a:buNone/>
              <a:defRPr sz="1600">
                <a:solidFill>
                  <a:srgbClr val="8C8C8C"/>
                </a:solidFill>
              </a:defRPr>
            </a:lvl3pPr>
            <a:lvl4pPr indent="-228600" lvl="3" marL="1828800" algn="l">
              <a:lnSpc>
                <a:spcPct val="90000"/>
              </a:lnSpc>
              <a:spcBef>
                <a:spcPts val="400"/>
              </a:spcBef>
              <a:spcAft>
                <a:spcPts val="0"/>
              </a:spcAft>
              <a:buSzPts val="1400"/>
              <a:buNone/>
              <a:defRPr sz="1400">
                <a:solidFill>
                  <a:srgbClr val="8C8C8C"/>
                </a:solidFill>
              </a:defRPr>
            </a:lvl4pPr>
            <a:lvl5pPr indent="-228600" lvl="4" marL="2286000" algn="l">
              <a:lnSpc>
                <a:spcPct val="90000"/>
              </a:lnSpc>
              <a:spcBef>
                <a:spcPts val="400"/>
              </a:spcBef>
              <a:spcAft>
                <a:spcPts val="0"/>
              </a:spcAft>
              <a:buSzPts val="1400"/>
              <a:buNone/>
              <a:defRPr sz="1400">
                <a:solidFill>
                  <a:srgbClr val="8C8C8C"/>
                </a:solidFill>
              </a:defRPr>
            </a:lvl5pPr>
            <a:lvl6pPr indent="-228600" lvl="5" marL="2743200" algn="l">
              <a:lnSpc>
                <a:spcPct val="90000"/>
              </a:lnSpc>
              <a:spcBef>
                <a:spcPts val="400"/>
              </a:spcBef>
              <a:spcAft>
                <a:spcPts val="0"/>
              </a:spcAft>
              <a:buSzPts val="1400"/>
              <a:buNone/>
              <a:defRPr sz="1400">
                <a:solidFill>
                  <a:srgbClr val="8C8C8C"/>
                </a:solidFill>
              </a:defRPr>
            </a:lvl6pPr>
            <a:lvl7pPr indent="-228600" lvl="6" marL="3200400" algn="l">
              <a:lnSpc>
                <a:spcPct val="90000"/>
              </a:lnSpc>
              <a:spcBef>
                <a:spcPts val="400"/>
              </a:spcBef>
              <a:spcAft>
                <a:spcPts val="0"/>
              </a:spcAft>
              <a:buSzPts val="1400"/>
              <a:buNone/>
              <a:defRPr sz="1400">
                <a:solidFill>
                  <a:srgbClr val="8C8C8C"/>
                </a:solidFill>
              </a:defRPr>
            </a:lvl7pPr>
            <a:lvl8pPr indent="-228600" lvl="7" marL="3657600" algn="l">
              <a:lnSpc>
                <a:spcPct val="90000"/>
              </a:lnSpc>
              <a:spcBef>
                <a:spcPts val="400"/>
              </a:spcBef>
              <a:spcAft>
                <a:spcPts val="0"/>
              </a:spcAft>
              <a:buSzPts val="1400"/>
              <a:buNone/>
              <a:defRPr sz="1400">
                <a:solidFill>
                  <a:srgbClr val="8C8C8C"/>
                </a:solidFill>
              </a:defRPr>
            </a:lvl8pPr>
            <a:lvl9pPr indent="-228600" lvl="8" marL="4114800" algn="l">
              <a:lnSpc>
                <a:spcPct val="90000"/>
              </a:lnSpc>
              <a:spcBef>
                <a:spcPts val="400"/>
              </a:spcBef>
              <a:spcAft>
                <a:spcPts val="400"/>
              </a:spcAft>
              <a:buSzPts val="1400"/>
              <a:buNone/>
              <a:defRPr sz="1400">
                <a:solidFill>
                  <a:srgbClr val="8C8C8C"/>
                </a:solidFill>
              </a:defRPr>
            </a:lvl9pPr>
          </a:lstStyle>
          <a:p/>
        </p:txBody>
      </p:sp>
      <p:sp>
        <p:nvSpPr>
          <p:cNvPr id="40" name="Google Shape;40;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43" name="Google Shape;43;p25"/>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44" name="Shape 44"/>
        <p:cNvGrpSpPr/>
        <p:nvPr/>
      </p:nvGrpSpPr>
      <p:grpSpPr>
        <a:xfrm>
          <a:off x="0" y="0"/>
          <a:ext cx="0" cy="0"/>
          <a:chOff x="0" y="0"/>
          <a:chExt cx="0" cy="0"/>
        </a:xfrm>
      </p:grpSpPr>
      <p:sp>
        <p:nvSpPr>
          <p:cNvPr id="45" name="Google Shape;45;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6"/>
          <p:cNvSpPr txBox="1"/>
          <p:nvPr>
            <p:ph idx="1" type="body"/>
          </p:nvPr>
        </p:nvSpPr>
        <p:spPr>
          <a:xfrm>
            <a:off x="1097278"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6"/>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51" name="Shape 51"/>
        <p:cNvGrpSpPr/>
        <p:nvPr/>
      </p:nvGrpSpPr>
      <p:grpSpPr>
        <a:xfrm>
          <a:off x="0" y="0"/>
          <a:ext cx="0" cy="0"/>
          <a:chOff x="0" y="0"/>
          <a:chExt cx="0" cy="0"/>
        </a:xfrm>
      </p:grpSpPr>
      <p:sp>
        <p:nvSpPr>
          <p:cNvPr id="52" name="Google Shape;52;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7"/>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27"/>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7"/>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7"/>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60" name="Shape 60"/>
        <p:cNvGrpSpPr/>
        <p:nvPr/>
      </p:nvGrpSpPr>
      <p:grpSpPr>
        <a:xfrm>
          <a:off x="0" y="0"/>
          <a:ext cx="0" cy="0"/>
          <a:chOff x="0" y="0"/>
          <a:chExt cx="0" cy="0"/>
        </a:xfrm>
      </p:grpSpPr>
      <p:sp>
        <p:nvSpPr>
          <p:cNvPr id="61" name="Google Shape;61;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showMasterSp="0" type="objTx">
  <p:cSld name="OBJECT_WITH_CAPTION_TEXT">
    <p:spTree>
      <p:nvGrpSpPr>
        <p:cNvPr id="65" name="Shape 65"/>
        <p:cNvGrpSpPr/>
        <p:nvPr/>
      </p:nvGrpSpPr>
      <p:grpSpPr>
        <a:xfrm>
          <a:off x="0" y="0"/>
          <a:ext cx="0" cy="0"/>
          <a:chOff x="0" y="0"/>
          <a:chExt cx="0" cy="0"/>
        </a:xfrm>
      </p:grpSpPr>
      <p:sp>
        <p:nvSpPr>
          <p:cNvPr id="66" name="Google Shape;66;p29"/>
          <p:cNvSpPr/>
          <p:nvPr/>
        </p:nvSpPr>
        <p:spPr>
          <a:xfrm>
            <a:off x="16" y="0"/>
            <a:ext cx="4050791" cy="6858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9"/>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9"/>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9"/>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29"/>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29"/>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lt2"/>
                </a:solidFill>
                <a:latin typeface="Calibri"/>
                <a:ea typeface="Calibri"/>
                <a:cs typeface="Calibri"/>
                <a:sym typeface="Calibri"/>
              </a:defRPr>
            </a:lvl1pPr>
            <a:lvl2pPr indent="0" lvl="1" marL="0" algn="r">
              <a:spcBef>
                <a:spcPts val="0"/>
              </a:spcBef>
              <a:buNone/>
              <a:defRPr sz="1050">
                <a:solidFill>
                  <a:schemeClr val="lt2"/>
                </a:solidFill>
                <a:latin typeface="Calibri"/>
                <a:ea typeface="Calibri"/>
                <a:cs typeface="Calibri"/>
                <a:sym typeface="Calibri"/>
              </a:defRPr>
            </a:lvl2pPr>
            <a:lvl3pPr indent="0" lvl="2" marL="0" algn="r">
              <a:spcBef>
                <a:spcPts val="0"/>
              </a:spcBef>
              <a:buNone/>
              <a:defRPr sz="1050">
                <a:solidFill>
                  <a:schemeClr val="lt2"/>
                </a:solidFill>
                <a:latin typeface="Calibri"/>
                <a:ea typeface="Calibri"/>
                <a:cs typeface="Calibri"/>
                <a:sym typeface="Calibri"/>
              </a:defRPr>
            </a:lvl3pPr>
            <a:lvl4pPr indent="0" lvl="3" marL="0" algn="r">
              <a:spcBef>
                <a:spcPts val="0"/>
              </a:spcBef>
              <a:buNone/>
              <a:defRPr sz="1050">
                <a:solidFill>
                  <a:schemeClr val="lt2"/>
                </a:solidFill>
                <a:latin typeface="Calibri"/>
                <a:ea typeface="Calibri"/>
                <a:cs typeface="Calibri"/>
                <a:sym typeface="Calibri"/>
              </a:defRPr>
            </a:lvl4pPr>
            <a:lvl5pPr indent="0" lvl="4" marL="0" algn="r">
              <a:spcBef>
                <a:spcPts val="0"/>
              </a:spcBef>
              <a:buNone/>
              <a:defRPr sz="1050">
                <a:solidFill>
                  <a:schemeClr val="lt2"/>
                </a:solidFill>
                <a:latin typeface="Calibri"/>
                <a:ea typeface="Calibri"/>
                <a:cs typeface="Calibri"/>
                <a:sym typeface="Calibri"/>
              </a:defRPr>
            </a:lvl5pPr>
            <a:lvl6pPr indent="0" lvl="5" marL="0" algn="r">
              <a:spcBef>
                <a:spcPts val="0"/>
              </a:spcBef>
              <a:buNone/>
              <a:defRPr sz="1050">
                <a:solidFill>
                  <a:schemeClr val="lt2"/>
                </a:solidFill>
                <a:latin typeface="Calibri"/>
                <a:ea typeface="Calibri"/>
                <a:cs typeface="Calibri"/>
                <a:sym typeface="Calibri"/>
              </a:defRPr>
            </a:lvl6pPr>
            <a:lvl7pPr indent="0" lvl="6" marL="0" algn="r">
              <a:spcBef>
                <a:spcPts val="0"/>
              </a:spcBef>
              <a:buNone/>
              <a:defRPr sz="1050">
                <a:solidFill>
                  <a:schemeClr val="lt2"/>
                </a:solidFill>
                <a:latin typeface="Calibri"/>
                <a:ea typeface="Calibri"/>
                <a:cs typeface="Calibri"/>
                <a:sym typeface="Calibri"/>
              </a:defRPr>
            </a:lvl7pPr>
            <a:lvl8pPr indent="0" lvl="7" marL="0" algn="r">
              <a:spcBef>
                <a:spcPts val="0"/>
              </a:spcBef>
              <a:buNone/>
              <a:defRPr sz="1050">
                <a:solidFill>
                  <a:schemeClr val="lt2"/>
                </a:solidFill>
                <a:latin typeface="Calibri"/>
                <a:ea typeface="Calibri"/>
                <a:cs typeface="Calibri"/>
                <a:sym typeface="Calibri"/>
              </a:defRPr>
            </a:lvl8pPr>
            <a:lvl9pPr indent="0" lvl="8" marL="0" algn="r">
              <a:spcBef>
                <a:spcPts val="0"/>
              </a:spcBef>
              <a:buNone/>
              <a:defRPr sz="1050">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4" name="Shape 74"/>
        <p:cNvGrpSpPr/>
        <p:nvPr/>
      </p:nvGrpSpPr>
      <p:grpSpPr>
        <a:xfrm>
          <a:off x="0" y="0"/>
          <a:ext cx="0" cy="0"/>
          <a:chOff x="0" y="0"/>
          <a:chExt cx="0" cy="0"/>
        </a:xfrm>
      </p:grpSpPr>
      <p:sp>
        <p:nvSpPr>
          <p:cNvPr id="75" name="Google Shape;75;p30"/>
          <p:cNvSpPr/>
          <p:nvPr/>
        </p:nvSpPr>
        <p:spPr>
          <a:xfrm>
            <a:off x="0" y="4953000"/>
            <a:ext cx="12188825" cy="1905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0"/>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0"/>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0"/>
          <p:cNvSpPr/>
          <p:nvPr>
            <p:ph idx="2" type="pic"/>
          </p:nvPr>
        </p:nvSpPr>
        <p:spPr>
          <a:xfrm>
            <a:off x="15" y="0"/>
            <a:ext cx="12191985" cy="4915076"/>
          </a:xfrm>
          <a:prstGeom prst="rect">
            <a:avLst/>
          </a:prstGeom>
          <a:solidFill>
            <a:srgbClr val="E5E5E5"/>
          </a:solidFill>
          <a:ln>
            <a:noFill/>
          </a:ln>
        </p:spPr>
      </p:sp>
      <p:sp>
        <p:nvSpPr>
          <p:cNvPr id="79" name="Google Shape;79;p30"/>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83" name="Shape 83"/>
        <p:cNvGrpSpPr/>
        <p:nvPr/>
      </p:nvGrpSpPr>
      <p:grpSpPr>
        <a:xfrm>
          <a:off x="0" y="0"/>
          <a:ext cx="0" cy="0"/>
          <a:chOff x="0" y="0"/>
          <a:chExt cx="0" cy="0"/>
        </a:xfrm>
      </p:grpSpPr>
      <p:sp>
        <p:nvSpPr>
          <p:cNvPr id="84" name="Google Shape;84;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1"/>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9" name="Shape 89"/>
        <p:cNvGrpSpPr/>
        <p:nvPr/>
      </p:nvGrpSpPr>
      <p:grpSpPr>
        <a:xfrm>
          <a:off x="0" y="0"/>
          <a:ext cx="0" cy="0"/>
          <a:chOff x="0" y="0"/>
          <a:chExt cx="0" cy="0"/>
        </a:xfrm>
      </p:grpSpPr>
      <p:sp>
        <p:nvSpPr>
          <p:cNvPr id="90" name="Google Shape;90;p32"/>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2"/>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2"/>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1"/>
          <p:cNvSpPr/>
          <p:nvPr/>
        </p:nvSpPr>
        <p:spPr>
          <a:xfrm>
            <a:off x="1" y="6400800"/>
            <a:ext cx="12192000" cy="457200"/>
          </a:xfrm>
          <a:prstGeom prst="rect">
            <a:avLst/>
          </a:prstGeom>
          <a:solidFill>
            <a:srgbClr val="5934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7" name="Google Shape;7;p21"/>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8" name="Google Shape;8;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606060"/>
              </a:buClr>
              <a:buSzPts val="4800"/>
              <a:buFont typeface="Calibri"/>
              <a:buNone/>
              <a:defRPr b="0" i="0" sz="4800" u="none" cap="none" strike="noStrike">
                <a:solidFill>
                  <a:srgbClr val="606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60606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60606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9pPr>
          </a:lstStyle>
          <a:p/>
        </p:txBody>
      </p:sp>
      <p:sp>
        <p:nvSpPr>
          <p:cNvPr id="10" name="Google Shape;10;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1" name="Google Shape;11;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cap="non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2" name="Google Shape;12;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050" u="none">
                <a:solidFill>
                  <a:srgbClr val="FFFFFF"/>
                </a:solidFill>
                <a:latin typeface="Calibri"/>
                <a:ea typeface="Calibri"/>
                <a:cs typeface="Calibri"/>
                <a:sym typeface="Calibri"/>
              </a:defRPr>
            </a:lvl1pPr>
            <a:lvl2pPr indent="0" lvl="1" marL="0" marR="0" rtl="0" algn="r">
              <a:spcBef>
                <a:spcPts val="0"/>
              </a:spcBef>
              <a:buNone/>
              <a:defRPr b="0" sz="1050" u="none">
                <a:solidFill>
                  <a:srgbClr val="FFFFFF"/>
                </a:solidFill>
                <a:latin typeface="Calibri"/>
                <a:ea typeface="Calibri"/>
                <a:cs typeface="Calibri"/>
                <a:sym typeface="Calibri"/>
              </a:defRPr>
            </a:lvl2pPr>
            <a:lvl3pPr indent="0" lvl="2" marL="0" marR="0" rtl="0" algn="r">
              <a:spcBef>
                <a:spcPts val="0"/>
              </a:spcBef>
              <a:buNone/>
              <a:defRPr b="0" sz="1050" u="none">
                <a:solidFill>
                  <a:srgbClr val="FFFFFF"/>
                </a:solidFill>
                <a:latin typeface="Calibri"/>
                <a:ea typeface="Calibri"/>
                <a:cs typeface="Calibri"/>
                <a:sym typeface="Calibri"/>
              </a:defRPr>
            </a:lvl3pPr>
            <a:lvl4pPr indent="0" lvl="3" marL="0" marR="0" rtl="0" algn="r">
              <a:spcBef>
                <a:spcPts val="0"/>
              </a:spcBef>
              <a:buNone/>
              <a:defRPr b="0" sz="1050" u="none">
                <a:solidFill>
                  <a:srgbClr val="FFFFFF"/>
                </a:solidFill>
                <a:latin typeface="Calibri"/>
                <a:ea typeface="Calibri"/>
                <a:cs typeface="Calibri"/>
                <a:sym typeface="Calibri"/>
              </a:defRPr>
            </a:lvl4pPr>
            <a:lvl5pPr indent="0" lvl="4" marL="0" marR="0" rtl="0" algn="r">
              <a:spcBef>
                <a:spcPts val="0"/>
              </a:spcBef>
              <a:buNone/>
              <a:defRPr b="0" sz="1050" u="none">
                <a:solidFill>
                  <a:srgbClr val="FFFFFF"/>
                </a:solidFill>
                <a:latin typeface="Calibri"/>
                <a:ea typeface="Calibri"/>
                <a:cs typeface="Calibri"/>
                <a:sym typeface="Calibri"/>
              </a:defRPr>
            </a:lvl5pPr>
            <a:lvl6pPr indent="0" lvl="5" marL="0" marR="0" rtl="0" algn="r">
              <a:spcBef>
                <a:spcPts val="0"/>
              </a:spcBef>
              <a:buNone/>
              <a:defRPr b="0" sz="1050" u="none">
                <a:solidFill>
                  <a:srgbClr val="FFFFFF"/>
                </a:solidFill>
                <a:latin typeface="Calibri"/>
                <a:ea typeface="Calibri"/>
                <a:cs typeface="Calibri"/>
                <a:sym typeface="Calibri"/>
              </a:defRPr>
            </a:lvl6pPr>
            <a:lvl7pPr indent="0" lvl="6" marL="0" marR="0" rtl="0" algn="r">
              <a:spcBef>
                <a:spcPts val="0"/>
              </a:spcBef>
              <a:buNone/>
              <a:defRPr b="0" sz="1050" u="none">
                <a:solidFill>
                  <a:srgbClr val="FFFFFF"/>
                </a:solidFill>
                <a:latin typeface="Calibri"/>
                <a:ea typeface="Calibri"/>
                <a:cs typeface="Calibri"/>
                <a:sym typeface="Calibri"/>
              </a:defRPr>
            </a:lvl7pPr>
            <a:lvl8pPr indent="0" lvl="7" marL="0" marR="0" rtl="0" algn="r">
              <a:spcBef>
                <a:spcPts val="0"/>
              </a:spcBef>
              <a:buNone/>
              <a:defRPr b="0" sz="1050" u="none">
                <a:solidFill>
                  <a:srgbClr val="FFFFFF"/>
                </a:solidFill>
                <a:latin typeface="Calibri"/>
                <a:ea typeface="Calibri"/>
                <a:cs typeface="Calibri"/>
                <a:sym typeface="Calibri"/>
              </a:defRPr>
            </a:lvl8pPr>
            <a:lvl9pPr indent="0" lvl="8" marL="0" marR="0" rtl="0" algn="r">
              <a:spcBef>
                <a:spcPts val="0"/>
              </a:spcBef>
              <a:buNone/>
              <a:defRPr b="0" sz="105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13" name="Google Shape;13;p21"/>
          <p:cNvCxnSpPr/>
          <p:nvPr/>
        </p:nvCxnSpPr>
        <p:spPr>
          <a:xfrm>
            <a:off x="1193532" y="1737845"/>
            <a:ext cx="9966960" cy="0"/>
          </a:xfrm>
          <a:prstGeom prst="straightConnector1">
            <a:avLst/>
          </a:prstGeom>
          <a:noFill/>
          <a:ln cap="flat" cmpd="sng" w="9525">
            <a:solidFill>
              <a:srgbClr val="959595"/>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0" y="3162968"/>
            <a:ext cx="12192000" cy="82366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BM0102</a:t>
            </a:r>
            <a:r>
              <a:rPr lang="tr-TR" sz="4000">
                <a:solidFill>
                  <a:schemeClr val="dk1"/>
                </a:solidFill>
                <a:latin typeface="Times New Roman"/>
                <a:ea typeface="Times New Roman"/>
                <a:cs typeface="Times New Roman"/>
                <a:sym typeface="Times New Roman"/>
              </a:rPr>
              <a:t>-ALGORİTMA ve PROGRAMLAMA II</a:t>
            </a:r>
            <a:endParaRPr/>
          </a:p>
        </p:txBody>
      </p:sp>
      <p:sp>
        <p:nvSpPr>
          <p:cNvPr id="102" name="Google Shape;102;p1"/>
          <p:cNvSpPr txBox="1"/>
          <p:nvPr>
            <p:ph idx="1" type="subTitle"/>
          </p:nvPr>
        </p:nvSpPr>
        <p:spPr>
          <a:xfrm>
            <a:off x="1" y="2036685"/>
            <a:ext cx="12192000" cy="112628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3000"/>
              <a:buNone/>
            </a:pPr>
            <a:r>
              <a:rPr lang="tr-TR" sz="3000">
                <a:solidFill>
                  <a:schemeClr val="dk1"/>
                </a:solidFill>
                <a:latin typeface="Times New Roman"/>
                <a:ea typeface="Times New Roman"/>
                <a:cs typeface="Times New Roman"/>
                <a:sym typeface="Times New Roman"/>
              </a:rPr>
              <a:t>MÜHENDİSLİK FAKÜLTESİ </a:t>
            </a:r>
            <a:endParaRPr/>
          </a:p>
          <a:p>
            <a:pPr indent="0" lvl="0" marL="0" rtl="0" algn="ctr">
              <a:lnSpc>
                <a:spcPct val="90000"/>
              </a:lnSpc>
              <a:spcBef>
                <a:spcPts val="1400"/>
              </a:spcBef>
              <a:spcAft>
                <a:spcPts val="0"/>
              </a:spcAft>
              <a:buSzPts val="3000"/>
              <a:buNone/>
            </a:pPr>
            <a:r>
              <a:rPr lang="tr-TR" sz="3000">
                <a:solidFill>
                  <a:schemeClr val="dk1"/>
                </a:solidFill>
                <a:latin typeface="Times New Roman"/>
                <a:ea typeface="Times New Roman"/>
                <a:cs typeface="Times New Roman"/>
                <a:sym typeface="Times New Roman"/>
              </a:rPr>
              <a:t>BİLGİSAYAR MÜHENDİSLİĞİ BÖLÜMÜ</a:t>
            </a:r>
            <a:endParaRPr/>
          </a:p>
        </p:txBody>
      </p:sp>
      <p:pic>
        <p:nvPicPr>
          <p:cNvPr descr="Amasya Üniversitesi Logo Vector (.AI) Free Download" id="103" name="Google Shape;103;p1"/>
          <p:cNvPicPr preferRelativeResize="0"/>
          <p:nvPr/>
        </p:nvPicPr>
        <p:blipFill rotWithShape="1">
          <a:blip r:embed="rId3">
            <a:alphaModFix/>
          </a:blip>
          <a:srcRect b="0" l="0" r="0" t="0"/>
          <a:stretch/>
        </p:blipFill>
        <p:spPr>
          <a:xfrm>
            <a:off x="5199293" y="159026"/>
            <a:ext cx="1889990" cy="1656891"/>
          </a:xfrm>
          <a:prstGeom prst="rect">
            <a:avLst/>
          </a:prstGeom>
          <a:noFill/>
          <a:ln>
            <a:noFill/>
          </a:ln>
        </p:spPr>
      </p:pic>
      <p:sp>
        <p:nvSpPr>
          <p:cNvPr id="104" name="Google Shape;104;p1"/>
          <p:cNvSpPr txBox="1"/>
          <p:nvPr/>
        </p:nvSpPr>
        <p:spPr>
          <a:xfrm>
            <a:off x="0" y="4432605"/>
            <a:ext cx="12192000" cy="1104129"/>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chemeClr val="dk1"/>
              </a:buClr>
              <a:buSzPts val="2500"/>
              <a:buFont typeface="Times New Roman"/>
              <a:buNone/>
            </a:pPr>
            <a:r>
              <a:rPr lang="tr-TR" sz="2500">
                <a:solidFill>
                  <a:schemeClr val="dk1"/>
                </a:solidFill>
                <a:latin typeface="Times New Roman"/>
                <a:ea typeface="Times New Roman"/>
                <a:cs typeface="Times New Roman"/>
                <a:sym typeface="Times New Roman"/>
              </a:rPr>
              <a:t>Hafta 1</a:t>
            </a:r>
            <a:endParaRPr/>
          </a:p>
          <a:p>
            <a:pPr indent="0" lvl="0" marL="0" marR="0" rtl="0" algn="ctr">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C++ Programlama Diline Giriş</a:t>
            </a:r>
            <a:endParaRPr/>
          </a:p>
        </p:txBody>
      </p:sp>
      <p:sp>
        <p:nvSpPr>
          <p:cNvPr id="105" name="Google Shape;105;p1"/>
          <p:cNvSpPr txBox="1"/>
          <p:nvPr/>
        </p:nvSpPr>
        <p:spPr>
          <a:xfrm>
            <a:off x="139485" y="5724630"/>
            <a:ext cx="12191999" cy="507484"/>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2400"/>
              <a:buFont typeface="Noto Sans Symbols"/>
              <a:buNone/>
            </a:pPr>
            <a:r>
              <a:rPr lang="tr-TR" sz="2400">
                <a:solidFill>
                  <a:schemeClr val="dk1"/>
                </a:solidFill>
                <a:latin typeface="Times New Roman"/>
                <a:ea typeface="Times New Roman"/>
                <a:cs typeface="Times New Roman"/>
                <a:sym typeface="Times New Roman"/>
              </a:rPr>
              <a:t>Doç. Dr. Funda KUTLU ONAY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C++ Dilinin Tarihçesi</a:t>
            </a:r>
            <a:endParaRPr/>
          </a:p>
        </p:txBody>
      </p:sp>
      <p:sp>
        <p:nvSpPr>
          <p:cNvPr id="111" name="Google Shape;111;p2"/>
          <p:cNvSpPr txBox="1"/>
          <p:nvPr/>
        </p:nvSpPr>
        <p:spPr>
          <a:xfrm>
            <a:off x="0" y="625475"/>
            <a:ext cx="12192000" cy="5837645"/>
          </a:xfrm>
          <a:prstGeom prst="rect">
            <a:avLst/>
          </a:prstGeom>
          <a:noFill/>
          <a:ln>
            <a:noFill/>
          </a:ln>
        </p:spPr>
        <p:txBody>
          <a:bodyPr anchorCtr="0" anchor="t" bIns="45700" lIns="0" spcFirstLastPara="1" rIns="0" wrap="square" tIns="45700">
            <a:normAutofit/>
          </a:bodyPr>
          <a:lstStyle/>
          <a:p>
            <a:pPr indent="-152400" lvl="0" marL="91440" marR="0" rtl="0" algn="l">
              <a:lnSpc>
                <a:spcPct val="90000"/>
              </a:lnSpc>
              <a:spcBef>
                <a:spcPts val="0"/>
              </a:spcBef>
              <a:spcAft>
                <a:spcPts val="0"/>
              </a:spcAft>
              <a:buClr>
                <a:schemeClr val="accent1"/>
              </a:buClr>
              <a:buSzPts val="2400"/>
              <a:buFont typeface="Calibri"/>
              <a:buChar char=" "/>
            </a:pPr>
            <a:r>
              <a:rPr lang="tr-TR" sz="2400">
                <a:solidFill>
                  <a:schemeClr val="lt1"/>
                </a:solidFill>
                <a:latin typeface="Times New Roman"/>
                <a:ea typeface="Times New Roman"/>
                <a:cs typeface="Times New Roman"/>
                <a:sym typeface="Times New Roman"/>
              </a:rPr>
              <a:t>C++ dili, C dilinden geliştirilmiştir. Adındaki </a:t>
            </a:r>
            <a:r>
              <a:rPr lang="tr-TR" sz="2400">
                <a:solidFill>
                  <a:srgbClr val="7030A0"/>
                </a:solidFill>
                <a:latin typeface="Times New Roman"/>
                <a:ea typeface="Times New Roman"/>
                <a:cs typeface="Times New Roman"/>
                <a:sym typeface="Times New Roman"/>
              </a:rPr>
              <a:t>++</a:t>
            </a:r>
            <a:r>
              <a:rPr lang="tr-TR" sz="2400">
                <a:solidFill>
                  <a:schemeClr val="lt1"/>
                </a:solidFill>
                <a:latin typeface="Times New Roman"/>
                <a:ea typeface="Times New Roman"/>
                <a:cs typeface="Times New Roman"/>
                <a:sym typeface="Times New Roman"/>
              </a:rPr>
              <a:t> da bunu temsil etmektedir. </a:t>
            </a:r>
            <a:endParaRPr/>
          </a:p>
          <a:p>
            <a:pPr indent="-152400" lvl="0" marL="91440" marR="0" rtl="0" algn="l">
              <a:lnSpc>
                <a:spcPct val="90000"/>
              </a:lnSpc>
              <a:spcBef>
                <a:spcPts val="1400"/>
              </a:spcBef>
              <a:spcAft>
                <a:spcPts val="0"/>
              </a:spcAft>
              <a:buClr>
                <a:schemeClr val="accent1"/>
              </a:buClr>
              <a:buSzPts val="2400"/>
              <a:buFont typeface="Calibri"/>
              <a:buChar char=" "/>
            </a:pPr>
            <a:r>
              <a:rPr lang="tr-TR" sz="2400">
                <a:solidFill>
                  <a:schemeClr val="lt1"/>
                </a:solidFill>
                <a:latin typeface="Times New Roman"/>
                <a:ea typeface="Times New Roman"/>
                <a:cs typeface="Times New Roman"/>
                <a:sym typeface="Times New Roman"/>
              </a:rPr>
              <a:t>C++ ile, C diline "Nesneye Yönelik Programlama  (NYP)/ Object Oriented Programming (OOP)" özellikleri kazandırılmıştır.</a:t>
            </a:r>
            <a:endParaRPr/>
          </a:p>
          <a:p>
            <a:pPr indent="-152400" lvl="0" marL="91440" marR="0" rtl="0" algn="l">
              <a:lnSpc>
                <a:spcPct val="90000"/>
              </a:lnSpc>
              <a:spcBef>
                <a:spcPts val="1400"/>
              </a:spcBef>
              <a:spcAft>
                <a:spcPts val="0"/>
              </a:spcAft>
              <a:buClr>
                <a:schemeClr val="accent1"/>
              </a:buClr>
              <a:buSzPts val="2400"/>
              <a:buFont typeface="Calibri"/>
              <a:buChar char=" "/>
            </a:pPr>
            <a:r>
              <a:rPr lang="tr-TR" sz="2400">
                <a:solidFill>
                  <a:schemeClr val="lt1"/>
                </a:solidFill>
                <a:latin typeface="Times New Roman"/>
                <a:ea typeface="Times New Roman"/>
                <a:cs typeface="Times New Roman"/>
                <a:sym typeface="Times New Roman"/>
              </a:rPr>
              <a:t>NYP mantığı, kolay anlaşılabilir ve düzeltilebilir program yazma olanağını sağlar. </a:t>
            </a:r>
            <a:endParaRPr/>
          </a:p>
          <a:p>
            <a:pPr indent="0" lvl="0" marL="91440" marR="0" rtl="0" algn="l">
              <a:lnSpc>
                <a:spcPct val="90000"/>
              </a:lnSpc>
              <a:spcBef>
                <a:spcPts val="1400"/>
              </a:spcBef>
              <a:spcAft>
                <a:spcPts val="0"/>
              </a:spcAft>
              <a:buClr>
                <a:schemeClr val="accent1"/>
              </a:buClr>
              <a:buSzPts val="2400"/>
              <a:buFont typeface="Calibri"/>
              <a:buNone/>
            </a:pPr>
            <a:r>
              <a:t/>
            </a:r>
            <a:endParaRPr sz="2400">
              <a:solidFill>
                <a:schemeClr val="lt1"/>
              </a:solidFill>
              <a:latin typeface="Times New Roman"/>
              <a:ea typeface="Times New Roman"/>
              <a:cs typeface="Times New Roman"/>
              <a:sym typeface="Times New Roman"/>
            </a:endParaRPr>
          </a:p>
        </p:txBody>
      </p:sp>
      <p:pic>
        <p:nvPicPr>
          <p:cNvPr id="112" name="Google Shape;112;p2"/>
          <p:cNvPicPr preferRelativeResize="0"/>
          <p:nvPr/>
        </p:nvPicPr>
        <p:blipFill rotWithShape="1">
          <a:blip r:embed="rId3">
            <a:alphaModFix/>
          </a:blip>
          <a:srcRect b="0" l="0" r="0" t="0"/>
          <a:stretch/>
        </p:blipFill>
        <p:spPr>
          <a:xfrm>
            <a:off x="83128" y="2508224"/>
            <a:ext cx="5757568" cy="3724301"/>
          </a:xfrm>
          <a:prstGeom prst="rect">
            <a:avLst/>
          </a:prstGeom>
          <a:noFill/>
          <a:ln>
            <a:noFill/>
          </a:ln>
        </p:spPr>
      </p:pic>
      <p:sp>
        <p:nvSpPr>
          <p:cNvPr id="113" name="Google Shape;113;p2"/>
          <p:cNvSpPr txBox="1"/>
          <p:nvPr/>
        </p:nvSpPr>
        <p:spPr>
          <a:xfrm>
            <a:off x="5989782" y="2574801"/>
            <a:ext cx="6202218"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000">
                <a:solidFill>
                  <a:schemeClr val="lt1"/>
                </a:solidFill>
                <a:latin typeface="Times New Roman"/>
                <a:ea typeface="Times New Roman"/>
                <a:cs typeface="Times New Roman"/>
                <a:sym typeface="Times New Roman"/>
              </a:rPr>
              <a:t>Aşağıdaki yazılımlarla kullanılabilir:</a:t>
            </a:r>
            <a:endParaRPr/>
          </a:p>
          <a:p>
            <a:pPr indent="-285750" lvl="0" marL="285750" marR="0" rtl="0" algn="l">
              <a:spcBef>
                <a:spcPts val="0"/>
              </a:spcBef>
              <a:spcAft>
                <a:spcPts val="0"/>
              </a:spcAft>
              <a:buClr>
                <a:schemeClr val="lt1"/>
              </a:buClr>
              <a:buSzPts val="2000"/>
              <a:buFont typeface="Arial"/>
              <a:buChar char="•"/>
            </a:pPr>
            <a:r>
              <a:rPr lang="tr-TR" sz="2000">
                <a:solidFill>
                  <a:schemeClr val="lt1"/>
                </a:solidFill>
                <a:latin typeface="Times New Roman"/>
                <a:ea typeface="Times New Roman"/>
                <a:cs typeface="Times New Roman"/>
                <a:sym typeface="Times New Roman"/>
              </a:rPr>
              <a:t>Dev C++</a:t>
            </a:r>
            <a:endParaRPr/>
          </a:p>
          <a:p>
            <a:pPr indent="-285750" lvl="0" marL="285750" marR="0" rtl="0" algn="l">
              <a:spcBef>
                <a:spcPts val="0"/>
              </a:spcBef>
              <a:spcAft>
                <a:spcPts val="0"/>
              </a:spcAft>
              <a:buClr>
                <a:schemeClr val="lt1"/>
              </a:buClr>
              <a:buSzPts val="2000"/>
              <a:buFont typeface="Arial"/>
              <a:buChar char="•"/>
            </a:pPr>
            <a:r>
              <a:rPr lang="tr-TR" sz="2000">
                <a:solidFill>
                  <a:schemeClr val="lt1"/>
                </a:solidFill>
                <a:latin typeface="Times New Roman"/>
                <a:ea typeface="Times New Roman"/>
                <a:cs typeface="Times New Roman"/>
                <a:sym typeface="Times New Roman"/>
              </a:rPr>
              <a:t>CodeBlocks</a:t>
            </a:r>
            <a:endParaRPr sz="2000">
              <a:solidFill>
                <a:schemeClr val="lt1"/>
              </a:solidFill>
              <a:latin typeface="Times New Roman"/>
              <a:ea typeface="Times New Roman"/>
              <a:cs typeface="Times New Roman"/>
              <a:sym typeface="Times New Roman"/>
            </a:endParaRPr>
          </a:p>
          <a:p>
            <a:pPr indent="-285750" lvl="0" marL="285750" marR="0" rtl="0" algn="l">
              <a:spcBef>
                <a:spcPts val="0"/>
              </a:spcBef>
              <a:spcAft>
                <a:spcPts val="0"/>
              </a:spcAft>
              <a:buClr>
                <a:schemeClr val="lt1"/>
              </a:buClr>
              <a:buSzPts val="2000"/>
              <a:buFont typeface="Arial"/>
              <a:buChar char="•"/>
            </a:pPr>
            <a:r>
              <a:rPr lang="tr-TR" sz="2000">
                <a:solidFill>
                  <a:schemeClr val="lt1"/>
                </a:solidFill>
                <a:latin typeface="Times New Roman"/>
                <a:ea typeface="Times New Roman"/>
                <a:cs typeface="Times New Roman"/>
                <a:sym typeface="Times New Roman"/>
              </a:rPr>
              <a:t>Borland C++</a:t>
            </a:r>
            <a:endParaRPr/>
          </a:p>
          <a:p>
            <a:pPr indent="-285750" lvl="0" marL="285750" marR="0" rtl="0" algn="l">
              <a:spcBef>
                <a:spcPts val="0"/>
              </a:spcBef>
              <a:spcAft>
                <a:spcPts val="0"/>
              </a:spcAft>
              <a:buClr>
                <a:schemeClr val="lt1"/>
              </a:buClr>
              <a:buSzPts val="2000"/>
              <a:buFont typeface="Arial"/>
              <a:buChar char="•"/>
            </a:pPr>
            <a:r>
              <a:rPr lang="tr-TR" sz="2000">
                <a:solidFill>
                  <a:schemeClr val="lt1"/>
                </a:solidFill>
                <a:latin typeface="Times New Roman"/>
                <a:ea typeface="Times New Roman"/>
                <a:cs typeface="Times New Roman"/>
                <a:sym typeface="Times New Roman"/>
              </a:rPr>
              <a:t>Visual Studio</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nvSpPr>
        <p:spPr>
          <a:xfrm>
            <a:off x="0" y="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lt1"/>
                </a:solidFill>
                <a:latin typeface="Times New Roman"/>
                <a:ea typeface="Times New Roman"/>
                <a:cs typeface="Times New Roman"/>
                <a:sym typeface="Times New Roman"/>
              </a:rPr>
              <a:t>Dev C++ ile yeni bir C++ Projesi Açma Adımları</a:t>
            </a:r>
            <a:endParaRPr b="1" sz="1800">
              <a:solidFill>
                <a:schemeClr val="lt1"/>
              </a:solidFill>
              <a:latin typeface="Times New Roman"/>
              <a:ea typeface="Times New Roman"/>
              <a:cs typeface="Times New Roman"/>
              <a:sym typeface="Times New Roman"/>
            </a:endParaRPr>
          </a:p>
        </p:txBody>
      </p:sp>
      <p:pic>
        <p:nvPicPr>
          <p:cNvPr id="119" name="Google Shape;119;p3"/>
          <p:cNvPicPr preferRelativeResize="0"/>
          <p:nvPr/>
        </p:nvPicPr>
        <p:blipFill rotWithShape="1">
          <a:blip r:embed="rId3">
            <a:alphaModFix/>
          </a:blip>
          <a:srcRect b="19848" l="0" r="51367" t="0"/>
          <a:stretch/>
        </p:blipFill>
        <p:spPr>
          <a:xfrm>
            <a:off x="793171" y="435453"/>
            <a:ext cx="4128421" cy="3600000"/>
          </a:xfrm>
          <a:prstGeom prst="rect">
            <a:avLst/>
          </a:prstGeom>
          <a:noFill/>
          <a:ln cap="sq" cmpd="sng" w="9525">
            <a:solidFill>
              <a:srgbClr val="000000"/>
            </a:solidFill>
            <a:prstDash val="solid"/>
            <a:miter lim="800000"/>
            <a:headEnd len="sm" w="sm" type="none"/>
            <a:tailEnd len="sm" w="sm" type="none"/>
          </a:ln>
          <a:effectLst>
            <a:outerShdw blurRad="50800" rotWithShape="0" algn="tl" dir="2700000" dist="38100">
              <a:srgbClr val="000000">
                <a:alpha val="43137"/>
              </a:srgbClr>
            </a:outerShdw>
          </a:effectLst>
        </p:spPr>
      </p:pic>
      <p:pic>
        <p:nvPicPr>
          <p:cNvPr id="120" name="Google Shape;120;p3"/>
          <p:cNvPicPr preferRelativeResize="0"/>
          <p:nvPr/>
        </p:nvPicPr>
        <p:blipFill rotWithShape="1">
          <a:blip r:embed="rId4">
            <a:alphaModFix/>
          </a:blip>
          <a:srcRect b="0" l="0" r="0" t="0"/>
          <a:stretch/>
        </p:blipFill>
        <p:spPr>
          <a:xfrm>
            <a:off x="5431609" y="435453"/>
            <a:ext cx="5646316" cy="3600000"/>
          </a:xfrm>
          <a:prstGeom prst="rect">
            <a:avLst/>
          </a:prstGeom>
          <a:noFill/>
          <a:ln cap="sq" cmpd="sng" w="9525">
            <a:solidFill>
              <a:srgbClr val="000000"/>
            </a:solidFill>
            <a:prstDash val="solid"/>
            <a:miter lim="800000"/>
            <a:headEnd len="sm" w="sm" type="none"/>
            <a:tailEnd len="sm" w="sm" type="none"/>
          </a:ln>
          <a:effectLst>
            <a:outerShdw blurRad="50800" rotWithShape="0" algn="tl" dir="2700000" dist="38100">
              <a:srgbClr val="000000">
                <a:alpha val="43137"/>
              </a:srgbClr>
            </a:outerShdw>
          </a:effectLst>
        </p:spPr>
      </p:pic>
      <p:sp>
        <p:nvSpPr>
          <p:cNvPr id="121" name="Google Shape;121;p3"/>
          <p:cNvSpPr/>
          <p:nvPr/>
        </p:nvSpPr>
        <p:spPr>
          <a:xfrm>
            <a:off x="9160779" y="3479334"/>
            <a:ext cx="520118" cy="310393"/>
          </a:xfrm>
          <a:prstGeom prst="ellipse">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3"/>
          <p:cNvSpPr txBox="1"/>
          <p:nvPr/>
        </p:nvSpPr>
        <p:spPr>
          <a:xfrm>
            <a:off x="726059" y="4177098"/>
            <a:ext cx="419553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tr-TR" sz="1800">
                <a:solidFill>
                  <a:schemeClr val="lt1"/>
                </a:solidFill>
                <a:latin typeface="Times New Roman"/>
                <a:ea typeface="Times New Roman"/>
                <a:cs typeface="Times New Roman"/>
                <a:sym typeface="Times New Roman"/>
              </a:rPr>
              <a:t>Dosya</a:t>
            </a:r>
            <a:r>
              <a:rPr lang="tr-TR" sz="1800">
                <a:solidFill>
                  <a:schemeClr val="lt1"/>
                </a:solidFill>
                <a:latin typeface="Times New Roman"/>
                <a:ea typeface="Times New Roman"/>
                <a:cs typeface="Times New Roman"/>
                <a:sym typeface="Times New Roman"/>
              </a:rPr>
              <a:t> </a:t>
            </a:r>
            <a:r>
              <a:rPr b="1" lang="tr-TR" sz="1800">
                <a:solidFill>
                  <a:srgbClr val="7030A0"/>
                </a:solidFill>
                <a:latin typeface="Times New Roman"/>
                <a:ea typeface="Times New Roman"/>
                <a:cs typeface="Times New Roman"/>
                <a:sym typeface="Times New Roman"/>
              </a:rPr>
              <a:t>→</a:t>
            </a:r>
            <a:r>
              <a:rPr lang="tr-TR" sz="1800">
                <a:solidFill>
                  <a:schemeClr val="lt1"/>
                </a:solidFill>
                <a:latin typeface="Times New Roman"/>
                <a:ea typeface="Times New Roman"/>
                <a:cs typeface="Times New Roman"/>
                <a:sym typeface="Times New Roman"/>
              </a:rPr>
              <a:t> </a:t>
            </a:r>
            <a:r>
              <a:rPr i="1" lang="tr-TR" sz="1800">
                <a:solidFill>
                  <a:schemeClr val="lt1"/>
                </a:solidFill>
                <a:latin typeface="Times New Roman"/>
                <a:ea typeface="Times New Roman"/>
                <a:cs typeface="Times New Roman"/>
                <a:sym typeface="Times New Roman"/>
              </a:rPr>
              <a:t>Yeni</a:t>
            </a:r>
            <a:r>
              <a:rPr lang="tr-TR" sz="1800">
                <a:solidFill>
                  <a:schemeClr val="lt1"/>
                </a:solidFill>
                <a:latin typeface="Times New Roman"/>
                <a:ea typeface="Times New Roman"/>
                <a:cs typeface="Times New Roman"/>
                <a:sym typeface="Times New Roman"/>
              </a:rPr>
              <a:t> </a:t>
            </a:r>
            <a:r>
              <a:rPr b="1" lang="tr-TR" sz="1800">
                <a:solidFill>
                  <a:srgbClr val="7030A0"/>
                </a:solidFill>
                <a:latin typeface="Times New Roman"/>
                <a:ea typeface="Times New Roman"/>
                <a:cs typeface="Times New Roman"/>
                <a:sym typeface="Times New Roman"/>
              </a:rPr>
              <a:t>→ </a:t>
            </a:r>
            <a:r>
              <a:rPr i="1" lang="tr-TR" sz="1800">
                <a:solidFill>
                  <a:schemeClr val="lt1"/>
                </a:solidFill>
                <a:latin typeface="Times New Roman"/>
                <a:ea typeface="Times New Roman"/>
                <a:cs typeface="Times New Roman"/>
                <a:sym typeface="Times New Roman"/>
              </a:rPr>
              <a:t>Proje</a:t>
            </a:r>
            <a:r>
              <a:rPr lang="tr-TR" sz="1800">
                <a:solidFill>
                  <a:schemeClr val="lt1"/>
                </a:solidFill>
                <a:latin typeface="Times New Roman"/>
                <a:ea typeface="Times New Roman"/>
                <a:cs typeface="Times New Roman"/>
                <a:sym typeface="Times New Roman"/>
              </a:rPr>
              <a:t> ile yeni proje yaratılabildiği gibi,  </a:t>
            </a:r>
            <a:endParaRPr/>
          </a:p>
          <a:p>
            <a:pPr indent="0" lvl="0" marL="0" marR="0" rtl="0" algn="l">
              <a:spcBef>
                <a:spcPts val="0"/>
              </a:spcBef>
              <a:spcAft>
                <a:spcPts val="0"/>
              </a:spcAft>
              <a:buNone/>
            </a:pPr>
            <a:r>
              <a:rPr i="1" lang="tr-TR" sz="1800">
                <a:solidFill>
                  <a:schemeClr val="lt1"/>
                </a:solidFill>
                <a:latin typeface="Times New Roman"/>
                <a:ea typeface="Times New Roman"/>
                <a:cs typeface="Times New Roman"/>
                <a:sym typeface="Times New Roman"/>
              </a:rPr>
              <a:t>Dosya</a:t>
            </a:r>
            <a:r>
              <a:rPr b="1" lang="tr-TR" sz="1800">
                <a:solidFill>
                  <a:srgbClr val="7030A0"/>
                </a:solidFill>
                <a:latin typeface="Times New Roman"/>
                <a:ea typeface="Times New Roman"/>
                <a:cs typeface="Times New Roman"/>
                <a:sym typeface="Times New Roman"/>
              </a:rPr>
              <a:t> → </a:t>
            </a:r>
            <a:r>
              <a:rPr i="1" lang="tr-TR" sz="1800">
                <a:solidFill>
                  <a:schemeClr val="lt1"/>
                </a:solidFill>
                <a:latin typeface="Times New Roman"/>
                <a:ea typeface="Times New Roman"/>
                <a:cs typeface="Times New Roman"/>
                <a:sym typeface="Times New Roman"/>
              </a:rPr>
              <a:t>Proje veya Dosya Aç</a:t>
            </a:r>
            <a:r>
              <a:rPr lang="tr-TR" sz="1800">
                <a:solidFill>
                  <a:schemeClr val="lt1"/>
                </a:solidFill>
                <a:latin typeface="Times New Roman"/>
                <a:ea typeface="Times New Roman"/>
                <a:cs typeface="Times New Roman"/>
                <a:sym typeface="Times New Roman"/>
              </a:rPr>
              <a:t> sekmelerinden de daha önce oluşturduğumuz projelere erişebiliriz. </a:t>
            </a:r>
            <a:endParaRPr/>
          </a:p>
        </p:txBody>
      </p:sp>
      <p:sp>
        <p:nvSpPr>
          <p:cNvPr id="123" name="Google Shape;123;p3"/>
          <p:cNvSpPr txBox="1"/>
          <p:nvPr/>
        </p:nvSpPr>
        <p:spPr>
          <a:xfrm>
            <a:off x="5366158" y="4336489"/>
            <a:ext cx="596736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Açılan ekranda </a:t>
            </a:r>
            <a:r>
              <a:rPr i="1" lang="tr-TR" sz="1800">
                <a:solidFill>
                  <a:schemeClr val="lt1"/>
                </a:solidFill>
                <a:latin typeface="Times New Roman"/>
                <a:ea typeface="Times New Roman"/>
                <a:cs typeface="Times New Roman"/>
                <a:sym typeface="Times New Roman"/>
              </a:rPr>
              <a:t>Console Application </a:t>
            </a:r>
            <a:r>
              <a:rPr lang="tr-TR" sz="1800">
                <a:solidFill>
                  <a:schemeClr val="lt1"/>
                </a:solidFill>
                <a:latin typeface="Times New Roman"/>
                <a:ea typeface="Times New Roman"/>
                <a:cs typeface="Times New Roman"/>
                <a:sym typeface="Times New Roman"/>
              </a:rPr>
              <a:t>seçeneği ile birlikte </a:t>
            </a:r>
            <a:r>
              <a:rPr i="1" lang="tr-TR" sz="1800">
                <a:solidFill>
                  <a:schemeClr val="lt1"/>
                </a:solidFill>
                <a:latin typeface="Times New Roman"/>
                <a:ea typeface="Times New Roman"/>
                <a:cs typeface="Times New Roman"/>
                <a:sym typeface="Times New Roman"/>
              </a:rPr>
              <a:t>C++ Projesi kutucuğu </a:t>
            </a:r>
            <a:r>
              <a:rPr lang="tr-TR" sz="1800">
                <a:solidFill>
                  <a:schemeClr val="lt1"/>
                </a:solidFill>
                <a:latin typeface="Times New Roman"/>
                <a:ea typeface="Times New Roman"/>
                <a:cs typeface="Times New Roman"/>
                <a:sym typeface="Times New Roman"/>
              </a:rPr>
              <a:t>işaretlendikten sonra projeye bir isim verilir ve </a:t>
            </a:r>
            <a:r>
              <a:rPr i="1" lang="tr-TR" sz="1800">
                <a:solidFill>
                  <a:schemeClr val="lt1"/>
                </a:solidFill>
                <a:latin typeface="Times New Roman"/>
                <a:ea typeface="Times New Roman"/>
                <a:cs typeface="Times New Roman"/>
                <a:sym typeface="Times New Roman"/>
              </a:rPr>
              <a:t>Tamam</a:t>
            </a:r>
            <a:r>
              <a:rPr lang="tr-TR" sz="1800">
                <a:solidFill>
                  <a:schemeClr val="lt1"/>
                </a:solidFill>
                <a:latin typeface="Times New Roman"/>
                <a:ea typeface="Times New Roman"/>
                <a:cs typeface="Times New Roman"/>
                <a:sym typeface="Times New Roman"/>
              </a:rPr>
              <a:t> butonu ile proje hazır hale gelir. </a:t>
            </a:r>
            <a:endParaRPr/>
          </a:p>
        </p:txBody>
      </p:sp>
      <p:sp>
        <p:nvSpPr>
          <p:cNvPr id="124" name="Google Shape;124;p3"/>
          <p:cNvSpPr/>
          <p:nvPr/>
        </p:nvSpPr>
        <p:spPr>
          <a:xfrm>
            <a:off x="9781563" y="2929012"/>
            <a:ext cx="619388" cy="264748"/>
          </a:xfrm>
          <a:prstGeom prst="ellipse">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nvSpPr>
        <p:spPr>
          <a:xfrm>
            <a:off x="0" y="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lt1"/>
                </a:solidFill>
                <a:latin typeface="Times New Roman"/>
                <a:ea typeface="Times New Roman"/>
                <a:cs typeface="Times New Roman"/>
                <a:sym typeface="Times New Roman"/>
              </a:rPr>
              <a:t>Dev C++ ile yeni bir C++ Projesi Açma Adımları</a:t>
            </a:r>
            <a:endParaRPr b="1" sz="1800">
              <a:solidFill>
                <a:schemeClr val="lt1"/>
              </a:solidFill>
              <a:latin typeface="Times New Roman"/>
              <a:ea typeface="Times New Roman"/>
              <a:cs typeface="Times New Roman"/>
              <a:sym typeface="Times New Roman"/>
            </a:endParaRPr>
          </a:p>
        </p:txBody>
      </p:sp>
      <p:pic>
        <p:nvPicPr>
          <p:cNvPr id="130" name="Google Shape;130;p4"/>
          <p:cNvPicPr preferRelativeResize="0"/>
          <p:nvPr/>
        </p:nvPicPr>
        <p:blipFill rotWithShape="1">
          <a:blip r:embed="rId3">
            <a:alphaModFix/>
          </a:blip>
          <a:srcRect b="0" l="0" r="0" t="0"/>
          <a:stretch/>
        </p:blipFill>
        <p:spPr>
          <a:xfrm>
            <a:off x="1728178" y="713695"/>
            <a:ext cx="8735644" cy="3467584"/>
          </a:xfrm>
          <a:prstGeom prst="rect">
            <a:avLst/>
          </a:prstGeom>
          <a:noFill/>
          <a:ln cap="sq" cmpd="sng" w="9525">
            <a:solidFill>
              <a:srgbClr val="000000"/>
            </a:solidFill>
            <a:prstDash val="solid"/>
            <a:miter lim="800000"/>
            <a:headEnd len="sm" w="sm" type="none"/>
            <a:tailEnd len="sm" w="sm" type="none"/>
          </a:ln>
          <a:effectLst>
            <a:outerShdw blurRad="50800" rotWithShape="0" algn="tl" dir="2700000" dist="38100">
              <a:srgbClr val="000000">
                <a:alpha val="43137"/>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5"/>
          <p:cNvPicPr preferRelativeResize="0"/>
          <p:nvPr/>
        </p:nvPicPr>
        <p:blipFill rotWithShape="1">
          <a:blip r:embed="rId3">
            <a:alphaModFix/>
          </a:blip>
          <a:srcRect b="0" l="0" r="0" t="0"/>
          <a:stretch/>
        </p:blipFill>
        <p:spPr>
          <a:xfrm>
            <a:off x="163861" y="433532"/>
            <a:ext cx="5457568" cy="3600000"/>
          </a:xfrm>
          <a:prstGeom prst="rect">
            <a:avLst/>
          </a:prstGeom>
          <a:noFill/>
          <a:ln cap="sq" cmpd="sng" w="9525">
            <a:solidFill>
              <a:srgbClr val="000000"/>
            </a:solidFill>
            <a:prstDash val="solid"/>
            <a:miter lim="800000"/>
            <a:headEnd len="sm" w="sm" type="none"/>
            <a:tailEnd len="sm" w="sm" type="none"/>
          </a:ln>
          <a:effectLst>
            <a:outerShdw blurRad="50800" rotWithShape="0" algn="tl" dir="2700000" dist="38100">
              <a:srgbClr val="000000">
                <a:alpha val="43137"/>
              </a:srgbClr>
            </a:outerShdw>
          </a:effectLst>
        </p:spPr>
      </p:pic>
      <p:sp>
        <p:nvSpPr>
          <p:cNvPr id="136" name="Google Shape;136;p5"/>
          <p:cNvSpPr txBox="1"/>
          <p:nvPr/>
        </p:nvSpPr>
        <p:spPr>
          <a:xfrm>
            <a:off x="0" y="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lt1"/>
                </a:solidFill>
                <a:latin typeface="Times New Roman"/>
                <a:ea typeface="Times New Roman"/>
                <a:cs typeface="Times New Roman"/>
                <a:sym typeface="Times New Roman"/>
              </a:rPr>
              <a:t>Visual Studio 2019 ile yeni bir C++ Projesi Açma Adımları</a:t>
            </a:r>
            <a:endParaRPr b="1" sz="1800">
              <a:solidFill>
                <a:schemeClr val="lt1"/>
              </a:solidFill>
              <a:latin typeface="Times New Roman"/>
              <a:ea typeface="Times New Roman"/>
              <a:cs typeface="Times New Roman"/>
              <a:sym typeface="Times New Roman"/>
            </a:endParaRPr>
          </a:p>
        </p:txBody>
      </p:sp>
      <p:sp>
        <p:nvSpPr>
          <p:cNvPr id="137" name="Google Shape;137;p5"/>
          <p:cNvSpPr txBox="1"/>
          <p:nvPr/>
        </p:nvSpPr>
        <p:spPr>
          <a:xfrm>
            <a:off x="163861" y="4281071"/>
            <a:ext cx="419553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tr-TR" sz="1800">
                <a:solidFill>
                  <a:schemeClr val="lt1"/>
                </a:solidFill>
                <a:latin typeface="Times New Roman"/>
                <a:ea typeface="Times New Roman"/>
                <a:cs typeface="Times New Roman"/>
                <a:sym typeface="Times New Roman"/>
              </a:rPr>
              <a:t>Dosya</a:t>
            </a:r>
            <a:r>
              <a:rPr lang="tr-TR" sz="1800">
                <a:solidFill>
                  <a:schemeClr val="lt1"/>
                </a:solidFill>
                <a:latin typeface="Times New Roman"/>
                <a:ea typeface="Times New Roman"/>
                <a:cs typeface="Times New Roman"/>
                <a:sym typeface="Times New Roman"/>
              </a:rPr>
              <a:t> </a:t>
            </a:r>
            <a:r>
              <a:rPr b="1" lang="tr-TR" sz="1800">
                <a:solidFill>
                  <a:srgbClr val="7030A0"/>
                </a:solidFill>
                <a:latin typeface="Times New Roman"/>
                <a:ea typeface="Times New Roman"/>
                <a:cs typeface="Times New Roman"/>
                <a:sym typeface="Times New Roman"/>
              </a:rPr>
              <a:t>→</a:t>
            </a:r>
            <a:r>
              <a:rPr lang="tr-TR" sz="1800">
                <a:solidFill>
                  <a:schemeClr val="lt1"/>
                </a:solidFill>
                <a:latin typeface="Times New Roman"/>
                <a:ea typeface="Times New Roman"/>
                <a:cs typeface="Times New Roman"/>
                <a:sym typeface="Times New Roman"/>
              </a:rPr>
              <a:t> </a:t>
            </a:r>
            <a:r>
              <a:rPr i="1" lang="tr-TR" sz="1800">
                <a:solidFill>
                  <a:schemeClr val="lt1"/>
                </a:solidFill>
                <a:latin typeface="Times New Roman"/>
                <a:ea typeface="Times New Roman"/>
                <a:cs typeface="Times New Roman"/>
                <a:sym typeface="Times New Roman"/>
              </a:rPr>
              <a:t>Yeni</a:t>
            </a:r>
            <a:r>
              <a:rPr lang="tr-TR" sz="1800">
                <a:solidFill>
                  <a:schemeClr val="lt1"/>
                </a:solidFill>
                <a:latin typeface="Times New Roman"/>
                <a:ea typeface="Times New Roman"/>
                <a:cs typeface="Times New Roman"/>
                <a:sym typeface="Times New Roman"/>
              </a:rPr>
              <a:t> </a:t>
            </a:r>
            <a:r>
              <a:rPr b="1" lang="tr-TR" sz="1800">
                <a:solidFill>
                  <a:srgbClr val="7030A0"/>
                </a:solidFill>
                <a:latin typeface="Times New Roman"/>
                <a:ea typeface="Times New Roman"/>
                <a:cs typeface="Times New Roman"/>
                <a:sym typeface="Times New Roman"/>
              </a:rPr>
              <a:t>→ </a:t>
            </a:r>
            <a:r>
              <a:rPr i="1" lang="tr-TR" sz="1800">
                <a:solidFill>
                  <a:schemeClr val="lt1"/>
                </a:solidFill>
                <a:latin typeface="Times New Roman"/>
                <a:ea typeface="Times New Roman"/>
                <a:cs typeface="Times New Roman"/>
                <a:sym typeface="Times New Roman"/>
              </a:rPr>
              <a:t>Proje</a:t>
            </a:r>
            <a:r>
              <a:rPr lang="tr-TR" sz="1800">
                <a:solidFill>
                  <a:schemeClr val="lt1"/>
                </a:solidFill>
                <a:latin typeface="Times New Roman"/>
                <a:ea typeface="Times New Roman"/>
                <a:cs typeface="Times New Roman"/>
                <a:sym typeface="Times New Roman"/>
              </a:rPr>
              <a:t> ile yeni proje yaratılabildiği gibi,  </a:t>
            </a:r>
            <a:endParaRPr/>
          </a:p>
          <a:p>
            <a:pPr indent="0" lvl="0" marL="0" marR="0" rtl="0" algn="l">
              <a:spcBef>
                <a:spcPts val="0"/>
              </a:spcBef>
              <a:spcAft>
                <a:spcPts val="0"/>
              </a:spcAft>
              <a:buNone/>
            </a:pPr>
            <a:r>
              <a:rPr i="1" lang="tr-TR" sz="1800">
                <a:solidFill>
                  <a:schemeClr val="lt1"/>
                </a:solidFill>
                <a:latin typeface="Times New Roman"/>
                <a:ea typeface="Times New Roman"/>
                <a:cs typeface="Times New Roman"/>
                <a:sym typeface="Times New Roman"/>
              </a:rPr>
              <a:t>Dosya</a:t>
            </a:r>
            <a:r>
              <a:rPr b="1" lang="tr-TR" sz="1800">
                <a:solidFill>
                  <a:srgbClr val="7030A0"/>
                </a:solidFill>
                <a:latin typeface="Times New Roman"/>
                <a:ea typeface="Times New Roman"/>
                <a:cs typeface="Times New Roman"/>
                <a:sym typeface="Times New Roman"/>
              </a:rPr>
              <a:t> → </a:t>
            </a:r>
            <a:r>
              <a:rPr i="1" lang="tr-TR" sz="1800">
                <a:solidFill>
                  <a:schemeClr val="lt1"/>
                </a:solidFill>
                <a:latin typeface="Times New Roman"/>
                <a:ea typeface="Times New Roman"/>
                <a:cs typeface="Times New Roman"/>
                <a:sym typeface="Times New Roman"/>
              </a:rPr>
              <a:t>Aç</a:t>
            </a:r>
            <a:r>
              <a:rPr lang="tr-TR" sz="1800">
                <a:solidFill>
                  <a:schemeClr val="lt1"/>
                </a:solidFill>
                <a:latin typeface="Times New Roman"/>
                <a:ea typeface="Times New Roman"/>
                <a:cs typeface="Times New Roman"/>
                <a:sym typeface="Times New Roman"/>
              </a:rPr>
              <a:t> sekmelerinden de daha önce oluşturduğumuz projelere erişebiliriz. </a:t>
            </a:r>
            <a:endParaRPr/>
          </a:p>
        </p:txBody>
      </p:sp>
      <p:pic>
        <p:nvPicPr>
          <p:cNvPr id="138" name="Google Shape;138;p5"/>
          <p:cNvPicPr preferRelativeResize="0"/>
          <p:nvPr/>
        </p:nvPicPr>
        <p:blipFill rotWithShape="1">
          <a:blip r:embed="rId4">
            <a:alphaModFix/>
          </a:blip>
          <a:srcRect b="0" l="0" r="0" t="0"/>
          <a:stretch/>
        </p:blipFill>
        <p:spPr>
          <a:xfrm>
            <a:off x="5974938" y="433532"/>
            <a:ext cx="6053201" cy="3600000"/>
          </a:xfrm>
          <a:prstGeom prst="rect">
            <a:avLst/>
          </a:prstGeom>
          <a:noFill/>
          <a:ln>
            <a:noFill/>
          </a:ln>
        </p:spPr>
      </p:pic>
      <p:sp>
        <p:nvSpPr>
          <p:cNvPr id="139" name="Google Shape;139;p5"/>
          <p:cNvSpPr txBox="1"/>
          <p:nvPr/>
        </p:nvSpPr>
        <p:spPr>
          <a:xfrm>
            <a:off x="5939684" y="4281071"/>
            <a:ext cx="612370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C++ uygulaması gerçekleştireceğimizden dolayı diller arasından C++ seçiyoruz. Visual Studio ortamının başka hangi dillerle program yazmaya imkan sağladığını da görebiliyoruz. </a:t>
            </a:r>
            <a:endParaRPr/>
          </a:p>
        </p:txBody>
      </p:sp>
      <p:sp>
        <p:nvSpPr>
          <p:cNvPr id="140" name="Google Shape;140;p5"/>
          <p:cNvSpPr/>
          <p:nvPr/>
        </p:nvSpPr>
        <p:spPr>
          <a:xfrm>
            <a:off x="8472880" y="1498402"/>
            <a:ext cx="827714" cy="176169"/>
          </a:xfrm>
          <a:prstGeom prst="rect">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nvSpPr>
        <p:spPr>
          <a:xfrm>
            <a:off x="0" y="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lt1"/>
                </a:solidFill>
                <a:latin typeface="Times New Roman"/>
                <a:ea typeface="Times New Roman"/>
                <a:cs typeface="Times New Roman"/>
                <a:sym typeface="Times New Roman"/>
              </a:rPr>
              <a:t>Visual Studio 2019 ile yeni bir C++ Projesi Açma Adımları</a:t>
            </a:r>
            <a:endParaRPr b="1" sz="1800">
              <a:solidFill>
                <a:schemeClr val="lt1"/>
              </a:solidFill>
              <a:latin typeface="Times New Roman"/>
              <a:ea typeface="Times New Roman"/>
              <a:cs typeface="Times New Roman"/>
              <a:sym typeface="Times New Roman"/>
            </a:endParaRPr>
          </a:p>
        </p:txBody>
      </p:sp>
      <p:sp>
        <p:nvSpPr>
          <p:cNvPr id="146" name="Google Shape;146;p6"/>
          <p:cNvSpPr txBox="1"/>
          <p:nvPr/>
        </p:nvSpPr>
        <p:spPr>
          <a:xfrm>
            <a:off x="163861" y="4281071"/>
            <a:ext cx="5581474"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tr-TR" sz="1600">
                <a:solidFill>
                  <a:schemeClr val="lt1"/>
                </a:solidFill>
                <a:latin typeface="Times New Roman"/>
                <a:ea typeface="Times New Roman"/>
                <a:cs typeface="Times New Roman"/>
                <a:sym typeface="Times New Roman"/>
              </a:rPr>
              <a:t>Boş Proje </a:t>
            </a:r>
            <a:r>
              <a:rPr lang="tr-TR" sz="1600">
                <a:solidFill>
                  <a:schemeClr val="lt1"/>
                </a:solidFill>
                <a:latin typeface="Times New Roman"/>
                <a:ea typeface="Times New Roman"/>
                <a:cs typeface="Times New Roman"/>
                <a:sym typeface="Times New Roman"/>
              </a:rPr>
              <a:t>veya </a:t>
            </a:r>
            <a:r>
              <a:rPr i="1" lang="tr-TR" sz="1600">
                <a:solidFill>
                  <a:schemeClr val="lt1"/>
                </a:solidFill>
                <a:latin typeface="Times New Roman"/>
                <a:ea typeface="Times New Roman"/>
                <a:cs typeface="Times New Roman"/>
                <a:sym typeface="Times New Roman"/>
              </a:rPr>
              <a:t>Konsol Uygulaması </a:t>
            </a:r>
            <a:r>
              <a:rPr lang="tr-TR" sz="1600">
                <a:solidFill>
                  <a:schemeClr val="lt1"/>
                </a:solidFill>
                <a:latin typeface="Times New Roman"/>
                <a:ea typeface="Times New Roman"/>
                <a:cs typeface="Times New Roman"/>
                <a:sym typeface="Times New Roman"/>
              </a:rPr>
              <a:t>opsiyonlarından birisini seçerek şablonu tamamlıyoruz. Boş proje seçildiği durumda başlık dosyalarının eklenmediğini unutmayın!</a:t>
            </a:r>
            <a:endParaRPr/>
          </a:p>
          <a:p>
            <a:pPr indent="0" lvl="0" marL="0" marR="0" rtl="0" algn="just">
              <a:spcBef>
                <a:spcPts val="0"/>
              </a:spcBef>
              <a:spcAft>
                <a:spcPts val="0"/>
              </a:spcAft>
              <a:buNone/>
            </a:pPr>
            <a:r>
              <a:rPr lang="tr-TR" sz="1600">
                <a:solidFill>
                  <a:schemeClr val="lt1"/>
                </a:solidFill>
                <a:latin typeface="Times New Roman"/>
                <a:ea typeface="Times New Roman"/>
                <a:cs typeface="Times New Roman"/>
                <a:sym typeface="Times New Roman"/>
              </a:rPr>
              <a:t>Seçtiğiniz bu şablon, daha sonraki çalışmalarda </a:t>
            </a:r>
            <a:r>
              <a:rPr lang="tr-TR" sz="1600" u="sng">
                <a:solidFill>
                  <a:schemeClr val="lt1"/>
                </a:solidFill>
                <a:latin typeface="Times New Roman"/>
                <a:ea typeface="Times New Roman"/>
                <a:cs typeface="Times New Roman"/>
                <a:sym typeface="Times New Roman"/>
              </a:rPr>
              <a:t>son kullanılan proje şablonları </a:t>
            </a:r>
            <a:r>
              <a:rPr lang="tr-TR" sz="1600">
                <a:solidFill>
                  <a:schemeClr val="lt1"/>
                </a:solidFill>
                <a:latin typeface="Times New Roman"/>
                <a:ea typeface="Times New Roman"/>
                <a:cs typeface="Times New Roman"/>
                <a:sym typeface="Times New Roman"/>
              </a:rPr>
              <a:t>sekmesinde görülecektir. Böylece tek bir seçim işlemi ile hızlı şekilde projenizi oluşturabileceksiniz.</a:t>
            </a:r>
            <a:endParaRPr/>
          </a:p>
        </p:txBody>
      </p:sp>
      <p:sp>
        <p:nvSpPr>
          <p:cNvPr id="147" name="Google Shape;147;p6"/>
          <p:cNvSpPr txBox="1"/>
          <p:nvPr/>
        </p:nvSpPr>
        <p:spPr>
          <a:xfrm>
            <a:off x="6254268" y="4281070"/>
            <a:ext cx="580912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Projemizin ismini ve  projeyi kaydedecek olduğumuz dosya yolunu da belirledikten sonra </a:t>
            </a:r>
            <a:r>
              <a:rPr i="1" lang="tr-TR" sz="1800">
                <a:solidFill>
                  <a:schemeClr val="lt1"/>
                </a:solidFill>
                <a:latin typeface="Times New Roman"/>
                <a:ea typeface="Times New Roman"/>
                <a:cs typeface="Times New Roman"/>
                <a:sym typeface="Times New Roman"/>
              </a:rPr>
              <a:t>Oluştur</a:t>
            </a:r>
            <a:r>
              <a:rPr lang="tr-TR" sz="1800">
                <a:solidFill>
                  <a:schemeClr val="lt1"/>
                </a:solidFill>
                <a:latin typeface="Times New Roman"/>
                <a:ea typeface="Times New Roman"/>
                <a:cs typeface="Times New Roman"/>
                <a:sym typeface="Times New Roman"/>
              </a:rPr>
              <a:t> butonuna basıyoruz ve projemiz hazır!</a:t>
            </a:r>
            <a:endParaRPr/>
          </a:p>
        </p:txBody>
      </p:sp>
      <p:pic>
        <p:nvPicPr>
          <p:cNvPr id="148" name="Google Shape;148;p6"/>
          <p:cNvPicPr preferRelativeResize="0"/>
          <p:nvPr/>
        </p:nvPicPr>
        <p:blipFill rotWithShape="1">
          <a:blip r:embed="rId3">
            <a:alphaModFix/>
          </a:blip>
          <a:srcRect b="0" l="0" r="0" t="0"/>
          <a:stretch/>
        </p:blipFill>
        <p:spPr>
          <a:xfrm>
            <a:off x="121371" y="426111"/>
            <a:ext cx="5623964" cy="3600000"/>
          </a:xfrm>
          <a:prstGeom prst="rect">
            <a:avLst/>
          </a:prstGeom>
          <a:noFill/>
          <a:ln>
            <a:noFill/>
          </a:ln>
        </p:spPr>
      </p:pic>
      <p:sp>
        <p:nvSpPr>
          <p:cNvPr id="149" name="Google Shape;149;p6"/>
          <p:cNvSpPr/>
          <p:nvPr/>
        </p:nvSpPr>
        <p:spPr>
          <a:xfrm>
            <a:off x="4852758" y="3771819"/>
            <a:ext cx="827714" cy="176169"/>
          </a:xfrm>
          <a:prstGeom prst="rect">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50" name="Google Shape;150;p6"/>
          <p:cNvPicPr preferRelativeResize="0"/>
          <p:nvPr/>
        </p:nvPicPr>
        <p:blipFill rotWithShape="1">
          <a:blip r:embed="rId4">
            <a:alphaModFix/>
          </a:blip>
          <a:srcRect b="0" l="0" r="0" t="0"/>
          <a:stretch/>
        </p:blipFill>
        <p:spPr>
          <a:xfrm>
            <a:off x="6254269" y="426111"/>
            <a:ext cx="5647059" cy="3600000"/>
          </a:xfrm>
          <a:prstGeom prst="rect">
            <a:avLst/>
          </a:prstGeom>
          <a:noFill/>
          <a:ln>
            <a:noFill/>
          </a:ln>
        </p:spPr>
      </p:pic>
      <p:sp>
        <p:nvSpPr>
          <p:cNvPr id="151" name="Google Shape;151;p6"/>
          <p:cNvSpPr/>
          <p:nvPr/>
        </p:nvSpPr>
        <p:spPr>
          <a:xfrm>
            <a:off x="10994897" y="3769990"/>
            <a:ext cx="827714" cy="176169"/>
          </a:xfrm>
          <a:prstGeom prst="rect">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nvSpPr>
        <p:spPr>
          <a:xfrm>
            <a:off x="0" y="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lt1"/>
                </a:solidFill>
                <a:latin typeface="Times New Roman"/>
                <a:ea typeface="Times New Roman"/>
                <a:cs typeface="Times New Roman"/>
                <a:sym typeface="Times New Roman"/>
              </a:rPr>
              <a:t>Visual Studio 2019 ile yeni bir C++ Projesi Açma Adımları</a:t>
            </a:r>
            <a:endParaRPr b="1" sz="1800">
              <a:solidFill>
                <a:schemeClr val="lt1"/>
              </a:solidFill>
              <a:latin typeface="Times New Roman"/>
              <a:ea typeface="Times New Roman"/>
              <a:cs typeface="Times New Roman"/>
              <a:sym typeface="Times New Roman"/>
            </a:endParaRPr>
          </a:p>
        </p:txBody>
      </p:sp>
      <p:sp>
        <p:nvSpPr>
          <p:cNvPr id="157" name="Google Shape;157;p7"/>
          <p:cNvSpPr txBox="1"/>
          <p:nvPr/>
        </p:nvSpPr>
        <p:spPr>
          <a:xfrm>
            <a:off x="0" y="5056870"/>
            <a:ext cx="12192000"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tr-TR" sz="1600">
                <a:solidFill>
                  <a:schemeClr val="lt1"/>
                </a:solidFill>
                <a:latin typeface="Times New Roman"/>
                <a:ea typeface="Times New Roman"/>
                <a:cs typeface="Times New Roman"/>
                <a:sym typeface="Times New Roman"/>
              </a:rPr>
              <a:t>Konsol Uygulaması </a:t>
            </a:r>
            <a:r>
              <a:rPr lang="tr-TR" sz="1600">
                <a:solidFill>
                  <a:schemeClr val="lt1"/>
                </a:solidFill>
                <a:latin typeface="Times New Roman"/>
                <a:ea typeface="Times New Roman"/>
                <a:cs typeface="Times New Roman"/>
                <a:sym typeface="Times New Roman"/>
              </a:rPr>
              <a:t>seçtiğimiz için en basit program olan ve ekrana "Hello World" yazan program varsayılan olarak karşımıza çıkıyor. Bundan sonrası, silmek istediğimiz kısımları silip kendi kodumuzu yazmaya başlamak! </a:t>
            </a:r>
            <a:endParaRPr/>
          </a:p>
          <a:p>
            <a:pPr indent="0" lvl="0" marL="0" marR="0" rtl="0" algn="just">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600">
                <a:solidFill>
                  <a:schemeClr val="lt1"/>
                </a:solidFill>
                <a:latin typeface="Times New Roman"/>
                <a:ea typeface="Times New Roman"/>
                <a:cs typeface="Times New Roman"/>
                <a:sym typeface="Times New Roman"/>
              </a:rPr>
              <a:t>Kısa yol olarak CTRL+F5 ile programı çalıştırabilirsiniz. </a:t>
            </a:r>
            <a:endParaRPr/>
          </a:p>
          <a:p>
            <a:pPr indent="0" lvl="0" marL="0" marR="0" rtl="0" algn="just">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pic>
        <p:nvPicPr>
          <p:cNvPr id="158" name="Google Shape;158;p7"/>
          <p:cNvPicPr preferRelativeResize="0"/>
          <p:nvPr/>
        </p:nvPicPr>
        <p:blipFill rotWithShape="1">
          <a:blip r:embed="rId3">
            <a:alphaModFix/>
          </a:blip>
          <a:srcRect b="0" l="0" r="0" t="0"/>
          <a:stretch/>
        </p:blipFill>
        <p:spPr>
          <a:xfrm>
            <a:off x="2017247" y="548869"/>
            <a:ext cx="7989726" cy="4328464"/>
          </a:xfrm>
          <a:prstGeom prst="rect">
            <a:avLst/>
          </a:prstGeom>
          <a:noFill/>
          <a:ln cap="sq" cmpd="sng" w="9525">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C++ Programının Yapısı</a:t>
            </a:r>
            <a:endParaRPr/>
          </a:p>
        </p:txBody>
      </p:sp>
      <p:sp>
        <p:nvSpPr>
          <p:cNvPr id="164" name="Google Shape;164;p8"/>
          <p:cNvSpPr txBox="1"/>
          <p:nvPr/>
        </p:nvSpPr>
        <p:spPr>
          <a:xfrm>
            <a:off x="73404" y="779662"/>
            <a:ext cx="6109282"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rgbClr val="808080"/>
                </a:solidFill>
                <a:latin typeface="Consolas"/>
                <a:ea typeface="Consolas"/>
                <a:cs typeface="Consolas"/>
                <a:sym typeface="Consolas"/>
              </a:rPr>
              <a:t>// Yorum satırı</a:t>
            </a:r>
            <a:endParaRPr/>
          </a:p>
          <a:p>
            <a:pPr indent="0" lvl="0" marL="0" marR="0" rtl="0" algn="l">
              <a:spcBef>
                <a:spcPts val="0"/>
              </a:spcBef>
              <a:spcAft>
                <a:spcPts val="0"/>
              </a:spcAft>
              <a:buNone/>
            </a:pPr>
            <a:r>
              <a:rPr lang="tr-TR" sz="1800">
                <a:solidFill>
                  <a:srgbClr val="808080"/>
                </a:solidFill>
                <a:latin typeface="Consolas"/>
                <a:ea typeface="Consolas"/>
                <a:cs typeface="Consolas"/>
                <a:sym typeface="Consolas"/>
              </a:rPr>
              <a:t>/* Yorumlar*/</a:t>
            </a:r>
            <a:endParaRPr sz="1800">
              <a:solidFill>
                <a:srgbClr val="808080"/>
              </a:solidFill>
              <a:latin typeface="Consolas"/>
              <a:ea typeface="Consolas"/>
              <a:cs typeface="Consolas"/>
              <a:sym typeface="Consolas"/>
            </a:endParaRPr>
          </a:p>
          <a:p>
            <a:pPr indent="0" lvl="0" marL="0" marR="0" rtl="0" algn="l">
              <a:spcBef>
                <a:spcPts val="0"/>
              </a:spcBef>
              <a:spcAft>
                <a:spcPts val="0"/>
              </a:spcAft>
              <a:buNone/>
            </a:pPr>
            <a:r>
              <a:t/>
            </a:r>
            <a:endParaRPr sz="1800">
              <a:solidFill>
                <a:srgbClr val="808080"/>
              </a:solidFill>
              <a:latin typeface="Consolas"/>
              <a:ea typeface="Consolas"/>
              <a:cs typeface="Consolas"/>
              <a:sym typeface="Consolas"/>
            </a:endParaRPr>
          </a:p>
          <a:p>
            <a:pPr indent="0" lvl="0" marL="0" marR="0" rtl="0" algn="l">
              <a:spcBef>
                <a:spcPts val="0"/>
              </a:spcBef>
              <a:spcAft>
                <a:spcPts val="0"/>
              </a:spcAft>
              <a:buNone/>
            </a:pPr>
            <a:r>
              <a:rPr lang="tr-TR" sz="1800">
                <a:solidFill>
                  <a:srgbClr val="808080"/>
                </a:solidFill>
                <a:latin typeface="Consolas"/>
                <a:ea typeface="Consolas"/>
                <a:cs typeface="Consolas"/>
                <a:sym typeface="Consolas"/>
              </a:rPr>
              <a:t>Eklenmesi gereken kütüphaneler</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Tanımlanması gereken kullanıcı fonksiyonları</a:t>
            </a:r>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tr-TR" sz="1800">
                <a:solidFill>
                  <a:srgbClr val="0000FF"/>
                </a:solidFill>
                <a:latin typeface="Consolas"/>
                <a:ea typeface="Consolas"/>
                <a:cs typeface="Consolas"/>
                <a:sym typeface="Consolas"/>
              </a:rPr>
              <a:t>int</a:t>
            </a:r>
            <a:r>
              <a:rPr lang="tr-TR" sz="1800">
                <a:solidFill>
                  <a:srgbClr val="000000"/>
                </a:solidFill>
                <a:latin typeface="Consolas"/>
                <a:ea typeface="Consolas"/>
                <a:cs typeface="Consolas"/>
                <a:sym typeface="Consolas"/>
              </a:rPr>
              <a:t> main()</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	işlemler;</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	…</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	</a:t>
            </a:r>
            <a:r>
              <a:rPr lang="tr-TR" sz="1800">
                <a:solidFill>
                  <a:srgbClr val="00B050"/>
                </a:solidFill>
                <a:latin typeface="Consolas"/>
                <a:ea typeface="Consolas"/>
                <a:cs typeface="Consolas"/>
                <a:sym typeface="Consolas"/>
              </a:rPr>
              <a:t>return</a:t>
            </a:r>
            <a:r>
              <a:rPr lang="tr-TR" sz="1800">
                <a:solidFill>
                  <a:srgbClr val="000000"/>
                </a:solidFill>
                <a:latin typeface="Consolas"/>
                <a:ea typeface="Consolas"/>
                <a:cs typeface="Consolas"/>
                <a:sym typeface="Consolas"/>
              </a:rPr>
              <a:t> 0;</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a:t>
            </a: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C++ Standart Kütüphanesi</a:t>
            </a:r>
            <a:endParaRPr/>
          </a:p>
        </p:txBody>
      </p:sp>
      <p:sp>
        <p:nvSpPr>
          <p:cNvPr id="170" name="Google Shape;170;p9"/>
          <p:cNvSpPr txBox="1"/>
          <p:nvPr/>
        </p:nvSpPr>
        <p:spPr>
          <a:xfrm>
            <a:off x="-1" y="548293"/>
            <a:ext cx="12027679" cy="4247317"/>
          </a:xfrm>
          <a:prstGeom prst="rect">
            <a:avLst/>
          </a:prstGeom>
          <a:noFill/>
          <a:ln>
            <a:noFill/>
          </a:ln>
        </p:spPr>
        <p:txBody>
          <a:bodyPr anchorCtr="0" anchor="t" bIns="45700" lIns="91425" spcFirstLastPara="1" rIns="91425" wrap="square" tIns="45700">
            <a:spAutoFit/>
          </a:bodyPr>
          <a:lstStyle/>
          <a:p>
            <a:pPr indent="-29717" lvl="0" marL="29717" marR="0" rtl="0" algn="just">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C++ programları iki temel üzerine kuruludur: </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SINIF (CLASS)</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FONKSİYON (FUNCTION)</a:t>
            </a:r>
            <a:endParaRPr/>
          </a:p>
          <a:p>
            <a:pPr indent="-171450" lvl="1" marL="7429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Times New Roman"/>
              <a:ea typeface="Times New Roman"/>
              <a:cs typeface="Times New Roman"/>
              <a:sym typeface="Times New Roman"/>
            </a:endParaRPr>
          </a:p>
          <a:p>
            <a:pPr indent="-285750" lvl="0" marL="285750" marR="0" rtl="0" algn="l">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C++ dilini öğrenmek iki kısımdan oluşur: </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C++ dilinin kendisini öğrenmek</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C++ standart kütüphanesindeki fonksiyonları ve kullanımlarını öğrenmek. </a:t>
            </a:r>
            <a:endParaRPr/>
          </a:p>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285750" lvl="0" marL="285750" marR="0" rtl="0" algn="l">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C++ standart kütüphanesi, tüm programcıların kullanabileceği zengin bir sınıf ve fonksiyon koleksiyonu sunar. </a:t>
            </a:r>
            <a:endParaRPr/>
          </a:p>
          <a:p>
            <a:pPr indent="-171450" lvl="1" marL="7429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Times New Roman"/>
              <a:ea typeface="Times New Roman"/>
              <a:cs typeface="Times New Roman"/>
              <a:sym typeface="Times New Roman"/>
            </a:endParaRPr>
          </a:p>
          <a:p>
            <a:pPr indent="-285750" lvl="0" marL="285750" marR="0" rtl="0" algn="l">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C++ diliyle program yazarken kullanılacak 3 temel bileşen vardır:</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C++ standart kütüphanesindeki sınıf ve fonksiyonlar</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Kendi yaratacağımız sınıf ve fonksiyonlar </a:t>
            </a:r>
            <a:endParaRPr/>
          </a:p>
          <a:p>
            <a:pPr indent="-285750" lvl="1" marL="742950" marR="0" rtl="0" algn="l">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Başkaları tarafından (üçüncü parti üreticiler) sağlanan çeşitli popüler kütüphanelere ait sınıf ve fonksiyonlar</a:t>
            </a:r>
            <a:endParaRPr/>
          </a:p>
          <a:p>
            <a:pPr indent="0" lvl="1" marL="201168" marR="0" rtl="0" algn="just">
              <a:spcBef>
                <a:spcPts val="0"/>
              </a:spcBef>
              <a:spcAft>
                <a:spcPts val="0"/>
              </a:spcAft>
              <a:buClr>
                <a:schemeClr val="lt1"/>
              </a:buClr>
              <a:buSzPts val="1800"/>
              <a:buFont typeface="Calibri"/>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Bazı Öncü (Başlık) Dosyalar</a:t>
            </a:r>
            <a:endParaRPr/>
          </a:p>
        </p:txBody>
      </p:sp>
      <p:sp>
        <p:nvSpPr>
          <p:cNvPr id="176" name="Google Shape;176;p10"/>
          <p:cNvSpPr txBox="1"/>
          <p:nvPr/>
        </p:nvSpPr>
        <p:spPr>
          <a:xfrm>
            <a:off x="-1" y="548293"/>
            <a:ext cx="12192000" cy="1200329"/>
          </a:xfrm>
          <a:prstGeom prst="rect">
            <a:avLst/>
          </a:prstGeom>
          <a:noFill/>
          <a:ln>
            <a:noFill/>
          </a:ln>
        </p:spPr>
        <p:txBody>
          <a:bodyPr anchorCtr="0" anchor="t" bIns="45700" lIns="91425" spcFirstLastPara="1" rIns="91425" wrap="square" tIns="45700">
            <a:spAutoFit/>
          </a:bodyPr>
          <a:lstStyle/>
          <a:p>
            <a:pPr indent="-29717" lvl="0" marL="29717" marR="0" rtl="0" algn="just">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Her standart kütüphane, kendi fonksiyonlarının prototiplerini ve bu fonksiyonların ihtiyaç duyduğu veri tiplerini ve sabit değerleri içerir. </a:t>
            </a:r>
            <a:endParaRPr/>
          </a:p>
          <a:p>
            <a:pPr indent="-29717" lvl="0" marL="29717" marR="0" rtl="0" algn="just">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Bazı standart kütüphane öncü dosyaları tabloda verilmiştir: </a:t>
            </a:r>
            <a:endParaRPr/>
          </a:p>
          <a:p>
            <a:pPr indent="84582" lvl="0" marL="29717" marR="0" rtl="0" algn="just">
              <a:spcBef>
                <a:spcPts val="0"/>
              </a:spcBef>
              <a:spcAft>
                <a:spcPts val="0"/>
              </a:spcAft>
              <a:buClr>
                <a:schemeClr val="lt1"/>
              </a:buClr>
              <a:buSzPts val="1800"/>
              <a:buFont typeface="Noto Sans Symbols"/>
              <a:buNone/>
            </a:pPr>
            <a:r>
              <a:t/>
            </a:r>
            <a:endParaRPr sz="1800">
              <a:solidFill>
                <a:schemeClr val="lt1"/>
              </a:solidFill>
              <a:latin typeface="Times New Roman"/>
              <a:ea typeface="Times New Roman"/>
              <a:cs typeface="Times New Roman"/>
              <a:sym typeface="Times New Roman"/>
            </a:endParaRPr>
          </a:p>
        </p:txBody>
      </p:sp>
      <p:graphicFrame>
        <p:nvGraphicFramePr>
          <p:cNvPr id="177" name="Google Shape;177;p10"/>
          <p:cNvGraphicFramePr/>
          <p:nvPr/>
        </p:nvGraphicFramePr>
        <p:xfrm>
          <a:off x="0" y="1560352"/>
          <a:ext cx="3000000" cy="3000000"/>
        </p:xfrm>
        <a:graphic>
          <a:graphicData uri="http://schemas.openxmlformats.org/drawingml/2006/table">
            <a:tbl>
              <a:tblPr bandRow="1" firstRow="1">
                <a:noFill/>
                <a:tableStyleId>{4F2BC047-CF44-4571-AF3F-53D48808976B}</a:tableStyleId>
              </a:tblPr>
              <a:tblGrid>
                <a:gridCol w="747350"/>
                <a:gridCol w="5273625"/>
                <a:gridCol w="809350"/>
                <a:gridCol w="5361650"/>
              </a:tblGrid>
              <a:tr h="269875">
                <a:tc>
                  <a:txBody>
                    <a:bodyPr/>
                    <a:lstStyle/>
                    <a:p>
                      <a:pPr indent="0" lvl="0" marL="0" marR="0" rtl="0" algn="l">
                        <a:spcBef>
                          <a:spcPts val="0"/>
                        </a:spcBef>
                        <a:spcAft>
                          <a:spcPts val="0"/>
                        </a:spcAft>
                        <a:buNone/>
                      </a:pPr>
                      <a:r>
                        <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000">
                        <a:latin typeface="Times New Roman"/>
                        <a:ea typeface="Times New Roman"/>
                        <a:cs typeface="Times New Roman"/>
                        <a:sym typeface="Times New Roman"/>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cassert </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Makrolar ve programın hatalarının ayıklanmasına yardımcı olacak inceleme araçlarını eklemek için gerekli bilgileri içerir. Bu dosyanın eski adı assert.h idi.</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utility</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Bir çok standart kütüphane öncü dosyasının kullandığı sınıfları ve fonksiyonları içerir.</a:t>
                      </a:r>
                      <a:endParaRPr/>
                    </a:p>
                  </a:txBody>
                  <a:tcPr marT="45725" marB="45725" marR="91450" marL="91450"/>
                </a:tc>
              </a:tr>
              <a:tr h="93867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cctype</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Karakterlerin bazı özelliklerini test eden fonksiyonların prototiplerini içerir. Ayrıca küçük harfleri büyük harflere çevirmek ya da bunun tam tersini yapmak için kullanılır. Eski adı ctype.h idi.</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vector, list, deque, queue, stack, map, set, bitset, </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Bu öncü dosyalar, standart kütüphane taşıyıcılarını sağlayan sınıfları içerir. Taşıyıcılar, programın çalışması sırasında verileri saklamak için kullanılır.</a:t>
                      </a:r>
                      <a:endParaRPr/>
                    </a:p>
                  </a:txBody>
                  <a:tcPr marT="45725" marB="45725" marR="91450" marL="91450"/>
                </a:tc>
              </a:tr>
              <a:tr h="26987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cfloat</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Sistemin, float tipindeki sayılar için limitlerini içerir. Eski adı float.h idi.</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functional</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kütüphane algoritmaları tarafından kullanılan sınıf ve fonksiyonları içerir.</a:t>
                      </a:r>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climits</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İntegral limitlerini içerir. limits.h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memory</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kütüphane taşıyıcılarına hafızada yer ayıran standart kütüphane tarafından kullanılan sınıfları içerir.</a:t>
                      </a:r>
                      <a:endParaRPr/>
                    </a:p>
                  </a:txBody>
                  <a:tcPr marT="45725" marB="45725" marR="91450" marL="91450"/>
                </a:tc>
              </a:tr>
              <a:tr h="26987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cmath</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Matematik kütüphane fonksiyonlarının prototiplerini içerir. math.h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iterator</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kütüphane taşıyıcıları içindeki veriye ulaşmak için kullanılan sınıfları içerir.</a:t>
                      </a:r>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cstdio</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giriş/çıkış kütüphane fonksiyonlarının prototiplerini ve bu fonksiyonlar tarafından kullanılan bilgileri içerir. stdio.h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algorithm</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kütüphane taşıyıcılarındaki bilgi üzerinde işlem yapan fonksiyonları içerir.</a:t>
                      </a:r>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cstdlib</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Sayıları metne, metni sayılara çeviren, hafızada yer ayıran, rastgele sayılar üreten ve diğer çeşitli faydalı fonksiyonların prototiplerini içerir. stdlib.h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exception</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İstisnai durumları işleyen sınıfları içeren öncü dosyalardır.</a:t>
                      </a:r>
                      <a:endParaRPr/>
                    </a:p>
                  </a:txBody>
                  <a:tcPr marT="45725" marB="45725" marR="91450" marL="91450"/>
                </a:tc>
              </a:tr>
              <a:tr h="26987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cstring</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 tarzı string işleme fonksiyonlarının prototiplerini içerir. string.h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string</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kütüphanedeki string sınıfının tanımlanmasını içerir.</a:t>
                      </a:r>
                      <a:endParaRPr/>
                    </a:p>
                  </a:txBody>
                  <a:tcPr marT="45725" marB="45725" marR="91450" marL="91450"/>
                </a:tc>
              </a:tr>
              <a:tr h="26987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ctime</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Zamanı ve tarihi yöneten fonksiyonların prototiplerini içerir. time.h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sstream</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Hafızadan string girişi alan veya hafızaya string gönderen fonksiyonların prototiplerini içerir.</a:t>
                      </a:r>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iostream</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Standart giriş/çıkış fonksiyonlarının prototiplerini içerir. iostream.h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locale</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Farklı dillerin doğal hallerindeki bilgileri (para birimleri gibi) işlemek için kullanılan sınıf ve fonksiyonları içerir.</a:t>
                      </a:r>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iomanip</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Veri akışlarını biçimlendirme imkanı sağlayan, akış yönetim fonksiyonlarının prototiplerini içerir. iomanip.h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limits</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Her bilgisayar platformu üzerindeki sayısal veri tiplerinin limitlerini belirleyen sınıfları içerir.</a:t>
                      </a:r>
                      <a:endParaRPr/>
                    </a:p>
                  </a:txBody>
                  <a:tcPr marT="45725" marB="45725" marR="91450" marL="91450"/>
                </a:tc>
              </a:tr>
              <a:tr h="435825">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fstream</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Disk üzerindeki dosyalara giriş/çıkış işlemleri yapan fonksiyonların prototiplerini içerir. fstream.h yerine kullanılır.</a:t>
                      </a:r>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typeinfo</a:t>
                      </a:r>
                      <a:endParaRPr sz="10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tr-TR" sz="1000">
                          <a:latin typeface="Times New Roman"/>
                          <a:ea typeface="Times New Roman"/>
                          <a:cs typeface="Times New Roman"/>
                          <a:sym typeface="Times New Roman"/>
                        </a:rPr>
                        <a:t>Çalışma anı tip yanıma yapmak için kullanılan sınıfları içerir (çalışma anındaki veri tiplerini belirler).</a:t>
                      </a:r>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1" lang="tr-TR" sz="3000" u="none" cap="none" strike="noStrike">
                <a:solidFill>
                  <a:srgbClr val="7030A0"/>
                </a:solidFill>
                <a:latin typeface="Times New Roman"/>
                <a:ea typeface="Times New Roman"/>
                <a:cs typeface="Times New Roman"/>
                <a:sym typeface="Times New Roman"/>
              </a:rPr>
              <a:t>iostream</a:t>
            </a:r>
            <a:r>
              <a:rPr b="1" i="0" lang="tr-TR" sz="3000" u="none" cap="none" strike="noStrike">
                <a:solidFill>
                  <a:schemeClr val="lt1"/>
                </a:solidFill>
                <a:latin typeface="Times New Roman"/>
                <a:ea typeface="Times New Roman"/>
                <a:cs typeface="Times New Roman"/>
                <a:sym typeface="Times New Roman"/>
              </a:rPr>
              <a:t> Başlık Dosyası</a:t>
            </a:r>
            <a:endParaRPr/>
          </a:p>
        </p:txBody>
      </p:sp>
      <p:sp>
        <p:nvSpPr>
          <p:cNvPr id="183" name="Google Shape;183;p11"/>
          <p:cNvSpPr txBox="1"/>
          <p:nvPr/>
        </p:nvSpPr>
        <p:spPr>
          <a:xfrm>
            <a:off x="-1" y="548293"/>
            <a:ext cx="12192000" cy="4197559"/>
          </a:xfrm>
          <a:prstGeom prst="rect">
            <a:avLst/>
          </a:prstGeom>
          <a:noFill/>
          <a:ln>
            <a:noFill/>
          </a:ln>
        </p:spPr>
        <p:txBody>
          <a:bodyPr anchorCtr="0" anchor="t" bIns="45700" lIns="91425" spcFirstLastPara="1" rIns="91425" wrap="square" tIns="45700">
            <a:spAutoFit/>
          </a:bodyPr>
          <a:lstStyle/>
          <a:p>
            <a:pPr indent="-29717" lvl="0" marL="29717" marR="0" rtl="0" algn="just">
              <a:lnSpc>
                <a:spcPct val="150000"/>
              </a:lnSpc>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C++ dilinde giriş-çıkış işlemlerini doğrudan gerçekleştiren özel ifadeler yoktur. Bu işlemler akış (stream) denilen sınıfların nesneleri ile gerçekleştirilir. (Akış (stream), sınıf (class) ve nesne (object) kavramlarına ilerde değineceğiz.) </a:t>
            </a:r>
            <a:endParaRPr/>
          </a:p>
          <a:p>
            <a:pPr indent="-29717" lvl="0" marL="29717" marR="0" rtl="0" algn="just">
              <a:lnSpc>
                <a:spcPct val="150000"/>
              </a:lnSpc>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Örneğin en basit konsol işlem olan ekrana yazma ve ekrandan okutma işlemleri </a:t>
            </a:r>
            <a:r>
              <a:rPr b="1" i="1" lang="tr-TR" sz="1800">
                <a:solidFill>
                  <a:srgbClr val="7030A0"/>
                </a:solidFill>
                <a:latin typeface="Times New Roman"/>
                <a:ea typeface="Times New Roman"/>
                <a:cs typeface="Times New Roman"/>
                <a:sym typeface="Times New Roman"/>
              </a:rPr>
              <a:t>iostream</a:t>
            </a:r>
            <a:r>
              <a:rPr lang="tr-TR" sz="1800">
                <a:solidFill>
                  <a:schemeClr val="lt1"/>
                </a:solidFill>
                <a:latin typeface="Times New Roman"/>
                <a:ea typeface="Times New Roman"/>
                <a:cs typeface="Times New Roman"/>
                <a:sym typeface="Times New Roman"/>
              </a:rPr>
              <a:t> sınıfının </a:t>
            </a:r>
            <a:r>
              <a:rPr b="1" lang="tr-TR" sz="1800">
                <a:solidFill>
                  <a:srgbClr val="7030A0"/>
                </a:solidFill>
                <a:latin typeface="Consolas"/>
                <a:ea typeface="Consolas"/>
                <a:cs typeface="Consolas"/>
                <a:sym typeface="Consolas"/>
              </a:rPr>
              <a:t>cout</a:t>
            </a:r>
            <a:r>
              <a:rPr lang="tr-TR" sz="1800">
                <a:solidFill>
                  <a:schemeClr val="lt1"/>
                </a:solidFill>
                <a:latin typeface="Times New Roman"/>
                <a:ea typeface="Times New Roman"/>
                <a:cs typeface="Times New Roman"/>
                <a:sym typeface="Times New Roman"/>
              </a:rPr>
              <a:t> ve </a:t>
            </a:r>
            <a:r>
              <a:rPr b="1" lang="tr-TR" sz="1800">
                <a:solidFill>
                  <a:srgbClr val="7030A0"/>
                </a:solidFill>
                <a:latin typeface="Consolas"/>
                <a:ea typeface="Consolas"/>
                <a:cs typeface="Consolas"/>
                <a:sym typeface="Consolas"/>
              </a:rPr>
              <a:t>cin</a:t>
            </a:r>
            <a:r>
              <a:rPr lang="tr-TR" sz="1800">
                <a:solidFill>
                  <a:schemeClr val="lt1"/>
                </a:solidFill>
                <a:latin typeface="Times New Roman"/>
                <a:ea typeface="Times New Roman"/>
                <a:cs typeface="Times New Roman"/>
                <a:sym typeface="Times New Roman"/>
              </a:rPr>
              <a:t> nesnelerine karşılık gelir ve bu komutlar aracılığıyla gerçekleştirilir. </a:t>
            </a:r>
            <a:endParaRPr/>
          </a:p>
          <a:p>
            <a:pPr indent="-285750" lvl="1" marL="486918" marR="0" rtl="0" algn="just">
              <a:lnSpc>
                <a:spcPct val="150000"/>
              </a:lnSpc>
              <a:spcBef>
                <a:spcPts val="0"/>
              </a:spcBef>
              <a:spcAft>
                <a:spcPts val="0"/>
              </a:spcAft>
              <a:buClr>
                <a:schemeClr val="lt1"/>
              </a:buClr>
              <a:buSzPts val="1800"/>
              <a:buFont typeface="Noto Sans Symbols"/>
              <a:buChar char="⮚"/>
            </a:pPr>
            <a:r>
              <a:rPr b="0" i="0" lang="tr-TR" sz="1800" u="none" cap="none" strike="noStrike">
                <a:solidFill>
                  <a:schemeClr val="lt1"/>
                </a:solidFill>
                <a:latin typeface="Times New Roman"/>
                <a:ea typeface="Times New Roman"/>
                <a:cs typeface="Times New Roman"/>
                <a:sym typeface="Times New Roman"/>
              </a:rPr>
              <a:t>Çıkış nesnesi olan </a:t>
            </a:r>
            <a:r>
              <a:rPr b="1" i="0" lang="tr-TR" sz="1800" u="none" cap="none" strike="noStrike">
                <a:solidFill>
                  <a:srgbClr val="7030A0"/>
                </a:solidFill>
                <a:latin typeface="Consolas"/>
                <a:ea typeface="Consolas"/>
                <a:cs typeface="Consolas"/>
                <a:sym typeface="Consolas"/>
              </a:rPr>
              <a:t>cout</a:t>
            </a:r>
            <a:r>
              <a:rPr b="0" i="0" lang="tr-TR" sz="1800" u="none" cap="none" strike="noStrike">
                <a:solidFill>
                  <a:schemeClr val="lt1"/>
                </a:solidFill>
                <a:latin typeface="Times New Roman"/>
                <a:ea typeface="Times New Roman"/>
                <a:cs typeface="Times New Roman"/>
                <a:sym typeface="Times New Roman"/>
              </a:rPr>
              <a:t>, ekleme (insertion) operatörü olan </a:t>
            </a:r>
            <a:r>
              <a:rPr b="1" i="0" lang="tr-TR" sz="1800" u="none" cap="none" strike="noStrike">
                <a:solidFill>
                  <a:srgbClr val="7030A0"/>
                </a:solidFill>
                <a:latin typeface="Times New Roman"/>
                <a:ea typeface="Times New Roman"/>
                <a:cs typeface="Times New Roman"/>
                <a:sym typeface="Times New Roman"/>
              </a:rPr>
              <a:t>&lt;&lt;</a:t>
            </a:r>
            <a:r>
              <a:rPr b="0" i="0" lang="tr-TR" sz="1800" u="none" cap="none" strike="noStrike">
                <a:solidFill>
                  <a:schemeClr val="lt1"/>
                </a:solidFill>
                <a:latin typeface="Times New Roman"/>
                <a:ea typeface="Times New Roman"/>
                <a:cs typeface="Times New Roman"/>
                <a:sym typeface="Times New Roman"/>
              </a:rPr>
              <a:t> ile,</a:t>
            </a:r>
            <a:endParaRPr/>
          </a:p>
          <a:p>
            <a:pPr indent="-285750" lvl="1" marL="486918" marR="0" rtl="0" algn="just">
              <a:lnSpc>
                <a:spcPct val="150000"/>
              </a:lnSpc>
              <a:spcBef>
                <a:spcPts val="0"/>
              </a:spcBef>
              <a:spcAft>
                <a:spcPts val="0"/>
              </a:spcAft>
              <a:buClr>
                <a:schemeClr val="lt1"/>
              </a:buClr>
              <a:buSzPts val="1800"/>
              <a:buFont typeface="Noto Sans Symbols"/>
              <a:buChar char="⮚"/>
            </a:pPr>
            <a:r>
              <a:rPr b="0" i="0" lang="tr-TR" sz="1800" u="none" cap="none" strike="noStrike">
                <a:solidFill>
                  <a:schemeClr val="lt1"/>
                </a:solidFill>
                <a:latin typeface="Times New Roman"/>
                <a:ea typeface="Times New Roman"/>
                <a:cs typeface="Times New Roman"/>
                <a:sym typeface="Times New Roman"/>
              </a:rPr>
              <a:t>Giriş nesnesi olan </a:t>
            </a:r>
            <a:r>
              <a:rPr b="1" i="0" lang="tr-TR" sz="1800" u="none" cap="none" strike="noStrike">
                <a:solidFill>
                  <a:srgbClr val="7030A0"/>
                </a:solidFill>
                <a:latin typeface="Consolas"/>
                <a:ea typeface="Consolas"/>
                <a:cs typeface="Consolas"/>
                <a:sym typeface="Consolas"/>
              </a:rPr>
              <a:t>cin</a:t>
            </a:r>
            <a:r>
              <a:rPr b="0" i="0" lang="tr-TR" sz="1800" u="none" cap="none" strike="noStrike">
                <a:solidFill>
                  <a:schemeClr val="lt1"/>
                </a:solidFill>
                <a:latin typeface="Times New Roman"/>
                <a:ea typeface="Times New Roman"/>
                <a:cs typeface="Times New Roman"/>
                <a:sym typeface="Times New Roman"/>
              </a:rPr>
              <a:t>, çıkarma (extraction) operatörü olan </a:t>
            </a:r>
            <a:r>
              <a:rPr b="1" i="0" lang="tr-TR" sz="1800" u="none" cap="none" strike="noStrike">
                <a:solidFill>
                  <a:srgbClr val="7030A0"/>
                </a:solidFill>
                <a:latin typeface="Times New Roman"/>
                <a:ea typeface="Times New Roman"/>
                <a:cs typeface="Times New Roman"/>
                <a:sym typeface="Times New Roman"/>
              </a:rPr>
              <a:t>&gt;&gt;</a:t>
            </a:r>
            <a:r>
              <a:rPr b="0" i="0" lang="tr-TR" sz="1800" u="none" cap="none" strike="noStrike">
                <a:solidFill>
                  <a:schemeClr val="lt1"/>
                </a:solidFill>
                <a:latin typeface="Times New Roman"/>
                <a:ea typeface="Times New Roman"/>
                <a:cs typeface="Times New Roman"/>
                <a:sym typeface="Times New Roman"/>
              </a:rPr>
              <a:t> ile kullanılır. </a:t>
            </a:r>
            <a:endParaRPr/>
          </a:p>
          <a:p>
            <a:pPr indent="-29717" lvl="0" marL="29717" marR="0" rtl="0" algn="just">
              <a:lnSpc>
                <a:spcPct val="150000"/>
              </a:lnSpc>
              <a:spcBef>
                <a:spcPts val="0"/>
              </a:spcBef>
              <a:spcAft>
                <a:spcPts val="0"/>
              </a:spcAft>
              <a:buClr>
                <a:schemeClr val="dk1"/>
              </a:buClr>
              <a:buSzPts val="1800"/>
              <a:buFont typeface="Noto Sans Symbols"/>
              <a:buChar char="⮚"/>
            </a:pPr>
            <a:r>
              <a:rPr lang="tr-TR" sz="1800">
                <a:solidFill>
                  <a:srgbClr val="7030A0"/>
                </a:solidFill>
                <a:latin typeface="Times New Roman"/>
                <a:ea typeface="Times New Roman"/>
                <a:cs typeface="Times New Roman"/>
                <a:sym typeface="Times New Roman"/>
              </a:rPr>
              <a:t>iostream</a:t>
            </a:r>
            <a:r>
              <a:rPr lang="tr-TR" sz="1800">
                <a:solidFill>
                  <a:schemeClr val="lt1"/>
                </a:solidFill>
                <a:latin typeface="Times New Roman"/>
                <a:ea typeface="Times New Roman"/>
                <a:cs typeface="Times New Roman"/>
                <a:sym typeface="Times New Roman"/>
              </a:rPr>
              <a:t> başlık dosyası </a:t>
            </a:r>
            <a:r>
              <a:rPr lang="tr-TR" sz="1800">
                <a:solidFill>
                  <a:srgbClr val="7030A0"/>
                </a:solidFill>
                <a:latin typeface="Times New Roman"/>
                <a:ea typeface="Times New Roman"/>
                <a:cs typeface="Times New Roman"/>
                <a:sym typeface="Times New Roman"/>
              </a:rPr>
              <a:t>#include </a:t>
            </a:r>
            <a:r>
              <a:rPr lang="tr-TR" sz="1800">
                <a:solidFill>
                  <a:schemeClr val="lt1"/>
                </a:solidFill>
                <a:latin typeface="Times New Roman"/>
                <a:ea typeface="Times New Roman"/>
                <a:cs typeface="Times New Roman"/>
                <a:sym typeface="Times New Roman"/>
              </a:rPr>
              <a:t>ön işlemci bildiricisiyle programa eklenir. </a:t>
            </a:r>
            <a:endParaRPr/>
          </a:p>
          <a:p>
            <a:pPr indent="-29717" lvl="0" marL="29717" marR="0" rtl="0" algn="just">
              <a:lnSpc>
                <a:spcPct val="150000"/>
              </a:lnSpc>
              <a:spcBef>
                <a:spcPts val="0"/>
              </a:spcBef>
              <a:spcAft>
                <a:spcPts val="0"/>
              </a:spcAft>
              <a:buClr>
                <a:schemeClr val="dk1"/>
              </a:buClr>
              <a:buSzPts val="1800"/>
              <a:buFont typeface="Noto Sans Symbols"/>
              <a:buChar char="⮚"/>
            </a:pPr>
            <a:r>
              <a:rPr lang="tr-TR" sz="1800">
                <a:solidFill>
                  <a:schemeClr val="lt1"/>
                </a:solidFill>
                <a:latin typeface="Times New Roman"/>
                <a:ea typeface="Times New Roman"/>
                <a:cs typeface="Times New Roman"/>
                <a:sym typeface="Times New Roman"/>
              </a:rPr>
              <a:t>Bu başlık doayası </a:t>
            </a:r>
            <a:r>
              <a:rPr b="1" lang="tr-TR" sz="1800">
                <a:solidFill>
                  <a:srgbClr val="7030A0"/>
                </a:solidFill>
                <a:latin typeface="Times New Roman"/>
                <a:ea typeface="Times New Roman"/>
                <a:cs typeface="Times New Roman"/>
                <a:sym typeface="Times New Roman"/>
              </a:rPr>
              <a:t>&lt; &gt; </a:t>
            </a:r>
            <a:r>
              <a:rPr lang="tr-TR" sz="1800">
                <a:solidFill>
                  <a:schemeClr val="lt1"/>
                </a:solidFill>
                <a:latin typeface="Times New Roman"/>
                <a:ea typeface="Times New Roman"/>
                <a:cs typeface="Times New Roman"/>
                <a:sym typeface="Times New Roman"/>
              </a:rPr>
              <a:t>operatörleri arasına yazılır. Eğer </a:t>
            </a:r>
            <a:r>
              <a:rPr b="1" lang="tr-TR" sz="1800">
                <a:solidFill>
                  <a:srgbClr val="7030A0"/>
                </a:solidFill>
                <a:latin typeface="Times New Roman"/>
                <a:ea typeface="Times New Roman"/>
                <a:cs typeface="Times New Roman"/>
                <a:sym typeface="Times New Roman"/>
              </a:rPr>
              <a:t>" "  </a:t>
            </a:r>
            <a:r>
              <a:rPr lang="tr-TR" sz="1800">
                <a:solidFill>
                  <a:schemeClr val="lt1"/>
                </a:solidFill>
                <a:latin typeface="Times New Roman"/>
                <a:ea typeface="Times New Roman"/>
                <a:cs typeface="Times New Roman"/>
                <a:sym typeface="Times New Roman"/>
              </a:rPr>
              <a:t>kullanılırsa, derleyici bunun sisteme ait olmayan bir başlık dosyası olduğunu yorumlar. </a:t>
            </a:r>
            <a:r>
              <a:rPr b="1" lang="tr-TR" sz="1800">
                <a:solidFill>
                  <a:schemeClr val="lt1"/>
                </a:solidFill>
                <a:latin typeface="Times New Roman"/>
                <a:ea typeface="Times New Roman"/>
                <a:cs typeface="Times New Roman"/>
                <a:sym typeface="Times New Roman"/>
              </a:rPr>
              <a:t>.h </a:t>
            </a:r>
            <a:r>
              <a:rPr lang="tr-TR" sz="1800">
                <a:solidFill>
                  <a:schemeClr val="lt1"/>
                </a:solidFill>
                <a:latin typeface="Times New Roman"/>
                <a:ea typeface="Times New Roman"/>
                <a:cs typeface="Times New Roman"/>
                <a:sym typeface="Times New Roman"/>
              </a:rPr>
              <a:t>ile biten öncü dosyalar </a:t>
            </a:r>
            <a:r>
              <a:rPr i="1" lang="tr-TR" sz="1800">
                <a:solidFill>
                  <a:schemeClr val="lt1"/>
                </a:solidFill>
                <a:latin typeface="Times New Roman"/>
                <a:ea typeface="Times New Roman"/>
                <a:cs typeface="Times New Roman"/>
                <a:sym typeface="Times New Roman"/>
              </a:rPr>
              <a:t>"eski tarz" </a:t>
            </a:r>
            <a:r>
              <a:rPr lang="tr-TR" sz="1800">
                <a:solidFill>
                  <a:schemeClr val="lt1"/>
                </a:solidFill>
                <a:latin typeface="Times New Roman"/>
                <a:ea typeface="Times New Roman"/>
                <a:cs typeface="Times New Roman"/>
                <a:sym typeface="Times New Roman"/>
              </a:rPr>
              <a:t>öncü dosyalardır. Programcı kendi başlık dosyasını </a:t>
            </a:r>
            <a:r>
              <a:rPr b="1" lang="tr-TR" sz="1800">
                <a:solidFill>
                  <a:schemeClr val="lt1"/>
                </a:solidFill>
                <a:latin typeface="Times New Roman"/>
                <a:ea typeface="Times New Roman"/>
                <a:cs typeface="Times New Roman"/>
                <a:sym typeface="Times New Roman"/>
              </a:rPr>
              <a:t>.h </a:t>
            </a:r>
            <a:r>
              <a:rPr lang="tr-TR" sz="1800">
                <a:solidFill>
                  <a:schemeClr val="lt1"/>
                </a:solidFill>
                <a:latin typeface="Times New Roman"/>
                <a:ea typeface="Times New Roman"/>
                <a:cs typeface="Times New Roman"/>
                <a:sym typeface="Times New Roman"/>
              </a:rPr>
              <a:t>ile </a:t>
            </a:r>
            <a:r>
              <a:rPr lang="tr-TR" sz="1800">
                <a:solidFill>
                  <a:schemeClr val="dk1"/>
                </a:solidFill>
                <a:latin typeface="Times New Roman"/>
                <a:ea typeface="Times New Roman"/>
                <a:cs typeface="Times New Roman"/>
                <a:sym typeface="Times New Roman"/>
              </a:rPr>
              <a:t>sonlandırmalıdır ve " "  ile programa eklemelidir. (#include "deneme.h" gibi)</a:t>
            </a:r>
            <a:r>
              <a:rPr b="1" lang="tr-TR" sz="1800">
                <a:solidFill>
                  <a:srgbClr val="7030A0"/>
                </a:solidFill>
                <a:latin typeface="Times New Roman"/>
                <a:ea typeface="Times New Roman"/>
                <a:cs typeface="Times New Roman"/>
                <a:sym typeface="Times New Roman"/>
              </a:rPr>
              <a:t>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İsim Uzayı (Namespace)</a:t>
            </a:r>
            <a:endParaRPr/>
          </a:p>
        </p:txBody>
      </p:sp>
      <p:sp>
        <p:nvSpPr>
          <p:cNvPr id="189" name="Google Shape;189;p12"/>
          <p:cNvSpPr txBox="1"/>
          <p:nvPr/>
        </p:nvSpPr>
        <p:spPr>
          <a:xfrm>
            <a:off x="-1" y="548293"/>
            <a:ext cx="12192000" cy="3277820"/>
          </a:xfrm>
          <a:prstGeom prst="rect">
            <a:avLst/>
          </a:prstGeom>
          <a:noFill/>
          <a:ln>
            <a:noFill/>
          </a:ln>
        </p:spPr>
        <p:txBody>
          <a:bodyPr anchorCtr="0" anchor="t" bIns="45700" lIns="91425" spcFirstLastPara="1" rIns="91425" wrap="square" tIns="45700">
            <a:spAutoFit/>
          </a:bodyPr>
          <a:lstStyle/>
          <a:p>
            <a:pPr indent="-29717" lvl="0" marL="29717" marR="0" rtl="0" algn="just">
              <a:lnSpc>
                <a:spcPct val="150000"/>
              </a:lnSpc>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Farklı programlar bir araya getirildiğinde veya farklı programcılar tarafından yazılan programlar birleştirilmek istendiğinde aynı isimde birden fazla değişken ve fonksiyon tanımlaması ile karşılaşılabilir. Bu durumda isim çakışması meydana gelir. </a:t>
            </a:r>
            <a:endParaRPr/>
          </a:p>
          <a:p>
            <a:pPr indent="-29717" lvl="0" marL="29717" marR="0" rtl="0" algn="just">
              <a:lnSpc>
                <a:spcPct val="150000"/>
              </a:lnSpc>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Bunu önlemek için </a:t>
            </a:r>
            <a:r>
              <a:rPr b="1" lang="tr-TR" sz="1800">
                <a:solidFill>
                  <a:schemeClr val="lt1"/>
                </a:solidFill>
                <a:latin typeface="Times New Roman"/>
                <a:ea typeface="Times New Roman"/>
                <a:cs typeface="Times New Roman"/>
                <a:sym typeface="Times New Roman"/>
              </a:rPr>
              <a:t>C++ </a:t>
            </a:r>
            <a:r>
              <a:rPr lang="tr-TR" sz="1800">
                <a:solidFill>
                  <a:schemeClr val="lt1"/>
                </a:solidFill>
                <a:latin typeface="Times New Roman"/>
                <a:ea typeface="Times New Roman"/>
                <a:cs typeface="Times New Roman"/>
                <a:sym typeface="Times New Roman"/>
              </a:rPr>
              <a:t>isim uzayı (namespace) tanımlamasına imkan verilmiştir. Her bir isim uzayındaki değişkenler sadece o isim uzayı içinde tanınırlar. </a:t>
            </a:r>
            <a:endParaRPr/>
          </a:p>
          <a:p>
            <a:pPr indent="-29717" lvl="0" marL="29717" marR="0" rtl="0" algn="just">
              <a:lnSpc>
                <a:spcPct val="150000"/>
              </a:lnSpc>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Programlarımızda sık kullanacak olduğumuz </a:t>
            </a:r>
            <a:r>
              <a:rPr lang="tr-TR" sz="1800">
                <a:solidFill>
                  <a:srgbClr val="0000FF"/>
                </a:solidFill>
                <a:latin typeface="Consolas"/>
                <a:ea typeface="Consolas"/>
                <a:cs typeface="Consolas"/>
                <a:sym typeface="Consolas"/>
              </a:rPr>
              <a:t>using</a:t>
            </a:r>
            <a:r>
              <a:rPr lang="tr-TR" sz="1800">
                <a:solidFill>
                  <a:srgbClr val="000000"/>
                </a:solidFill>
                <a:latin typeface="Consolas"/>
                <a:ea typeface="Consolas"/>
                <a:cs typeface="Consolas"/>
                <a:sym typeface="Consolas"/>
              </a:rPr>
              <a:t> </a:t>
            </a:r>
            <a:r>
              <a:rPr lang="tr-TR" sz="1800">
                <a:solidFill>
                  <a:srgbClr val="0000FF"/>
                </a:solidFill>
                <a:latin typeface="Consolas"/>
                <a:ea typeface="Consolas"/>
                <a:cs typeface="Consolas"/>
                <a:sym typeface="Consolas"/>
              </a:rPr>
              <a:t>namespace</a:t>
            </a:r>
            <a:r>
              <a:rPr lang="tr-TR" sz="1800">
                <a:solidFill>
                  <a:srgbClr val="000000"/>
                </a:solidFill>
                <a:latin typeface="Consolas"/>
                <a:ea typeface="Consolas"/>
                <a:cs typeface="Consolas"/>
                <a:sym typeface="Consolas"/>
              </a:rPr>
              <a:t> std; </a:t>
            </a:r>
            <a:r>
              <a:rPr lang="tr-TR" sz="1800">
                <a:solidFill>
                  <a:schemeClr val="lt1"/>
                </a:solidFill>
                <a:latin typeface="Times New Roman"/>
                <a:ea typeface="Times New Roman"/>
                <a:cs typeface="Times New Roman"/>
                <a:sym typeface="Times New Roman"/>
              </a:rPr>
              <a:t>bildirisi, kendinden sonra gelen tüm ifadelerin </a:t>
            </a:r>
            <a:r>
              <a:rPr lang="tr-TR" sz="1800">
                <a:solidFill>
                  <a:srgbClr val="000000"/>
                </a:solidFill>
                <a:latin typeface="Consolas"/>
                <a:ea typeface="Consolas"/>
                <a:cs typeface="Consolas"/>
                <a:sym typeface="Consolas"/>
              </a:rPr>
              <a:t>std</a:t>
            </a:r>
            <a:r>
              <a:rPr lang="tr-TR" sz="1800">
                <a:solidFill>
                  <a:schemeClr val="lt1"/>
                </a:solidFill>
                <a:latin typeface="Times New Roman"/>
                <a:ea typeface="Times New Roman"/>
                <a:cs typeface="Times New Roman"/>
                <a:sym typeface="Times New Roman"/>
              </a:rPr>
              <a:t> isim uzayına ait olduğunu gösterir. Örneğin </a:t>
            </a:r>
            <a:r>
              <a:rPr lang="tr-TR" sz="1800">
                <a:solidFill>
                  <a:srgbClr val="000000"/>
                </a:solidFill>
                <a:latin typeface="Consolas"/>
                <a:ea typeface="Consolas"/>
                <a:cs typeface="Consolas"/>
                <a:sym typeface="Consolas"/>
              </a:rPr>
              <a:t>cout</a:t>
            </a:r>
            <a:r>
              <a:rPr lang="tr-TR" sz="1800">
                <a:solidFill>
                  <a:schemeClr val="lt1"/>
                </a:solidFill>
                <a:latin typeface="Times New Roman"/>
                <a:ea typeface="Times New Roman"/>
                <a:cs typeface="Times New Roman"/>
                <a:sym typeface="Times New Roman"/>
              </a:rPr>
              <a:t>, </a:t>
            </a:r>
            <a:r>
              <a:rPr lang="tr-TR" sz="1800">
                <a:solidFill>
                  <a:srgbClr val="000000"/>
                </a:solidFill>
                <a:latin typeface="Consolas"/>
                <a:ea typeface="Consolas"/>
                <a:cs typeface="Consolas"/>
                <a:sym typeface="Consolas"/>
              </a:rPr>
              <a:t>std</a:t>
            </a:r>
            <a:r>
              <a:rPr lang="tr-TR" sz="1800">
                <a:solidFill>
                  <a:schemeClr val="lt1"/>
                </a:solidFill>
                <a:latin typeface="Times New Roman"/>
                <a:ea typeface="Times New Roman"/>
                <a:cs typeface="Times New Roman"/>
                <a:sym typeface="Times New Roman"/>
              </a:rPr>
              <a:t> isim uzayında tanımlanmıştır. Bu yüzden bu bildirim yapılmazsa, </a:t>
            </a:r>
            <a:r>
              <a:rPr lang="tr-TR" sz="1800">
                <a:solidFill>
                  <a:srgbClr val="000000"/>
                </a:solidFill>
                <a:latin typeface="Consolas"/>
                <a:ea typeface="Consolas"/>
                <a:cs typeface="Consolas"/>
                <a:sym typeface="Consolas"/>
              </a:rPr>
              <a:t>cout</a:t>
            </a:r>
            <a:r>
              <a:rPr lang="tr-TR" sz="1800">
                <a:solidFill>
                  <a:schemeClr val="lt1"/>
                </a:solidFill>
                <a:latin typeface="Times New Roman"/>
                <a:ea typeface="Times New Roman"/>
                <a:cs typeface="Times New Roman"/>
                <a:sym typeface="Times New Roman"/>
              </a:rPr>
              <a:t> komutunun kullanılması durumunda derleyici hata verir. </a:t>
            </a:r>
            <a:endParaRPr/>
          </a:p>
          <a:p>
            <a:pPr indent="84582" lvl="0" marL="29717" marR="0" rtl="0" algn="just">
              <a:spcBef>
                <a:spcPts val="0"/>
              </a:spcBef>
              <a:spcAft>
                <a:spcPts val="0"/>
              </a:spcAft>
              <a:buClr>
                <a:schemeClr val="lt1"/>
              </a:buClr>
              <a:buSzPts val="1800"/>
              <a:buFont typeface="Noto Sans Symbols"/>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0" lvl="0" marL="0" marR="0" rtl="0" algn="l">
              <a:lnSpc>
                <a:spcPct val="90000"/>
              </a:lnSpc>
              <a:spcBef>
                <a:spcPts val="0"/>
              </a:spcBef>
              <a:spcAft>
                <a:spcPts val="0"/>
              </a:spcAft>
              <a:buClr>
                <a:schemeClr val="accent1"/>
              </a:buClr>
              <a:buSzPts val="3000"/>
              <a:buFont typeface="Calibri"/>
              <a:buNone/>
            </a:pPr>
            <a:r>
              <a:rPr b="1" i="0" lang="tr-TR" sz="3000" u="none" cap="none" strike="noStrike">
                <a:solidFill>
                  <a:srgbClr val="7030A0"/>
                </a:solidFill>
                <a:latin typeface="Consolas"/>
                <a:ea typeface="Consolas"/>
                <a:cs typeface="Consolas"/>
                <a:sym typeface="Consolas"/>
              </a:rPr>
              <a:t>cout</a:t>
            </a:r>
            <a:r>
              <a:rPr b="1" i="0" lang="tr-TR" sz="3000" u="none" cap="none" strike="noStrike">
                <a:solidFill>
                  <a:schemeClr val="lt1"/>
                </a:solidFill>
                <a:latin typeface="Times New Roman"/>
                <a:ea typeface="Times New Roman"/>
                <a:cs typeface="Times New Roman"/>
                <a:sym typeface="Times New Roman"/>
              </a:rPr>
              <a:t> ve </a:t>
            </a:r>
            <a:r>
              <a:rPr b="1" i="0" lang="tr-TR" sz="3000" u="none" cap="none" strike="noStrike">
                <a:solidFill>
                  <a:srgbClr val="7030A0"/>
                </a:solidFill>
                <a:latin typeface="Consolas"/>
                <a:ea typeface="Consolas"/>
                <a:cs typeface="Consolas"/>
                <a:sym typeface="Consolas"/>
              </a:rPr>
              <a:t>cin</a:t>
            </a:r>
            <a:r>
              <a:rPr b="1" i="0" lang="tr-TR" sz="3000" u="none" cap="none" strike="noStrike">
                <a:solidFill>
                  <a:schemeClr val="lt1"/>
                </a:solidFill>
                <a:latin typeface="Times New Roman"/>
                <a:ea typeface="Times New Roman"/>
                <a:cs typeface="Times New Roman"/>
                <a:sym typeface="Times New Roman"/>
              </a:rPr>
              <a:t> işlemleri</a:t>
            </a:r>
            <a:endParaRPr/>
          </a:p>
        </p:txBody>
      </p:sp>
      <p:sp>
        <p:nvSpPr>
          <p:cNvPr id="195" name="Google Shape;195;p13"/>
          <p:cNvSpPr txBox="1"/>
          <p:nvPr/>
        </p:nvSpPr>
        <p:spPr>
          <a:xfrm>
            <a:off x="0" y="625475"/>
            <a:ext cx="12191999"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000">
                <a:solidFill>
                  <a:schemeClr val="lt1"/>
                </a:solidFill>
                <a:latin typeface="Times New Roman"/>
                <a:ea typeface="Times New Roman"/>
                <a:cs typeface="Times New Roman"/>
                <a:sym typeface="Times New Roman"/>
              </a:rPr>
              <a:t>C++ dilinde bilgisayar belleğine veri aktarılabilmesi (veri okutulması) için </a:t>
            </a:r>
            <a:r>
              <a:rPr b="1" lang="tr-TR" sz="2000">
                <a:solidFill>
                  <a:srgbClr val="7030A0"/>
                </a:solidFill>
                <a:latin typeface="Consolas"/>
                <a:ea typeface="Consolas"/>
                <a:cs typeface="Consolas"/>
                <a:sym typeface="Consolas"/>
              </a:rPr>
              <a:t>cin</a:t>
            </a:r>
            <a:r>
              <a:rPr lang="tr-TR" sz="2000">
                <a:solidFill>
                  <a:schemeClr val="lt1"/>
                </a:solidFill>
                <a:latin typeface="Times New Roman"/>
                <a:ea typeface="Times New Roman"/>
                <a:cs typeface="Times New Roman"/>
                <a:sym typeface="Times New Roman"/>
              </a:rPr>
              <a:t> (</a:t>
            </a:r>
            <a:r>
              <a:rPr b="1" lang="tr-TR" sz="2000">
                <a:solidFill>
                  <a:schemeClr val="lt1"/>
                </a:solidFill>
                <a:latin typeface="Times New Roman"/>
                <a:ea typeface="Times New Roman"/>
                <a:cs typeface="Times New Roman"/>
                <a:sym typeface="Times New Roman"/>
              </a:rPr>
              <a:t>c</a:t>
            </a:r>
            <a:r>
              <a:rPr lang="tr-TR" sz="2000">
                <a:solidFill>
                  <a:schemeClr val="lt1"/>
                </a:solidFill>
                <a:latin typeface="Times New Roman"/>
                <a:ea typeface="Times New Roman"/>
                <a:cs typeface="Times New Roman"/>
                <a:sym typeface="Times New Roman"/>
              </a:rPr>
              <a:t>onsol </a:t>
            </a:r>
            <a:r>
              <a:rPr b="1" lang="tr-TR" sz="2000">
                <a:solidFill>
                  <a:schemeClr val="lt1"/>
                </a:solidFill>
                <a:latin typeface="Times New Roman"/>
                <a:ea typeface="Times New Roman"/>
                <a:cs typeface="Times New Roman"/>
                <a:sym typeface="Times New Roman"/>
              </a:rPr>
              <a:t>in</a:t>
            </a:r>
            <a:r>
              <a:rPr lang="tr-TR" sz="2000">
                <a:solidFill>
                  <a:schemeClr val="lt1"/>
                </a:solidFill>
                <a:latin typeface="Times New Roman"/>
                <a:ea typeface="Times New Roman"/>
                <a:cs typeface="Times New Roman"/>
                <a:sym typeface="Times New Roman"/>
              </a:rPr>
              <a:t>put), verilerin ekrana aktarılması (veri yazdırılması) için </a:t>
            </a:r>
            <a:r>
              <a:rPr b="1" lang="tr-TR" sz="2000">
                <a:solidFill>
                  <a:srgbClr val="7030A0"/>
                </a:solidFill>
                <a:latin typeface="Consolas"/>
                <a:ea typeface="Consolas"/>
                <a:cs typeface="Consolas"/>
                <a:sym typeface="Consolas"/>
              </a:rPr>
              <a:t>cout</a:t>
            </a:r>
            <a:r>
              <a:rPr lang="tr-TR" sz="2000">
                <a:solidFill>
                  <a:schemeClr val="lt1"/>
                </a:solidFill>
                <a:latin typeface="Times New Roman"/>
                <a:ea typeface="Times New Roman"/>
                <a:cs typeface="Times New Roman"/>
                <a:sym typeface="Times New Roman"/>
              </a:rPr>
              <a:t> (</a:t>
            </a:r>
            <a:r>
              <a:rPr b="1" lang="tr-TR" sz="2000">
                <a:solidFill>
                  <a:schemeClr val="lt1"/>
                </a:solidFill>
                <a:latin typeface="Times New Roman"/>
                <a:ea typeface="Times New Roman"/>
                <a:cs typeface="Times New Roman"/>
                <a:sym typeface="Times New Roman"/>
              </a:rPr>
              <a:t>c</a:t>
            </a:r>
            <a:r>
              <a:rPr lang="tr-TR" sz="2000">
                <a:solidFill>
                  <a:schemeClr val="lt1"/>
                </a:solidFill>
                <a:latin typeface="Times New Roman"/>
                <a:ea typeface="Times New Roman"/>
                <a:cs typeface="Times New Roman"/>
                <a:sym typeface="Times New Roman"/>
              </a:rPr>
              <a:t>onsol </a:t>
            </a:r>
            <a:r>
              <a:rPr b="1" lang="tr-TR" sz="2000">
                <a:solidFill>
                  <a:schemeClr val="lt1"/>
                </a:solidFill>
                <a:latin typeface="Times New Roman"/>
                <a:ea typeface="Times New Roman"/>
                <a:cs typeface="Times New Roman"/>
                <a:sym typeface="Times New Roman"/>
              </a:rPr>
              <a:t>out</a:t>
            </a:r>
            <a:r>
              <a:rPr lang="tr-TR" sz="2000">
                <a:solidFill>
                  <a:schemeClr val="lt1"/>
                </a:solidFill>
                <a:latin typeface="Times New Roman"/>
                <a:ea typeface="Times New Roman"/>
                <a:cs typeface="Times New Roman"/>
                <a:sym typeface="Times New Roman"/>
              </a:rPr>
              <a:t>put) komutları kullanılır. </a:t>
            </a:r>
            <a:endParaRPr b="1" sz="2000" u="sng">
              <a:solidFill>
                <a:srgbClr val="3A5A62"/>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000" u="sng">
              <a:solidFill>
                <a:srgbClr val="3A5A62"/>
              </a:solidFill>
              <a:latin typeface="Times New Roman"/>
              <a:ea typeface="Times New Roman"/>
              <a:cs typeface="Times New Roman"/>
              <a:sym typeface="Times New Roman"/>
            </a:endParaRPr>
          </a:p>
          <a:p>
            <a:pPr indent="0" lvl="0" marL="0" marR="0" rtl="0" algn="l">
              <a:spcBef>
                <a:spcPts val="0"/>
              </a:spcBef>
              <a:spcAft>
                <a:spcPts val="0"/>
              </a:spcAft>
              <a:buNone/>
            </a:pPr>
            <a:r>
              <a:rPr b="1" lang="tr-TR" sz="2000" u="sng">
                <a:solidFill>
                  <a:srgbClr val="7030A0"/>
                </a:solidFill>
                <a:latin typeface="Times New Roman"/>
                <a:ea typeface="Times New Roman"/>
                <a:cs typeface="Times New Roman"/>
                <a:sym typeface="Times New Roman"/>
              </a:rPr>
              <a:t>cout</a:t>
            </a:r>
            <a:endParaRPr b="1" sz="2000" u="sng">
              <a:solidFill>
                <a:srgbClr val="7030A0"/>
              </a:solidFill>
              <a:latin typeface="Times New Roman"/>
              <a:ea typeface="Times New Roman"/>
              <a:cs typeface="Times New Roman"/>
              <a:sym typeface="Times New Roman"/>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Standart çıkış aygıtına (burada genellikle ekrana) veri veya mesaj yollamak amacıyla kullanılır.</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	cout&lt;&lt;değişken;</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	cout&lt;&lt;"ifade";</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	cout&lt;&lt;biçimleyici&lt;&lt;değişken;</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	cout&lt;&lt;biçimleyici; gibi…</a:t>
            </a:r>
            <a:endParaRPr/>
          </a:p>
          <a:p>
            <a:pPr indent="0" lvl="0" marL="0" marR="0" rtl="0" algn="l">
              <a:spcBef>
                <a:spcPts val="0"/>
              </a:spcBef>
              <a:spcAft>
                <a:spcPts val="0"/>
              </a:spcAft>
              <a:buNone/>
            </a:pPr>
            <a:r>
              <a:rPr b="1" lang="tr-TR" sz="2000" u="sng">
                <a:solidFill>
                  <a:srgbClr val="7030A0"/>
                </a:solidFill>
                <a:latin typeface="Times New Roman"/>
                <a:ea typeface="Times New Roman"/>
                <a:cs typeface="Times New Roman"/>
                <a:sym typeface="Times New Roman"/>
              </a:rPr>
              <a:t>cin</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Girişi bir konsoldan okumak için (&gt;&gt;) ile birlikte kullanılır.</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	cin&gt;&gt;veri</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	cin&gt;&gt;veri1&gt;&gt;veri2; gibi…</a:t>
            </a:r>
            <a:endParaRPr/>
          </a:p>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96" name="Google Shape;196;p13"/>
          <p:cNvSpPr txBox="1"/>
          <p:nvPr/>
        </p:nvSpPr>
        <p:spPr>
          <a:xfrm>
            <a:off x="0" y="4777625"/>
            <a:ext cx="59058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rgbClr val="7030A0"/>
                </a:solidFill>
                <a:latin typeface="Times New Roman"/>
                <a:ea typeface="Times New Roman"/>
                <a:cs typeface="Times New Roman"/>
                <a:sym typeface="Times New Roman"/>
              </a:rPr>
              <a:t>Standard end line (endl): </a:t>
            </a:r>
            <a:r>
              <a:rPr lang="tr-TR" sz="1800">
                <a:solidFill>
                  <a:schemeClr val="dk1"/>
                </a:solidFill>
                <a:latin typeface="Times New Roman"/>
                <a:ea typeface="Times New Roman"/>
                <a:cs typeface="Times New Roman"/>
                <a:sym typeface="Times New Roman"/>
              </a:rPr>
              <a:t>Yeni bir satır karakteri eklemek için kullanılır ve akışı temizler. Basit olarak:  </a:t>
            </a:r>
            <a:endParaRPr/>
          </a:p>
        </p:txBody>
      </p:sp>
      <p:pic>
        <p:nvPicPr>
          <p:cNvPr id="197" name="Google Shape;197;p13"/>
          <p:cNvPicPr preferRelativeResize="0"/>
          <p:nvPr/>
        </p:nvPicPr>
        <p:blipFill rotWithShape="1">
          <a:blip r:embed="rId3">
            <a:alphaModFix/>
          </a:blip>
          <a:srcRect b="0" l="0" r="0" t="0"/>
          <a:stretch/>
        </p:blipFill>
        <p:spPr>
          <a:xfrm>
            <a:off x="6482869" y="4718903"/>
            <a:ext cx="5429497" cy="14369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İlk C++ Programımız ( Versiyon 1)</a:t>
            </a:r>
            <a:endParaRPr/>
          </a:p>
        </p:txBody>
      </p:sp>
      <p:sp>
        <p:nvSpPr>
          <p:cNvPr id="203" name="Google Shape;203;p14"/>
          <p:cNvSpPr txBox="1"/>
          <p:nvPr/>
        </p:nvSpPr>
        <p:spPr>
          <a:xfrm>
            <a:off x="-1" y="3085701"/>
            <a:ext cx="12191999"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tr-TR" sz="1800">
                <a:solidFill>
                  <a:schemeClr val="lt1"/>
                </a:solidFill>
                <a:latin typeface="Times New Roman"/>
                <a:ea typeface="Times New Roman"/>
                <a:cs typeface="Times New Roman"/>
                <a:sym typeface="Times New Roman"/>
              </a:rPr>
              <a:t>Satır 1: </a:t>
            </a:r>
            <a:r>
              <a:rPr lang="tr-TR" sz="1800">
                <a:solidFill>
                  <a:schemeClr val="lt1"/>
                </a:solidFill>
                <a:latin typeface="Times New Roman"/>
                <a:ea typeface="Times New Roman"/>
                <a:cs typeface="Times New Roman"/>
                <a:sym typeface="Times New Roman"/>
              </a:rPr>
              <a:t>#include &lt;iostream&gt; C++ önişlemci komut satırıdır. C’deki &lt;stdio.h&gt;’a karşılık gelir. Giriş çıkış işlemlerini kontrol eder.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1" i="1" lang="tr-TR" sz="1800">
                <a:solidFill>
                  <a:schemeClr val="lt1"/>
                </a:solidFill>
                <a:latin typeface="Times New Roman"/>
                <a:ea typeface="Times New Roman"/>
                <a:cs typeface="Times New Roman"/>
                <a:sym typeface="Times New Roman"/>
              </a:rPr>
              <a:t>Satır 3: </a:t>
            </a:r>
            <a:r>
              <a:rPr lang="tr-TR" sz="1800">
                <a:solidFill>
                  <a:schemeClr val="lt1"/>
                </a:solidFill>
                <a:latin typeface="Times New Roman"/>
                <a:ea typeface="Times New Roman"/>
                <a:cs typeface="Times New Roman"/>
                <a:sym typeface="Times New Roman"/>
              </a:rPr>
              <a:t>main() fonksiyonu önündeki </a:t>
            </a:r>
            <a:r>
              <a:rPr b="1" lang="tr-TR" sz="1800">
                <a:solidFill>
                  <a:schemeClr val="lt1"/>
                </a:solidFill>
                <a:latin typeface="Times New Roman"/>
                <a:ea typeface="Times New Roman"/>
                <a:cs typeface="Times New Roman"/>
                <a:sym typeface="Times New Roman"/>
              </a:rPr>
              <a:t>int</a:t>
            </a:r>
            <a:r>
              <a:rPr lang="tr-TR" sz="1800">
                <a:solidFill>
                  <a:schemeClr val="lt1"/>
                </a:solidFill>
                <a:latin typeface="Times New Roman"/>
                <a:ea typeface="Times New Roman"/>
                <a:cs typeface="Times New Roman"/>
                <a:sym typeface="Times New Roman"/>
              </a:rPr>
              <a:t>, main()’in bir tamsayı döndüreceğini işaret eder. C’de geri dönüş tipi belirtilmesi zorunlu değildi. Ancak C++’ta geri dönüş tipi </a:t>
            </a:r>
            <a:r>
              <a:rPr lang="tr-TR" sz="1800" u="sng">
                <a:solidFill>
                  <a:schemeClr val="lt1"/>
                </a:solidFill>
                <a:latin typeface="Times New Roman"/>
                <a:ea typeface="Times New Roman"/>
                <a:cs typeface="Times New Roman"/>
                <a:sym typeface="Times New Roman"/>
              </a:rPr>
              <a:t>belirtilmedir.</a:t>
            </a:r>
            <a:r>
              <a:rPr lang="tr-TR" sz="1800">
                <a:solidFill>
                  <a:schemeClr val="lt1"/>
                </a:solidFill>
                <a:latin typeface="Times New Roman"/>
                <a:ea typeface="Times New Roman"/>
                <a:cs typeface="Times New Roman"/>
                <a:sym typeface="Times New Roman"/>
              </a:rPr>
              <a:t> Aksi durumda derleyici hata verecektir.</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1" i="1" lang="tr-TR" sz="1800">
                <a:solidFill>
                  <a:schemeClr val="lt1"/>
                </a:solidFill>
                <a:latin typeface="Times New Roman"/>
                <a:ea typeface="Times New Roman"/>
                <a:cs typeface="Times New Roman"/>
                <a:sym typeface="Times New Roman"/>
              </a:rPr>
              <a:t>Satır 5:  </a:t>
            </a:r>
            <a:r>
              <a:rPr lang="tr-TR" sz="1800">
                <a:solidFill>
                  <a:schemeClr val="lt1"/>
                </a:solidFill>
                <a:latin typeface="Times New Roman"/>
                <a:ea typeface="Times New Roman"/>
                <a:cs typeface="Times New Roman"/>
                <a:sym typeface="Times New Roman"/>
              </a:rPr>
              <a:t>Bir stringi yazdırmak için standart çıkış akışı </a:t>
            </a:r>
            <a:r>
              <a:rPr b="1" lang="tr-TR" sz="1800">
                <a:solidFill>
                  <a:schemeClr val="lt1"/>
                </a:solidFill>
                <a:latin typeface="Times New Roman"/>
                <a:ea typeface="Times New Roman"/>
                <a:cs typeface="Times New Roman"/>
                <a:sym typeface="Times New Roman"/>
              </a:rPr>
              <a:t>cout</a:t>
            </a:r>
            <a:r>
              <a:rPr lang="tr-TR" sz="1800">
                <a:solidFill>
                  <a:schemeClr val="lt1"/>
                </a:solidFill>
                <a:latin typeface="Times New Roman"/>
                <a:ea typeface="Times New Roman"/>
                <a:cs typeface="Times New Roman"/>
                <a:sym typeface="Times New Roman"/>
              </a:rPr>
              <a:t> ile birlikte akış ekleme operatörü olan </a:t>
            </a:r>
            <a:r>
              <a:rPr b="1" lang="tr-TR" sz="1800">
                <a:solidFill>
                  <a:srgbClr val="7030A0"/>
                </a:solidFill>
                <a:latin typeface="Times New Roman"/>
                <a:ea typeface="Times New Roman"/>
                <a:cs typeface="Times New Roman"/>
                <a:sym typeface="Times New Roman"/>
              </a:rPr>
              <a:t>&lt;&lt;</a:t>
            </a:r>
            <a:r>
              <a:rPr lang="tr-TR" sz="1800">
                <a:solidFill>
                  <a:srgbClr val="7030A0"/>
                </a:solidFill>
                <a:latin typeface="Times New Roman"/>
                <a:ea typeface="Times New Roman"/>
                <a:cs typeface="Times New Roman"/>
                <a:sym typeface="Times New Roman"/>
              </a:rPr>
              <a:t> </a:t>
            </a:r>
            <a:r>
              <a:rPr lang="tr-TR" sz="1800">
                <a:solidFill>
                  <a:schemeClr val="lt1"/>
                </a:solidFill>
                <a:latin typeface="Times New Roman"/>
                <a:ea typeface="Times New Roman"/>
                <a:cs typeface="Times New Roman"/>
                <a:sym typeface="Times New Roman"/>
              </a:rPr>
              <a:t>kullanılır. C++’ta giriş ve çıkış işlemleri karakter akışı ile yapılır. </a:t>
            </a:r>
            <a:endParaRPr/>
          </a:p>
          <a:p>
            <a:pPr indent="0" lvl="0" marL="0" marR="0" rtl="0" algn="just">
              <a:spcBef>
                <a:spcPts val="0"/>
              </a:spcBef>
              <a:spcAft>
                <a:spcPts val="0"/>
              </a:spcAft>
              <a:buNone/>
            </a:pPr>
            <a:r>
              <a:rPr b="1" lang="tr-TR" sz="1800">
                <a:solidFill>
                  <a:schemeClr val="lt1"/>
                </a:solidFill>
                <a:latin typeface="Times New Roman"/>
                <a:ea typeface="Times New Roman"/>
                <a:cs typeface="Times New Roman"/>
                <a:sym typeface="Times New Roman"/>
              </a:rPr>
              <a:t>std::cout</a:t>
            </a:r>
            <a:r>
              <a:rPr lang="tr-TR" sz="1800">
                <a:solidFill>
                  <a:schemeClr val="lt1"/>
                </a:solidFill>
                <a:latin typeface="Times New Roman"/>
                <a:ea typeface="Times New Roman"/>
                <a:cs typeface="Times New Roman"/>
                <a:sym typeface="Times New Roman"/>
              </a:rPr>
              <a:t> ile akış nesnesi (string) </a:t>
            </a:r>
            <a:r>
              <a:rPr b="1" lang="tr-TR" sz="1800">
                <a:solidFill>
                  <a:schemeClr val="lt1"/>
                </a:solidFill>
                <a:latin typeface="Times New Roman"/>
                <a:ea typeface="Times New Roman"/>
                <a:cs typeface="Times New Roman"/>
                <a:sym typeface="Times New Roman"/>
              </a:rPr>
              <a:t>cout’a</a:t>
            </a:r>
            <a:r>
              <a:rPr lang="tr-TR" sz="1800">
                <a:solidFill>
                  <a:schemeClr val="lt1"/>
                </a:solidFill>
                <a:latin typeface="Times New Roman"/>
                <a:ea typeface="Times New Roman"/>
                <a:cs typeface="Times New Roman"/>
                <a:sym typeface="Times New Roman"/>
              </a:rPr>
              <a:t> gönderilir. </a:t>
            </a:r>
            <a:r>
              <a:rPr b="1" lang="tr-TR" sz="1800">
                <a:solidFill>
                  <a:schemeClr val="lt1"/>
                </a:solidFill>
                <a:latin typeface="Times New Roman"/>
                <a:ea typeface="Times New Roman"/>
                <a:cs typeface="Times New Roman"/>
                <a:sym typeface="Times New Roman"/>
              </a:rPr>
              <a:t>cout</a:t>
            </a:r>
            <a:r>
              <a:rPr lang="tr-TR" sz="1800">
                <a:solidFill>
                  <a:schemeClr val="lt1"/>
                </a:solidFill>
                <a:latin typeface="Times New Roman"/>
                <a:ea typeface="Times New Roman"/>
                <a:cs typeface="Times New Roman"/>
                <a:sym typeface="Times New Roman"/>
              </a:rPr>
              <a:t>, akış nesnesinden sonraki stringi alır ve ekranda gösterir.</a:t>
            </a:r>
            <a:endParaRPr/>
          </a:p>
        </p:txBody>
      </p:sp>
      <p:sp>
        <p:nvSpPr>
          <p:cNvPr id="204" name="Google Shape;204;p14"/>
          <p:cNvSpPr txBox="1"/>
          <p:nvPr/>
        </p:nvSpPr>
        <p:spPr>
          <a:xfrm>
            <a:off x="73404" y="779662"/>
            <a:ext cx="532910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onsolas"/>
                <a:ea typeface="Consolas"/>
                <a:cs typeface="Consolas"/>
                <a:sym typeface="Consolas"/>
              </a:rPr>
              <a:t>1. </a:t>
            </a:r>
            <a:r>
              <a:rPr lang="tr-TR" sz="1800">
                <a:solidFill>
                  <a:srgbClr val="808080"/>
                </a:solidFill>
                <a:latin typeface="Consolas"/>
                <a:ea typeface="Consolas"/>
                <a:cs typeface="Consolas"/>
                <a:sym typeface="Consolas"/>
              </a:rPr>
              <a:t>#include</a:t>
            </a:r>
            <a:r>
              <a:rPr lang="tr-TR" sz="1800">
                <a:solidFill>
                  <a:srgbClr val="000000"/>
                </a:solidFill>
                <a:latin typeface="Consolas"/>
                <a:ea typeface="Consolas"/>
                <a:cs typeface="Consolas"/>
                <a:sym typeface="Consolas"/>
              </a:rPr>
              <a:t> </a:t>
            </a:r>
            <a:r>
              <a:rPr lang="tr-TR" sz="1800">
                <a:solidFill>
                  <a:srgbClr val="A31515"/>
                </a:solidFill>
                <a:latin typeface="Consolas"/>
                <a:ea typeface="Consolas"/>
                <a:cs typeface="Consolas"/>
                <a:sym typeface="Consolas"/>
              </a:rPr>
              <a:t>&lt;iostream&gt;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2. </a:t>
            </a:r>
            <a:endParaRPr/>
          </a:p>
          <a:p>
            <a:pPr indent="0" lvl="0" marL="0" marR="0" rtl="0" algn="l">
              <a:spcBef>
                <a:spcPts val="0"/>
              </a:spcBef>
              <a:spcAft>
                <a:spcPts val="0"/>
              </a:spcAft>
              <a:buNone/>
            </a:pPr>
            <a:r>
              <a:rPr lang="tr-TR" sz="1800">
                <a:solidFill>
                  <a:schemeClr val="dk1"/>
                </a:solidFill>
                <a:latin typeface="Consolas"/>
                <a:ea typeface="Consolas"/>
                <a:cs typeface="Consolas"/>
                <a:sym typeface="Consolas"/>
              </a:rPr>
              <a:t>3. </a:t>
            </a:r>
            <a:r>
              <a:rPr lang="tr-TR" sz="1800">
                <a:solidFill>
                  <a:srgbClr val="0000FF"/>
                </a:solidFill>
                <a:latin typeface="Consolas"/>
                <a:ea typeface="Consolas"/>
                <a:cs typeface="Consolas"/>
                <a:sym typeface="Consolas"/>
              </a:rPr>
              <a:t>int</a:t>
            </a:r>
            <a:r>
              <a:rPr lang="tr-TR" sz="1800">
                <a:solidFill>
                  <a:srgbClr val="000000"/>
                </a:solidFill>
                <a:latin typeface="Consolas"/>
                <a:ea typeface="Consolas"/>
                <a:cs typeface="Consolas"/>
                <a:sym typeface="Consolas"/>
              </a:rPr>
              <a:t> main()</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4. {</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5.     std::cout </a:t>
            </a:r>
            <a:r>
              <a:rPr lang="tr-TR" sz="1800">
                <a:solidFill>
                  <a:srgbClr val="008080"/>
                </a:solidFill>
                <a:latin typeface="Consolas"/>
                <a:ea typeface="Consolas"/>
                <a:cs typeface="Consolas"/>
                <a:sym typeface="Consolas"/>
              </a:rPr>
              <a:t>&lt;&lt;</a:t>
            </a:r>
            <a:r>
              <a:rPr lang="tr-TR" sz="1800">
                <a:solidFill>
                  <a:srgbClr val="000000"/>
                </a:solidFill>
                <a:latin typeface="Consolas"/>
                <a:ea typeface="Consolas"/>
                <a:cs typeface="Consolas"/>
                <a:sym typeface="Consolas"/>
              </a:rPr>
              <a:t> </a:t>
            </a:r>
            <a:r>
              <a:rPr lang="tr-TR" sz="1800">
                <a:solidFill>
                  <a:srgbClr val="A31515"/>
                </a:solidFill>
                <a:latin typeface="Consolas"/>
                <a:ea typeface="Consolas"/>
                <a:cs typeface="Consolas"/>
                <a:sym typeface="Consolas"/>
              </a:rPr>
              <a:t>"Hello World!\n"</a:t>
            </a:r>
            <a:r>
              <a:rPr lang="tr-TR"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6.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190500" lvl="0" marL="91440" marR="0" rtl="0" algn="l">
              <a:lnSpc>
                <a:spcPct val="90000"/>
              </a:lnSpc>
              <a:spcBef>
                <a:spcPts val="0"/>
              </a:spcBef>
              <a:spcAft>
                <a:spcPts val="0"/>
              </a:spcAft>
              <a:buClr>
                <a:schemeClr val="accent1"/>
              </a:buClr>
              <a:buSzPts val="3000"/>
              <a:buFont typeface="Calibri"/>
              <a:buChar char=" "/>
            </a:pPr>
            <a:r>
              <a:rPr b="1" i="0" lang="tr-TR" sz="3000" u="none" cap="none" strike="noStrike">
                <a:solidFill>
                  <a:schemeClr val="lt1"/>
                </a:solidFill>
                <a:latin typeface="Times New Roman"/>
                <a:ea typeface="Times New Roman"/>
                <a:cs typeface="Times New Roman"/>
                <a:sym typeface="Times New Roman"/>
              </a:rPr>
              <a:t>İlk C++ Programımız ( Versiyon 2)</a:t>
            </a:r>
            <a:endParaRPr/>
          </a:p>
        </p:txBody>
      </p:sp>
      <p:sp>
        <p:nvSpPr>
          <p:cNvPr id="210" name="Google Shape;210;p15"/>
          <p:cNvSpPr txBox="1"/>
          <p:nvPr/>
        </p:nvSpPr>
        <p:spPr>
          <a:xfrm>
            <a:off x="-1" y="3085701"/>
            <a:ext cx="12191999"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tr-TR" sz="1800">
                <a:solidFill>
                  <a:schemeClr val="lt1"/>
                </a:solidFill>
                <a:latin typeface="Times New Roman"/>
                <a:ea typeface="Times New Roman"/>
                <a:cs typeface="Times New Roman"/>
                <a:sym typeface="Times New Roman"/>
              </a:rPr>
              <a:t>Satır 2:  </a:t>
            </a:r>
            <a:r>
              <a:rPr lang="tr-TR" sz="1800">
                <a:solidFill>
                  <a:schemeClr val="lt1"/>
                </a:solidFill>
                <a:latin typeface="Times New Roman"/>
                <a:ea typeface="Times New Roman"/>
                <a:cs typeface="Times New Roman"/>
                <a:sym typeface="Times New Roman"/>
              </a:rPr>
              <a:t>Standart C++ kütüphanelerinin tüm elemanları bir isim uzayında (namespace) tanımlıdır. Kullanmak istediğimiz komutları belli bir alan içerisinde kullanmamız için programa eklenmesi gereklidir. Kullanılmaması durumunda tüm komutların kullanım alanı program içerisinde tek tek belirtilmelidir. Bu da programcılık açısından zahmetli ve hataya açık bir işlemdir. Bu satırı programlarda sıklıkla kullanacağız.</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1" i="1" lang="tr-TR" sz="1800">
                <a:solidFill>
                  <a:schemeClr val="lt1"/>
                </a:solidFill>
                <a:latin typeface="Times New Roman"/>
                <a:ea typeface="Times New Roman"/>
                <a:cs typeface="Times New Roman"/>
                <a:sym typeface="Times New Roman"/>
              </a:rPr>
              <a:t>Satır 5: </a:t>
            </a:r>
            <a:r>
              <a:rPr lang="tr-TR" sz="1800">
                <a:solidFill>
                  <a:srgbClr val="0000FF"/>
                </a:solidFill>
                <a:latin typeface="Consolas"/>
                <a:ea typeface="Consolas"/>
                <a:cs typeface="Consolas"/>
                <a:sym typeface="Consolas"/>
              </a:rPr>
              <a:t>using</a:t>
            </a:r>
            <a:r>
              <a:rPr lang="tr-TR" sz="1800">
                <a:solidFill>
                  <a:srgbClr val="000000"/>
                </a:solidFill>
                <a:latin typeface="Consolas"/>
                <a:ea typeface="Consolas"/>
                <a:cs typeface="Consolas"/>
                <a:sym typeface="Consolas"/>
              </a:rPr>
              <a:t> </a:t>
            </a:r>
            <a:r>
              <a:rPr lang="tr-TR" sz="1800">
                <a:solidFill>
                  <a:srgbClr val="0000FF"/>
                </a:solidFill>
                <a:latin typeface="Consolas"/>
                <a:ea typeface="Consolas"/>
                <a:cs typeface="Consolas"/>
                <a:sym typeface="Consolas"/>
              </a:rPr>
              <a:t>namespace</a:t>
            </a:r>
            <a:r>
              <a:rPr lang="tr-TR" sz="1800">
                <a:solidFill>
                  <a:srgbClr val="000000"/>
                </a:solidFill>
                <a:latin typeface="Consolas"/>
                <a:ea typeface="Consolas"/>
                <a:cs typeface="Consolas"/>
                <a:sym typeface="Consolas"/>
              </a:rPr>
              <a:t> std; </a:t>
            </a:r>
            <a:r>
              <a:rPr lang="tr-TR" sz="1800">
                <a:solidFill>
                  <a:schemeClr val="lt1"/>
                </a:solidFill>
                <a:latin typeface="Times New Roman"/>
                <a:ea typeface="Times New Roman"/>
                <a:cs typeface="Times New Roman"/>
                <a:sym typeface="Times New Roman"/>
              </a:rPr>
              <a:t>satırının eklenmesi ile </a:t>
            </a:r>
            <a:r>
              <a:rPr lang="tr-TR" sz="1800">
                <a:solidFill>
                  <a:srgbClr val="000000"/>
                </a:solidFill>
                <a:latin typeface="Consolas"/>
                <a:ea typeface="Consolas"/>
                <a:cs typeface="Consolas"/>
                <a:sym typeface="Consolas"/>
              </a:rPr>
              <a:t>cout</a:t>
            </a:r>
            <a:r>
              <a:rPr lang="tr-TR" sz="1800">
                <a:solidFill>
                  <a:schemeClr val="lt1"/>
                </a:solidFill>
                <a:latin typeface="Times New Roman"/>
                <a:ea typeface="Times New Roman"/>
                <a:cs typeface="Times New Roman"/>
                <a:sym typeface="Times New Roman"/>
              </a:rPr>
              <a:t> komutunu doğrudan bu şekilde kullanabilmekteyiz.</a:t>
            </a:r>
            <a:endParaRPr/>
          </a:p>
        </p:txBody>
      </p:sp>
      <p:sp>
        <p:nvSpPr>
          <p:cNvPr id="211" name="Google Shape;211;p15"/>
          <p:cNvSpPr txBox="1"/>
          <p:nvPr/>
        </p:nvSpPr>
        <p:spPr>
          <a:xfrm>
            <a:off x="73404" y="779662"/>
            <a:ext cx="532910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onsolas"/>
                <a:ea typeface="Consolas"/>
                <a:cs typeface="Consolas"/>
                <a:sym typeface="Consolas"/>
              </a:rPr>
              <a:t>1. </a:t>
            </a:r>
            <a:r>
              <a:rPr lang="tr-TR" sz="1800">
                <a:solidFill>
                  <a:srgbClr val="808080"/>
                </a:solidFill>
                <a:latin typeface="Consolas"/>
                <a:ea typeface="Consolas"/>
                <a:cs typeface="Consolas"/>
                <a:sym typeface="Consolas"/>
              </a:rPr>
              <a:t>#include</a:t>
            </a:r>
            <a:r>
              <a:rPr lang="tr-TR" sz="1800">
                <a:solidFill>
                  <a:srgbClr val="000000"/>
                </a:solidFill>
                <a:latin typeface="Consolas"/>
                <a:ea typeface="Consolas"/>
                <a:cs typeface="Consolas"/>
                <a:sym typeface="Consolas"/>
              </a:rPr>
              <a:t> </a:t>
            </a:r>
            <a:r>
              <a:rPr lang="tr-TR" sz="1800">
                <a:solidFill>
                  <a:srgbClr val="A31515"/>
                </a:solidFill>
                <a:latin typeface="Consolas"/>
                <a:ea typeface="Consolas"/>
                <a:cs typeface="Consolas"/>
                <a:sym typeface="Consolas"/>
              </a:rPr>
              <a:t>&lt;iostream&gt;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2. </a:t>
            </a:r>
            <a:r>
              <a:rPr lang="tr-TR" sz="1800">
                <a:solidFill>
                  <a:srgbClr val="0000FF"/>
                </a:solidFill>
                <a:latin typeface="Consolas"/>
                <a:ea typeface="Consolas"/>
                <a:cs typeface="Consolas"/>
                <a:sym typeface="Consolas"/>
              </a:rPr>
              <a:t>using</a:t>
            </a:r>
            <a:r>
              <a:rPr lang="tr-TR" sz="1800">
                <a:solidFill>
                  <a:srgbClr val="000000"/>
                </a:solidFill>
                <a:latin typeface="Consolas"/>
                <a:ea typeface="Consolas"/>
                <a:cs typeface="Consolas"/>
                <a:sym typeface="Consolas"/>
              </a:rPr>
              <a:t> </a:t>
            </a:r>
            <a:r>
              <a:rPr lang="tr-TR" sz="1800">
                <a:solidFill>
                  <a:srgbClr val="0000FF"/>
                </a:solidFill>
                <a:latin typeface="Consolas"/>
                <a:ea typeface="Consolas"/>
                <a:cs typeface="Consolas"/>
                <a:sym typeface="Consolas"/>
              </a:rPr>
              <a:t>namespace</a:t>
            </a:r>
            <a:r>
              <a:rPr lang="tr-TR" sz="1800">
                <a:solidFill>
                  <a:srgbClr val="000000"/>
                </a:solidFill>
                <a:latin typeface="Consolas"/>
                <a:ea typeface="Consolas"/>
                <a:cs typeface="Consolas"/>
                <a:sym typeface="Consolas"/>
              </a:rPr>
              <a:t> std;</a:t>
            </a:r>
            <a:endParaRPr/>
          </a:p>
          <a:p>
            <a:pPr indent="0" lvl="0" marL="0" marR="0" rtl="0" algn="l">
              <a:spcBef>
                <a:spcPts val="0"/>
              </a:spcBef>
              <a:spcAft>
                <a:spcPts val="0"/>
              </a:spcAft>
              <a:buNone/>
            </a:pPr>
            <a:r>
              <a:rPr lang="tr-TR" sz="1800">
                <a:solidFill>
                  <a:schemeClr val="dk1"/>
                </a:solidFill>
                <a:latin typeface="Consolas"/>
                <a:ea typeface="Consolas"/>
                <a:cs typeface="Consolas"/>
                <a:sym typeface="Consolas"/>
              </a:rPr>
              <a:t>3. </a:t>
            </a:r>
            <a:r>
              <a:rPr lang="tr-TR" sz="1800">
                <a:solidFill>
                  <a:srgbClr val="0000FF"/>
                </a:solidFill>
                <a:latin typeface="Consolas"/>
                <a:ea typeface="Consolas"/>
                <a:cs typeface="Consolas"/>
                <a:sym typeface="Consolas"/>
              </a:rPr>
              <a:t>int</a:t>
            </a:r>
            <a:r>
              <a:rPr lang="tr-TR" sz="1800">
                <a:solidFill>
                  <a:srgbClr val="000000"/>
                </a:solidFill>
                <a:latin typeface="Consolas"/>
                <a:ea typeface="Consolas"/>
                <a:cs typeface="Consolas"/>
                <a:sym typeface="Consolas"/>
              </a:rPr>
              <a:t> main()</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4. {</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5. 		cout </a:t>
            </a:r>
            <a:r>
              <a:rPr lang="tr-TR" sz="1800">
                <a:solidFill>
                  <a:srgbClr val="008080"/>
                </a:solidFill>
                <a:latin typeface="Consolas"/>
                <a:ea typeface="Consolas"/>
                <a:cs typeface="Consolas"/>
                <a:sym typeface="Consolas"/>
              </a:rPr>
              <a:t>&lt;&lt;</a:t>
            </a:r>
            <a:r>
              <a:rPr lang="tr-TR" sz="1800">
                <a:solidFill>
                  <a:srgbClr val="000000"/>
                </a:solidFill>
                <a:latin typeface="Consolas"/>
                <a:ea typeface="Consolas"/>
                <a:cs typeface="Consolas"/>
                <a:sym typeface="Consolas"/>
              </a:rPr>
              <a:t> </a:t>
            </a:r>
            <a:r>
              <a:rPr lang="tr-TR" sz="1800">
                <a:solidFill>
                  <a:srgbClr val="A31515"/>
                </a:solidFill>
                <a:latin typeface="Consolas"/>
                <a:ea typeface="Consolas"/>
                <a:cs typeface="Consolas"/>
                <a:sym typeface="Consolas"/>
              </a:rPr>
              <a:t>"Hello World!\n"</a:t>
            </a:r>
            <a:r>
              <a:rPr lang="tr-TR"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800">
                <a:solidFill>
                  <a:srgbClr val="000000"/>
                </a:solidFill>
                <a:latin typeface="Consolas"/>
                <a:ea typeface="Consolas"/>
                <a:cs typeface="Consolas"/>
                <a:sym typeface="Consolas"/>
              </a:rPr>
              <a:t>6. }</a:t>
            </a:r>
            <a:endParaRPr sz="18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6"/>
          <p:cNvSpPr txBox="1"/>
          <p:nvPr>
            <p:ph idx="4294967295" type="subTitle"/>
          </p:nvPr>
        </p:nvSpPr>
        <p:spPr>
          <a:xfrm>
            <a:off x="0" y="0"/>
            <a:ext cx="12192000" cy="625475"/>
          </a:xfrm>
          <a:prstGeom prst="rect">
            <a:avLst/>
          </a:prstGeom>
          <a:noFill/>
          <a:ln>
            <a:noFill/>
          </a:ln>
        </p:spPr>
        <p:txBody>
          <a:bodyPr anchorCtr="0" anchor="ctr" bIns="45700" lIns="0" spcFirstLastPara="1" rIns="0" wrap="square" tIns="45700">
            <a:normAutofit/>
          </a:bodyPr>
          <a:lstStyle/>
          <a:p>
            <a:pPr indent="0" lvl="0" marL="0" marR="0" rtl="0" algn="l">
              <a:lnSpc>
                <a:spcPct val="90000"/>
              </a:lnSpc>
              <a:spcBef>
                <a:spcPts val="0"/>
              </a:spcBef>
              <a:spcAft>
                <a:spcPts val="0"/>
              </a:spcAft>
              <a:buClr>
                <a:schemeClr val="accent1"/>
              </a:buClr>
              <a:buSzPts val="3000"/>
              <a:buFont typeface="Calibri"/>
              <a:buNone/>
            </a:pPr>
            <a:r>
              <a:rPr b="1" i="0" lang="tr-TR" sz="3000" u="none" cap="none" strike="noStrike">
                <a:solidFill>
                  <a:schemeClr val="lt1"/>
                </a:solidFill>
                <a:latin typeface="Times New Roman"/>
                <a:ea typeface="Times New Roman"/>
                <a:cs typeface="Times New Roman"/>
                <a:sym typeface="Times New Roman"/>
              </a:rPr>
              <a:t>C++ Anahtar Kelimeleri </a:t>
            </a:r>
            <a:endParaRPr/>
          </a:p>
        </p:txBody>
      </p:sp>
      <p:graphicFrame>
        <p:nvGraphicFramePr>
          <p:cNvPr id="217" name="Google Shape;217;p16"/>
          <p:cNvGraphicFramePr/>
          <p:nvPr/>
        </p:nvGraphicFramePr>
        <p:xfrm>
          <a:off x="2558642" y="875679"/>
          <a:ext cx="3000000" cy="3000000"/>
        </p:xfrm>
        <a:graphic>
          <a:graphicData uri="http://schemas.openxmlformats.org/drawingml/2006/table">
            <a:tbl>
              <a:tblPr>
                <a:noFill/>
                <a:tableStyleId>{55EF2636-AE98-4300-ADBC-0E5E73BF269A}</a:tableStyleId>
              </a:tblPr>
              <a:tblGrid>
                <a:gridCol w="1700875"/>
                <a:gridCol w="1700875"/>
                <a:gridCol w="1700875"/>
                <a:gridCol w="1700875"/>
              </a:tblGrid>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asm </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else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new</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this</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auto</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enum</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operator</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throw</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bool</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explicit</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private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true</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break</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export</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protected</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try</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case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extern</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public</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typedef</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catch</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false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register</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typeid</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char</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float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reinterpret_cast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typename</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class</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for</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return</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union</a:t>
                      </a:r>
                      <a:endParaRPr b="0" sz="1400">
                        <a:latin typeface="Times New Roman"/>
                        <a:ea typeface="Times New Roman"/>
                        <a:cs typeface="Times New Roman"/>
                        <a:sym typeface="Times New Roman"/>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const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friend</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short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unsigned</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const_cast</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goto</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signed</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using</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continue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if</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sizeof</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virtual</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default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inline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static</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void</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delete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int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static_cast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volatile</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do</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long</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struct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wchar_t</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double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mutable</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switch</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while</a:t>
                      </a:r>
                      <a:endParaRPr/>
                    </a:p>
                  </a:txBody>
                  <a:tcPr marT="7050" marB="7050" marR="10600" marL="10600" anchor="ctr"/>
                </a:tc>
              </a:tr>
              <a:tr h="250425">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dynamic_cast</a:t>
                      </a:r>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namespace</a:t>
                      </a:r>
                      <a:endParaRPr b="0" sz="1400">
                        <a:latin typeface="Times New Roman"/>
                        <a:ea typeface="Times New Roman"/>
                        <a:cs typeface="Times New Roman"/>
                        <a:sym typeface="Times New Roman"/>
                      </a:endParaRPr>
                    </a:p>
                  </a:txBody>
                  <a:tcPr marT="7050" marB="7050" marR="10600" marL="10600" anchor="ctr"/>
                </a:tc>
                <a:tc>
                  <a:txBody>
                    <a:bodyPr/>
                    <a:lstStyle/>
                    <a:p>
                      <a:pPr indent="0" lvl="0" marL="0" marR="0" rtl="0" algn="ctr">
                        <a:spcBef>
                          <a:spcPts val="0"/>
                        </a:spcBef>
                        <a:spcAft>
                          <a:spcPts val="0"/>
                        </a:spcAft>
                        <a:buNone/>
                      </a:pPr>
                      <a:r>
                        <a:rPr b="0" lang="tr-TR" sz="1400">
                          <a:latin typeface="Times New Roman"/>
                          <a:ea typeface="Times New Roman"/>
                          <a:cs typeface="Times New Roman"/>
                          <a:sym typeface="Times New Roman"/>
                        </a:rPr>
                        <a:t>template</a:t>
                      </a:r>
                      <a:endParaRPr/>
                    </a:p>
                  </a:txBody>
                  <a:tcPr marT="7050" marB="7050" marR="10600" marL="10600" anchor="ctr"/>
                </a:tc>
                <a:tc>
                  <a:txBody>
                    <a:bodyPr/>
                    <a:lstStyle/>
                    <a:p>
                      <a:pPr indent="0" lvl="0" marL="0" marR="0" rtl="0" algn="ctr">
                        <a:spcBef>
                          <a:spcPts val="0"/>
                        </a:spcBef>
                        <a:spcAft>
                          <a:spcPts val="0"/>
                        </a:spcAft>
                        <a:buNone/>
                      </a:pPr>
                      <a:r>
                        <a:t/>
                      </a:r>
                      <a:endParaRPr sz="1400">
                        <a:latin typeface="Times New Roman"/>
                        <a:ea typeface="Times New Roman"/>
                        <a:cs typeface="Times New Roman"/>
                        <a:sym typeface="Times New Roman"/>
                      </a:endParaRPr>
                    </a:p>
                  </a:txBody>
                  <a:tcPr marT="3400" marB="3400" marR="6775" marL="67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7"/>
          <p:cNvSpPr txBox="1"/>
          <p:nvPr>
            <p:ph idx="4294967295" type="subTitle"/>
          </p:nvPr>
        </p:nvSpPr>
        <p:spPr>
          <a:xfrm>
            <a:off x="0" y="0"/>
            <a:ext cx="12192000" cy="6858000"/>
          </a:xfrm>
          <a:prstGeom prst="rect">
            <a:avLst/>
          </a:prstGeom>
          <a:noFill/>
          <a:ln>
            <a:noFill/>
          </a:ln>
        </p:spPr>
        <p:txBody>
          <a:bodyPr anchorCtr="0" anchor="ctr" bIns="45700" lIns="0" spcFirstLastPara="1" rIns="0" wrap="square" tIns="45700">
            <a:normAutofit/>
          </a:bodyPr>
          <a:lstStyle/>
          <a:p>
            <a:pPr indent="-317500" lvl="0" marL="91440" marR="0" rtl="0" algn="ctr">
              <a:lnSpc>
                <a:spcPct val="90000"/>
              </a:lnSpc>
              <a:spcBef>
                <a:spcPts val="0"/>
              </a:spcBef>
              <a:spcAft>
                <a:spcPts val="0"/>
              </a:spcAft>
              <a:buClr>
                <a:schemeClr val="accent1"/>
              </a:buClr>
              <a:buSzPts val="5000"/>
              <a:buFont typeface="Calibri"/>
              <a:buChar char=" "/>
            </a:pPr>
            <a:r>
              <a:rPr b="0" i="0" lang="tr-TR" sz="5000" u="none" cap="none" strike="noStrike">
                <a:solidFill>
                  <a:srgbClr val="7030A0"/>
                </a:solidFill>
                <a:latin typeface="Times New Roman"/>
                <a:ea typeface="Times New Roman"/>
                <a:cs typeface="Times New Roman"/>
                <a:sym typeface="Times New Roman"/>
              </a:rPr>
              <a:t>ÖRNEKLER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txBox="1"/>
          <p:nvPr>
            <p:ph idx="4294967295" type="subTitle"/>
          </p:nvPr>
        </p:nvSpPr>
        <p:spPr>
          <a:xfrm>
            <a:off x="0" y="0"/>
            <a:ext cx="12192000" cy="360727"/>
          </a:xfrm>
          <a:prstGeom prst="rect">
            <a:avLst/>
          </a:prstGeom>
          <a:noFill/>
          <a:ln>
            <a:noFill/>
          </a:ln>
        </p:spPr>
        <p:txBody>
          <a:bodyPr anchorCtr="0" anchor="ctr" bIns="45700" lIns="0" spcFirstLastPara="1" rIns="0" wrap="square" tIns="45700">
            <a:normAutofit/>
          </a:bodyPr>
          <a:lstStyle/>
          <a:p>
            <a:pPr indent="-114300" lvl="0" marL="91440" marR="0" rtl="0" algn="ctr">
              <a:lnSpc>
                <a:spcPct val="90000"/>
              </a:lnSpc>
              <a:spcBef>
                <a:spcPts val="0"/>
              </a:spcBef>
              <a:spcAft>
                <a:spcPts val="0"/>
              </a:spcAft>
              <a:buClr>
                <a:schemeClr val="accent1"/>
              </a:buClr>
              <a:buSzPts val="1800"/>
              <a:buFont typeface="Calibri"/>
              <a:buChar char=" "/>
            </a:pPr>
            <a:r>
              <a:rPr b="1" i="0" lang="tr-TR" sz="1800" u="none" cap="none" strike="noStrike">
                <a:solidFill>
                  <a:srgbClr val="444444"/>
                </a:solidFill>
                <a:latin typeface="Times New Roman"/>
                <a:ea typeface="Times New Roman"/>
                <a:cs typeface="Times New Roman"/>
                <a:sym typeface="Times New Roman"/>
              </a:rPr>
              <a:t>Klavyeden girilen iki sayıyı toplayan ve gösteren C++ kodu: </a:t>
            </a:r>
            <a:endParaRPr b="1" i="0" sz="1800" u="none" cap="none" strike="noStrike">
              <a:solidFill>
                <a:schemeClr val="lt1"/>
              </a:solidFill>
              <a:latin typeface="Times New Roman"/>
              <a:ea typeface="Times New Roman"/>
              <a:cs typeface="Times New Roman"/>
              <a:sym typeface="Times New Roman"/>
            </a:endParaRPr>
          </a:p>
        </p:txBody>
      </p:sp>
      <p:pic>
        <p:nvPicPr>
          <p:cNvPr id="228" name="Google Shape;228;p18"/>
          <p:cNvPicPr preferRelativeResize="0"/>
          <p:nvPr/>
        </p:nvPicPr>
        <p:blipFill rotWithShape="1">
          <a:blip r:embed="rId3">
            <a:alphaModFix/>
          </a:blip>
          <a:srcRect b="0" l="0" r="0" t="0"/>
          <a:stretch/>
        </p:blipFill>
        <p:spPr>
          <a:xfrm>
            <a:off x="3199134" y="430125"/>
            <a:ext cx="5793732" cy="2614932"/>
          </a:xfrm>
          <a:prstGeom prst="rect">
            <a:avLst/>
          </a:prstGeom>
          <a:noFill/>
          <a:ln>
            <a:noFill/>
          </a:ln>
        </p:spPr>
      </p:pic>
      <p:sp>
        <p:nvSpPr>
          <p:cNvPr id="229" name="Google Shape;229;p18"/>
          <p:cNvSpPr txBox="1"/>
          <p:nvPr/>
        </p:nvSpPr>
        <p:spPr>
          <a:xfrm>
            <a:off x="0" y="3114455"/>
            <a:ext cx="12192000" cy="360727"/>
          </a:xfrm>
          <a:prstGeom prst="rect">
            <a:avLst/>
          </a:prstGeom>
          <a:noFill/>
          <a:ln>
            <a:noFill/>
          </a:ln>
        </p:spPr>
        <p:txBody>
          <a:bodyPr anchorCtr="0" anchor="ctr" bIns="45700" lIns="0" spcFirstLastPara="1" rIns="0" wrap="square" tIns="45700">
            <a:normAutofit/>
          </a:bodyPr>
          <a:lstStyle/>
          <a:p>
            <a:pPr indent="-114300" lvl="0" marL="91440" marR="0" rtl="0" algn="ctr">
              <a:lnSpc>
                <a:spcPct val="90000"/>
              </a:lnSpc>
              <a:spcBef>
                <a:spcPts val="0"/>
              </a:spcBef>
              <a:spcAft>
                <a:spcPts val="0"/>
              </a:spcAft>
              <a:buClr>
                <a:schemeClr val="accent1"/>
              </a:buClr>
              <a:buSzPts val="1800"/>
              <a:buFont typeface="Calibri"/>
              <a:buChar char=" "/>
            </a:pPr>
            <a:r>
              <a:rPr b="1" lang="tr-TR" sz="1800">
                <a:solidFill>
                  <a:srgbClr val="444444"/>
                </a:solidFill>
                <a:latin typeface="Times New Roman"/>
                <a:ea typeface="Times New Roman"/>
                <a:cs typeface="Times New Roman"/>
                <a:sym typeface="Times New Roman"/>
              </a:rPr>
              <a:t>Klavyeden girilen iki sayının ortalamasını hesaplayan C++ kodu: </a:t>
            </a:r>
            <a:endParaRPr b="1" sz="1800">
              <a:solidFill>
                <a:schemeClr val="lt1"/>
              </a:solidFill>
              <a:latin typeface="Times New Roman"/>
              <a:ea typeface="Times New Roman"/>
              <a:cs typeface="Times New Roman"/>
              <a:sym typeface="Times New Roman"/>
            </a:endParaRPr>
          </a:p>
        </p:txBody>
      </p:sp>
      <p:pic>
        <p:nvPicPr>
          <p:cNvPr id="230" name="Google Shape;230;p18"/>
          <p:cNvPicPr preferRelativeResize="0"/>
          <p:nvPr/>
        </p:nvPicPr>
        <p:blipFill rotWithShape="1">
          <a:blip r:embed="rId4">
            <a:alphaModFix/>
          </a:blip>
          <a:srcRect b="0" l="0" r="0" t="0"/>
          <a:stretch/>
        </p:blipFill>
        <p:spPr>
          <a:xfrm>
            <a:off x="2728294" y="3544580"/>
            <a:ext cx="6735412" cy="252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idx="4294967295" type="subTitle"/>
          </p:nvPr>
        </p:nvSpPr>
        <p:spPr>
          <a:xfrm>
            <a:off x="0" y="0"/>
            <a:ext cx="12192000" cy="360727"/>
          </a:xfrm>
          <a:prstGeom prst="rect">
            <a:avLst/>
          </a:prstGeom>
          <a:noFill/>
          <a:ln>
            <a:noFill/>
          </a:ln>
        </p:spPr>
        <p:txBody>
          <a:bodyPr anchorCtr="0" anchor="ctr" bIns="45700" lIns="0" spcFirstLastPara="1" rIns="0" wrap="square" tIns="45700">
            <a:normAutofit/>
          </a:bodyPr>
          <a:lstStyle/>
          <a:p>
            <a:pPr indent="-114300" lvl="0" marL="91440" marR="0" rtl="0" algn="ctr">
              <a:lnSpc>
                <a:spcPct val="90000"/>
              </a:lnSpc>
              <a:spcBef>
                <a:spcPts val="0"/>
              </a:spcBef>
              <a:spcAft>
                <a:spcPts val="0"/>
              </a:spcAft>
              <a:buClr>
                <a:schemeClr val="accent1"/>
              </a:buClr>
              <a:buSzPts val="1800"/>
              <a:buFont typeface="Calibri"/>
              <a:buChar char=" "/>
            </a:pPr>
            <a:r>
              <a:rPr b="1" i="0" lang="tr-TR" sz="1800" u="none" cap="none" strike="noStrike">
                <a:solidFill>
                  <a:srgbClr val="444444"/>
                </a:solidFill>
                <a:latin typeface="Times New Roman"/>
                <a:ea typeface="Times New Roman"/>
                <a:cs typeface="Times New Roman"/>
                <a:sym typeface="Times New Roman"/>
              </a:rPr>
              <a:t>Girilen sayının tek veya çift olduğunu gösteren C++ kodu:</a:t>
            </a:r>
            <a:endParaRPr b="1" i="0" sz="1800" u="none" cap="none" strike="noStrike">
              <a:solidFill>
                <a:schemeClr val="lt1"/>
              </a:solidFill>
              <a:latin typeface="Times New Roman"/>
              <a:ea typeface="Times New Roman"/>
              <a:cs typeface="Times New Roman"/>
              <a:sym typeface="Times New Roman"/>
            </a:endParaRPr>
          </a:p>
        </p:txBody>
      </p:sp>
      <p:pic>
        <p:nvPicPr>
          <p:cNvPr id="236" name="Google Shape;236;p19"/>
          <p:cNvPicPr preferRelativeResize="0"/>
          <p:nvPr/>
        </p:nvPicPr>
        <p:blipFill rotWithShape="1">
          <a:blip r:embed="rId3">
            <a:alphaModFix/>
          </a:blip>
          <a:srcRect b="0" l="0" r="0" t="0"/>
          <a:stretch/>
        </p:blipFill>
        <p:spPr>
          <a:xfrm>
            <a:off x="3970351" y="430125"/>
            <a:ext cx="4251298" cy="252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nvSpPr>
        <p:spPr>
          <a:xfrm>
            <a:off x="0" y="0"/>
            <a:ext cx="60946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400">
                <a:solidFill>
                  <a:srgbClr val="7030A0"/>
                </a:solidFill>
                <a:latin typeface="Times New Roman"/>
                <a:ea typeface="Times New Roman"/>
                <a:cs typeface="Times New Roman"/>
                <a:sym typeface="Times New Roman"/>
              </a:rPr>
              <a:t>KAYNAKLAR</a:t>
            </a:r>
            <a:endParaRPr/>
          </a:p>
        </p:txBody>
      </p:sp>
      <p:sp>
        <p:nvSpPr>
          <p:cNvPr id="242" name="Google Shape;242;p20"/>
          <p:cNvSpPr txBox="1"/>
          <p:nvPr/>
        </p:nvSpPr>
        <p:spPr>
          <a:xfrm>
            <a:off x="0" y="461665"/>
            <a:ext cx="12192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[1] M. Zavrak, E. Aksoy, H. N. Karaca, </a:t>
            </a:r>
            <a:r>
              <a:rPr b="1" i="1" lang="tr-TR" sz="1800">
                <a:solidFill>
                  <a:schemeClr val="lt1"/>
                </a:solidFill>
                <a:latin typeface="Times New Roman"/>
                <a:ea typeface="Times New Roman"/>
                <a:cs typeface="Times New Roman"/>
                <a:sym typeface="Times New Roman"/>
              </a:rPr>
              <a:t>C ve C++</a:t>
            </a:r>
            <a:r>
              <a:rPr lang="tr-TR" sz="1800">
                <a:solidFill>
                  <a:schemeClr val="lt1"/>
                </a:solidFill>
                <a:latin typeface="Times New Roman"/>
                <a:ea typeface="Times New Roman"/>
                <a:cs typeface="Times New Roman"/>
                <a:sym typeface="Times New Roman"/>
              </a:rPr>
              <a:t>, Sistem Yayıncılık. </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[2] Prof. Dr. Mustafa Dikici,  C++ Programlama Dili, Seçkin Yayıncılık.</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2021-02-24T12:37:41Z</dcterms:created>
  <dc:creator>FUNDA KUTLU ONAY</dc:creator>
</cp:coreProperties>
</file>