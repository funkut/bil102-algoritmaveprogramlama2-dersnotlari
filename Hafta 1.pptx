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9" r:id="rId1"/>
  </p:sldMasterIdLst>
  <p:sldIdLst>
    <p:sldId id="256" r:id="rId2"/>
    <p:sldId id="257" r:id="rId3"/>
    <p:sldId id="271" r:id="rId4"/>
    <p:sldId id="273" r:id="rId5"/>
    <p:sldId id="265" r:id="rId6"/>
    <p:sldId id="274" r:id="rId7"/>
    <p:sldId id="275" r:id="rId8"/>
    <p:sldId id="276" r:id="rId9"/>
    <p:sldId id="260" r:id="rId10"/>
    <p:sldId id="279" r:id="rId11"/>
    <p:sldId id="261" r:id="rId12"/>
    <p:sldId id="280" r:id="rId13"/>
    <p:sldId id="278" r:id="rId14"/>
    <p:sldId id="259" r:id="rId15"/>
    <p:sldId id="277" r:id="rId16"/>
    <p:sldId id="263" r:id="rId17"/>
    <p:sldId id="281" r:id="rId18"/>
    <p:sldId id="282" r:id="rId19"/>
    <p:sldId id="284" r:id="rId20"/>
    <p:sldId id="289"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CC33"/>
    <a:srgbClr val="FF00FF"/>
    <a:srgbClr val="FF6600"/>
    <a:srgbClr val="FF3399"/>
    <a:srgbClr val="66FF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Açık Stil 2 - Vurgu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Açık Stil 2 - Vurgu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DA37D80-6434-44D0-A028-1B22A696006F}" styleName="Açık Stil 3 - Vurgu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5940675A-B579-460E-94D1-54222C63F5DA}" styleName="Stil Yok, Tablo Kılavuz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8FB837D-C827-4EFA-A057-4D05807E0F7C}" styleName="Tema Uygulanmış Stil 1 - Vurgu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0E3FDE45-AF77-4B5C-9715-49D594BDF05E}" styleName="Açık Stil 1 - Vurgu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Açık Stil 1 - Vurgu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21" autoAdjust="0"/>
    <p:restoredTop sz="94660"/>
  </p:normalViewPr>
  <p:slideViewPr>
    <p:cSldViewPr snapToGrid="0">
      <p:cViewPr varScale="1">
        <p:scale>
          <a:sx n="112" d="100"/>
          <a:sy n="112" d="100"/>
        </p:scale>
        <p:origin x="54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Başlık Slaydı">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tr-TR"/>
              <a:t>Asıl başlık stilini düzenlemek için tıklayın</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tr-TR"/>
              <a:t>Asıl alt başlık stilini düzenlemek için tıklayın</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2/15/2024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324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2/15/2024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38854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Bölüm Üst Bilgisi">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tr-TR"/>
              <a:t>Asıl başlık stilini düzenlemek için tıklayın</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B61BEF0D-F0BB-DE4B-95CE-6DB70DBA9567}" type="datetimeFigureOut">
              <a:rPr lang="en-US" smtClean="0"/>
              <a:pPr/>
              <a:t>2/15/2024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9591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tr-TR"/>
              <a:t>Asıl başlık stilini düzenlemek için tıklayın</a:t>
            </a:r>
            <a:endParaRPr lang="en-US" dirty="0"/>
          </a:p>
        </p:txBody>
      </p:sp>
      <p:sp>
        <p:nvSpPr>
          <p:cNvPr id="3" name="Content Placeholder 2"/>
          <p:cNvSpPr>
            <a:spLocks noGrp="1"/>
          </p:cNvSpPr>
          <p:nvPr>
            <p:ph sz="half" idx="1"/>
          </p:nvPr>
        </p:nvSpPr>
        <p:spPr>
          <a:xfrm>
            <a:off x="1097278" y="1845734"/>
            <a:ext cx="4937760" cy="402336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2/15/2024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674235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tr-TR"/>
              <a:t>Asıl başlık stilini düzenlemek için tıklayın</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Content Placeholder 3"/>
          <p:cNvSpPr>
            <a:spLocks noGrp="1"/>
          </p:cNvSpPr>
          <p:nvPr>
            <p:ph sz="half" idx="2"/>
          </p:nvPr>
        </p:nvSpPr>
        <p:spPr>
          <a:xfrm>
            <a:off x="1097280" y="2582334"/>
            <a:ext cx="4937760" cy="33782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Content Placeholder 5"/>
          <p:cNvSpPr>
            <a:spLocks noGrp="1"/>
          </p:cNvSpPr>
          <p:nvPr>
            <p:ph sz="quarter" idx="4"/>
          </p:nvPr>
        </p:nvSpPr>
        <p:spPr>
          <a:xfrm>
            <a:off x="6217920" y="2582334"/>
            <a:ext cx="4937760" cy="33782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2/15/2024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23904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2/15/2024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127240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oş">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B61BEF0D-F0BB-DE4B-95CE-6DB70DBA9567}" type="datetimeFigureOut">
              <a:rPr lang="en-US" smtClean="0"/>
              <a:pPr/>
              <a:t>2/15/2024</a:t>
            </a:fld>
            <a:endParaRPr lang="en-US" dirty="0"/>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031918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Başlıklı İçerik">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tr-TR"/>
              <a:t>Asıl başlık stilini düzenlemek için tıklayın</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B61BEF0D-F0BB-DE4B-95CE-6DB70DBA9567}" type="datetimeFigureOut">
              <a:rPr lang="en-US" smtClean="0"/>
              <a:pPr/>
              <a:t>2/15/2024</a:t>
            </a:fld>
            <a:endParaRPr lang="en-US" dirty="0"/>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545762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Başlıklı Resim">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tr-TR"/>
              <a:t>Asıl başlık stilini düzenlemek için tıklayın</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tr-TR"/>
              <a:t>Resim eklemek için simgeye tıklayın</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B61BEF0D-F0BB-DE4B-95CE-6DB70DBA9567}" type="datetimeFigureOut">
              <a:rPr lang="en-US" smtClean="0"/>
              <a:pPr/>
              <a:t>2/15/2024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970297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2/15/2024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688915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Dikey Başlık ve Metin">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tr-TR"/>
              <a:t>Asıl başlık stilini düzenlemek için tıklayın</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2/15/2024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3683201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tr-TR"/>
              <a:t>Asıl başlık stilini düzenlemek için tıklayın</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B61BEF0D-F0BB-DE4B-95CE-6DB70DBA9567}" type="datetimeFigureOut">
              <a:rPr lang="en-US" smtClean="0"/>
              <a:pPr/>
              <a:t>2/15/2024</a:t>
            </a:fld>
            <a:endParaRPr lang="en-US" dirty="0"/>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D57F1E4F-1CFF-5643-939E-217C01CDF565}" type="slidenum">
              <a:rPr lang="en-US" smtClean="0"/>
              <a:pPr/>
              <a:t>‹#›</a:t>
            </a:fld>
            <a:endParaRPr lang="en-US" dirty="0"/>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8985783"/>
      </p:ext>
    </p:extLst>
  </p:cSld>
  <p:clrMap bg1="dk1" tx1="lt1" bg2="dk2" tx2="lt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1F6194B-F41A-4525-AEB3-77447690ACBB}"/>
              </a:ext>
            </a:extLst>
          </p:cNvPr>
          <p:cNvSpPr>
            <a:spLocks noGrp="1"/>
          </p:cNvSpPr>
          <p:nvPr>
            <p:ph type="ctrTitle"/>
          </p:nvPr>
        </p:nvSpPr>
        <p:spPr>
          <a:xfrm>
            <a:off x="0" y="3162968"/>
            <a:ext cx="12192000" cy="823667"/>
          </a:xfrm>
        </p:spPr>
        <p:txBody>
          <a:bodyPr>
            <a:normAutofit/>
          </a:bodyPr>
          <a:lstStyle/>
          <a:p>
            <a:pPr algn="ctr"/>
            <a:r>
              <a:rPr lang="tr-TR" sz="4000" dirty="0">
                <a:solidFill>
                  <a:schemeClr val="bg1"/>
                </a:solidFill>
                <a:latin typeface="Times New Roman" panose="02020603050405020304" pitchFamily="18" charset="0"/>
                <a:cs typeface="Times New Roman" panose="02020603050405020304" pitchFamily="18" charset="0"/>
              </a:rPr>
              <a:t>BİL102-ALGORİTMA ve PROGRAMLAMA II</a:t>
            </a:r>
          </a:p>
        </p:txBody>
      </p:sp>
      <p:sp>
        <p:nvSpPr>
          <p:cNvPr id="3" name="Alt Başlık 2">
            <a:extLst>
              <a:ext uri="{FF2B5EF4-FFF2-40B4-BE49-F238E27FC236}">
                <a16:creationId xmlns:a16="http://schemas.microsoft.com/office/drawing/2014/main" id="{CB41DA49-5670-4ECE-A68E-25663738BFB8}"/>
              </a:ext>
            </a:extLst>
          </p:cNvPr>
          <p:cNvSpPr>
            <a:spLocks noGrp="1"/>
          </p:cNvSpPr>
          <p:nvPr>
            <p:ph type="subTitle" idx="1"/>
          </p:nvPr>
        </p:nvSpPr>
        <p:spPr>
          <a:xfrm>
            <a:off x="1" y="2036685"/>
            <a:ext cx="12192000" cy="1126283"/>
          </a:xfrm>
        </p:spPr>
        <p:txBody>
          <a:bodyPr>
            <a:normAutofit/>
          </a:bodyPr>
          <a:lstStyle/>
          <a:p>
            <a:pPr algn="ctr"/>
            <a:r>
              <a:rPr lang="tr-TR" sz="3000" dirty="0">
                <a:solidFill>
                  <a:schemeClr val="bg1"/>
                </a:solidFill>
                <a:latin typeface="Times New Roman" panose="02020603050405020304" pitchFamily="18" charset="0"/>
                <a:cs typeface="Times New Roman" panose="02020603050405020304" pitchFamily="18" charset="0"/>
              </a:rPr>
              <a:t>MÜHENDİSLİK FAKÜLTESİ </a:t>
            </a:r>
          </a:p>
          <a:p>
            <a:pPr algn="ctr"/>
            <a:r>
              <a:rPr lang="tr-TR" sz="3000" dirty="0">
                <a:solidFill>
                  <a:schemeClr val="bg1"/>
                </a:solidFill>
                <a:latin typeface="Times New Roman" panose="02020603050405020304" pitchFamily="18" charset="0"/>
                <a:cs typeface="Times New Roman" panose="02020603050405020304" pitchFamily="18" charset="0"/>
              </a:rPr>
              <a:t>BİLGİSAYAR MÜHENDİSLİĞİ BÖLÜMÜ</a:t>
            </a:r>
          </a:p>
        </p:txBody>
      </p:sp>
      <p:pic>
        <p:nvPicPr>
          <p:cNvPr id="1026" name="Picture 2" descr="Amasya Üniversitesi Logo Vector (.AI) Free Download">
            <a:extLst>
              <a:ext uri="{FF2B5EF4-FFF2-40B4-BE49-F238E27FC236}">
                <a16:creationId xmlns:a16="http://schemas.microsoft.com/office/drawing/2014/main" id="{D0EB15F1-5DFF-44D5-B2FF-50975D94DE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9293" y="159026"/>
            <a:ext cx="1889990" cy="1656891"/>
          </a:xfrm>
          <a:prstGeom prst="rect">
            <a:avLst/>
          </a:prstGeom>
          <a:noFill/>
          <a:extLst>
            <a:ext uri="{909E8E84-426E-40DD-AFC4-6F175D3DCCD1}">
              <a14:hiddenFill xmlns:a14="http://schemas.microsoft.com/office/drawing/2010/main">
                <a:solidFill>
                  <a:srgbClr val="FFFFFF"/>
                </a:solidFill>
              </a14:hiddenFill>
            </a:ext>
          </a:extLst>
        </p:spPr>
      </p:pic>
      <p:sp>
        <p:nvSpPr>
          <p:cNvPr id="5" name="Başlık 1">
            <a:extLst>
              <a:ext uri="{FF2B5EF4-FFF2-40B4-BE49-F238E27FC236}">
                <a16:creationId xmlns:a16="http://schemas.microsoft.com/office/drawing/2014/main" id="{396A8088-FB20-4AC5-BF87-A4E322DF3AE5}"/>
              </a:ext>
            </a:extLst>
          </p:cNvPr>
          <p:cNvSpPr txBox="1">
            <a:spLocks/>
          </p:cNvSpPr>
          <p:nvPr/>
        </p:nvSpPr>
        <p:spPr>
          <a:xfrm>
            <a:off x="0" y="4432605"/>
            <a:ext cx="12192000" cy="1104129"/>
          </a:xfrm>
          <a:prstGeom prst="rect">
            <a:avLst/>
          </a:prstGeom>
        </p:spPr>
        <p:txBody>
          <a:bodyPr vert="horz" lIns="91440" tIns="45720" rIns="91440" bIns="45720" rtlCol="0" anchor="b">
            <a:normAutofit/>
          </a:bodyPr>
          <a:lstStyle>
            <a:lvl1pPr algn="l" defTabSz="457200" rtl="0" eaLnBrk="1" latinLnBrk="0" hangingPunct="1">
              <a:spcBef>
                <a:spcPct val="0"/>
              </a:spcBef>
              <a:buNone/>
              <a:defRPr sz="54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tr-TR" sz="2500" dirty="0">
                <a:solidFill>
                  <a:schemeClr val="bg1"/>
                </a:solidFill>
                <a:latin typeface="Times New Roman" panose="02020603050405020304" pitchFamily="18" charset="0"/>
                <a:cs typeface="Times New Roman" panose="02020603050405020304" pitchFamily="18" charset="0"/>
              </a:rPr>
              <a:t>Hafta 1</a:t>
            </a:r>
          </a:p>
          <a:p>
            <a:pPr algn="ctr"/>
            <a:r>
              <a:rPr lang="tr-TR" sz="4000" dirty="0">
                <a:solidFill>
                  <a:schemeClr val="bg1"/>
                </a:solidFill>
                <a:latin typeface="Times New Roman" panose="02020603050405020304" pitchFamily="18" charset="0"/>
                <a:cs typeface="Times New Roman" panose="02020603050405020304" pitchFamily="18" charset="0"/>
              </a:rPr>
              <a:t>C++ Programlama Diline Giriş</a:t>
            </a:r>
          </a:p>
        </p:txBody>
      </p:sp>
      <p:sp>
        <p:nvSpPr>
          <p:cNvPr id="6" name="Alt Başlık 2">
            <a:extLst>
              <a:ext uri="{FF2B5EF4-FFF2-40B4-BE49-F238E27FC236}">
                <a16:creationId xmlns:a16="http://schemas.microsoft.com/office/drawing/2014/main" id="{C01E9738-1494-44D7-B855-BBD35AF016D4}"/>
              </a:ext>
            </a:extLst>
          </p:cNvPr>
          <p:cNvSpPr txBox="1">
            <a:spLocks/>
          </p:cNvSpPr>
          <p:nvPr/>
        </p:nvSpPr>
        <p:spPr>
          <a:xfrm>
            <a:off x="139485" y="5724630"/>
            <a:ext cx="12191999" cy="507484"/>
          </a:xfrm>
          <a:prstGeom prst="rect">
            <a:avLst/>
          </a:prstGeom>
        </p:spPr>
        <p:txBody>
          <a:bodyPr vert="horz" lIns="91440" tIns="45720" rIns="91440" bIns="45720" rtlCol="0" anchor="t">
            <a:normAutofit/>
          </a:bodyPr>
          <a:lstStyle>
            <a:lvl1pPr marL="0" indent="0" algn="l" defTabSz="457200" rtl="0" eaLnBrk="1" latinLnBrk="0" hangingPunct="1">
              <a:spcBef>
                <a:spcPts val="1000"/>
              </a:spcBef>
              <a:spcAft>
                <a:spcPts val="0"/>
              </a:spcAft>
              <a:buClr>
                <a:schemeClr val="accent1"/>
              </a:buClr>
              <a:buFont typeface="Wingdings 3" charset="2"/>
              <a:buNone/>
              <a:defRPr sz="1800" kern="1200">
                <a:solidFill>
                  <a:schemeClr val="tx1">
                    <a:lumMod val="65000"/>
                    <a:lumOff val="35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9pPr>
          </a:lstStyle>
          <a:p>
            <a:pPr algn="ctr"/>
            <a:r>
              <a:rPr lang="tr-TR" sz="2400" dirty="0">
                <a:solidFill>
                  <a:schemeClr val="bg1"/>
                </a:solidFill>
                <a:latin typeface="Times New Roman" panose="02020603050405020304" pitchFamily="18" charset="0"/>
                <a:cs typeface="Times New Roman" panose="02020603050405020304" pitchFamily="18" charset="0"/>
              </a:rPr>
              <a:t>Dr. Funda KUTLU ONAY</a:t>
            </a:r>
          </a:p>
        </p:txBody>
      </p:sp>
    </p:spTree>
    <p:extLst>
      <p:ext uri="{BB962C8B-B14F-4D97-AF65-F5344CB8AC3E}">
        <p14:creationId xmlns:p14="http://schemas.microsoft.com/office/powerpoint/2010/main" val="4251242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625475"/>
          </a:xfrm>
        </p:spPr>
        <p:txBody>
          <a:bodyPr anchor="ctr">
            <a:normAutofit/>
          </a:bodyPr>
          <a:lstStyle/>
          <a:p>
            <a:r>
              <a:rPr lang="tr-TR" sz="3000" b="1" dirty="0">
                <a:solidFill>
                  <a:schemeClr val="tx1"/>
                </a:solidFill>
                <a:latin typeface="Times New Roman" panose="02020603050405020304" pitchFamily="18" charset="0"/>
                <a:cs typeface="Times New Roman" panose="02020603050405020304" pitchFamily="18" charset="0"/>
              </a:rPr>
              <a:t>C++ Dilinin Tarihçesi</a:t>
            </a:r>
          </a:p>
        </p:txBody>
      </p:sp>
      <p:sp>
        <p:nvSpPr>
          <p:cNvPr id="7" name="Alt Başlık 2">
            <a:extLst>
              <a:ext uri="{FF2B5EF4-FFF2-40B4-BE49-F238E27FC236}">
                <a16:creationId xmlns:a16="http://schemas.microsoft.com/office/drawing/2014/main" id="{BDA892BC-5A0A-4F2B-ADBF-5B051342995A}"/>
              </a:ext>
            </a:extLst>
          </p:cNvPr>
          <p:cNvSpPr txBox="1">
            <a:spLocks/>
          </p:cNvSpPr>
          <p:nvPr/>
        </p:nvSpPr>
        <p:spPr>
          <a:xfrm>
            <a:off x="0" y="625475"/>
            <a:ext cx="12192000" cy="5837645"/>
          </a:xfrm>
          <a:prstGeom prst="rect">
            <a:avLst/>
          </a:prstGeom>
        </p:spPr>
        <p:txBody>
          <a:bodyPr vert="horz" lIns="0" tIns="45720" rIns="0" bIns="45720" rtlCol="0" anchor="t">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r>
              <a:rPr lang="tr-TR" sz="2400" dirty="0">
                <a:solidFill>
                  <a:schemeClr val="tx1"/>
                </a:solidFill>
                <a:latin typeface="Times New Roman" panose="02020603050405020304" pitchFamily="18" charset="0"/>
                <a:cs typeface="Times New Roman" panose="02020603050405020304" pitchFamily="18" charset="0"/>
              </a:rPr>
              <a:t>C++ dili, C dilinden geliştirilmiştir. Adındaki </a:t>
            </a:r>
            <a:r>
              <a:rPr lang="tr-TR" sz="2400" dirty="0">
                <a:solidFill>
                  <a:srgbClr val="7030A0"/>
                </a:solidFill>
                <a:latin typeface="Times New Roman" panose="02020603050405020304" pitchFamily="18" charset="0"/>
                <a:cs typeface="Times New Roman" panose="02020603050405020304" pitchFamily="18" charset="0"/>
              </a:rPr>
              <a:t>++</a:t>
            </a:r>
            <a:r>
              <a:rPr lang="tr-TR" sz="2400" dirty="0">
                <a:solidFill>
                  <a:schemeClr val="tx1"/>
                </a:solidFill>
                <a:latin typeface="Times New Roman" panose="02020603050405020304" pitchFamily="18" charset="0"/>
                <a:cs typeface="Times New Roman" panose="02020603050405020304" pitchFamily="18" charset="0"/>
              </a:rPr>
              <a:t> da bunu temsil etmektedir. </a:t>
            </a:r>
          </a:p>
          <a:p>
            <a:r>
              <a:rPr lang="tr-TR" sz="2400" dirty="0">
                <a:solidFill>
                  <a:schemeClr val="tx1"/>
                </a:solidFill>
                <a:latin typeface="Times New Roman" panose="02020603050405020304" pitchFamily="18" charset="0"/>
                <a:cs typeface="Times New Roman" panose="02020603050405020304" pitchFamily="18" charset="0"/>
              </a:rPr>
              <a:t>C++ ile, C diline "Nesneye Yönelik Programlama  (NYP)/ Object </a:t>
            </a:r>
            <a:r>
              <a:rPr lang="tr-TR" sz="2400" dirty="0" err="1">
                <a:solidFill>
                  <a:schemeClr val="tx1"/>
                </a:solidFill>
                <a:latin typeface="Times New Roman" panose="02020603050405020304" pitchFamily="18" charset="0"/>
                <a:cs typeface="Times New Roman" panose="02020603050405020304" pitchFamily="18" charset="0"/>
              </a:rPr>
              <a:t>Oriented</a:t>
            </a:r>
            <a:r>
              <a:rPr lang="tr-TR" sz="2400" dirty="0">
                <a:solidFill>
                  <a:schemeClr val="tx1"/>
                </a:solidFill>
                <a:latin typeface="Times New Roman" panose="02020603050405020304" pitchFamily="18" charset="0"/>
                <a:cs typeface="Times New Roman" panose="02020603050405020304" pitchFamily="18" charset="0"/>
              </a:rPr>
              <a:t> Programming (OOP)" özellikleri kazandırılmıştır.</a:t>
            </a:r>
          </a:p>
          <a:p>
            <a:r>
              <a:rPr lang="tr-TR" sz="2400" dirty="0">
                <a:solidFill>
                  <a:schemeClr val="tx1"/>
                </a:solidFill>
                <a:latin typeface="Times New Roman" panose="02020603050405020304" pitchFamily="18" charset="0"/>
                <a:cs typeface="Times New Roman" panose="02020603050405020304" pitchFamily="18" charset="0"/>
              </a:rPr>
              <a:t>NYP mantığı, kolay anlaşılabilir ve düzeltilebilir program yazma olanağını sağlar. </a:t>
            </a:r>
          </a:p>
          <a:p>
            <a:endParaRPr lang="tr-TR" sz="2400" dirty="0">
              <a:solidFill>
                <a:schemeClr val="tx1"/>
              </a:solidFill>
              <a:latin typeface="Times New Roman" panose="02020603050405020304" pitchFamily="18" charset="0"/>
              <a:cs typeface="Times New Roman" panose="02020603050405020304" pitchFamily="18" charset="0"/>
            </a:endParaRPr>
          </a:p>
        </p:txBody>
      </p:sp>
      <p:pic>
        <p:nvPicPr>
          <p:cNvPr id="8" name="Resim 7">
            <a:extLst>
              <a:ext uri="{FF2B5EF4-FFF2-40B4-BE49-F238E27FC236}">
                <a16:creationId xmlns:a16="http://schemas.microsoft.com/office/drawing/2014/main" id="{EE04F92B-68A3-4C67-8073-2C322BAD7C16}"/>
              </a:ext>
            </a:extLst>
          </p:cNvPr>
          <p:cNvPicPr>
            <a:picLocks noChangeAspect="1"/>
          </p:cNvPicPr>
          <p:nvPr/>
        </p:nvPicPr>
        <p:blipFill>
          <a:blip r:embed="rId2"/>
          <a:stretch>
            <a:fillRect/>
          </a:stretch>
        </p:blipFill>
        <p:spPr>
          <a:xfrm>
            <a:off x="83128" y="2508224"/>
            <a:ext cx="5757568" cy="3724301"/>
          </a:xfrm>
          <a:prstGeom prst="rect">
            <a:avLst/>
          </a:prstGeom>
        </p:spPr>
      </p:pic>
      <p:sp>
        <p:nvSpPr>
          <p:cNvPr id="6" name="Metin kutusu 5">
            <a:extLst>
              <a:ext uri="{FF2B5EF4-FFF2-40B4-BE49-F238E27FC236}">
                <a16:creationId xmlns:a16="http://schemas.microsoft.com/office/drawing/2014/main" id="{28B3F17A-B2BE-48C7-A0FB-E27839A39C28}"/>
              </a:ext>
            </a:extLst>
          </p:cNvPr>
          <p:cNvSpPr txBox="1"/>
          <p:nvPr/>
        </p:nvSpPr>
        <p:spPr>
          <a:xfrm>
            <a:off x="5989782" y="2574801"/>
            <a:ext cx="6202218" cy="1631216"/>
          </a:xfrm>
          <a:prstGeom prst="rect">
            <a:avLst/>
          </a:prstGeom>
          <a:noFill/>
        </p:spPr>
        <p:txBody>
          <a:bodyPr wrap="square">
            <a:spAutoFit/>
          </a:bodyPr>
          <a:lstStyle/>
          <a:p>
            <a:r>
              <a:rPr lang="tr-TR" sz="2000" dirty="0">
                <a:latin typeface="Times New Roman" panose="02020603050405020304" pitchFamily="18" charset="0"/>
                <a:cs typeface="Times New Roman" panose="02020603050405020304" pitchFamily="18" charset="0"/>
              </a:rPr>
              <a:t>Aşağıdaki yazılımlarla kullanılabilir:</a:t>
            </a:r>
          </a:p>
          <a:p>
            <a:pPr marL="285750" indent="-285750">
              <a:buFont typeface="Arial" panose="020B0604020202020204" pitchFamily="34" charset="0"/>
              <a:buChar char="•"/>
            </a:pPr>
            <a:r>
              <a:rPr lang="tr-TR" sz="2000" dirty="0">
                <a:solidFill>
                  <a:schemeClr val="tx1"/>
                </a:solidFill>
                <a:latin typeface="Times New Roman" panose="02020603050405020304" pitchFamily="18" charset="0"/>
                <a:cs typeface="Times New Roman" panose="02020603050405020304" pitchFamily="18" charset="0"/>
              </a:rPr>
              <a:t>Dev C++</a:t>
            </a:r>
          </a:p>
          <a:p>
            <a:pPr marL="285750" indent="-285750">
              <a:buFont typeface="Arial" panose="020B0604020202020204" pitchFamily="34" charset="0"/>
              <a:buChar char="•"/>
            </a:pPr>
            <a:r>
              <a:rPr lang="tr-TR" sz="2000" dirty="0" err="1">
                <a:latin typeface="Times New Roman" panose="02020603050405020304" pitchFamily="18" charset="0"/>
                <a:cs typeface="Times New Roman" panose="02020603050405020304" pitchFamily="18" charset="0"/>
              </a:rPr>
              <a:t>CodeBlocks</a:t>
            </a:r>
            <a:endParaRPr lang="tr-TR"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tr-TR" sz="2000" dirty="0" err="1">
                <a:solidFill>
                  <a:schemeClr val="tx1"/>
                </a:solidFill>
                <a:latin typeface="Times New Roman" panose="02020603050405020304" pitchFamily="18" charset="0"/>
                <a:cs typeface="Times New Roman" panose="02020603050405020304" pitchFamily="18" charset="0"/>
              </a:rPr>
              <a:t>Borlan</a:t>
            </a:r>
            <a:r>
              <a:rPr lang="tr-TR" sz="2000" dirty="0" err="1">
                <a:latin typeface="Times New Roman" panose="02020603050405020304" pitchFamily="18" charset="0"/>
                <a:cs typeface="Times New Roman" panose="02020603050405020304" pitchFamily="18" charset="0"/>
              </a:rPr>
              <a:t>d</a:t>
            </a:r>
            <a:r>
              <a:rPr lang="tr-TR" sz="2000" dirty="0">
                <a:latin typeface="Times New Roman" panose="02020603050405020304" pitchFamily="18" charset="0"/>
                <a:cs typeface="Times New Roman" panose="02020603050405020304" pitchFamily="18" charset="0"/>
              </a:rPr>
              <a:t> C++</a:t>
            </a:r>
          </a:p>
          <a:p>
            <a:pPr marL="285750" indent="-285750">
              <a:buFont typeface="Arial" panose="020B0604020202020204" pitchFamily="34" charset="0"/>
              <a:buChar char="•"/>
            </a:pPr>
            <a:r>
              <a:rPr lang="tr-TR" sz="2000" dirty="0">
                <a:solidFill>
                  <a:schemeClr val="tx1"/>
                </a:solidFill>
                <a:latin typeface="Times New Roman" panose="02020603050405020304" pitchFamily="18" charset="0"/>
                <a:cs typeface="Times New Roman" panose="02020603050405020304" pitchFamily="18" charset="0"/>
              </a:rPr>
              <a:t>Visual </a:t>
            </a:r>
            <a:r>
              <a:rPr lang="tr-TR" sz="2000" dirty="0" err="1">
                <a:solidFill>
                  <a:schemeClr val="tx1"/>
                </a:solidFill>
                <a:latin typeface="Times New Roman" panose="02020603050405020304" pitchFamily="18" charset="0"/>
                <a:cs typeface="Times New Roman" panose="02020603050405020304" pitchFamily="18" charset="0"/>
              </a:rPr>
              <a:t>Studi</a:t>
            </a:r>
            <a:r>
              <a:rPr lang="tr-TR" sz="2000" dirty="0" err="1">
                <a:latin typeface="Times New Roman" panose="02020603050405020304" pitchFamily="18" charset="0"/>
                <a:cs typeface="Times New Roman" panose="02020603050405020304" pitchFamily="18" charset="0"/>
              </a:rPr>
              <a:t>o</a:t>
            </a:r>
            <a:endParaRPr lang="tr-TR" sz="20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507494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etin kutusu 2">
            <a:extLst>
              <a:ext uri="{FF2B5EF4-FFF2-40B4-BE49-F238E27FC236}">
                <a16:creationId xmlns:a16="http://schemas.microsoft.com/office/drawing/2014/main" id="{71A71713-8F0F-4E9E-BB20-976604B69AE9}"/>
              </a:ext>
            </a:extLst>
          </p:cNvPr>
          <p:cNvSpPr txBox="1"/>
          <p:nvPr/>
        </p:nvSpPr>
        <p:spPr>
          <a:xfrm>
            <a:off x="0" y="0"/>
            <a:ext cx="6096000" cy="369332"/>
          </a:xfrm>
          <a:prstGeom prst="rect">
            <a:avLst/>
          </a:prstGeom>
          <a:noFill/>
        </p:spPr>
        <p:txBody>
          <a:bodyPr wrap="square">
            <a:spAutoFit/>
          </a:bodyPr>
          <a:lstStyle/>
          <a:p>
            <a:r>
              <a:rPr lang="tr-TR" sz="1800" b="1" dirty="0">
                <a:solidFill>
                  <a:schemeClr val="tx1"/>
                </a:solidFill>
                <a:latin typeface="Times New Roman" panose="02020603050405020304" pitchFamily="18" charset="0"/>
                <a:cs typeface="Times New Roman" panose="02020603050405020304" pitchFamily="18" charset="0"/>
              </a:rPr>
              <a:t>Dev C</a:t>
            </a:r>
            <a:r>
              <a:rPr lang="tr-TR" b="1" dirty="0">
                <a:latin typeface="Times New Roman" panose="02020603050405020304" pitchFamily="18" charset="0"/>
                <a:cs typeface="Times New Roman" panose="02020603050405020304" pitchFamily="18" charset="0"/>
              </a:rPr>
              <a:t>++ ile yeni bir C++ Projesi Açma Adımları</a:t>
            </a:r>
            <a:endParaRPr lang="tr-TR" sz="1800" b="1" dirty="0">
              <a:solidFill>
                <a:schemeClr val="tx1"/>
              </a:solidFill>
              <a:latin typeface="Times New Roman" panose="02020603050405020304" pitchFamily="18" charset="0"/>
              <a:cs typeface="Times New Roman" panose="02020603050405020304" pitchFamily="18" charset="0"/>
            </a:endParaRPr>
          </a:p>
        </p:txBody>
      </p:sp>
      <p:pic>
        <p:nvPicPr>
          <p:cNvPr id="5" name="Resim 4">
            <a:extLst>
              <a:ext uri="{FF2B5EF4-FFF2-40B4-BE49-F238E27FC236}">
                <a16:creationId xmlns:a16="http://schemas.microsoft.com/office/drawing/2014/main" id="{DB3AD3D6-FA9F-42AD-BB37-05A3234C6690}"/>
              </a:ext>
            </a:extLst>
          </p:cNvPr>
          <p:cNvPicPr>
            <a:picLocks noChangeAspect="1"/>
          </p:cNvPicPr>
          <p:nvPr/>
        </p:nvPicPr>
        <p:blipFill rotWithShape="1">
          <a:blip r:embed="rId2"/>
          <a:srcRect r="51367" b="19848"/>
          <a:stretch/>
        </p:blipFill>
        <p:spPr>
          <a:xfrm>
            <a:off x="793171" y="435453"/>
            <a:ext cx="4128421" cy="3600000"/>
          </a:xfrm>
          <a:prstGeom prst="rect">
            <a:avLst/>
          </a:prstGeom>
          <a:ln w="6350" cap="sq">
            <a:solidFill>
              <a:srgbClr val="000000"/>
            </a:solidFill>
            <a:prstDash val="solid"/>
            <a:miter lim="800000"/>
          </a:ln>
          <a:effectLst>
            <a:outerShdw blurRad="50800" dist="38100" dir="2700000" algn="tl" rotWithShape="0">
              <a:srgbClr val="000000">
                <a:alpha val="43000"/>
              </a:srgbClr>
            </a:outerShdw>
          </a:effectLst>
        </p:spPr>
      </p:pic>
      <p:pic>
        <p:nvPicPr>
          <p:cNvPr id="8" name="Resim 7">
            <a:extLst>
              <a:ext uri="{FF2B5EF4-FFF2-40B4-BE49-F238E27FC236}">
                <a16:creationId xmlns:a16="http://schemas.microsoft.com/office/drawing/2014/main" id="{ABDE9DBD-8475-452A-9D35-A0EE55015B18}"/>
              </a:ext>
            </a:extLst>
          </p:cNvPr>
          <p:cNvPicPr>
            <a:picLocks noChangeAspect="1"/>
          </p:cNvPicPr>
          <p:nvPr/>
        </p:nvPicPr>
        <p:blipFill>
          <a:blip r:embed="rId3"/>
          <a:stretch>
            <a:fillRect/>
          </a:stretch>
        </p:blipFill>
        <p:spPr>
          <a:xfrm>
            <a:off x="5431609" y="435453"/>
            <a:ext cx="5646316" cy="3600000"/>
          </a:xfrm>
          <a:prstGeom prst="rect">
            <a:avLst/>
          </a:prstGeom>
          <a:ln w="6350" cap="sq">
            <a:solidFill>
              <a:srgbClr val="000000"/>
            </a:solidFill>
            <a:prstDash val="solid"/>
            <a:miter lim="800000"/>
          </a:ln>
          <a:effectLst>
            <a:outerShdw blurRad="50800" dist="38100" dir="2700000" algn="tl" rotWithShape="0">
              <a:srgbClr val="000000">
                <a:alpha val="43000"/>
              </a:srgbClr>
            </a:outerShdw>
          </a:effectLst>
        </p:spPr>
      </p:pic>
      <p:sp>
        <p:nvSpPr>
          <p:cNvPr id="9" name="Oval 8">
            <a:extLst>
              <a:ext uri="{FF2B5EF4-FFF2-40B4-BE49-F238E27FC236}">
                <a16:creationId xmlns:a16="http://schemas.microsoft.com/office/drawing/2014/main" id="{13AD18D7-FE52-4811-9BEB-1AFBAA542C75}"/>
              </a:ext>
            </a:extLst>
          </p:cNvPr>
          <p:cNvSpPr/>
          <p:nvPr/>
        </p:nvSpPr>
        <p:spPr>
          <a:xfrm>
            <a:off x="9160779" y="3479334"/>
            <a:ext cx="520118" cy="31039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sp>
        <p:nvSpPr>
          <p:cNvPr id="10" name="Metin kutusu 9">
            <a:extLst>
              <a:ext uri="{FF2B5EF4-FFF2-40B4-BE49-F238E27FC236}">
                <a16:creationId xmlns:a16="http://schemas.microsoft.com/office/drawing/2014/main" id="{679DE0A4-8E35-400B-9EF0-63ED42021E9F}"/>
              </a:ext>
            </a:extLst>
          </p:cNvPr>
          <p:cNvSpPr txBox="1"/>
          <p:nvPr/>
        </p:nvSpPr>
        <p:spPr>
          <a:xfrm>
            <a:off x="726059" y="4177098"/>
            <a:ext cx="4195533" cy="1477328"/>
          </a:xfrm>
          <a:prstGeom prst="rect">
            <a:avLst/>
          </a:prstGeom>
          <a:noFill/>
        </p:spPr>
        <p:txBody>
          <a:bodyPr wrap="square">
            <a:spAutoFit/>
          </a:bodyPr>
          <a:lstStyle/>
          <a:p>
            <a:pPr algn="l"/>
            <a:r>
              <a:rPr lang="tr-TR" i="1" dirty="0">
                <a:latin typeface="Times New Roman" panose="02020603050405020304" pitchFamily="18" charset="0"/>
                <a:cs typeface="Times New Roman" panose="02020603050405020304" pitchFamily="18" charset="0"/>
              </a:rPr>
              <a:t>Dosya</a:t>
            </a:r>
            <a:r>
              <a:rPr lang="tr-TR" dirty="0">
                <a:latin typeface="Times New Roman" panose="02020603050405020304" pitchFamily="18" charset="0"/>
                <a:cs typeface="Times New Roman" panose="02020603050405020304" pitchFamily="18" charset="0"/>
              </a:rPr>
              <a:t> </a:t>
            </a:r>
            <a:r>
              <a:rPr lang="tr-TR" b="1" dirty="0">
                <a:solidFill>
                  <a:srgbClr val="7030A0"/>
                </a:solidFill>
                <a:latin typeface="Times New Roman" panose="02020603050405020304" pitchFamily="18" charset="0"/>
                <a:cs typeface="Times New Roman" panose="02020603050405020304" pitchFamily="18" charset="0"/>
              </a:rPr>
              <a:t>→</a:t>
            </a:r>
            <a:r>
              <a:rPr lang="tr-TR" dirty="0">
                <a:latin typeface="Times New Roman" panose="02020603050405020304" pitchFamily="18" charset="0"/>
                <a:cs typeface="Times New Roman" panose="02020603050405020304" pitchFamily="18" charset="0"/>
              </a:rPr>
              <a:t> </a:t>
            </a:r>
            <a:r>
              <a:rPr lang="tr-TR" i="1" dirty="0">
                <a:latin typeface="Times New Roman" panose="02020603050405020304" pitchFamily="18" charset="0"/>
                <a:cs typeface="Times New Roman" panose="02020603050405020304" pitchFamily="18" charset="0"/>
              </a:rPr>
              <a:t>Yeni</a:t>
            </a:r>
            <a:r>
              <a:rPr lang="tr-TR" dirty="0">
                <a:latin typeface="Times New Roman" panose="02020603050405020304" pitchFamily="18" charset="0"/>
                <a:cs typeface="Times New Roman" panose="02020603050405020304" pitchFamily="18" charset="0"/>
              </a:rPr>
              <a:t> </a:t>
            </a:r>
            <a:r>
              <a:rPr lang="tr-TR" b="1" dirty="0">
                <a:solidFill>
                  <a:srgbClr val="7030A0"/>
                </a:solidFill>
                <a:latin typeface="Times New Roman" panose="02020603050405020304" pitchFamily="18" charset="0"/>
                <a:cs typeface="Times New Roman" panose="02020603050405020304" pitchFamily="18" charset="0"/>
              </a:rPr>
              <a:t>→ </a:t>
            </a:r>
            <a:r>
              <a:rPr lang="tr-TR" i="1" dirty="0">
                <a:latin typeface="Times New Roman" panose="02020603050405020304" pitchFamily="18" charset="0"/>
                <a:cs typeface="Times New Roman" panose="02020603050405020304" pitchFamily="18" charset="0"/>
              </a:rPr>
              <a:t>Proje</a:t>
            </a:r>
            <a:r>
              <a:rPr lang="tr-TR" dirty="0">
                <a:latin typeface="Times New Roman" panose="02020603050405020304" pitchFamily="18" charset="0"/>
                <a:cs typeface="Times New Roman" panose="02020603050405020304" pitchFamily="18" charset="0"/>
              </a:rPr>
              <a:t> ile yeni proje yaratılabildiği gibi,  </a:t>
            </a:r>
          </a:p>
          <a:p>
            <a:pPr algn="l"/>
            <a:r>
              <a:rPr lang="tr-TR" i="1" dirty="0">
                <a:latin typeface="Times New Roman" panose="02020603050405020304" pitchFamily="18" charset="0"/>
                <a:cs typeface="Times New Roman" panose="02020603050405020304" pitchFamily="18" charset="0"/>
              </a:rPr>
              <a:t>Dosya</a:t>
            </a:r>
            <a:r>
              <a:rPr lang="tr-TR" b="1" dirty="0">
                <a:solidFill>
                  <a:srgbClr val="7030A0"/>
                </a:solidFill>
                <a:latin typeface="Times New Roman" panose="02020603050405020304" pitchFamily="18" charset="0"/>
                <a:cs typeface="Times New Roman" panose="02020603050405020304" pitchFamily="18" charset="0"/>
              </a:rPr>
              <a:t> → </a:t>
            </a:r>
            <a:r>
              <a:rPr lang="tr-TR" i="1" dirty="0">
                <a:latin typeface="Times New Roman" panose="02020603050405020304" pitchFamily="18" charset="0"/>
                <a:cs typeface="Times New Roman" panose="02020603050405020304" pitchFamily="18" charset="0"/>
              </a:rPr>
              <a:t>Proje veya Dosya Aç</a:t>
            </a:r>
            <a:r>
              <a:rPr lang="tr-TR" dirty="0">
                <a:latin typeface="Times New Roman" panose="02020603050405020304" pitchFamily="18" charset="0"/>
                <a:cs typeface="Times New Roman" panose="02020603050405020304" pitchFamily="18" charset="0"/>
              </a:rPr>
              <a:t> sekmelerinden de daha önce oluşturduğumuz projelere erişebiliriz. </a:t>
            </a:r>
          </a:p>
        </p:txBody>
      </p:sp>
      <p:sp>
        <p:nvSpPr>
          <p:cNvPr id="12" name="Metin kutusu 11">
            <a:extLst>
              <a:ext uri="{FF2B5EF4-FFF2-40B4-BE49-F238E27FC236}">
                <a16:creationId xmlns:a16="http://schemas.microsoft.com/office/drawing/2014/main" id="{450A8199-12AF-46C7-8F71-6A3AFEE8FBD9}"/>
              </a:ext>
            </a:extLst>
          </p:cNvPr>
          <p:cNvSpPr txBox="1"/>
          <p:nvPr/>
        </p:nvSpPr>
        <p:spPr>
          <a:xfrm>
            <a:off x="5366158" y="4336489"/>
            <a:ext cx="5967369" cy="923330"/>
          </a:xfrm>
          <a:prstGeom prst="rect">
            <a:avLst/>
          </a:prstGeom>
          <a:noFill/>
        </p:spPr>
        <p:txBody>
          <a:bodyPr wrap="square">
            <a:spAutoFit/>
          </a:bodyPr>
          <a:lstStyle/>
          <a:p>
            <a:pPr algn="l"/>
            <a:r>
              <a:rPr lang="tr-TR" dirty="0">
                <a:latin typeface="Times New Roman" panose="02020603050405020304" pitchFamily="18" charset="0"/>
                <a:cs typeface="Times New Roman" panose="02020603050405020304" pitchFamily="18" charset="0"/>
              </a:rPr>
              <a:t>Açılan ekranda </a:t>
            </a:r>
            <a:r>
              <a:rPr lang="tr-TR" i="1" dirty="0">
                <a:latin typeface="Times New Roman" panose="02020603050405020304" pitchFamily="18" charset="0"/>
                <a:cs typeface="Times New Roman" panose="02020603050405020304" pitchFamily="18" charset="0"/>
              </a:rPr>
              <a:t>Console Application </a:t>
            </a:r>
            <a:r>
              <a:rPr lang="tr-TR" dirty="0">
                <a:latin typeface="Times New Roman" panose="02020603050405020304" pitchFamily="18" charset="0"/>
                <a:cs typeface="Times New Roman" panose="02020603050405020304" pitchFamily="18" charset="0"/>
              </a:rPr>
              <a:t>seçeneği ile birlikte </a:t>
            </a:r>
            <a:r>
              <a:rPr lang="tr-TR" i="1" dirty="0">
                <a:latin typeface="Times New Roman" panose="02020603050405020304" pitchFamily="18" charset="0"/>
                <a:cs typeface="Times New Roman" panose="02020603050405020304" pitchFamily="18" charset="0"/>
              </a:rPr>
              <a:t>C++ Projesi kutucuğu </a:t>
            </a:r>
            <a:r>
              <a:rPr lang="tr-TR" dirty="0">
                <a:latin typeface="Times New Roman" panose="02020603050405020304" pitchFamily="18" charset="0"/>
                <a:cs typeface="Times New Roman" panose="02020603050405020304" pitchFamily="18" charset="0"/>
              </a:rPr>
              <a:t>işaretlendikten sonra projeye bir isim verilir ve </a:t>
            </a:r>
            <a:r>
              <a:rPr lang="tr-TR" i="1" dirty="0">
                <a:latin typeface="Times New Roman" panose="02020603050405020304" pitchFamily="18" charset="0"/>
                <a:cs typeface="Times New Roman" panose="02020603050405020304" pitchFamily="18" charset="0"/>
              </a:rPr>
              <a:t>Tamam</a:t>
            </a:r>
            <a:r>
              <a:rPr lang="tr-TR" dirty="0">
                <a:latin typeface="Times New Roman" panose="02020603050405020304" pitchFamily="18" charset="0"/>
                <a:cs typeface="Times New Roman" panose="02020603050405020304" pitchFamily="18" charset="0"/>
              </a:rPr>
              <a:t> butonu ile proje hazır hale gelir. </a:t>
            </a:r>
          </a:p>
        </p:txBody>
      </p:sp>
      <p:sp>
        <p:nvSpPr>
          <p:cNvPr id="14" name="Oval 13">
            <a:extLst>
              <a:ext uri="{FF2B5EF4-FFF2-40B4-BE49-F238E27FC236}">
                <a16:creationId xmlns:a16="http://schemas.microsoft.com/office/drawing/2014/main" id="{BEFD044A-217B-420A-A220-C0FB53F1B58B}"/>
              </a:ext>
            </a:extLst>
          </p:cNvPr>
          <p:cNvSpPr/>
          <p:nvPr/>
        </p:nvSpPr>
        <p:spPr>
          <a:xfrm>
            <a:off x="9781563" y="2929012"/>
            <a:ext cx="619388" cy="26474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spTree>
    <p:extLst>
      <p:ext uri="{BB962C8B-B14F-4D97-AF65-F5344CB8AC3E}">
        <p14:creationId xmlns:p14="http://schemas.microsoft.com/office/powerpoint/2010/main" val="30493957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etin kutusu 2">
            <a:extLst>
              <a:ext uri="{FF2B5EF4-FFF2-40B4-BE49-F238E27FC236}">
                <a16:creationId xmlns:a16="http://schemas.microsoft.com/office/drawing/2014/main" id="{71A71713-8F0F-4E9E-BB20-976604B69AE9}"/>
              </a:ext>
            </a:extLst>
          </p:cNvPr>
          <p:cNvSpPr txBox="1"/>
          <p:nvPr/>
        </p:nvSpPr>
        <p:spPr>
          <a:xfrm>
            <a:off x="0" y="0"/>
            <a:ext cx="6096000" cy="369332"/>
          </a:xfrm>
          <a:prstGeom prst="rect">
            <a:avLst/>
          </a:prstGeom>
          <a:noFill/>
        </p:spPr>
        <p:txBody>
          <a:bodyPr wrap="square">
            <a:spAutoFit/>
          </a:bodyPr>
          <a:lstStyle/>
          <a:p>
            <a:r>
              <a:rPr lang="tr-TR" sz="1800" b="1" dirty="0">
                <a:solidFill>
                  <a:schemeClr val="tx1"/>
                </a:solidFill>
                <a:latin typeface="Times New Roman" panose="02020603050405020304" pitchFamily="18" charset="0"/>
                <a:cs typeface="Times New Roman" panose="02020603050405020304" pitchFamily="18" charset="0"/>
              </a:rPr>
              <a:t>Dev C</a:t>
            </a:r>
            <a:r>
              <a:rPr lang="tr-TR" b="1" dirty="0">
                <a:latin typeface="Times New Roman" panose="02020603050405020304" pitchFamily="18" charset="0"/>
                <a:cs typeface="Times New Roman" panose="02020603050405020304" pitchFamily="18" charset="0"/>
              </a:rPr>
              <a:t>++ ile yeni bir C++ Projesi Açma Adımları</a:t>
            </a:r>
            <a:endParaRPr lang="tr-TR" sz="1800" b="1" dirty="0">
              <a:solidFill>
                <a:schemeClr val="tx1"/>
              </a:solidFill>
              <a:latin typeface="Times New Roman" panose="02020603050405020304" pitchFamily="18" charset="0"/>
              <a:cs typeface="Times New Roman" panose="02020603050405020304" pitchFamily="18" charset="0"/>
            </a:endParaRPr>
          </a:p>
        </p:txBody>
      </p:sp>
      <p:pic>
        <p:nvPicPr>
          <p:cNvPr id="5" name="Resim 4">
            <a:extLst>
              <a:ext uri="{FF2B5EF4-FFF2-40B4-BE49-F238E27FC236}">
                <a16:creationId xmlns:a16="http://schemas.microsoft.com/office/drawing/2014/main" id="{A48C35D4-F343-4955-8786-635DCCF70FA6}"/>
              </a:ext>
            </a:extLst>
          </p:cNvPr>
          <p:cNvPicPr>
            <a:picLocks noChangeAspect="1"/>
          </p:cNvPicPr>
          <p:nvPr/>
        </p:nvPicPr>
        <p:blipFill>
          <a:blip r:embed="rId2"/>
          <a:stretch>
            <a:fillRect/>
          </a:stretch>
        </p:blipFill>
        <p:spPr>
          <a:xfrm>
            <a:off x="1728178" y="713695"/>
            <a:ext cx="8735644" cy="3467584"/>
          </a:xfrm>
          <a:prstGeom prst="rect">
            <a:avLst/>
          </a:prstGeom>
          <a:ln w="635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063142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Resim 2">
            <a:extLst>
              <a:ext uri="{FF2B5EF4-FFF2-40B4-BE49-F238E27FC236}">
                <a16:creationId xmlns:a16="http://schemas.microsoft.com/office/drawing/2014/main" id="{A90AC9DB-7D1F-40CB-A66D-D5C770F2AA02}"/>
              </a:ext>
            </a:extLst>
          </p:cNvPr>
          <p:cNvPicPr>
            <a:picLocks noChangeAspect="1"/>
          </p:cNvPicPr>
          <p:nvPr/>
        </p:nvPicPr>
        <p:blipFill>
          <a:blip r:embed="rId2"/>
          <a:stretch>
            <a:fillRect/>
          </a:stretch>
        </p:blipFill>
        <p:spPr>
          <a:xfrm>
            <a:off x="163861" y="433532"/>
            <a:ext cx="5457568" cy="3600000"/>
          </a:xfrm>
          <a:prstGeom prst="rect">
            <a:avLst/>
          </a:prstGeom>
          <a:ln w="6350" cap="sq">
            <a:solidFill>
              <a:srgbClr val="000000"/>
            </a:solidFill>
            <a:prstDash val="solid"/>
            <a:miter lim="800000"/>
          </a:ln>
          <a:effectLst>
            <a:outerShdw blurRad="50800" dist="38100" dir="2700000" algn="tl" rotWithShape="0">
              <a:srgbClr val="000000">
                <a:alpha val="43000"/>
              </a:srgbClr>
            </a:outerShdw>
          </a:effectLst>
        </p:spPr>
      </p:pic>
      <p:sp>
        <p:nvSpPr>
          <p:cNvPr id="5" name="Metin kutusu 4">
            <a:extLst>
              <a:ext uri="{FF2B5EF4-FFF2-40B4-BE49-F238E27FC236}">
                <a16:creationId xmlns:a16="http://schemas.microsoft.com/office/drawing/2014/main" id="{E425FA51-1581-474A-A3AC-F4300999FB3B}"/>
              </a:ext>
            </a:extLst>
          </p:cNvPr>
          <p:cNvSpPr txBox="1"/>
          <p:nvPr/>
        </p:nvSpPr>
        <p:spPr>
          <a:xfrm>
            <a:off x="0" y="0"/>
            <a:ext cx="6096000" cy="369332"/>
          </a:xfrm>
          <a:prstGeom prst="rect">
            <a:avLst/>
          </a:prstGeom>
          <a:noFill/>
        </p:spPr>
        <p:txBody>
          <a:bodyPr wrap="square">
            <a:spAutoFit/>
          </a:bodyPr>
          <a:lstStyle/>
          <a:p>
            <a:r>
              <a:rPr lang="tr-TR" sz="1800" b="1" dirty="0">
                <a:solidFill>
                  <a:schemeClr val="tx1"/>
                </a:solidFill>
                <a:latin typeface="Times New Roman" panose="02020603050405020304" pitchFamily="18" charset="0"/>
                <a:cs typeface="Times New Roman" panose="02020603050405020304" pitchFamily="18" charset="0"/>
              </a:rPr>
              <a:t>Visual </a:t>
            </a:r>
            <a:r>
              <a:rPr lang="tr-TR" sz="1800" b="1" dirty="0" err="1">
                <a:solidFill>
                  <a:schemeClr val="tx1"/>
                </a:solidFill>
                <a:latin typeface="Times New Roman" panose="02020603050405020304" pitchFamily="18" charset="0"/>
                <a:cs typeface="Times New Roman" panose="02020603050405020304" pitchFamily="18" charset="0"/>
              </a:rPr>
              <a:t>Studio</a:t>
            </a:r>
            <a:r>
              <a:rPr lang="tr-TR" sz="1800" b="1" dirty="0">
                <a:solidFill>
                  <a:schemeClr val="tx1"/>
                </a:solidFill>
                <a:latin typeface="Times New Roman" panose="02020603050405020304" pitchFamily="18" charset="0"/>
                <a:cs typeface="Times New Roman" panose="02020603050405020304" pitchFamily="18" charset="0"/>
              </a:rPr>
              <a:t> 2019 </a:t>
            </a:r>
            <a:r>
              <a:rPr lang="tr-TR" b="1" dirty="0">
                <a:latin typeface="Times New Roman" panose="02020603050405020304" pitchFamily="18" charset="0"/>
                <a:cs typeface="Times New Roman" panose="02020603050405020304" pitchFamily="18" charset="0"/>
              </a:rPr>
              <a:t>ile yeni bir C++ Projesi Açma Adımları</a:t>
            </a:r>
            <a:endParaRPr lang="tr-TR" sz="1800" b="1" dirty="0">
              <a:solidFill>
                <a:schemeClr val="tx1"/>
              </a:solidFill>
              <a:latin typeface="Times New Roman" panose="02020603050405020304" pitchFamily="18" charset="0"/>
              <a:cs typeface="Times New Roman" panose="02020603050405020304" pitchFamily="18" charset="0"/>
            </a:endParaRPr>
          </a:p>
        </p:txBody>
      </p:sp>
      <p:sp>
        <p:nvSpPr>
          <p:cNvPr id="7" name="Metin kutusu 6">
            <a:extLst>
              <a:ext uri="{FF2B5EF4-FFF2-40B4-BE49-F238E27FC236}">
                <a16:creationId xmlns:a16="http://schemas.microsoft.com/office/drawing/2014/main" id="{6E5A8B88-1BE0-4273-AC1A-7AB8A66ADAF4}"/>
              </a:ext>
            </a:extLst>
          </p:cNvPr>
          <p:cNvSpPr txBox="1"/>
          <p:nvPr/>
        </p:nvSpPr>
        <p:spPr>
          <a:xfrm>
            <a:off x="163861" y="4281071"/>
            <a:ext cx="4195533" cy="1200329"/>
          </a:xfrm>
          <a:prstGeom prst="rect">
            <a:avLst/>
          </a:prstGeom>
          <a:noFill/>
        </p:spPr>
        <p:txBody>
          <a:bodyPr wrap="square">
            <a:spAutoFit/>
          </a:bodyPr>
          <a:lstStyle/>
          <a:p>
            <a:pPr algn="l"/>
            <a:r>
              <a:rPr lang="tr-TR" i="1" dirty="0">
                <a:latin typeface="Times New Roman" panose="02020603050405020304" pitchFamily="18" charset="0"/>
                <a:cs typeface="Times New Roman" panose="02020603050405020304" pitchFamily="18" charset="0"/>
              </a:rPr>
              <a:t>Dosya</a:t>
            </a:r>
            <a:r>
              <a:rPr lang="tr-TR" dirty="0">
                <a:latin typeface="Times New Roman" panose="02020603050405020304" pitchFamily="18" charset="0"/>
                <a:cs typeface="Times New Roman" panose="02020603050405020304" pitchFamily="18" charset="0"/>
              </a:rPr>
              <a:t> </a:t>
            </a:r>
            <a:r>
              <a:rPr lang="tr-TR" b="1" dirty="0">
                <a:solidFill>
                  <a:srgbClr val="7030A0"/>
                </a:solidFill>
                <a:latin typeface="Times New Roman" panose="02020603050405020304" pitchFamily="18" charset="0"/>
                <a:cs typeface="Times New Roman" panose="02020603050405020304" pitchFamily="18" charset="0"/>
              </a:rPr>
              <a:t>→</a:t>
            </a:r>
            <a:r>
              <a:rPr lang="tr-TR" dirty="0">
                <a:latin typeface="Times New Roman" panose="02020603050405020304" pitchFamily="18" charset="0"/>
                <a:cs typeface="Times New Roman" panose="02020603050405020304" pitchFamily="18" charset="0"/>
              </a:rPr>
              <a:t> </a:t>
            </a:r>
            <a:r>
              <a:rPr lang="tr-TR" i="1" dirty="0">
                <a:latin typeface="Times New Roman" panose="02020603050405020304" pitchFamily="18" charset="0"/>
                <a:cs typeface="Times New Roman" panose="02020603050405020304" pitchFamily="18" charset="0"/>
              </a:rPr>
              <a:t>Yeni</a:t>
            </a:r>
            <a:r>
              <a:rPr lang="tr-TR" dirty="0">
                <a:latin typeface="Times New Roman" panose="02020603050405020304" pitchFamily="18" charset="0"/>
                <a:cs typeface="Times New Roman" panose="02020603050405020304" pitchFamily="18" charset="0"/>
              </a:rPr>
              <a:t> </a:t>
            </a:r>
            <a:r>
              <a:rPr lang="tr-TR" b="1" dirty="0">
                <a:solidFill>
                  <a:srgbClr val="7030A0"/>
                </a:solidFill>
                <a:latin typeface="Times New Roman" panose="02020603050405020304" pitchFamily="18" charset="0"/>
                <a:cs typeface="Times New Roman" panose="02020603050405020304" pitchFamily="18" charset="0"/>
              </a:rPr>
              <a:t>→ </a:t>
            </a:r>
            <a:r>
              <a:rPr lang="tr-TR" i="1" dirty="0">
                <a:latin typeface="Times New Roman" panose="02020603050405020304" pitchFamily="18" charset="0"/>
                <a:cs typeface="Times New Roman" panose="02020603050405020304" pitchFamily="18" charset="0"/>
              </a:rPr>
              <a:t>Proje</a:t>
            </a:r>
            <a:r>
              <a:rPr lang="tr-TR" dirty="0">
                <a:latin typeface="Times New Roman" panose="02020603050405020304" pitchFamily="18" charset="0"/>
                <a:cs typeface="Times New Roman" panose="02020603050405020304" pitchFamily="18" charset="0"/>
              </a:rPr>
              <a:t> ile yeni proje yaratılabildiği gibi,  </a:t>
            </a:r>
          </a:p>
          <a:p>
            <a:pPr algn="l"/>
            <a:r>
              <a:rPr lang="tr-TR" i="1" dirty="0">
                <a:latin typeface="Times New Roman" panose="02020603050405020304" pitchFamily="18" charset="0"/>
                <a:cs typeface="Times New Roman" panose="02020603050405020304" pitchFamily="18" charset="0"/>
              </a:rPr>
              <a:t>Dosya</a:t>
            </a:r>
            <a:r>
              <a:rPr lang="tr-TR" b="1" dirty="0">
                <a:solidFill>
                  <a:srgbClr val="7030A0"/>
                </a:solidFill>
                <a:latin typeface="Times New Roman" panose="02020603050405020304" pitchFamily="18" charset="0"/>
                <a:cs typeface="Times New Roman" panose="02020603050405020304" pitchFamily="18" charset="0"/>
              </a:rPr>
              <a:t> → </a:t>
            </a:r>
            <a:r>
              <a:rPr lang="tr-TR" i="1" dirty="0">
                <a:latin typeface="Times New Roman" panose="02020603050405020304" pitchFamily="18" charset="0"/>
                <a:cs typeface="Times New Roman" panose="02020603050405020304" pitchFamily="18" charset="0"/>
              </a:rPr>
              <a:t>Aç</a:t>
            </a:r>
            <a:r>
              <a:rPr lang="tr-TR" dirty="0">
                <a:latin typeface="Times New Roman" panose="02020603050405020304" pitchFamily="18" charset="0"/>
                <a:cs typeface="Times New Roman" panose="02020603050405020304" pitchFamily="18" charset="0"/>
              </a:rPr>
              <a:t> sekmelerinden de daha önce oluşturduğumuz projelere erişebiliriz. </a:t>
            </a:r>
          </a:p>
        </p:txBody>
      </p:sp>
      <p:pic>
        <p:nvPicPr>
          <p:cNvPr id="10" name="Resim 9">
            <a:extLst>
              <a:ext uri="{FF2B5EF4-FFF2-40B4-BE49-F238E27FC236}">
                <a16:creationId xmlns:a16="http://schemas.microsoft.com/office/drawing/2014/main" id="{84783933-6243-4104-B49D-9194A837CD47}"/>
              </a:ext>
            </a:extLst>
          </p:cNvPr>
          <p:cNvPicPr>
            <a:picLocks noChangeAspect="1"/>
          </p:cNvPicPr>
          <p:nvPr/>
        </p:nvPicPr>
        <p:blipFill>
          <a:blip r:embed="rId3"/>
          <a:stretch>
            <a:fillRect/>
          </a:stretch>
        </p:blipFill>
        <p:spPr>
          <a:xfrm>
            <a:off x="5974938" y="433532"/>
            <a:ext cx="6053201" cy="3600000"/>
          </a:xfrm>
          <a:prstGeom prst="rect">
            <a:avLst/>
          </a:prstGeom>
        </p:spPr>
      </p:pic>
      <p:sp>
        <p:nvSpPr>
          <p:cNvPr id="12" name="Metin kutusu 11">
            <a:extLst>
              <a:ext uri="{FF2B5EF4-FFF2-40B4-BE49-F238E27FC236}">
                <a16:creationId xmlns:a16="http://schemas.microsoft.com/office/drawing/2014/main" id="{98D6D2F6-91F3-4765-8366-77DF26C211FF}"/>
              </a:ext>
            </a:extLst>
          </p:cNvPr>
          <p:cNvSpPr txBox="1"/>
          <p:nvPr/>
        </p:nvSpPr>
        <p:spPr>
          <a:xfrm>
            <a:off x="5939684" y="4281071"/>
            <a:ext cx="6123708" cy="923330"/>
          </a:xfrm>
          <a:prstGeom prst="rect">
            <a:avLst/>
          </a:prstGeom>
          <a:noFill/>
        </p:spPr>
        <p:txBody>
          <a:bodyPr wrap="square">
            <a:spAutoFit/>
          </a:bodyPr>
          <a:lstStyle/>
          <a:p>
            <a:pPr algn="l"/>
            <a:r>
              <a:rPr lang="tr-TR" dirty="0">
                <a:latin typeface="Times New Roman" panose="02020603050405020304" pitchFamily="18" charset="0"/>
                <a:cs typeface="Times New Roman" panose="02020603050405020304" pitchFamily="18" charset="0"/>
              </a:rPr>
              <a:t>C++ uygulaması gerçekleştireceğimizden dolayı diller arasından C++ seçiyoruz. Visual </a:t>
            </a:r>
            <a:r>
              <a:rPr lang="tr-TR" dirty="0" err="1">
                <a:latin typeface="Times New Roman" panose="02020603050405020304" pitchFamily="18" charset="0"/>
                <a:cs typeface="Times New Roman" panose="02020603050405020304" pitchFamily="18" charset="0"/>
              </a:rPr>
              <a:t>Studio</a:t>
            </a:r>
            <a:r>
              <a:rPr lang="tr-TR" dirty="0">
                <a:latin typeface="Times New Roman" panose="02020603050405020304" pitchFamily="18" charset="0"/>
                <a:cs typeface="Times New Roman" panose="02020603050405020304" pitchFamily="18" charset="0"/>
              </a:rPr>
              <a:t> ortamının başka hangi dillerle program yazmaya imkan sağladığını da görebiliyoruz. </a:t>
            </a:r>
          </a:p>
        </p:txBody>
      </p:sp>
      <p:sp>
        <p:nvSpPr>
          <p:cNvPr id="14" name="Dikdörtgen 13">
            <a:extLst>
              <a:ext uri="{FF2B5EF4-FFF2-40B4-BE49-F238E27FC236}">
                <a16:creationId xmlns:a16="http://schemas.microsoft.com/office/drawing/2014/main" id="{79FF8CB7-BFE9-440E-8C8E-6F79B9540674}"/>
              </a:ext>
            </a:extLst>
          </p:cNvPr>
          <p:cNvSpPr/>
          <p:nvPr/>
        </p:nvSpPr>
        <p:spPr>
          <a:xfrm>
            <a:off x="8472880" y="1498402"/>
            <a:ext cx="827714" cy="17616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spTree>
    <p:extLst>
      <p:ext uri="{BB962C8B-B14F-4D97-AF65-F5344CB8AC3E}">
        <p14:creationId xmlns:p14="http://schemas.microsoft.com/office/powerpoint/2010/main" val="35449190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etin kutusu 4">
            <a:extLst>
              <a:ext uri="{FF2B5EF4-FFF2-40B4-BE49-F238E27FC236}">
                <a16:creationId xmlns:a16="http://schemas.microsoft.com/office/drawing/2014/main" id="{E425FA51-1581-474A-A3AC-F4300999FB3B}"/>
              </a:ext>
            </a:extLst>
          </p:cNvPr>
          <p:cNvSpPr txBox="1"/>
          <p:nvPr/>
        </p:nvSpPr>
        <p:spPr>
          <a:xfrm>
            <a:off x="0" y="0"/>
            <a:ext cx="6096000" cy="369332"/>
          </a:xfrm>
          <a:prstGeom prst="rect">
            <a:avLst/>
          </a:prstGeom>
          <a:noFill/>
        </p:spPr>
        <p:txBody>
          <a:bodyPr wrap="square">
            <a:spAutoFit/>
          </a:bodyPr>
          <a:lstStyle/>
          <a:p>
            <a:r>
              <a:rPr lang="tr-TR" sz="1800" b="1" dirty="0">
                <a:solidFill>
                  <a:schemeClr val="tx1"/>
                </a:solidFill>
                <a:latin typeface="Times New Roman" panose="02020603050405020304" pitchFamily="18" charset="0"/>
                <a:cs typeface="Times New Roman" panose="02020603050405020304" pitchFamily="18" charset="0"/>
              </a:rPr>
              <a:t>Visual </a:t>
            </a:r>
            <a:r>
              <a:rPr lang="tr-TR" sz="1800" b="1" dirty="0" err="1">
                <a:solidFill>
                  <a:schemeClr val="tx1"/>
                </a:solidFill>
                <a:latin typeface="Times New Roman" panose="02020603050405020304" pitchFamily="18" charset="0"/>
                <a:cs typeface="Times New Roman" panose="02020603050405020304" pitchFamily="18" charset="0"/>
              </a:rPr>
              <a:t>Studio</a:t>
            </a:r>
            <a:r>
              <a:rPr lang="tr-TR" sz="1800" b="1" dirty="0">
                <a:solidFill>
                  <a:schemeClr val="tx1"/>
                </a:solidFill>
                <a:latin typeface="Times New Roman" panose="02020603050405020304" pitchFamily="18" charset="0"/>
                <a:cs typeface="Times New Roman" panose="02020603050405020304" pitchFamily="18" charset="0"/>
              </a:rPr>
              <a:t> 2019 </a:t>
            </a:r>
            <a:r>
              <a:rPr lang="tr-TR" b="1" dirty="0">
                <a:latin typeface="Times New Roman" panose="02020603050405020304" pitchFamily="18" charset="0"/>
                <a:cs typeface="Times New Roman" panose="02020603050405020304" pitchFamily="18" charset="0"/>
              </a:rPr>
              <a:t>ile yeni bir C++ Projesi Açma Adımları</a:t>
            </a:r>
            <a:endParaRPr lang="tr-TR" sz="1800" b="1" dirty="0">
              <a:solidFill>
                <a:schemeClr val="tx1"/>
              </a:solidFill>
              <a:latin typeface="Times New Roman" panose="02020603050405020304" pitchFamily="18" charset="0"/>
              <a:cs typeface="Times New Roman" panose="02020603050405020304" pitchFamily="18" charset="0"/>
            </a:endParaRPr>
          </a:p>
        </p:txBody>
      </p:sp>
      <p:sp>
        <p:nvSpPr>
          <p:cNvPr id="7" name="Metin kutusu 6">
            <a:extLst>
              <a:ext uri="{FF2B5EF4-FFF2-40B4-BE49-F238E27FC236}">
                <a16:creationId xmlns:a16="http://schemas.microsoft.com/office/drawing/2014/main" id="{6E5A8B88-1BE0-4273-AC1A-7AB8A66ADAF4}"/>
              </a:ext>
            </a:extLst>
          </p:cNvPr>
          <p:cNvSpPr txBox="1"/>
          <p:nvPr/>
        </p:nvSpPr>
        <p:spPr>
          <a:xfrm>
            <a:off x="163861" y="4281071"/>
            <a:ext cx="5581474" cy="1569660"/>
          </a:xfrm>
          <a:prstGeom prst="rect">
            <a:avLst/>
          </a:prstGeom>
          <a:noFill/>
        </p:spPr>
        <p:txBody>
          <a:bodyPr wrap="square">
            <a:spAutoFit/>
          </a:bodyPr>
          <a:lstStyle/>
          <a:p>
            <a:pPr algn="just"/>
            <a:r>
              <a:rPr lang="tr-TR" sz="1600" i="1" dirty="0">
                <a:latin typeface="Times New Roman" panose="02020603050405020304" pitchFamily="18" charset="0"/>
                <a:cs typeface="Times New Roman" panose="02020603050405020304" pitchFamily="18" charset="0"/>
              </a:rPr>
              <a:t>Boş Proje </a:t>
            </a:r>
            <a:r>
              <a:rPr lang="tr-TR" sz="1600" dirty="0">
                <a:latin typeface="Times New Roman" panose="02020603050405020304" pitchFamily="18" charset="0"/>
                <a:cs typeface="Times New Roman" panose="02020603050405020304" pitchFamily="18" charset="0"/>
              </a:rPr>
              <a:t>veya </a:t>
            </a:r>
            <a:r>
              <a:rPr lang="tr-TR" sz="1600" i="1" dirty="0">
                <a:latin typeface="Times New Roman" panose="02020603050405020304" pitchFamily="18" charset="0"/>
                <a:cs typeface="Times New Roman" panose="02020603050405020304" pitchFamily="18" charset="0"/>
              </a:rPr>
              <a:t>Konsol Uygulaması </a:t>
            </a:r>
            <a:r>
              <a:rPr lang="tr-TR" sz="1600" dirty="0">
                <a:latin typeface="Times New Roman" panose="02020603050405020304" pitchFamily="18" charset="0"/>
                <a:cs typeface="Times New Roman" panose="02020603050405020304" pitchFamily="18" charset="0"/>
              </a:rPr>
              <a:t>opsiyonlarından birisini seçerek şablonu tamamlıyoruz. Boş proje seçildiği durumda başlık dosyalarının eklenmediğini unutmayın!</a:t>
            </a:r>
          </a:p>
          <a:p>
            <a:pPr algn="just"/>
            <a:r>
              <a:rPr lang="tr-TR" sz="1600" dirty="0">
                <a:latin typeface="Times New Roman" panose="02020603050405020304" pitchFamily="18" charset="0"/>
                <a:cs typeface="Times New Roman" panose="02020603050405020304" pitchFamily="18" charset="0"/>
              </a:rPr>
              <a:t>Seçtiğiniz bu şablon, daha sonraki çalışmalarda </a:t>
            </a:r>
            <a:r>
              <a:rPr lang="tr-TR" sz="1600" u="sng" dirty="0">
                <a:latin typeface="Times New Roman" panose="02020603050405020304" pitchFamily="18" charset="0"/>
                <a:cs typeface="Times New Roman" panose="02020603050405020304" pitchFamily="18" charset="0"/>
              </a:rPr>
              <a:t>son kullanılan proje şablonları </a:t>
            </a:r>
            <a:r>
              <a:rPr lang="tr-TR" sz="1600" dirty="0">
                <a:latin typeface="Times New Roman" panose="02020603050405020304" pitchFamily="18" charset="0"/>
                <a:cs typeface="Times New Roman" panose="02020603050405020304" pitchFamily="18" charset="0"/>
              </a:rPr>
              <a:t>sekmesinde görülecektir. Böylece tek bir seçim işlemi ile hızlı şekilde projenizi oluşturabileceksiniz.</a:t>
            </a:r>
          </a:p>
        </p:txBody>
      </p:sp>
      <p:sp>
        <p:nvSpPr>
          <p:cNvPr id="12" name="Metin kutusu 11">
            <a:extLst>
              <a:ext uri="{FF2B5EF4-FFF2-40B4-BE49-F238E27FC236}">
                <a16:creationId xmlns:a16="http://schemas.microsoft.com/office/drawing/2014/main" id="{98D6D2F6-91F3-4765-8366-77DF26C211FF}"/>
              </a:ext>
            </a:extLst>
          </p:cNvPr>
          <p:cNvSpPr txBox="1"/>
          <p:nvPr/>
        </p:nvSpPr>
        <p:spPr>
          <a:xfrm>
            <a:off x="6254268" y="4281070"/>
            <a:ext cx="5809123" cy="923330"/>
          </a:xfrm>
          <a:prstGeom prst="rect">
            <a:avLst/>
          </a:prstGeom>
          <a:noFill/>
        </p:spPr>
        <p:txBody>
          <a:bodyPr wrap="square">
            <a:spAutoFit/>
          </a:bodyPr>
          <a:lstStyle/>
          <a:p>
            <a:pPr algn="l"/>
            <a:r>
              <a:rPr lang="tr-TR" dirty="0">
                <a:latin typeface="Times New Roman" panose="02020603050405020304" pitchFamily="18" charset="0"/>
                <a:cs typeface="Times New Roman" panose="02020603050405020304" pitchFamily="18" charset="0"/>
              </a:rPr>
              <a:t>Projemizin ismini ve  projeyi kaydedecek olduğumuz dosya yolunu da belirledikten sonra </a:t>
            </a:r>
            <a:r>
              <a:rPr lang="tr-TR" i="1" dirty="0">
                <a:latin typeface="Times New Roman" panose="02020603050405020304" pitchFamily="18" charset="0"/>
                <a:cs typeface="Times New Roman" panose="02020603050405020304" pitchFamily="18" charset="0"/>
              </a:rPr>
              <a:t>Oluştur</a:t>
            </a:r>
            <a:r>
              <a:rPr lang="tr-TR" dirty="0">
                <a:latin typeface="Times New Roman" panose="02020603050405020304" pitchFamily="18" charset="0"/>
                <a:cs typeface="Times New Roman" panose="02020603050405020304" pitchFamily="18" charset="0"/>
              </a:rPr>
              <a:t> butonuna basıyoruz ve projemiz hazır!</a:t>
            </a:r>
          </a:p>
        </p:txBody>
      </p:sp>
      <p:pic>
        <p:nvPicPr>
          <p:cNvPr id="4" name="Resim 3">
            <a:extLst>
              <a:ext uri="{FF2B5EF4-FFF2-40B4-BE49-F238E27FC236}">
                <a16:creationId xmlns:a16="http://schemas.microsoft.com/office/drawing/2014/main" id="{644BA3D8-E157-4FDD-B67E-6318637C83EA}"/>
              </a:ext>
            </a:extLst>
          </p:cNvPr>
          <p:cNvPicPr>
            <a:picLocks noChangeAspect="1"/>
          </p:cNvPicPr>
          <p:nvPr/>
        </p:nvPicPr>
        <p:blipFill>
          <a:blip r:embed="rId2"/>
          <a:stretch>
            <a:fillRect/>
          </a:stretch>
        </p:blipFill>
        <p:spPr>
          <a:xfrm>
            <a:off x="121371" y="426111"/>
            <a:ext cx="5623964" cy="3600000"/>
          </a:xfrm>
          <a:prstGeom prst="rect">
            <a:avLst/>
          </a:prstGeom>
        </p:spPr>
      </p:pic>
      <p:sp>
        <p:nvSpPr>
          <p:cNvPr id="14" name="Dikdörtgen 13">
            <a:extLst>
              <a:ext uri="{FF2B5EF4-FFF2-40B4-BE49-F238E27FC236}">
                <a16:creationId xmlns:a16="http://schemas.microsoft.com/office/drawing/2014/main" id="{79FF8CB7-BFE9-440E-8C8E-6F79B9540674}"/>
              </a:ext>
            </a:extLst>
          </p:cNvPr>
          <p:cNvSpPr/>
          <p:nvPr/>
        </p:nvSpPr>
        <p:spPr>
          <a:xfrm>
            <a:off x="4852758" y="3771819"/>
            <a:ext cx="827714" cy="17616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pic>
        <p:nvPicPr>
          <p:cNvPr id="11" name="Resim 10">
            <a:extLst>
              <a:ext uri="{FF2B5EF4-FFF2-40B4-BE49-F238E27FC236}">
                <a16:creationId xmlns:a16="http://schemas.microsoft.com/office/drawing/2014/main" id="{10404517-1D2F-4893-B237-327A3F5D4A2F}"/>
              </a:ext>
            </a:extLst>
          </p:cNvPr>
          <p:cNvPicPr>
            <a:picLocks noChangeAspect="1"/>
          </p:cNvPicPr>
          <p:nvPr/>
        </p:nvPicPr>
        <p:blipFill>
          <a:blip r:embed="rId3"/>
          <a:stretch>
            <a:fillRect/>
          </a:stretch>
        </p:blipFill>
        <p:spPr>
          <a:xfrm>
            <a:off x="6254269" y="426111"/>
            <a:ext cx="5647059" cy="3600000"/>
          </a:xfrm>
          <a:prstGeom prst="rect">
            <a:avLst/>
          </a:prstGeom>
        </p:spPr>
      </p:pic>
      <p:sp>
        <p:nvSpPr>
          <p:cNvPr id="13" name="Dikdörtgen 12">
            <a:extLst>
              <a:ext uri="{FF2B5EF4-FFF2-40B4-BE49-F238E27FC236}">
                <a16:creationId xmlns:a16="http://schemas.microsoft.com/office/drawing/2014/main" id="{8DCDE8F1-7DB3-45DE-AF69-C30CBAEC1D9C}"/>
              </a:ext>
            </a:extLst>
          </p:cNvPr>
          <p:cNvSpPr/>
          <p:nvPr/>
        </p:nvSpPr>
        <p:spPr>
          <a:xfrm>
            <a:off x="10994897" y="3769990"/>
            <a:ext cx="827714" cy="17616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spTree>
    <p:extLst>
      <p:ext uri="{BB962C8B-B14F-4D97-AF65-F5344CB8AC3E}">
        <p14:creationId xmlns:p14="http://schemas.microsoft.com/office/powerpoint/2010/main" val="21581185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etin kutusu 4">
            <a:extLst>
              <a:ext uri="{FF2B5EF4-FFF2-40B4-BE49-F238E27FC236}">
                <a16:creationId xmlns:a16="http://schemas.microsoft.com/office/drawing/2014/main" id="{E425FA51-1581-474A-A3AC-F4300999FB3B}"/>
              </a:ext>
            </a:extLst>
          </p:cNvPr>
          <p:cNvSpPr txBox="1"/>
          <p:nvPr/>
        </p:nvSpPr>
        <p:spPr>
          <a:xfrm>
            <a:off x="0" y="0"/>
            <a:ext cx="6096000" cy="369332"/>
          </a:xfrm>
          <a:prstGeom prst="rect">
            <a:avLst/>
          </a:prstGeom>
          <a:noFill/>
        </p:spPr>
        <p:txBody>
          <a:bodyPr wrap="square">
            <a:spAutoFit/>
          </a:bodyPr>
          <a:lstStyle/>
          <a:p>
            <a:r>
              <a:rPr lang="tr-TR" sz="1800" b="1" dirty="0">
                <a:solidFill>
                  <a:schemeClr val="tx1"/>
                </a:solidFill>
                <a:latin typeface="Times New Roman" panose="02020603050405020304" pitchFamily="18" charset="0"/>
                <a:cs typeface="Times New Roman" panose="02020603050405020304" pitchFamily="18" charset="0"/>
              </a:rPr>
              <a:t>Visual </a:t>
            </a:r>
            <a:r>
              <a:rPr lang="tr-TR" sz="1800" b="1" dirty="0" err="1">
                <a:solidFill>
                  <a:schemeClr val="tx1"/>
                </a:solidFill>
                <a:latin typeface="Times New Roman" panose="02020603050405020304" pitchFamily="18" charset="0"/>
                <a:cs typeface="Times New Roman" panose="02020603050405020304" pitchFamily="18" charset="0"/>
              </a:rPr>
              <a:t>Studio</a:t>
            </a:r>
            <a:r>
              <a:rPr lang="tr-TR" sz="1800" b="1" dirty="0">
                <a:solidFill>
                  <a:schemeClr val="tx1"/>
                </a:solidFill>
                <a:latin typeface="Times New Roman" panose="02020603050405020304" pitchFamily="18" charset="0"/>
                <a:cs typeface="Times New Roman" panose="02020603050405020304" pitchFamily="18" charset="0"/>
              </a:rPr>
              <a:t> 2019 </a:t>
            </a:r>
            <a:r>
              <a:rPr lang="tr-TR" b="1" dirty="0">
                <a:latin typeface="Times New Roman" panose="02020603050405020304" pitchFamily="18" charset="0"/>
                <a:cs typeface="Times New Roman" panose="02020603050405020304" pitchFamily="18" charset="0"/>
              </a:rPr>
              <a:t>ile yeni bir C++ Projesi Açma Adımları</a:t>
            </a:r>
            <a:endParaRPr lang="tr-TR" sz="1800" b="1" dirty="0">
              <a:solidFill>
                <a:schemeClr val="tx1"/>
              </a:solidFill>
              <a:latin typeface="Times New Roman" panose="02020603050405020304" pitchFamily="18" charset="0"/>
              <a:cs typeface="Times New Roman" panose="02020603050405020304" pitchFamily="18" charset="0"/>
            </a:endParaRPr>
          </a:p>
        </p:txBody>
      </p:sp>
      <p:sp>
        <p:nvSpPr>
          <p:cNvPr id="7" name="Metin kutusu 6">
            <a:extLst>
              <a:ext uri="{FF2B5EF4-FFF2-40B4-BE49-F238E27FC236}">
                <a16:creationId xmlns:a16="http://schemas.microsoft.com/office/drawing/2014/main" id="{6E5A8B88-1BE0-4273-AC1A-7AB8A66ADAF4}"/>
              </a:ext>
            </a:extLst>
          </p:cNvPr>
          <p:cNvSpPr txBox="1"/>
          <p:nvPr/>
        </p:nvSpPr>
        <p:spPr>
          <a:xfrm>
            <a:off x="0" y="5056870"/>
            <a:ext cx="12192000" cy="1323439"/>
          </a:xfrm>
          <a:prstGeom prst="rect">
            <a:avLst/>
          </a:prstGeom>
          <a:noFill/>
        </p:spPr>
        <p:txBody>
          <a:bodyPr wrap="square">
            <a:spAutoFit/>
          </a:bodyPr>
          <a:lstStyle/>
          <a:p>
            <a:pPr algn="just"/>
            <a:r>
              <a:rPr lang="tr-TR" sz="1600" i="1" dirty="0">
                <a:latin typeface="Times New Roman" panose="02020603050405020304" pitchFamily="18" charset="0"/>
                <a:cs typeface="Times New Roman" panose="02020603050405020304" pitchFamily="18" charset="0"/>
              </a:rPr>
              <a:t>Konsol Uygulaması </a:t>
            </a:r>
            <a:r>
              <a:rPr lang="tr-TR" sz="1600" dirty="0">
                <a:latin typeface="Times New Roman" panose="02020603050405020304" pitchFamily="18" charset="0"/>
                <a:cs typeface="Times New Roman" panose="02020603050405020304" pitchFamily="18" charset="0"/>
              </a:rPr>
              <a:t>seçtiğimiz için en basit program olan ve ekrana "</a:t>
            </a:r>
            <a:r>
              <a:rPr lang="tr-TR" sz="1600" dirty="0" err="1">
                <a:latin typeface="Times New Roman" panose="02020603050405020304" pitchFamily="18" charset="0"/>
                <a:cs typeface="Times New Roman" panose="02020603050405020304" pitchFamily="18" charset="0"/>
              </a:rPr>
              <a:t>Hello</a:t>
            </a:r>
            <a:r>
              <a:rPr lang="tr-TR" sz="1600" dirty="0">
                <a:latin typeface="Times New Roman" panose="02020603050405020304" pitchFamily="18" charset="0"/>
                <a:cs typeface="Times New Roman" panose="02020603050405020304" pitchFamily="18" charset="0"/>
              </a:rPr>
              <a:t> World" yazan program varsayılan olarak karşımıza çıkıyor. Bundan sonrası, silmek istediğimiz kısımları silip kendi kodumuzu yazmaya başlamak! </a:t>
            </a:r>
          </a:p>
          <a:p>
            <a:pPr algn="just"/>
            <a:endParaRPr lang="tr-TR" sz="1600" dirty="0">
              <a:latin typeface="Times New Roman" panose="02020603050405020304" pitchFamily="18" charset="0"/>
              <a:cs typeface="Times New Roman" panose="02020603050405020304" pitchFamily="18" charset="0"/>
            </a:endParaRPr>
          </a:p>
          <a:p>
            <a:pPr algn="just"/>
            <a:r>
              <a:rPr lang="tr-TR" sz="1600" dirty="0">
                <a:latin typeface="Times New Roman" panose="02020603050405020304" pitchFamily="18" charset="0"/>
                <a:cs typeface="Times New Roman" panose="02020603050405020304" pitchFamily="18" charset="0"/>
              </a:rPr>
              <a:t>Kısa yol olarak CTRL+F5 ile programı çalıştırabilirsiniz. </a:t>
            </a:r>
          </a:p>
          <a:p>
            <a:pPr algn="just"/>
            <a:endParaRPr lang="tr-TR" sz="1600" dirty="0">
              <a:latin typeface="Times New Roman" panose="02020603050405020304" pitchFamily="18" charset="0"/>
              <a:cs typeface="Times New Roman" panose="02020603050405020304" pitchFamily="18" charset="0"/>
            </a:endParaRPr>
          </a:p>
        </p:txBody>
      </p:sp>
      <p:pic>
        <p:nvPicPr>
          <p:cNvPr id="9" name="Resim 8">
            <a:extLst>
              <a:ext uri="{FF2B5EF4-FFF2-40B4-BE49-F238E27FC236}">
                <a16:creationId xmlns:a16="http://schemas.microsoft.com/office/drawing/2014/main" id="{94BF9BE9-201B-4424-8B16-AAA3C4BDC225}"/>
              </a:ext>
            </a:extLst>
          </p:cNvPr>
          <p:cNvPicPr>
            <a:picLocks noChangeAspect="1"/>
          </p:cNvPicPr>
          <p:nvPr/>
        </p:nvPicPr>
        <p:blipFill>
          <a:blip r:embed="rId2"/>
          <a:stretch>
            <a:fillRect/>
          </a:stretch>
        </p:blipFill>
        <p:spPr>
          <a:xfrm>
            <a:off x="2017247" y="548869"/>
            <a:ext cx="7989726" cy="4328464"/>
          </a:xfrm>
          <a:prstGeom prst="rect">
            <a:avLst/>
          </a:prstGeom>
          <a:ln w="6350" cap="sq">
            <a:solidFill>
              <a:srgbClr val="000000"/>
            </a:solidFill>
            <a:miter lim="800000"/>
          </a:ln>
          <a:effectLst>
            <a:outerShdw blurRad="57150" dist="50800" dir="2700000" algn="tl" rotWithShape="0">
              <a:srgbClr val="000000">
                <a:alpha val="40000"/>
              </a:srgbClr>
            </a:outerShdw>
          </a:effectLst>
        </p:spPr>
      </p:pic>
    </p:spTree>
    <p:extLst>
      <p:ext uri="{BB962C8B-B14F-4D97-AF65-F5344CB8AC3E}">
        <p14:creationId xmlns:p14="http://schemas.microsoft.com/office/powerpoint/2010/main" val="2348200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625475"/>
          </a:xfrm>
        </p:spPr>
        <p:txBody>
          <a:bodyPr anchor="ctr">
            <a:normAutofit/>
          </a:bodyPr>
          <a:lstStyle/>
          <a:p>
            <a:r>
              <a:rPr lang="tr-TR" sz="3000" b="1" dirty="0">
                <a:solidFill>
                  <a:schemeClr val="tx1"/>
                </a:solidFill>
                <a:latin typeface="Times New Roman" panose="02020603050405020304" pitchFamily="18" charset="0"/>
                <a:cs typeface="Times New Roman" panose="02020603050405020304" pitchFamily="18" charset="0"/>
              </a:rPr>
              <a:t>C++ Programının Yapısı</a:t>
            </a:r>
          </a:p>
        </p:txBody>
      </p:sp>
      <p:sp>
        <p:nvSpPr>
          <p:cNvPr id="6" name="Metin kutusu 5">
            <a:extLst>
              <a:ext uri="{FF2B5EF4-FFF2-40B4-BE49-F238E27FC236}">
                <a16:creationId xmlns:a16="http://schemas.microsoft.com/office/drawing/2014/main" id="{2F60CDE0-7EAE-4B7C-A5B2-5FF4D589585A}"/>
              </a:ext>
            </a:extLst>
          </p:cNvPr>
          <p:cNvSpPr txBox="1"/>
          <p:nvPr/>
        </p:nvSpPr>
        <p:spPr>
          <a:xfrm>
            <a:off x="73404" y="779662"/>
            <a:ext cx="6109282" cy="3970318"/>
          </a:xfrm>
          <a:prstGeom prst="rect">
            <a:avLst/>
          </a:prstGeom>
          <a:noFill/>
        </p:spPr>
        <p:txBody>
          <a:bodyPr wrap="square">
            <a:spAutoFit/>
          </a:bodyPr>
          <a:lstStyle/>
          <a:p>
            <a:r>
              <a:rPr lang="tr-TR" sz="1800" dirty="0">
                <a:solidFill>
                  <a:srgbClr val="808080"/>
                </a:solidFill>
                <a:latin typeface="Consolas" panose="020B0609020204030204" pitchFamily="49" charset="0"/>
              </a:rPr>
              <a:t>// Yorum satırı</a:t>
            </a:r>
          </a:p>
          <a:p>
            <a:r>
              <a:rPr lang="tr-TR" sz="1800" dirty="0">
                <a:solidFill>
                  <a:srgbClr val="808080"/>
                </a:solidFill>
                <a:latin typeface="Consolas" panose="020B0609020204030204" pitchFamily="49" charset="0"/>
              </a:rPr>
              <a:t>/* Yor</a:t>
            </a:r>
            <a:r>
              <a:rPr lang="tr-TR" dirty="0">
                <a:solidFill>
                  <a:srgbClr val="808080"/>
                </a:solidFill>
                <a:latin typeface="Consolas" panose="020B0609020204030204" pitchFamily="49" charset="0"/>
              </a:rPr>
              <a:t>umlar*/</a:t>
            </a:r>
            <a:endParaRPr lang="tr-TR" sz="1800" dirty="0">
              <a:solidFill>
                <a:srgbClr val="808080"/>
              </a:solidFill>
              <a:latin typeface="Consolas" panose="020B0609020204030204" pitchFamily="49" charset="0"/>
            </a:endParaRPr>
          </a:p>
          <a:p>
            <a:endParaRPr lang="tr-TR" sz="1800" dirty="0">
              <a:solidFill>
                <a:srgbClr val="808080"/>
              </a:solidFill>
              <a:latin typeface="Consolas" panose="020B0609020204030204" pitchFamily="49" charset="0"/>
            </a:endParaRPr>
          </a:p>
          <a:p>
            <a:r>
              <a:rPr lang="tr-TR" sz="1800" dirty="0">
                <a:solidFill>
                  <a:srgbClr val="808080"/>
                </a:solidFill>
                <a:latin typeface="Consolas" panose="020B0609020204030204" pitchFamily="49" charset="0"/>
              </a:rPr>
              <a:t>Eklenmesi gereken kütüphaneler</a:t>
            </a:r>
            <a:endParaRPr lang="tr-TR" sz="1800" dirty="0">
              <a:solidFill>
                <a:srgbClr val="000000"/>
              </a:solidFill>
              <a:latin typeface="Consolas" panose="020B0609020204030204" pitchFamily="49" charset="0"/>
            </a:endParaRPr>
          </a:p>
          <a:p>
            <a:endParaRPr lang="tr-TR" sz="1800" dirty="0">
              <a:solidFill>
                <a:srgbClr val="000000"/>
              </a:solidFill>
              <a:latin typeface="Consolas" panose="020B0609020204030204" pitchFamily="49" charset="0"/>
            </a:endParaRPr>
          </a:p>
          <a:p>
            <a:r>
              <a:rPr lang="tr-TR" sz="1800" dirty="0">
                <a:solidFill>
                  <a:srgbClr val="000000"/>
                </a:solidFill>
                <a:latin typeface="Consolas" panose="020B0609020204030204" pitchFamily="49" charset="0"/>
              </a:rPr>
              <a:t>Tanımlanması gereken kullanıcı fonksiyonları</a:t>
            </a:r>
          </a:p>
          <a:p>
            <a:endParaRPr lang="tr-TR" sz="1800" dirty="0">
              <a:solidFill>
                <a:srgbClr val="000000"/>
              </a:solidFill>
              <a:latin typeface="Consolas" panose="020B0609020204030204" pitchFamily="49" charset="0"/>
            </a:endParaRPr>
          </a:p>
          <a:p>
            <a:r>
              <a:rPr lang="tr-TR" sz="1800" dirty="0" err="1">
                <a:solidFill>
                  <a:srgbClr val="0000FF"/>
                </a:solidFill>
                <a:latin typeface="Consolas" panose="020B0609020204030204" pitchFamily="49" charset="0"/>
              </a:rPr>
              <a:t>int</a:t>
            </a:r>
            <a:r>
              <a:rPr lang="tr-TR" sz="1800" dirty="0">
                <a:solidFill>
                  <a:srgbClr val="000000"/>
                </a:solidFill>
                <a:latin typeface="Consolas" panose="020B0609020204030204" pitchFamily="49" charset="0"/>
              </a:rPr>
              <a:t> main()</a:t>
            </a:r>
          </a:p>
          <a:p>
            <a:r>
              <a:rPr lang="tr-TR" sz="1800" dirty="0">
                <a:solidFill>
                  <a:srgbClr val="000000"/>
                </a:solidFill>
                <a:latin typeface="Consolas" panose="020B0609020204030204" pitchFamily="49" charset="0"/>
              </a:rPr>
              <a:t>{</a:t>
            </a:r>
          </a:p>
          <a:p>
            <a:r>
              <a:rPr lang="tr-TR" dirty="0">
                <a:solidFill>
                  <a:srgbClr val="000000"/>
                </a:solidFill>
                <a:latin typeface="Consolas" panose="020B0609020204030204" pitchFamily="49" charset="0"/>
              </a:rPr>
              <a:t>	…</a:t>
            </a:r>
            <a:endParaRPr lang="tr-TR" sz="1800" dirty="0">
              <a:solidFill>
                <a:srgbClr val="000000"/>
              </a:solidFill>
              <a:latin typeface="Consolas" panose="020B0609020204030204" pitchFamily="49" charset="0"/>
            </a:endParaRPr>
          </a:p>
          <a:p>
            <a:r>
              <a:rPr lang="tr-TR" dirty="0">
                <a:solidFill>
                  <a:srgbClr val="000000"/>
                </a:solidFill>
                <a:latin typeface="Consolas" panose="020B0609020204030204" pitchFamily="49" charset="0"/>
              </a:rPr>
              <a:t>	işlemler;</a:t>
            </a:r>
          </a:p>
          <a:p>
            <a:r>
              <a:rPr lang="tr-TR" dirty="0">
                <a:solidFill>
                  <a:srgbClr val="000000"/>
                </a:solidFill>
                <a:latin typeface="Consolas" panose="020B0609020204030204" pitchFamily="49" charset="0"/>
              </a:rPr>
              <a:t>	…</a:t>
            </a:r>
          </a:p>
          <a:p>
            <a:r>
              <a:rPr lang="tr-TR" dirty="0">
                <a:solidFill>
                  <a:srgbClr val="000000"/>
                </a:solidFill>
                <a:latin typeface="Consolas" panose="020B0609020204030204" pitchFamily="49" charset="0"/>
              </a:rPr>
              <a:t>	</a:t>
            </a:r>
            <a:r>
              <a:rPr lang="tr-TR" dirty="0" err="1">
                <a:solidFill>
                  <a:srgbClr val="00B050"/>
                </a:solidFill>
                <a:latin typeface="Consolas" panose="020B0609020204030204" pitchFamily="49" charset="0"/>
              </a:rPr>
              <a:t>return</a:t>
            </a:r>
            <a:r>
              <a:rPr lang="tr-TR" dirty="0">
                <a:solidFill>
                  <a:srgbClr val="000000"/>
                </a:solidFill>
                <a:latin typeface="Consolas" panose="020B0609020204030204" pitchFamily="49" charset="0"/>
              </a:rPr>
              <a:t> 0;</a:t>
            </a:r>
            <a:endParaRPr lang="en-US" dirty="0">
              <a:solidFill>
                <a:srgbClr val="000000"/>
              </a:solidFill>
              <a:latin typeface="Consolas" panose="020B0609020204030204" pitchFamily="49" charset="0"/>
            </a:endParaRPr>
          </a:p>
          <a:p>
            <a:r>
              <a:rPr lang="tr-TR" sz="1800" dirty="0">
                <a:solidFill>
                  <a:srgbClr val="000000"/>
                </a:solidFill>
                <a:latin typeface="Consolas" panose="020B0609020204030204" pitchFamily="49" charset="0"/>
              </a:rPr>
              <a:t>}</a:t>
            </a:r>
            <a:endParaRPr lang="tr-TR" dirty="0"/>
          </a:p>
        </p:txBody>
      </p:sp>
    </p:spTree>
    <p:extLst>
      <p:ext uri="{BB962C8B-B14F-4D97-AF65-F5344CB8AC3E}">
        <p14:creationId xmlns:p14="http://schemas.microsoft.com/office/powerpoint/2010/main" val="2565612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625475"/>
          </a:xfrm>
        </p:spPr>
        <p:txBody>
          <a:bodyPr anchor="ctr">
            <a:normAutofit/>
          </a:bodyPr>
          <a:lstStyle/>
          <a:p>
            <a:r>
              <a:rPr lang="tr-TR" sz="3000" b="1" dirty="0">
                <a:solidFill>
                  <a:schemeClr val="tx1"/>
                </a:solidFill>
                <a:latin typeface="Times New Roman" panose="02020603050405020304" pitchFamily="18" charset="0"/>
                <a:cs typeface="Times New Roman" panose="02020603050405020304" pitchFamily="18" charset="0"/>
              </a:rPr>
              <a:t>C++ Standart Kütüphanesi</a:t>
            </a:r>
          </a:p>
        </p:txBody>
      </p:sp>
      <p:sp>
        <p:nvSpPr>
          <p:cNvPr id="8" name="Metin kutusu 7">
            <a:extLst>
              <a:ext uri="{FF2B5EF4-FFF2-40B4-BE49-F238E27FC236}">
                <a16:creationId xmlns:a16="http://schemas.microsoft.com/office/drawing/2014/main" id="{F82CEE49-FDB1-4F81-B35D-0420CDE4E18D}"/>
              </a:ext>
            </a:extLst>
          </p:cNvPr>
          <p:cNvSpPr txBox="1"/>
          <p:nvPr/>
        </p:nvSpPr>
        <p:spPr>
          <a:xfrm>
            <a:off x="-1" y="548293"/>
            <a:ext cx="12027679" cy="4247317"/>
          </a:xfrm>
          <a:prstGeom prst="rect">
            <a:avLst/>
          </a:prstGeom>
          <a:noFill/>
        </p:spPr>
        <p:txBody>
          <a:bodyPr wrap="square">
            <a:spAutoFit/>
          </a:bodyPr>
          <a:lstStyle/>
          <a:p>
            <a:pPr marL="29718" indent="-285750" algn="just">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C++ programları iki temel üzerine kuruludur: </a:t>
            </a:r>
          </a:p>
          <a:p>
            <a:pPr marL="742950" lvl="1" indent="-285750">
              <a:buFont typeface="Arial" panose="020B0604020202020204" pitchFamily="34" charset="0"/>
              <a:buChar char="•"/>
            </a:pPr>
            <a:r>
              <a:rPr lang="tr-TR" sz="1800" dirty="0">
                <a:solidFill>
                  <a:schemeClr val="tx1"/>
                </a:solidFill>
                <a:latin typeface="Times New Roman" panose="02020603050405020304" pitchFamily="18" charset="0"/>
                <a:cs typeface="Times New Roman" panose="02020603050405020304" pitchFamily="18" charset="0"/>
              </a:rPr>
              <a:t>SINIF (CLASS)</a:t>
            </a:r>
          </a:p>
          <a:p>
            <a:pPr marL="742950" lvl="1" indent="-285750">
              <a:buFont typeface="Arial" panose="020B0604020202020204" pitchFamily="34" charset="0"/>
              <a:buChar char="•"/>
            </a:pPr>
            <a:r>
              <a:rPr lang="tr-TR" sz="1800" dirty="0">
                <a:solidFill>
                  <a:schemeClr val="tx1"/>
                </a:solidFill>
                <a:latin typeface="Times New Roman" panose="02020603050405020304" pitchFamily="18" charset="0"/>
                <a:cs typeface="Times New Roman" panose="02020603050405020304" pitchFamily="18" charset="0"/>
              </a:rPr>
              <a:t>FONKSİYON (FUNCTION)</a:t>
            </a:r>
          </a:p>
          <a:p>
            <a:pPr marL="742950" lvl="1" indent="-285750">
              <a:buFont typeface="Arial" panose="020B0604020202020204" pitchFamily="34" charset="0"/>
              <a:buChar char="•"/>
            </a:pPr>
            <a:endParaRPr lang="tr-TR" sz="1800" dirty="0">
              <a:solidFill>
                <a:schemeClr val="tx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C++ dilini öğrenmek iki kısımdan oluşur: </a:t>
            </a:r>
          </a:p>
          <a:p>
            <a:pPr marL="742950" lvl="1" indent="-285750">
              <a:buFont typeface="Arial" panose="020B0604020202020204" pitchFamily="34" charset="0"/>
              <a:buChar char="•"/>
            </a:pPr>
            <a:r>
              <a:rPr lang="tr-TR" sz="1800" dirty="0">
                <a:solidFill>
                  <a:schemeClr val="tx1"/>
                </a:solidFill>
                <a:latin typeface="Times New Roman" panose="02020603050405020304" pitchFamily="18" charset="0"/>
                <a:cs typeface="Times New Roman" panose="02020603050405020304" pitchFamily="18" charset="0"/>
              </a:rPr>
              <a:t>C++ dilinin kendisini öğrenmek</a:t>
            </a:r>
          </a:p>
          <a:p>
            <a:pPr marL="742950" lvl="1" indent="-285750">
              <a:buFont typeface="Arial" panose="020B0604020202020204" pitchFamily="34" charset="0"/>
              <a:buChar char="•"/>
            </a:pPr>
            <a:r>
              <a:rPr lang="tr-TR" dirty="0">
                <a:latin typeface="Times New Roman" panose="02020603050405020304" pitchFamily="18" charset="0"/>
                <a:cs typeface="Times New Roman" panose="02020603050405020304" pitchFamily="18" charset="0"/>
              </a:rPr>
              <a:t>C++ standart kütüphanesindeki fonksiyonları ve kullanımlarını öğrenmek. </a:t>
            </a:r>
          </a:p>
          <a:p>
            <a:endParaRPr lang="tr-TR" dirty="0">
              <a:solidFill>
                <a:schemeClr val="tx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Ø"/>
            </a:pPr>
            <a:r>
              <a:rPr lang="tr-TR" dirty="0">
                <a:solidFill>
                  <a:schemeClr val="tx1"/>
                </a:solidFill>
                <a:latin typeface="Times New Roman" panose="02020603050405020304" pitchFamily="18" charset="0"/>
                <a:cs typeface="Times New Roman" panose="02020603050405020304" pitchFamily="18" charset="0"/>
              </a:rPr>
              <a:t>C++ standart kütüphanesi, tüm programcıların kullanabileceği zengin bir sınıf ve fonksiyon koleksiyonu sunar. </a:t>
            </a:r>
          </a:p>
          <a:p>
            <a:pPr marL="742950" lvl="1" indent="-285750">
              <a:buFont typeface="Arial" panose="020B0604020202020204" pitchFamily="34" charset="0"/>
              <a:buChar char="•"/>
            </a:pPr>
            <a:endParaRPr lang="tr-TR" dirty="0">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C++ diliyle program yazarken kullanılacak 3 temel bileşen vardır:</a:t>
            </a:r>
          </a:p>
          <a:p>
            <a:pPr marL="742950" lvl="1" indent="-285750">
              <a:buFont typeface="Arial" panose="020B0604020202020204" pitchFamily="34" charset="0"/>
              <a:buChar char="•"/>
            </a:pPr>
            <a:r>
              <a:rPr lang="tr-TR" dirty="0">
                <a:latin typeface="Times New Roman" panose="02020603050405020304" pitchFamily="18" charset="0"/>
                <a:cs typeface="Times New Roman" panose="02020603050405020304" pitchFamily="18" charset="0"/>
              </a:rPr>
              <a:t>C++ standart kütüphanesindeki sınıf ve fonksiyonlar</a:t>
            </a:r>
          </a:p>
          <a:p>
            <a:pPr marL="742950" lvl="1" indent="-285750">
              <a:buFont typeface="Arial" panose="020B0604020202020204" pitchFamily="34" charset="0"/>
              <a:buChar char="•"/>
            </a:pPr>
            <a:r>
              <a:rPr lang="tr-TR" dirty="0">
                <a:latin typeface="Times New Roman" panose="02020603050405020304" pitchFamily="18" charset="0"/>
                <a:cs typeface="Times New Roman" panose="02020603050405020304" pitchFamily="18" charset="0"/>
              </a:rPr>
              <a:t>Kendi yaratacağımız sınıf ve fonksiyonlar </a:t>
            </a:r>
          </a:p>
          <a:p>
            <a:pPr marL="742950" lvl="1" indent="-285750">
              <a:buFont typeface="Arial" panose="020B0604020202020204" pitchFamily="34" charset="0"/>
              <a:buChar char="•"/>
            </a:pPr>
            <a:r>
              <a:rPr lang="tr-TR" dirty="0">
                <a:latin typeface="Times New Roman" panose="02020603050405020304" pitchFamily="18" charset="0"/>
                <a:cs typeface="Times New Roman" panose="02020603050405020304" pitchFamily="18" charset="0"/>
              </a:rPr>
              <a:t>Başkaları tarafından (üçüncü parti üreticiler) sağlanan çeşitli popüler kütüphanelere ait sınıf ve fonksiyonlar</a:t>
            </a:r>
          </a:p>
          <a:p>
            <a:pPr marL="201168" lvl="1" indent="0" algn="just">
              <a:buNone/>
            </a:pPr>
            <a:endParaRPr lang="tr-TR"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550701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625475"/>
          </a:xfrm>
        </p:spPr>
        <p:txBody>
          <a:bodyPr anchor="ctr">
            <a:normAutofit/>
          </a:bodyPr>
          <a:lstStyle/>
          <a:p>
            <a:r>
              <a:rPr lang="tr-TR" sz="3000" b="1" dirty="0">
                <a:solidFill>
                  <a:schemeClr val="tx1"/>
                </a:solidFill>
                <a:latin typeface="Times New Roman" panose="02020603050405020304" pitchFamily="18" charset="0"/>
                <a:cs typeface="Times New Roman" panose="02020603050405020304" pitchFamily="18" charset="0"/>
              </a:rPr>
              <a:t>Bazı Öncü (Başlık) Dosyalar</a:t>
            </a:r>
          </a:p>
        </p:txBody>
      </p:sp>
      <p:sp>
        <p:nvSpPr>
          <p:cNvPr id="8" name="Metin kutusu 7">
            <a:extLst>
              <a:ext uri="{FF2B5EF4-FFF2-40B4-BE49-F238E27FC236}">
                <a16:creationId xmlns:a16="http://schemas.microsoft.com/office/drawing/2014/main" id="{F82CEE49-FDB1-4F81-B35D-0420CDE4E18D}"/>
              </a:ext>
            </a:extLst>
          </p:cNvPr>
          <p:cNvSpPr txBox="1"/>
          <p:nvPr/>
        </p:nvSpPr>
        <p:spPr>
          <a:xfrm>
            <a:off x="-1" y="548293"/>
            <a:ext cx="12192000" cy="1200329"/>
          </a:xfrm>
          <a:prstGeom prst="rect">
            <a:avLst/>
          </a:prstGeom>
          <a:noFill/>
        </p:spPr>
        <p:txBody>
          <a:bodyPr wrap="square">
            <a:spAutoFit/>
          </a:bodyPr>
          <a:lstStyle/>
          <a:p>
            <a:pPr marL="29718" indent="-285750" algn="just">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Her standart kütüphane, kendi fonksiyonlarının prototiplerini ve bu fonksiyonların ihtiyaç duyduğu veri tiplerini ve sabit değerleri içerir. </a:t>
            </a:r>
          </a:p>
          <a:p>
            <a:pPr marL="29718" indent="-285750" algn="just">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Bazı standart kütüphane öncü dosyaları tabloda verilmiştir: </a:t>
            </a:r>
          </a:p>
          <a:p>
            <a:pPr marL="29718" indent="-285750" algn="just">
              <a:buFont typeface="Wingdings" panose="05000000000000000000" pitchFamily="2" charset="2"/>
              <a:buChar char="Ø"/>
            </a:pPr>
            <a:endParaRPr lang="tr-TR" dirty="0">
              <a:latin typeface="Times New Roman" panose="02020603050405020304" pitchFamily="18" charset="0"/>
              <a:cs typeface="Times New Roman" panose="02020603050405020304" pitchFamily="18" charset="0"/>
            </a:endParaRPr>
          </a:p>
        </p:txBody>
      </p:sp>
      <p:graphicFrame>
        <p:nvGraphicFramePr>
          <p:cNvPr id="2" name="Tablo 3">
            <a:extLst>
              <a:ext uri="{FF2B5EF4-FFF2-40B4-BE49-F238E27FC236}">
                <a16:creationId xmlns:a16="http://schemas.microsoft.com/office/drawing/2014/main" id="{D0E99454-38DA-45FB-A267-A71191F8E092}"/>
              </a:ext>
            </a:extLst>
          </p:cNvPr>
          <p:cNvGraphicFramePr>
            <a:graphicFrameLocks noGrp="1"/>
          </p:cNvGraphicFramePr>
          <p:nvPr>
            <p:extLst>
              <p:ext uri="{D42A27DB-BD31-4B8C-83A1-F6EECF244321}">
                <p14:modId xmlns:p14="http://schemas.microsoft.com/office/powerpoint/2010/main" val="2929542857"/>
              </p:ext>
            </p:extLst>
          </p:nvPr>
        </p:nvGraphicFramePr>
        <p:xfrm>
          <a:off x="0" y="1560352"/>
          <a:ext cx="12192000" cy="5338709"/>
        </p:xfrm>
        <a:graphic>
          <a:graphicData uri="http://schemas.openxmlformats.org/drawingml/2006/table">
            <a:tbl>
              <a:tblPr firstRow="1" bandRow="1">
                <a:tableStyleId>{5C22544A-7EE6-4342-B048-85BDC9FD1C3A}</a:tableStyleId>
              </a:tblPr>
              <a:tblGrid>
                <a:gridCol w="747359">
                  <a:extLst>
                    <a:ext uri="{9D8B030D-6E8A-4147-A177-3AD203B41FA5}">
                      <a16:colId xmlns:a16="http://schemas.microsoft.com/office/drawing/2014/main" val="160229859"/>
                    </a:ext>
                  </a:extLst>
                </a:gridCol>
                <a:gridCol w="5273622">
                  <a:extLst>
                    <a:ext uri="{9D8B030D-6E8A-4147-A177-3AD203B41FA5}">
                      <a16:colId xmlns:a16="http://schemas.microsoft.com/office/drawing/2014/main" val="2245128016"/>
                    </a:ext>
                  </a:extLst>
                </a:gridCol>
                <a:gridCol w="809360">
                  <a:extLst>
                    <a:ext uri="{9D8B030D-6E8A-4147-A177-3AD203B41FA5}">
                      <a16:colId xmlns:a16="http://schemas.microsoft.com/office/drawing/2014/main" val="3009226183"/>
                    </a:ext>
                  </a:extLst>
                </a:gridCol>
                <a:gridCol w="5361659">
                  <a:extLst>
                    <a:ext uri="{9D8B030D-6E8A-4147-A177-3AD203B41FA5}">
                      <a16:colId xmlns:a16="http://schemas.microsoft.com/office/drawing/2014/main" val="3206373256"/>
                    </a:ext>
                  </a:extLst>
                </a:gridCol>
              </a:tblGrid>
              <a:tr h="269867">
                <a:tc>
                  <a:txBody>
                    <a:bodyPr/>
                    <a:lstStyle/>
                    <a:p>
                      <a:endParaRPr lang="tr-TR" sz="1000" dirty="0">
                        <a:latin typeface="Times New Roman" panose="02020603050405020304" pitchFamily="18" charset="0"/>
                        <a:cs typeface="Times New Roman" panose="02020603050405020304" pitchFamily="18" charset="0"/>
                      </a:endParaRPr>
                    </a:p>
                  </a:txBody>
                  <a:tcPr/>
                </a:tc>
                <a:tc>
                  <a:txBody>
                    <a:bodyPr/>
                    <a:lstStyle/>
                    <a:p>
                      <a:endParaRPr lang="tr-TR" sz="1000" dirty="0">
                        <a:latin typeface="Times New Roman" panose="02020603050405020304" pitchFamily="18" charset="0"/>
                        <a:cs typeface="Times New Roman" panose="02020603050405020304" pitchFamily="18" charset="0"/>
                      </a:endParaRPr>
                    </a:p>
                  </a:txBody>
                  <a:tcPr/>
                </a:tc>
                <a:tc>
                  <a:txBody>
                    <a:bodyPr/>
                    <a:lstStyle/>
                    <a:p>
                      <a:endParaRPr lang="tr-TR" sz="1000" dirty="0">
                        <a:latin typeface="Times New Roman" panose="02020603050405020304" pitchFamily="18" charset="0"/>
                        <a:cs typeface="Times New Roman" panose="02020603050405020304" pitchFamily="18" charset="0"/>
                      </a:endParaRPr>
                    </a:p>
                  </a:txBody>
                  <a:tcPr/>
                </a:tc>
                <a:tc>
                  <a:txBody>
                    <a:bodyPr/>
                    <a:lstStyle/>
                    <a:p>
                      <a:endParaRPr lang="tr-TR" sz="1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27942561"/>
                  </a:ext>
                </a:extLst>
              </a:tr>
              <a:tr h="435814">
                <a:tc>
                  <a:txBody>
                    <a:bodyPr/>
                    <a:lstStyle/>
                    <a:p>
                      <a:r>
                        <a:rPr lang="tr-TR" sz="1000" dirty="0" err="1">
                          <a:latin typeface="Times New Roman" panose="02020603050405020304" pitchFamily="18" charset="0"/>
                          <a:cs typeface="Times New Roman" panose="02020603050405020304" pitchFamily="18" charset="0"/>
                        </a:rPr>
                        <a:t>cassert</a:t>
                      </a:r>
                      <a:r>
                        <a:rPr lang="tr-TR" sz="1000" dirty="0">
                          <a:latin typeface="Times New Roman" panose="02020603050405020304" pitchFamily="18" charset="0"/>
                          <a:cs typeface="Times New Roman" panose="02020603050405020304" pitchFamily="18" charset="0"/>
                        </a:rPr>
                        <a:t> </a:t>
                      </a:r>
                    </a:p>
                  </a:txBody>
                  <a:tcPr/>
                </a:tc>
                <a:tc>
                  <a:txBody>
                    <a:bodyPr/>
                    <a:lstStyle/>
                    <a:p>
                      <a:r>
                        <a:rPr lang="tr-TR" sz="1000" dirty="0">
                          <a:latin typeface="Times New Roman" panose="02020603050405020304" pitchFamily="18" charset="0"/>
                          <a:cs typeface="Times New Roman" panose="02020603050405020304" pitchFamily="18" charset="0"/>
                        </a:rPr>
                        <a:t>Makrolar ve programın hatalarının ayıklanmasına yardımcı olacak inceleme araçlarını eklemek için gerekli bilgileri içerir. Bu dosyanın eski adı </a:t>
                      </a:r>
                      <a:r>
                        <a:rPr lang="tr-TR" sz="1000" dirty="0" err="1">
                          <a:latin typeface="Times New Roman" panose="02020603050405020304" pitchFamily="18" charset="0"/>
                          <a:cs typeface="Times New Roman" panose="02020603050405020304" pitchFamily="18" charset="0"/>
                        </a:rPr>
                        <a:t>assert.h</a:t>
                      </a:r>
                      <a:r>
                        <a:rPr lang="tr-TR" sz="1000" dirty="0">
                          <a:latin typeface="Times New Roman" panose="02020603050405020304" pitchFamily="18" charset="0"/>
                          <a:cs typeface="Times New Roman" panose="02020603050405020304" pitchFamily="18" charset="0"/>
                        </a:rPr>
                        <a:t> idi.</a:t>
                      </a:r>
                    </a:p>
                  </a:txBody>
                  <a:tcPr/>
                </a:tc>
                <a:tc>
                  <a:txBody>
                    <a:bodyPr/>
                    <a:lstStyle/>
                    <a:p>
                      <a:r>
                        <a:rPr lang="tr-TR" sz="1000" dirty="0" err="1">
                          <a:latin typeface="Times New Roman" panose="02020603050405020304" pitchFamily="18" charset="0"/>
                          <a:cs typeface="Times New Roman" panose="02020603050405020304" pitchFamily="18" charset="0"/>
                        </a:rPr>
                        <a:t>utility</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Bir çok standart kütüphane öncü dosyasının kullandığı sınıfları ve fonksiyonları içerir.</a:t>
                      </a:r>
                    </a:p>
                  </a:txBody>
                  <a:tcPr/>
                </a:tc>
                <a:extLst>
                  <a:ext uri="{0D108BD9-81ED-4DB2-BD59-A6C34878D82A}">
                    <a16:rowId xmlns:a16="http://schemas.microsoft.com/office/drawing/2014/main" val="3723884971"/>
                  </a:ext>
                </a:extLst>
              </a:tr>
              <a:tr h="938676">
                <a:tc>
                  <a:txBody>
                    <a:bodyPr/>
                    <a:lstStyle/>
                    <a:p>
                      <a:r>
                        <a:rPr lang="tr-TR" sz="1000" dirty="0" err="1">
                          <a:latin typeface="Times New Roman" panose="02020603050405020304" pitchFamily="18" charset="0"/>
                          <a:cs typeface="Times New Roman" panose="02020603050405020304" pitchFamily="18" charset="0"/>
                        </a:rPr>
                        <a:t>cctype</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Karakterlerin bazı özelliklerini test eden fonksiyonların prototiplerini içerir. Ayrıca küçük harfleri büyük harflere çevirmek ya da bunun tam tersini yapmak için kullanılır. Eski adı </a:t>
                      </a:r>
                      <a:r>
                        <a:rPr lang="tr-TR" sz="1000" dirty="0" err="1">
                          <a:latin typeface="Times New Roman" panose="02020603050405020304" pitchFamily="18" charset="0"/>
                          <a:cs typeface="Times New Roman" panose="02020603050405020304" pitchFamily="18" charset="0"/>
                        </a:rPr>
                        <a:t>ctype.h</a:t>
                      </a:r>
                      <a:r>
                        <a:rPr lang="tr-TR" sz="1000" dirty="0">
                          <a:latin typeface="Times New Roman" panose="02020603050405020304" pitchFamily="18" charset="0"/>
                          <a:cs typeface="Times New Roman" panose="02020603050405020304" pitchFamily="18" charset="0"/>
                        </a:rPr>
                        <a:t> idi.</a:t>
                      </a:r>
                    </a:p>
                  </a:txBody>
                  <a:tcPr/>
                </a:tc>
                <a:tc>
                  <a:txBody>
                    <a:bodyPr/>
                    <a:lstStyle/>
                    <a:p>
                      <a:r>
                        <a:rPr lang="en-US" sz="1000" dirty="0">
                          <a:latin typeface="Times New Roman" panose="02020603050405020304" pitchFamily="18" charset="0"/>
                          <a:cs typeface="Times New Roman" panose="02020603050405020304" pitchFamily="18" charset="0"/>
                        </a:rPr>
                        <a:t>vector, list, deque, queue, stack, map, set, </a:t>
                      </a:r>
                      <a:r>
                        <a:rPr lang="en-US" sz="1000" dirty="0" err="1">
                          <a:latin typeface="Times New Roman" panose="02020603050405020304" pitchFamily="18" charset="0"/>
                          <a:cs typeface="Times New Roman" panose="02020603050405020304" pitchFamily="18" charset="0"/>
                        </a:rPr>
                        <a:t>bitset</a:t>
                      </a:r>
                      <a:r>
                        <a:rPr lang="en-US" sz="1000" dirty="0">
                          <a:latin typeface="Times New Roman" panose="02020603050405020304" pitchFamily="18" charset="0"/>
                          <a:cs typeface="Times New Roman" panose="02020603050405020304" pitchFamily="18" charset="0"/>
                        </a:rPr>
                        <a:t>, </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Bu öncü dosyalar, standart kütüphane taşıyıcılarını sağlayan sınıfları içerir. Taşıyıcılar, programın çalışması sırasında verileri saklamak için kullanılır.</a:t>
                      </a:r>
                    </a:p>
                  </a:txBody>
                  <a:tcPr/>
                </a:tc>
                <a:extLst>
                  <a:ext uri="{0D108BD9-81ED-4DB2-BD59-A6C34878D82A}">
                    <a16:rowId xmlns:a16="http://schemas.microsoft.com/office/drawing/2014/main" val="2816151210"/>
                  </a:ext>
                </a:extLst>
              </a:tr>
              <a:tr h="269867">
                <a:tc>
                  <a:txBody>
                    <a:bodyPr/>
                    <a:lstStyle/>
                    <a:p>
                      <a:r>
                        <a:rPr lang="tr-TR" sz="1000" dirty="0" err="1">
                          <a:latin typeface="Times New Roman" panose="02020603050405020304" pitchFamily="18" charset="0"/>
                          <a:cs typeface="Times New Roman" panose="02020603050405020304" pitchFamily="18" charset="0"/>
                        </a:rPr>
                        <a:t>cfloat</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Sistemin, </a:t>
                      </a:r>
                      <a:r>
                        <a:rPr lang="tr-TR" sz="1000" dirty="0" err="1">
                          <a:latin typeface="Times New Roman" panose="02020603050405020304" pitchFamily="18" charset="0"/>
                          <a:cs typeface="Times New Roman" panose="02020603050405020304" pitchFamily="18" charset="0"/>
                        </a:rPr>
                        <a:t>float</a:t>
                      </a:r>
                      <a:r>
                        <a:rPr lang="tr-TR" sz="1000" dirty="0">
                          <a:latin typeface="Times New Roman" panose="02020603050405020304" pitchFamily="18" charset="0"/>
                          <a:cs typeface="Times New Roman" panose="02020603050405020304" pitchFamily="18" charset="0"/>
                        </a:rPr>
                        <a:t> tipindeki sayılar için limitlerini içerir. Eski adı </a:t>
                      </a:r>
                      <a:r>
                        <a:rPr lang="tr-TR" sz="1000" dirty="0" err="1">
                          <a:latin typeface="Times New Roman" panose="02020603050405020304" pitchFamily="18" charset="0"/>
                          <a:cs typeface="Times New Roman" panose="02020603050405020304" pitchFamily="18" charset="0"/>
                        </a:rPr>
                        <a:t>float.h</a:t>
                      </a:r>
                      <a:r>
                        <a:rPr lang="tr-TR" sz="1000" dirty="0">
                          <a:latin typeface="Times New Roman" panose="02020603050405020304" pitchFamily="18" charset="0"/>
                          <a:cs typeface="Times New Roman" panose="02020603050405020304" pitchFamily="18" charset="0"/>
                        </a:rPr>
                        <a:t> idi.</a:t>
                      </a:r>
                    </a:p>
                  </a:txBody>
                  <a:tcPr/>
                </a:tc>
                <a:tc>
                  <a:txBody>
                    <a:bodyPr/>
                    <a:lstStyle/>
                    <a:p>
                      <a:r>
                        <a:rPr lang="en-US" sz="1000" dirty="0">
                          <a:latin typeface="Times New Roman" panose="02020603050405020304" pitchFamily="18" charset="0"/>
                          <a:cs typeface="Times New Roman" panose="02020603050405020304" pitchFamily="18" charset="0"/>
                        </a:rPr>
                        <a:t>functional</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Standart kütüphane algoritmaları tarafından kullanılan sınıf ve fonksiyonları içerir.</a:t>
                      </a:r>
                    </a:p>
                  </a:txBody>
                  <a:tcPr/>
                </a:tc>
                <a:extLst>
                  <a:ext uri="{0D108BD9-81ED-4DB2-BD59-A6C34878D82A}">
                    <a16:rowId xmlns:a16="http://schemas.microsoft.com/office/drawing/2014/main" val="3836590209"/>
                  </a:ext>
                </a:extLst>
              </a:tr>
              <a:tr h="435814">
                <a:tc>
                  <a:txBody>
                    <a:bodyPr/>
                    <a:lstStyle/>
                    <a:p>
                      <a:r>
                        <a:rPr lang="tr-TR" sz="1000" dirty="0" err="1">
                          <a:latin typeface="Times New Roman" panose="02020603050405020304" pitchFamily="18" charset="0"/>
                          <a:cs typeface="Times New Roman" panose="02020603050405020304" pitchFamily="18" charset="0"/>
                        </a:rPr>
                        <a:t>climits</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İntegral limitlerini içerir. </a:t>
                      </a:r>
                      <a:r>
                        <a:rPr lang="tr-TR" sz="1000" dirty="0" err="1">
                          <a:latin typeface="Times New Roman" panose="02020603050405020304" pitchFamily="18" charset="0"/>
                          <a:cs typeface="Times New Roman" panose="02020603050405020304" pitchFamily="18" charset="0"/>
                        </a:rPr>
                        <a:t>limits.h</a:t>
                      </a:r>
                      <a:r>
                        <a:rPr lang="tr-TR" sz="1000" dirty="0">
                          <a:latin typeface="Times New Roman" panose="02020603050405020304" pitchFamily="18" charset="0"/>
                          <a:cs typeface="Times New Roman" panose="02020603050405020304" pitchFamily="18" charset="0"/>
                        </a:rPr>
                        <a:t> yerine kullanılır.</a:t>
                      </a:r>
                    </a:p>
                  </a:txBody>
                  <a:tcPr/>
                </a:tc>
                <a:tc>
                  <a:txBody>
                    <a:bodyPr/>
                    <a:lstStyle/>
                    <a:p>
                      <a:r>
                        <a:rPr lang="tr-TR" sz="1000" dirty="0" err="1">
                          <a:latin typeface="Times New Roman" panose="02020603050405020304" pitchFamily="18" charset="0"/>
                          <a:cs typeface="Times New Roman" panose="02020603050405020304" pitchFamily="18" charset="0"/>
                        </a:rPr>
                        <a:t>memory</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Standart kütüphane taşıyıcılarına hafızada yer ayıran standart kütüphane tarafından kullanılan sınıfları içerir.</a:t>
                      </a:r>
                    </a:p>
                  </a:txBody>
                  <a:tcPr/>
                </a:tc>
                <a:extLst>
                  <a:ext uri="{0D108BD9-81ED-4DB2-BD59-A6C34878D82A}">
                    <a16:rowId xmlns:a16="http://schemas.microsoft.com/office/drawing/2014/main" val="4031854851"/>
                  </a:ext>
                </a:extLst>
              </a:tr>
              <a:tr h="269867">
                <a:tc>
                  <a:txBody>
                    <a:bodyPr/>
                    <a:lstStyle/>
                    <a:p>
                      <a:r>
                        <a:rPr lang="tr-TR" sz="1000" dirty="0" err="1">
                          <a:latin typeface="Times New Roman" panose="02020603050405020304" pitchFamily="18" charset="0"/>
                          <a:cs typeface="Times New Roman" panose="02020603050405020304" pitchFamily="18" charset="0"/>
                        </a:rPr>
                        <a:t>cmath</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Matematik kütüphane fonksiyonlarının prototiplerini içerir. </a:t>
                      </a:r>
                      <a:r>
                        <a:rPr lang="tr-TR" sz="1000" dirty="0" err="1">
                          <a:latin typeface="Times New Roman" panose="02020603050405020304" pitchFamily="18" charset="0"/>
                          <a:cs typeface="Times New Roman" panose="02020603050405020304" pitchFamily="18" charset="0"/>
                        </a:rPr>
                        <a:t>math.h</a:t>
                      </a:r>
                      <a:r>
                        <a:rPr lang="tr-TR" sz="1000" dirty="0">
                          <a:latin typeface="Times New Roman" panose="02020603050405020304" pitchFamily="18" charset="0"/>
                          <a:cs typeface="Times New Roman" panose="02020603050405020304" pitchFamily="18" charset="0"/>
                        </a:rPr>
                        <a:t> yerine kullanılır.</a:t>
                      </a:r>
                    </a:p>
                  </a:txBody>
                  <a:tcPr/>
                </a:tc>
                <a:tc>
                  <a:txBody>
                    <a:bodyPr/>
                    <a:lstStyle/>
                    <a:p>
                      <a:r>
                        <a:rPr lang="tr-TR" sz="1000" dirty="0" err="1">
                          <a:latin typeface="Times New Roman" panose="02020603050405020304" pitchFamily="18" charset="0"/>
                          <a:cs typeface="Times New Roman" panose="02020603050405020304" pitchFamily="18" charset="0"/>
                        </a:rPr>
                        <a:t>iterator</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Standart kütüphane taşıyıcıları içindeki veriye ulaşmak için kullanılan sınıfları içerir.</a:t>
                      </a:r>
                    </a:p>
                  </a:txBody>
                  <a:tcPr/>
                </a:tc>
                <a:extLst>
                  <a:ext uri="{0D108BD9-81ED-4DB2-BD59-A6C34878D82A}">
                    <a16:rowId xmlns:a16="http://schemas.microsoft.com/office/drawing/2014/main" val="3919412937"/>
                  </a:ext>
                </a:extLst>
              </a:tr>
              <a:tr h="435814">
                <a:tc>
                  <a:txBody>
                    <a:bodyPr/>
                    <a:lstStyle/>
                    <a:p>
                      <a:r>
                        <a:rPr lang="tr-TR" sz="1000" dirty="0" err="1">
                          <a:latin typeface="Times New Roman" panose="02020603050405020304" pitchFamily="18" charset="0"/>
                          <a:cs typeface="Times New Roman" panose="02020603050405020304" pitchFamily="18" charset="0"/>
                        </a:rPr>
                        <a:t>cstdio</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Standart giriş/çıkış kütüphane fonksiyonlarının prototiplerini ve bu fonksiyonlar tarafından kullanılan bilgileri içerir. </a:t>
                      </a:r>
                      <a:r>
                        <a:rPr lang="tr-TR" sz="1000" dirty="0" err="1">
                          <a:latin typeface="Times New Roman" panose="02020603050405020304" pitchFamily="18" charset="0"/>
                          <a:cs typeface="Times New Roman" panose="02020603050405020304" pitchFamily="18" charset="0"/>
                        </a:rPr>
                        <a:t>stdio.h</a:t>
                      </a:r>
                      <a:r>
                        <a:rPr lang="tr-TR" sz="1000" dirty="0">
                          <a:latin typeface="Times New Roman" panose="02020603050405020304" pitchFamily="18" charset="0"/>
                          <a:cs typeface="Times New Roman" panose="02020603050405020304" pitchFamily="18" charset="0"/>
                        </a:rPr>
                        <a:t> yerine kullanılır.</a:t>
                      </a:r>
                    </a:p>
                  </a:txBody>
                  <a:tcPr/>
                </a:tc>
                <a:tc>
                  <a:txBody>
                    <a:bodyPr/>
                    <a:lstStyle/>
                    <a:p>
                      <a:r>
                        <a:rPr lang="tr-TR" sz="1000" dirty="0" err="1">
                          <a:latin typeface="Times New Roman" panose="02020603050405020304" pitchFamily="18" charset="0"/>
                          <a:cs typeface="Times New Roman" panose="02020603050405020304" pitchFamily="18" charset="0"/>
                        </a:rPr>
                        <a:t>algorithm</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Standart kütüphane taşıyıcılarındaki bilgi üzerinde işlem yapan fonksiyonları içerir.</a:t>
                      </a:r>
                    </a:p>
                  </a:txBody>
                  <a:tcPr/>
                </a:tc>
                <a:extLst>
                  <a:ext uri="{0D108BD9-81ED-4DB2-BD59-A6C34878D82A}">
                    <a16:rowId xmlns:a16="http://schemas.microsoft.com/office/drawing/2014/main" val="1157017905"/>
                  </a:ext>
                </a:extLst>
              </a:tr>
              <a:tr h="435814">
                <a:tc>
                  <a:txBody>
                    <a:bodyPr/>
                    <a:lstStyle/>
                    <a:p>
                      <a:r>
                        <a:rPr lang="tr-TR" sz="1000" dirty="0" err="1">
                          <a:latin typeface="Times New Roman" panose="02020603050405020304" pitchFamily="18" charset="0"/>
                          <a:cs typeface="Times New Roman" panose="02020603050405020304" pitchFamily="18" charset="0"/>
                        </a:rPr>
                        <a:t>cstdlib</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Sayıları metne, metni sayılara çeviren, hafızada yer ayıran, rastgele sayılar üreten ve diğer çeşitli faydalı fonksiyonların prototiplerini içerir. </a:t>
                      </a:r>
                      <a:r>
                        <a:rPr lang="tr-TR" sz="1000" dirty="0" err="1">
                          <a:latin typeface="Times New Roman" panose="02020603050405020304" pitchFamily="18" charset="0"/>
                          <a:cs typeface="Times New Roman" panose="02020603050405020304" pitchFamily="18" charset="0"/>
                        </a:rPr>
                        <a:t>stdlib.h</a:t>
                      </a:r>
                      <a:r>
                        <a:rPr lang="tr-TR" sz="1000" dirty="0">
                          <a:latin typeface="Times New Roman" panose="02020603050405020304" pitchFamily="18" charset="0"/>
                          <a:cs typeface="Times New Roman" panose="02020603050405020304" pitchFamily="18" charset="0"/>
                        </a:rPr>
                        <a:t> yerine kullanılır.</a:t>
                      </a:r>
                    </a:p>
                  </a:txBody>
                  <a:tcPr/>
                </a:tc>
                <a:tc>
                  <a:txBody>
                    <a:bodyPr/>
                    <a:lstStyle/>
                    <a:p>
                      <a:r>
                        <a:rPr lang="tr-TR" sz="1000" dirty="0" err="1">
                          <a:latin typeface="Times New Roman" panose="02020603050405020304" pitchFamily="18" charset="0"/>
                          <a:cs typeface="Times New Roman" panose="02020603050405020304" pitchFamily="18" charset="0"/>
                        </a:rPr>
                        <a:t>exception</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İstisnai durumları işleyen sınıfları içeren öncü dosyalardır.</a:t>
                      </a:r>
                    </a:p>
                  </a:txBody>
                  <a:tcPr/>
                </a:tc>
                <a:extLst>
                  <a:ext uri="{0D108BD9-81ED-4DB2-BD59-A6C34878D82A}">
                    <a16:rowId xmlns:a16="http://schemas.microsoft.com/office/drawing/2014/main" val="515914428"/>
                  </a:ext>
                </a:extLst>
              </a:tr>
              <a:tr h="269867">
                <a:tc>
                  <a:txBody>
                    <a:bodyPr/>
                    <a:lstStyle/>
                    <a:p>
                      <a:r>
                        <a:rPr lang="tr-TR" sz="1000" dirty="0" err="1">
                          <a:latin typeface="Times New Roman" panose="02020603050405020304" pitchFamily="18" charset="0"/>
                          <a:cs typeface="Times New Roman" panose="02020603050405020304" pitchFamily="18" charset="0"/>
                        </a:rPr>
                        <a:t>cstring</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C tarzı </a:t>
                      </a:r>
                      <a:r>
                        <a:rPr lang="tr-TR" sz="1000" dirty="0" err="1">
                          <a:latin typeface="Times New Roman" panose="02020603050405020304" pitchFamily="18" charset="0"/>
                          <a:cs typeface="Times New Roman" panose="02020603050405020304" pitchFamily="18" charset="0"/>
                        </a:rPr>
                        <a:t>string</a:t>
                      </a:r>
                      <a:r>
                        <a:rPr lang="tr-TR" sz="1000" dirty="0">
                          <a:latin typeface="Times New Roman" panose="02020603050405020304" pitchFamily="18" charset="0"/>
                          <a:cs typeface="Times New Roman" panose="02020603050405020304" pitchFamily="18" charset="0"/>
                        </a:rPr>
                        <a:t> işleme fonksiyonlarının prototiplerini içerir. </a:t>
                      </a:r>
                      <a:r>
                        <a:rPr lang="tr-TR" sz="1000" dirty="0" err="1">
                          <a:latin typeface="Times New Roman" panose="02020603050405020304" pitchFamily="18" charset="0"/>
                          <a:cs typeface="Times New Roman" panose="02020603050405020304" pitchFamily="18" charset="0"/>
                        </a:rPr>
                        <a:t>string.h</a:t>
                      </a:r>
                      <a:r>
                        <a:rPr lang="tr-TR" sz="1000" dirty="0">
                          <a:latin typeface="Times New Roman" panose="02020603050405020304" pitchFamily="18" charset="0"/>
                          <a:cs typeface="Times New Roman" panose="02020603050405020304" pitchFamily="18" charset="0"/>
                        </a:rPr>
                        <a:t> yerine kullanılır.</a:t>
                      </a:r>
                    </a:p>
                  </a:txBody>
                  <a:tcPr/>
                </a:tc>
                <a:tc>
                  <a:txBody>
                    <a:bodyPr/>
                    <a:lstStyle/>
                    <a:p>
                      <a:r>
                        <a:rPr lang="tr-TR" sz="1000" dirty="0" err="1">
                          <a:latin typeface="Times New Roman" panose="02020603050405020304" pitchFamily="18" charset="0"/>
                          <a:cs typeface="Times New Roman" panose="02020603050405020304" pitchFamily="18" charset="0"/>
                        </a:rPr>
                        <a:t>string</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Standart kütüphanedeki </a:t>
                      </a:r>
                      <a:r>
                        <a:rPr lang="tr-TR" sz="1000" dirty="0" err="1">
                          <a:latin typeface="Times New Roman" panose="02020603050405020304" pitchFamily="18" charset="0"/>
                          <a:cs typeface="Times New Roman" panose="02020603050405020304" pitchFamily="18" charset="0"/>
                        </a:rPr>
                        <a:t>string</a:t>
                      </a:r>
                      <a:r>
                        <a:rPr lang="tr-TR" sz="1000" dirty="0">
                          <a:latin typeface="Times New Roman" panose="02020603050405020304" pitchFamily="18" charset="0"/>
                          <a:cs typeface="Times New Roman" panose="02020603050405020304" pitchFamily="18" charset="0"/>
                        </a:rPr>
                        <a:t> sınıfının tanımlanmasını içerir.</a:t>
                      </a:r>
                    </a:p>
                  </a:txBody>
                  <a:tcPr/>
                </a:tc>
                <a:extLst>
                  <a:ext uri="{0D108BD9-81ED-4DB2-BD59-A6C34878D82A}">
                    <a16:rowId xmlns:a16="http://schemas.microsoft.com/office/drawing/2014/main" val="3619619118"/>
                  </a:ext>
                </a:extLst>
              </a:tr>
              <a:tr h="269867">
                <a:tc>
                  <a:txBody>
                    <a:bodyPr/>
                    <a:lstStyle/>
                    <a:p>
                      <a:r>
                        <a:rPr lang="tr-TR" sz="1000" dirty="0" err="1">
                          <a:latin typeface="Times New Roman" panose="02020603050405020304" pitchFamily="18" charset="0"/>
                          <a:cs typeface="Times New Roman" panose="02020603050405020304" pitchFamily="18" charset="0"/>
                        </a:rPr>
                        <a:t>ctime</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Zamanı ve tarihi yöneten fonksiyonların prototiplerini içerir. </a:t>
                      </a:r>
                      <a:r>
                        <a:rPr lang="tr-TR" sz="1000" dirty="0" err="1">
                          <a:latin typeface="Times New Roman" panose="02020603050405020304" pitchFamily="18" charset="0"/>
                          <a:cs typeface="Times New Roman" panose="02020603050405020304" pitchFamily="18" charset="0"/>
                        </a:rPr>
                        <a:t>time.h</a:t>
                      </a:r>
                      <a:r>
                        <a:rPr lang="tr-TR" sz="1000" dirty="0">
                          <a:latin typeface="Times New Roman" panose="02020603050405020304" pitchFamily="18" charset="0"/>
                          <a:cs typeface="Times New Roman" panose="02020603050405020304" pitchFamily="18" charset="0"/>
                        </a:rPr>
                        <a:t> yerine kullanılır.</a:t>
                      </a:r>
                    </a:p>
                  </a:txBody>
                  <a:tcPr/>
                </a:tc>
                <a:tc>
                  <a:txBody>
                    <a:bodyPr/>
                    <a:lstStyle/>
                    <a:p>
                      <a:r>
                        <a:rPr lang="tr-TR" sz="1000" dirty="0" err="1">
                          <a:latin typeface="Times New Roman" panose="02020603050405020304" pitchFamily="18" charset="0"/>
                          <a:cs typeface="Times New Roman" panose="02020603050405020304" pitchFamily="18" charset="0"/>
                        </a:rPr>
                        <a:t>sstream</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Hafızadan </a:t>
                      </a:r>
                      <a:r>
                        <a:rPr lang="tr-TR" sz="1000" dirty="0" err="1">
                          <a:latin typeface="Times New Roman" panose="02020603050405020304" pitchFamily="18" charset="0"/>
                          <a:cs typeface="Times New Roman" panose="02020603050405020304" pitchFamily="18" charset="0"/>
                        </a:rPr>
                        <a:t>string</a:t>
                      </a:r>
                      <a:r>
                        <a:rPr lang="tr-TR" sz="1000" dirty="0">
                          <a:latin typeface="Times New Roman" panose="02020603050405020304" pitchFamily="18" charset="0"/>
                          <a:cs typeface="Times New Roman" panose="02020603050405020304" pitchFamily="18" charset="0"/>
                        </a:rPr>
                        <a:t> girişi alan veya hafızaya </a:t>
                      </a:r>
                      <a:r>
                        <a:rPr lang="tr-TR" sz="1000" dirty="0" err="1">
                          <a:latin typeface="Times New Roman" panose="02020603050405020304" pitchFamily="18" charset="0"/>
                          <a:cs typeface="Times New Roman" panose="02020603050405020304" pitchFamily="18" charset="0"/>
                        </a:rPr>
                        <a:t>string</a:t>
                      </a:r>
                      <a:r>
                        <a:rPr lang="tr-TR" sz="1000" dirty="0">
                          <a:latin typeface="Times New Roman" panose="02020603050405020304" pitchFamily="18" charset="0"/>
                          <a:cs typeface="Times New Roman" panose="02020603050405020304" pitchFamily="18" charset="0"/>
                        </a:rPr>
                        <a:t> gönderen fonksiyonların prototiplerini içerir.</a:t>
                      </a:r>
                    </a:p>
                  </a:txBody>
                  <a:tcPr/>
                </a:tc>
                <a:extLst>
                  <a:ext uri="{0D108BD9-81ED-4DB2-BD59-A6C34878D82A}">
                    <a16:rowId xmlns:a16="http://schemas.microsoft.com/office/drawing/2014/main" val="3815621457"/>
                  </a:ext>
                </a:extLst>
              </a:tr>
              <a:tr h="435814">
                <a:tc>
                  <a:txBody>
                    <a:bodyPr/>
                    <a:lstStyle/>
                    <a:p>
                      <a:r>
                        <a:rPr lang="tr-TR" sz="1000" dirty="0" err="1">
                          <a:latin typeface="Times New Roman" panose="02020603050405020304" pitchFamily="18" charset="0"/>
                          <a:cs typeface="Times New Roman" panose="02020603050405020304" pitchFamily="18" charset="0"/>
                        </a:rPr>
                        <a:t>iostream</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Standart giriş/çıkış fonksiyonlarının prototiplerini içerir. </a:t>
                      </a:r>
                      <a:r>
                        <a:rPr lang="tr-TR" sz="1000" dirty="0" err="1">
                          <a:latin typeface="Times New Roman" panose="02020603050405020304" pitchFamily="18" charset="0"/>
                          <a:cs typeface="Times New Roman" panose="02020603050405020304" pitchFamily="18" charset="0"/>
                        </a:rPr>
                        <a:t>iostream.h</a:t>
                      </a:r>
                      <a:r>
                        <a:rPr lang="tr-TR" sz="1000" dirty="0">
                          <a:latin typeface="Times New Roman" panose="02020603050405020304" pitchFamily="18" charset="0"/>
                          <a:cs typeface="Times New Roman" panose="02020603050405020304" pitchFamily="18" charset="0"/>
                        </a:rPr>
                        <a:t> yerine kullanılır.</a:t>
                      </a:r>
                    </a:p>
                  </a:txBody>
                  <a:tcPr/>
                </a:tc>
                <a:tc>
                  <a:txBody>
                    <a:bodyPr/>
                    <a:lstStyle/>
                    <a:p>
                      <a:r>
                        <a:rPr lang="tr-TR" sz="1000" dirty="0" err="1">
                          <a:latin typeface="Times New Roman" panose="02020603050405020304" pitchFamily="18" charset="0"/>
                          <a:cs typeface="Times New Roman" panose="02020603050405020304" pitchFamily="18" charset="0"/>
                        </a:rPr>
                        <a:t>locale</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Farklı dillerin doğal hallerindeki bilgileri (para birimleri gibi) işlemek için kullanılan sınıf ve fonksiyonları içerir.</a:t>
                      </a:r>
                    </a:p>
                  </a:txBody>
                  <a:tcPr/>
                </a:tc>
                <a:extLst>
                  <a:ext uri="{0D108BD9-81ED-4DB2-BD59-A6C34878D82A}">
                    <a16:rowId xmlns:a16="http://schemas.microsoft.com/office/drawing/2014/main" val="2245314881"/>
                  </a:ext>
                </a:extLst>
              </a:tr>
              <a:tr h="435814">
                <a:tc>
                  <a:txBody>
                    <a:bodyPr/>
                    <a:lstStyle/>
                    <a:p>
                      <a:r>
                        <a:rPr lang="tr-TR" sz="1000" dirty="0" err="1">
                          <a:latin typeface="Times New Roman" panose="02020603050405020304" pitchFamily="18" charset="0"/>
                          <a:cs typeface="Times New Roman" panose="02020603050405020304" pitchFamily="18" charset="0"/>
                        </a:rPr>
                        <a:t>iomanip</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Veri akışlarını biçimlendirme imkanı sağlayan, akış yönetim fonksiyonlarının prototiplerini içerir. </a:t>
                      </a:r>
                      <a:r>
                        <a:rPr lang="tr-TR" sz="1000" dirty="0" err="1">
                          <a:latin typeface="Times New Roman" panose="02020603050405020304" pitchFamily="18" charset="0"/>
                          <a:cs typeface="Times New Roman" panose="02020603050405020304" pitchFamily="18" charset="0"/>
                        </a:rPr>
                        <a:t>iomanip.h</a:t>
                      </a:r>
                      <a:r>
                        <a:rPr lang="tr-TR" sz="1000" dirty="0">
                          <a:latin typeface="Times New Roman" panose="02020603050405020304" pitchFamily="18" charset="0"/>
                          <a:cs typeface="Times New Roman" panose="02020603050405020304" pitchFamily="18" charset="0"/>
                        </a:rPr>
                        <a:t> yerine kullanılır.</a:t>
                      </a:r>
                    </a:p>
                  </a:txBody>
                  <a:tcPr/>
                </a:tc>
                <a:tc>
                  <a:txBody>
                    <a:bodyPr/>
                    <a:lstStyle/>
                    <a:p>
                      <a:r>
                        <a:rPr lang="tr-TR" sz="1000" dirty="0" err="1">
                          <a:latin typeface="Times New Roman" panose="02020603050405020304" pitchFamily="18" charset="0"/>
                          <a:cs typeface="Times New Roman" panose="02020603050405020304" pitchFamily="18" charset="0"/>
                        </a:rPr>
                        <a:t>limits</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Her bilgisayar platformu üzerindeki sayısal veri tiplerinin limitlerini belirleyen sınıfları içerir.</a:t>
                      </a:r>
                    </a:p>
                  </a:txBody>
                  <a:tcPr/>
                </a:tc>
                <a:extLst>
                  <a:ext uri="{0D108BD9-81ED-4DB2-BD59-A6C34878D82A}">
                    <a16:rowId xmlns:a16="http://schemas.microsoft.com/office/drawing/2014/main" val="3090941831"/>
                  </a:ext>
                </a:extLst>
              </a:tr>
              <a:tr h="435814">
                <a:tc>
                  <a:txBody>
                    <a:bodyPr/>
                    <a:lstStyle/>
                    <a:p>
                      <a:r>
                        <a:rPr lang="tr-TR" sz="1000" dirty="0" err="1">
                          <a:latin typeface="Times New Roman" panose="02020603050405020304" pitchFamily="18" charset="0"/>
                          <a:cs typeface="Times New Roman" panose="02020603050405020304" pitchFamily="18" charset="0"/>
                        </a:rPr>
                        <a:t>fstream</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Disk üzerindeki dosyalara giriş/çıkış işlemleri yapan fonksiyonların prototiplerini içerir. </a:t>
                      </a:r>
                      <a:r>
                        <a:rPr lang="tr-TR" sz="1000" dirty="0" err="1">
                          <a:latin typeface="Times New Roman" panose="02020603050405020304" pitchFamily="18" charset="0"/>
                          <a:cs typeface="Times New Roman" panose="02020603050405020304" pitchFamily="18" charset="0"/>
                        </a:rPr>
                        <a:t>fstream.h</a:t>
                      </a:r>
                      <a:r>
                        <a:rPr lang="tr-TR" sz="1000" dirty="0">
                          <a:latin typeface="Times New Roman" panose="02020603050405020304" pitchFamily="18" charset="0"/>
                          <a:cs typeface="Times New Roman" panose="02020603050405020304" pitchFamily="18" charset="0"/>
                        </a:rPr>
                        <a:t> yerine kullanılır.</a:t>
                      </a:r>
                    </a:p>
                  </a:txBody>
                  <a:tcPr/>
                </a:tc>
                <a:tc>
                  <a:txBody>
                    <a:bodyPr/>
                    <a:lstStyle/>
                    <a:p>
                      <a:r>
                        <a:rPr lang="tr-TR" sz="1000" dirty="0" err="1">
                          <a:latin typeface="Times New Roman" panose="02020603050405020304" pitchFamily="18" charset="0"/>
                          <a:cs typeface="Times New Roman" panose="02020603050405020304" pitchFamily="18" charset="0"/>
                        </a:rPr>
                        <a:t>typeinfo</a:t>
                      </a:r>
                      <a:endParaRPr lang="tr-TR" sz="1000" dirty="0">
                        <a:latin typeface="Times New Roman" panose="02020603050405020304" pitchFamily="18" charset="0"/>
                        <a:cs typeface="Times New Roman" panose="02020603050405020304" pitchFamily="18" charset="0"/>
                      </a:endParaRPr>
                    </a:p>
                  </a:txBody>
                  <a:tcPr/>
                </a:tc>
                <a:tc>
                  <a:txBody>
                    <a:bodyPr/>
                    <a:lstStyle/>
                    <a:p>
                      <a:r>
                        <a:rPr lang="tr-TR" sz="1000" dirty="0">
                          <a:latin typeface="Times New Roman" panose="02020603050405020304" pitchFamily="18" charset="0"/>
                          <a:cs typeface="Times New Roman" panose="02020603050405020304" pitchFamily="18" charset="0"/>
                        </a:rPr>
                        <a:t>Çalışma anı tip yanıma yapmak için kullanılan sınıfları içerir (çalışma anındaki veri tiplerini belirler).</a:t>
                      </a:r>
                    </a:p>
                  </a:txBody>
                  <a:tcPr/>
                </a:tc>
                <a:extLst>
                  <a:ext uri="{0D108BD9-81ED-4DB2-BD59-A6C34878D82A}">
                    <a16:rowId xmlns:a16="http://schemas.microsoft.com/office/drawing/2014/main" val="2756397651"/>
                  </a:ext>
                </a:extLst>
              </a:tr>
            </a:tbl>
          </a:graphicData>
        </a:graphic>
      </p:graphicFrame>
    </p:spTree>
    <p:extLst>
      <p:ext uri="{BB962C8B-B14F-4D97-AF65-F5344CB8AC3E}">
        <p14:creationId xmlns:p14="http://schemas.microsoft.com/office/powerpoint/2010/main" val="12312835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625475"/>
          </a:xfrm>
        </p:spPr>
        <p:txBody>
          <a:bodyPr anchor="ctr">
            <a:normAutofit/>
          </a:bodyPr>
          <a:lstStyle/>
          <a:p>
            <a:r>
              <a:rPr lang="tr-TR" sz="3000" b="1" i="1" dirty="0" err="1">
                <a:solidFill>
                  <a:srgbClr val="7030A0"/>
                </a:solidFill>
                <a:latin typeface="Times New Roman" panose="02020603050405020304" pitchFamily="18" charset="0"/>
                <a:cs typeface="Times New Roman" panose="02020603050405020304" pitchFamily="18" charset="0"/>
              </a:rPr>
              <a:t>iostream</a:t>
            </a:r>
            <a:r>
              <a:rPr lang="tr-TR" sz="3000" b="1" dirty="0">
                <a:solidFill>
                  <a:schemeClr val="tx1"/>
                </a:solidFill>
                <a:latin typeface="Times New Roman" panose="02020603050405020304" pitchFamily="18" charset="0"/>
                <a:cs typeface="Times New Roman" panose="02020603050405020304" pitchFamily="18" charset="0"/>
              </a:rPr>
              <a:t> Başlık Dosyası</a:t>
            </a:r>
          </a:p>
        </p:txBody>
      </p:sp>
      <p:sp>
        <p:nvSpPr>
          <p:cNvPr id="8" name="Metin kutusu 7">
            <a:extLst>
              <a:ext uri="{FF2B5EF4-FFF2-40B4-BE49-F238E27FC236}">
                <a16:creationId xmlns:a16="http://schemas.microsoft.com/office/drawing/2014/main" id="{F82CEE49-FDB1-4F81-B35D-0420CDE4E18D}"/>
              </a:ext>
            </a:extLst>
          </p:cNvPr>
          <p:cNvSpPr txBox="1"/>
          <p:nvPr/>
        </p:nvSpPr>
        <p:spPr>
          <a:xfrm>
            <a:off x="-1" y="548293"/>
            <a:ext cx="12192000" cy="4197559"/>
          </a:xfrm>
          <a:prstGeom prst="rect">
            <a:avLst/>
          </a:prstGeom>
          <a:noFill/>
        </p:spPr>
        <p:txBody>
          <a:bodyPr wrap="square">
            <a:spAutoFit/>
          </a:bodyPr>
          <a:lstStyle/>
          <a:p>
            <a:pPr marL="29718" indent="-285750" algn="just">
              <a:lnSpc>
                <a:spcPct val="150000"/>
              </a:lnSpc>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C++ dilinde giriş-çıkış işlemlerini doğrudan gerçekleştiren özel ifadeler yoktur. Bu işlemler akış (</a:t>
            </a:r>
            <a:r>
              <a:rPr lang="tr-TR" dirty="0" err="1">
                <a:latin typeface="Times New Roman" panose="02020603050405020304" pitchFamily="18" charset="0"/>
                <a:cs typeface="Times New Roman" panose="02020603050405020304" pitchFamily="18" charset="0"/>
              </a:rPr>
              <a:t>stream</a:t>
            </a:r>
            <a:r>
              <a:rPr lang="tr-TR" dirty="0">
                <a:latin typeface="Times New Roman" panose="02020603050405020304" pitchFamily="18" charset="0"/>
                <a:cs typeface="Times New Roman" panose="02020603050405020304" pitchFamily="18" charset="0"/>
              </a:rPr>
              <a:t>) denilen sınıfların nesneleri ile gerçekleştirilir. (Akış (</a:t>
            </a:r>
            <a:r>
              <a:rPr lang="tr-TR" dirty="0" err="1">
                <a:latin typeface="Times New Roman" panose="02020603050405020304" pitchFamily="18" charset="0"/>
                <a:cs typeface="Times New Roman" panose="02020603050405020304" pitchFamily="18" charset="0"/>
              </a:rPr>
              <a:t>stream</a:t>
            </a:r>
            <a:r>
              <a:rPr lang="tr-TR" dirty="0">
                <a:latin typeface="Times New Roman" panose="02020603050405020304" pitchFamily="18" charset="0"/>
                <a:cs typeface="Times New Roman" panose="02020603050405020304" pitchFamily="18" charset="0"/>
              </a:rPr>
              <a:t>), sınıf (</a:t>
            </a:r>
            <a:r>
              <a:rPr lang="tr-TR" dirty="0" err="1">
                <a:latin typeface="Times New Roman" panose="02020603050405020304" pitchFamily="18" charset="0"/>
                <a:cs typeface="Times New Roman" panose="02020603050405020304" pitchFamily="18" charset="0"/>
              </a:rPr>
              <a:t>class</a:t>
            </a:r>
            <a:r>
              <a:rPr lang="tr-TR" dirty="0">
                <a:latin typeface="Times New Roman" panose="02020603050405020304" pitchFamily="18" charset="0"/>
                <a:cs typeface="Times New Roman" panose="02020603050405020304" pitchFamily="18" charset="0"/>
              </a:rPr>
              <a:t>) ve nesne (</a:t>
            </a:r>
            <a:r>
              <a:rPr lang="tr-TR" dirty="0" err="1">
                <a:latin typeface="Times New Roman" panose="02020603050405020304" pitchFamily="18" charset="0"/>
                <a:cs typeface="Times New Roman" panose="02020603050405020304" pitchFamily="18" charset="0"/>
              </a:rPr>
              <a:t>object</a:t>
            </a:r>
            <a:r>
              <a:rPr lang="tr-TR" dirty="0">
                <a:latin typeface="Times New Roman" panose="02020603050405020304" pitchFamily="18" charset="0"/>
                <a:cs typeface="Times New Roman" panose="02020603050405020304" pitchFamily="18" charset="0"/>
              </a:rPr>
              <a:t>) kavramlarına ilerde değineceğiz.) </a:t>
            </a:r>
          </a:p>
          <a:p>
            <a:pPr marL="29718" indent="-285750" algn="just">
              <a:lnSpc>
                <a:spcPct val="150000"/>
              </a:lnSpc>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Örneğin en basit konsol işlem olan ekrana yazma ve ekrandan okutma işlemleri </a:t>
            </a:r>
            <a:r>
              <a:rPr lang="tr-TR" b="1" i="1" dirty="0" err="1">
                <a:solidFill>
                  <a:srgbClr val="7030A0"/>
                </a:solidFill>
                <a:latin typeface="Times New Roman" panose="02020603050405020304" pitchFamily="18" charset="0"/>
                <a:cs typeface="Times New Roman" panose="02020603050405020304" pitchFamily="18" charset="0"/>
              </a:rPr>
              <a:t>iostream</a:t>
            </a:r>
            <a:r>
              <a:rPr lang="tr-TR" dirty="0">
                <a:latin typeface="Times New Roman" panose="02020603050405020304" pitchFamily="18" charset="0"/>
                <a:cs typeface="Times New Roman" panose="02020603050405020304" pitchFamily="18" charset="0"/>
              </a:rPr>
              <a:t> sınıfının </a:t>
            </a:r>
            <a:r>
              <a:rPr lang="tr-TR" b="1" dirty="0" err="1">
                <a:solidFill>
                  <a:srgbClr val="7030A0"/>
                </a:solidFill>
                <a:latin typeface="Consolas" panose="020B0609020204030204" pitchFamily="49" charset="0"/>
                <a:cs typeface="Times New Roman" panose="02020603050405020304" pitchFamily="18" charset="0"/>
              </a:rPr>
              <a:t>cout</a:t>
            </a:r>
            <a:r>
              <a:rPr lang="tr-TR" dirty="0">
                <a:latin typeface="Times New Roman" panose="02020603050405020304" pitchFamily="18" charset="0"/>
                <a:cs typeface="Times New Roman" panose="02020603050405020304" pitchFamily="18" charset="0"/>
              </a:rPr>
              <a:t> ve </a:t>
            </a:r>
            <a:r>
              <a:rPr lang="tr-TR" b="1" dirty="0">
                <a:solidFill>
                  <a:srgbClr val="7030A0"/>
                </a:solidFill>
                <a:latin typeface="Consolas" panose="020B0609020204030204" pitchFamily="49" charset="0"/>
                <a:cs typeface="Times New Roman" panose="02020603050405020304" pitchFamily="18" charset="0"/>
              </a:rPr>
              <a:t>cin</a:t>
            </a:r>
            <a:r>
              <a:rPr lang="tr-TR" dirty="0">
                <a:latin typeface="Times New Roman" panose="02020603050405020304" pitchFamily="18" charset="0"/>
                <a:cs typeface="Times New Roman" panose="02020603050405020304" pitchFamily="18" charset="0"/>
              </a:rPr>
              <a:t> nesnelerine karşılık gelir ve bu komutlar aracılığıyla gerçekleştirilir. </a:t>
            </a:r>
          </a:p>
          <a:p>
            <a:pPr marL="486918" lvl="1" indent="-285750" algn="just">
              <a:lnSpc>
                <a:spcPct val="150000"/>
              </a:lnSpc>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Çıkış nesnesi olan </a:t>
            </a:r>
            <a:r>
              <a:rPr lang="tr-TR" b="1" dirty="0" err="1">
                <a:solidFill>
                  <a:srgbClr val="7030A0"/>
                </a:solidFill>
                <a:latin typeface="Consolas" panose="020B0609020204030204" pitchFamily="49" charset="0"/>
                <a:cs typeface="Times New Roman" panose="02020603050405020304" pitchFamily="18" charset="0"/>
              </a:rPr>
              <a:t>cout</a:t>
            </a:r>
            <a:r>
              <a:rPr lang="tr-TR" dirty="0">
                <a:latin typeface="Times New Roman" panose="02020603050405020304" pitchFamily="18" charset="0"/>
                <a:cs typeface="Times New Roman" panose="02020603050405020304" pitchFamily="18" charset="0"/>
              </a:rPr>
              <a:t>, ekleme (</a:t>
            </a:r>
            <a:r>
              <a:rPr lang="tr-TR" dirty="0" err="1">
                <a:latin typeface="Times New Roman" panose="02020603050405020304" pitchFamily="18" charset="0"/>
                <a:cs typeface="Times New Roman" panose="02020603050405020304" pitchFamily="18" charset="0"/>
              </a:rPr>
              <a:t>insertion</a:t>
            </a:r>
            <a:r>
              <a:rPr lang="tr-TR" dirty="0">
                <a:latin typeface="Times New Roman" panose="02020603050405020304" pitchFamily="18" charset="0"/>
                <a:cs typeface="Times New Roman" panose="02020603050405020304" pitchFamily="18" charset="0"/>
              </a:rPr>
              <a:t>) operatörü olan </a:t>
            </a:r>
            <a:r>
              <a:rPr lang="tr-TR" b="1" dirty="0">
                <a:solidFill>
                  <a:srgbClr val="7030A0"/>
                </a:solidFill>
                <a:latin typeface="Times New Roman" panose="02020603050405020304" pitchFamily="18" charset="0"/>
                <a:cs typeface="Times New Roman" panose="02020603050405020304" pitchFamily="18" charset="0"/>
              </a:rPr>
              <a:t>&lt;&lt;</a:t>
            </a:r>
            <a:r>
              <a:rPr lang="tr-TR" dirty="0">
                <a:latin typeface="Times New Roman" panose="02020603050405020304" pitchFamily="18" charset="0"/>
                <a:cs typeface="Times New Roman" panose="02020603050405020304" pitchFamily="18" charset="0"/>
              </a:rPr>
              <a:t> ile,</a:t>
            </a:r>
          </a:p>
          <a:p>
            <a:pPr marL="486918" lvl="1" indent="-285750" algn="just">
              <a:lnSpc>
                <a:spcPct val="150000"/>
              </a:lnSpc>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Giriş nesnesi olan </a:t>
            </a:r>
            <a:r>
              <a:rPr lang="tr-TR" b="1" dirty="0">
                <a:solidFill>
                  <a:srgbClr val="7030A0"/>
                </a:solidFill>
                <a:latin typeface="Consolas" panose="020B0609020204030204" pitchFamily="49" charset="0"/>
                <a:cs typeface="Times New Roman" panose="02020603050405020304" pitchFamily="18" charset="0"/>
              </a:rPr>
              <a:t>cin</a:t>
            </a:r>
            <a:r>
              <a:rPr lang="tr-TR" dirty="0">
                <a:latin typeface="Times New Roman" panose="02020603050405020304" pitchFamily="18" charset="0"/>
                <a:cs typeface="Times New Roman" panose="02020603050405020304" pitchFamily="18" charset="0"/>
              </a:rPr>
              <a:t>, çıkarma (</a:t>
            </a:r>
            <a:r>
              <a:rPr lang="tr-TR" dirty="0" err="1">
                <a:latin typeface="Times New Roman" panose="02020603050405020304" pitchFamily="18" charset="0"/>
                <a:cs typeface="Times New Roman" panose="02020603050405020304" pitchFamily="18" charset="0"/>
              </a:rPr>
              <a:t>extraction</a:t>
            </a:r>
            <a:r>
              <a:rPr lang="tr-TR" dirty="0">
                <a:latin typeface="Times New Roman" panose="02020603050405020304" pitchFamily="18" charset="0"/>
                <a:cs typeface="Times New Roman" panose="02020603050405020304" pitchFamily="18" charset="0"/>
              </a:rPr>
              <a:t>) operatörü olan </a:t>
            </a:r>
            <a:r>
              <a:rPr lang="tr-TR" b="1" dirty="0">
                <a:solidFill>
                  <a:srgbClr val="7030A0"/>
                </a:solidFill>
                <a:latin typeface="Times New Roman" panose="02020603050405020304" pitchFamily="18" charset="0"/>
                <a:cs typeface="Times New Roman" panose="02020603050405020304" pitchFamily="18" charset="0"/>
              </a:rPr>
              <a:t>&gt;&gt;</a:t>
            </a:r>
            <a:r>
              <a:rPr lang="tr-TR" dirty="0">
                <a:latin typeface="Times New Roman" panose="02020603050405020304" pitchFamily="18" charset="0"/>
                <a:cs typeface="Times New Roman" panose="02020603050405020304" pitchFamily="18" charset="0"/>
              </a:rPr>
              <a:t> ile kullanılır. </a:t>
            </a:r>
          </a:p>
          <a:p>
            <a:pPr marL="29718" indent="-285750" algn="just">
              <a:lnSpc>
                <a:spcPct val="150000"/>
              </a:lnSpc>
              <a:buClr>
                <a:schemeClr val="bg1"/>
              </a:buClr>
              <a:buFont typeface="Wingdings" panose="05000000000000000000" pitchFamily="2" charset="2"/>
              <a:buChar char="Ø"/>
            </a:pPr>
            <a:r>
              <a:rPr lang="tr-TR" dirty="0" err="1">
                <a:solidFill>
                  <a:srgbClr val="7030A0"/>
                </a:solidFill>
                <a:latin typeface="Times New Roman" panose="02020603050405020304" pitchFamily="18" charset="0"/>
                <a:cs typeface="Times New Roman" panose="02020603050405020304" pitchFamily="18" charset="0"/>
              </a:rPr>
              <a:t>iostream</a:t>
            </a:r>
            <a:r>
              <a:rPr lang="tr-TR" dirty="0">
                <a:latin typeface="Times New Roman" panose="02020603050405020304" pitchFamily="18" charset="0"/>
                <a:cs typeface="Times New Roman" panose="02020603050405020304" pitchFamily="18" charset="0"/>
              </a:rPr>
              <a:t> başlık dosyası </a:t>
            </a:r>
            <a:r>
              <a:rPr lang="tr-TR" dirty="0">
                <a:solidFill>
                  <a:srgbClr val="7030A0"/>
                </a:solidFill>
                <a:latin typeface="Times New Roman" panose="02020603050405020304" pitchFamily="18" charset="0"/>
                <a:cs typeface="Times New Roman" panose="02020603050405020304" pitchFamily="18" charset="0"/>
              </a:rPr>
              <a:t>#include </a:t>
            </a:r>
            <a:r>
              <a:rPr lang="tr-TR" dirty="0">
                <a:latin typeface="Times New Roman" panose="02020603050405020304" pitchFamily="18" charset="0"/>
                <a:cs typeface="Times New Roman" panose="02020603050405020304" pitchFamily="18" charset="0"/>
              </a:rPr>
              <a:t>ön işlemci bildiricisiyle programa eklenir. </a:t>
            </a:r>
          </a:p>
          <a:p>
            <a:pPr marL="29718" indent="-285750" algn="just">
              <a:lnSpc>
                <a:spcPct val="150000"/>
              </a:lnSpc>
              <a:buClr>
                <a:schemeClr val="bg1"/>
              </a:buClr>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Bu başlık </a:t>
            </a:r>
            <a:r>
              <a:rPr lang="tr-TR" dirty="0" err="1">
                <a:latin typeface="Times New Roman" panose="02020603050405020304" pitchFamily="18" charset="0"/>
                <a:cs typeface="Times New Roman" panose="02020603050405020304" pitchFamily="18" charset="0"/>
              </a:rPr>
              <a:t>doayası</a:t>
            </a:r>
            <a:r>
              <a:rPr lang="tr-TR" dirty="0">
                <a:latin typeface="Times New Roman" panose="02020603050405020304" pitchFamily="18" charset="0"/>
                <a:cs typeface="Times New Roman" panose="02020603050405020304" pitchFamily="18" charset="0"/>
              </a:rPr>
              <a:t> </a:t>
            </a:r>
            <a:r>
              <a:rPr lang="tr-TR" b="1" dirty="0">
                <a:solidFill>
                  <a:srgbClr val="7030A0"/>
                </a:solidFill>
                <a:latin typeface="Times New Roman" panose="02020603050405020304" pitchFamily="18" charset="0"/>
                <a:cs typeface="Times New Roman" panose="02020603050405020304" pitchFamily="18" charset="0"/>
              </a:rPr>
              <a:t>&lt; &gt; </a:t>
            </a:r>
            <a:r>
              <a:rPr lang="tr-TR" dirty="0">
                <a:latin typeface="Times New Roman" panose="02020603050405020304" pitchFamily="18" charset="0"/>
                <a:cs typeface="Times New Roman" panose="02020603050405020304" pitchFamily="18" charset="0"/>
              </a:rPr>
              <a:t>operatörleri arasına yazılır. Eğer </a:t>
            </a:r>
            <a:r>
              <a:rPr lang="tr-TR" b="1" dirty="0">
                <a:solidFill>
                  <a:srgbClr val="7030A0"/>
                </a:solidFill>
                <a:latin typeface="Times New Roman" panose="02020603050405020304" pitchFamily="18" charset="0"/>
                <a:cs typeface="Times New Roman" panose="02020603050405020304" pitchFamily="18" charset="0"/>
              </a:rPr>
              <a:t>" "  </a:t>
            </a:r>
            <a:r>
              <a:rPr lang="tr-TR" dirty="0">
                <a:latin typeface="Times New Roman" panose="02020603050405020304" pitchFamily="18" charset="0"/>
                <a:cs typeface="Times New Roman" panose="02020603050405020304" pitchFamily="18" charset="0"/>
              </a:rPr>
              <a:t>kullanılırsa, derleyici bunun sisteme ait olmayan bir başlık dosyası olduğunu yorumlar. </a:t>
            </a:r>
            <a:r>
              <a:rPr lang="tr-TR" b="1" dirty="0">
                <a:latin typeface="Times New Roman" panose="02020603050405020304" pitchFamily="18" charset="0"/>
                <a:cs typeface="Times New Roman" panose="02020603050405020304" pitchFamily="18" charset="0"/>
              </a:rPr>
              <a:t>.h </a:t>
            </a:r>
            <a:r>
              <a:rPr lang="tr-TR" dirty="0">
                <a:latin typeface="Times New Roman" panose="02020603050405020304" pitchFamily="18" charset="0"/>
                <a:cs typeface="Times New Roman" panose="02020603050405020304" pitchFamily="18" charset="0"/>
              </a:rPr>
              <a:t>ile biten öncü dosyalar </a:t>
            </a:r>
            <a:r>
              <a:rPr lang="tr-TR" i="1" dirty="0">
                <a:latin typeface="Times New Roman" panose="02020603050405020304" pitchFamily="18" charset="0"/>
                <a:cs typeface="Times New Roman" panose="02020603050405020304" pitchFamily="18" charset="0"/>
              </a:rPr>
              <a:t>"eski tarz" </a:t>
            </a:r>
            <a:r>
              <a:rPr lang="tr-TR" dirty="0">
                <a:latin typeface="Times New Roman" panose="02020603050405020304" pitchFamily="18" charset="0"/>
                <a:cs typeface="Times New Roman" panose="02020603050405020304" pitchFamily="18" charset="0"/>
              </a:rPr>
              <a:t>öncü dosyalardır. Programcı kendi başlık dosyasını </a:t>
            </a:r>
            <a:r>
              <a:rPr lang="tr-TR" b="1" dirty="0">
                <a:latin typeface="Times New Roman" panose="02020603050405020304" pitchFamily="18" charset="0"/>
                <a:cs typeface="Times New Roman" panose="02020603050405020304" pitchFamily="18" charset="0"/>
              </a:rPr>
              <a:t>.h </a:t>
            </a:r>
            <a:r>
              <a:rPr lang="tr-TR" dirty="0">
                <a:latin typeface="Times New Roman" panose="02020603050405020304" pitchFamily="18" charset="0"/>
                <a:cs typeface="Times New Roman" panose="02020603050405020304" pitchFamily="18" charset="0"/>
              </a:rPr>
              <a:t>ile </a:t>
            </a:r>
            <a:r>
              <a:rPr lang="tr-TR" dirty="0">
                <a:solidFill>
                  <a:schemeClr val="bg1"/>
                </a:solidFill>
                <a:latin typeface="Times New Roman" panose="02020603050405020304" pitchFamily="18" charset="0"/>
                <a:cs typeface="Times New Roman" panose="02020603050405020304" pitchFamily="18" charset="0"/>
              </a:rPr>
              <a:t>sonlandırmalıdır ve " "  ile programa eklemelidir. (#include "</a:t>
            </a:r>
            <a:r>
              <a:rPr lang="tr-TR" dirty="0" err="1">
                <a:solidFill>
                  <a:schemeClr val="bg1"/>
                </a:solidFill>
                <a:latin typeface="Times New Roman" panose="02020603050405020304" pitchFamily="18" charset="0"/>
                <a:cs typeface="Times New Roman" panose="02020603050405020304" pitchFamily="18" charset="0"/>
              </a:rPr>
              <a:t>deneme.h</a:t>
            </a:r>
            <a:r>
              <a:rPr lang="tr-TR" dirty="0">
                <a:solidFill>
                  <a:schemeClr val="bg1"/>
                </a:solidFill>
                <a:latin typeface="Times New Roman" panose="02020603050405020304" pitchFamily="18" charset="0"/>
                <a:cs typeface="Times New Roman" panose="02020603050405020304" pitchFamily="18" charset="0"/>
              </a:rPr>
              <a:t>" gibi)</a:t>
            </a:r>
            <a:r>
              <a:rPr lang="tr-TR" b="1" dirty="0">
                <a:solidFill>
                  <a:srgbClr val="7030A0"/>
                </a:solidFill>
                <a:latin typeface="Times New Roman" panose="02020603050405020304" pitchFamily="18" charset="0"/>
                <a:cs typeface="Times New Roman" panose="02020603050405020304" pitchFamily="18" charset="0"/>
              </a:rPr>
              <a:t> </a:t>
            </a:r>
            <a:endParaRPr lang="tr-TR"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510307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625475"/>
          </a:xfrm>
        </p:spPr>
        <p:txBody>
          <a:bodyPr anchor="ctr">
            <a:normAutofit/>
          </a:bodyPr>
          <a:lstStyle/>
          <a:p>
            <a:r>
              <a:rPr lang="tr-TR" sz="3000" b="1" dirty="0">
                <a:solidFill>
                  <a:schemeClr val="tx1"/>
                </a:solidFill>
                <a:latin typeface="Times New Roman" panose="02020603050405020304" pitchFamily="18" charset="0"/>
                <a:cs typeface="Times New Roman" panose="02020603050405020304" pitchFamily="18" charset="0"/>
              </a:rPr>
              <a:t>İsim Uzayı (</a:t>
            </a:r>
            <a:r>
              <a:rPr lang="tr-TR" sz="3000" b="1" dirty="0" err="1">
                <a:solidFill>
                  <a:schemeClr val="tx1"/>
                </a:solidFill>
                <a:latin typeface="Times New Roman" panose="02020603050405020304" pitchFamily="18" charset="0"/>
                <a:cs typeface="Times New Roman" panose="02020603050405020304" pitchFamily="18" charset="0"/>
              </a:rPr>
              <a:t>Namespace</a:t>
            </a:r>
            <a:r>
              <a:rPr lang="tr-TR" sz="3000" b="1" dirty="0">
                <a:solidFill>
                  <a:schemeClr val="tx1"/>
                </a:solidFill>
                <a:latin typeface="Times New Roman" panose="02020603050405020304" pitchFamily="18" charset="0"/>
                <a:cs typeface="Times New Roman" panose="02020603050405020304" pitchFamily="18" charset="0"/>
              </a:rPr>
              <a:t>)</a:t>
            </a:r>
          </a:p>
        </p:txBody>
      </p:sp>
      <p:sp>
        <p:nvSpPr>
          <p:cNvPr id="8" name="Metin kutusu 7">
            <a:extLst>
              <a:ext uri="{FF2B5EF4-FFF2-40B4-BE49-F238E27FC236}">
                <a16:creationId xmlns:a16="http://schemas.microsoft.com/office/drawing/2014/main" id="{F82CEE49-FDB1-4F81-B35D-0420CDE4E18D}"/>
              </a:ext>
            </a:extLst>
          </p:cNvPr>
          <p:cNvSpPr txBox="1"/>
          <p:nvPr/>
        </p:nvSpPr>
        <p:spPr>
          <a:xfrm>
            <a:off x="-1" y="548293"/>
            <a:ext cx="12192000" cy="3277820"/>
          </a:xfrm>
          <a:prstGeom prst="rect">
            <a:avLst/>
          </a:prstGeom>
          <a:noFill/>
        </p:spPr>
        <p:txBody>
          <a:bodyPr wrap="square">
            <a:spAutoFit/>
          </a:bodyPr>
          <a:lstStyle/>
          <a:p>
            <a:pPr marL="29718" indent="-285750" algn="just">
              <a:lnSpc>
                <a:spcPct val="150000"/>
              </a:lnSpc>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Farklı programlar bir araya getirildiğinde veya farklı programcılar tarafından yazılan programlar birleştirilmek istendiğinde aynı isimde birden fazla değişken ve fonksiyon tanımlaması ile karşılaşılabilir. Bu durumda isim çakışması meydana gelir. </a:t>
            </a:r>
          </a:p>
          <a:p>
            <a:pPr marL="29718" indent="-285750" algn="just">
              <a:lnSpc>
                <a:spcPct val="150000"/>
              </a:lnSpc>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Bunu önlemek için </a:t>
            </a:r>
            <a:r>
              <a:rPr lang="tr-TR" b="1" dirty="0">
                <a:latin typeface="Times New Roman" panose="02020603050405020304" pitchFamily="18" charset="0"/>
                <a:cs typeface="Times New Roman" panose="02020603050405020304" pitchFamily="18" charset="0"/>
              </a:rPr>
              <a:t>C++ </a:t>
            </a:r>
            <a:r>
              <a:rPr lang="tr-TR" dirty="0">
                <a:latin typeface="Times New Roman" panose="02020603050405020304" pitchFamily="18" charset="0"/>
                <a:cs typeface="Times New Roman" panose="02020603050405020304" pitchFamily="18" charset="0"/>
              </a:rPr>
              <a:t>isim uzayı (</a:t>
            </a:r>
            <a:r>
              <a:rPr lang="tr-TR" dirty="0" err="1">
                <a:latin typeface="Times New Roman" panose="02020603050405020304" pitchFamily="18" charset="0"/>
                <a:cs typeface="Times New Roman" panose="02020603050405020304" pitchFamily="18" charset="0"/>
              </a:rPr>
              <a:t>namespace</a:t>
            </a:r>
            <a:r>
              <a:rPr lang="tr-TR" dirty="0">
                <a:latin typeface="Times New Roman" panose="02020603050405020304" pitchFamily="18" charset="0"/>
                <a:cs typeface="Times New Roman" panose="02020603050405020304" pitchFamily="18" charset="0"/>
              </a:rPr>
              <a:t>) tanımlamasına imkan verilmiştir. Her bir isim uzayındaki değişkenler sadece o isim uzayı içinde tanınırlar. </a:t>
            </a:r>
          </a:p>
          <a:p>
            <a:pPr marL="29718" indent="-285750" algn="just">
              <a:lnSpc>
                <a:spcPct val="150000"/>
              </a:lnSpc>
              <a:buFont typeface="Wingdings" panose="05000000000000000000" pitchFamily="2" charset="2"/>
              <a:buChar char="Ø"/>
            </a:pPr>
            <a:r>
              <a:rPr lang="tr-TR" dirty="0">
                <a:latin typeface="Times New Roman" panose="02020603050405020304" pitchFamily="18" charset="0"/>
                <a:cs typeface="Times New Roman" panose="02020603050405020304" pitchFamily="18" charset="0"/>
              </a:rPr>
              <a:t>Programlarımızda sık kullanacak olduğumuz </a:t>
            </a:r>
            <a:r>
              <a:rPr lang="tr-TR" sz="1800" dirty="0" err="1">
                <a:solidFill>
                  <a:srgbClr val="0000FF"/>
                </a:solidFill>
                <a:latin typeface="Consolas" panose="020B0609020204030204" pitchFamily="49" charset="0"/>
              </a:rPr>
              <a:t>using</a:t>
            </a:r>
            <a:r>
              <a:rPr lang="tr-TR" sz="1800" dirty="0">
                <a:solidFill>
                  <a:srgbClr val="000000"/>
                </a:solidFill>
                <a:latin typeface="Consolas" panose="020B0609020204030204" pitchFamily="49" charset="0"/>
              </a:rPr>
              <a:t> </a:t>
            </a:r>
            <a:r>
              <a:rPr lang="tr-TR" sz="1800" dirty="0" err="1">
                <a:solidFill>
                  <a:srgbClr val="0000FF"/>
                </a:solidFill>
                <a:latin typeface="Consolas" panose="020B0609020204030204" pitchFamily="49" charset="0"/>
              </a:rPr>
              <a:t>namespace</a:t>
            </a:r>
            <a:r>
              <a:rPr lang="tr-TR" sz="1800" dirty="0">
                <a:solidFill>
                  <a:srgbClr val="000000"/>
                </a:solidFill>
                <a:latin typeface="Consolas" panose="020B0609020204030204" pitchFamily="49" charset="0"/>
              </a:rPr>
              <a:t> </a:t>
            </a:r>
            <a:r>
              <a:rPr lang="tr-TR" sz="1800" dirty="0" err="1">
                <a:solidFill>
                  <a:srgbClr val="000000"/>
                </a:solidFill>
                <a:latin typeface="Consolas" panose="020B0609020204030204" pitchFamily="49" charset="0"/>
              </a:rPr>
              <a:t>std</a:t>
            </a:r>
            <a:r>
              <a:rPr lang="tr-TR" sz="1800" dirty="0">
                <a:solidFill>
                  <a:srgbClr val="000000"/>
                </a:solidFill>
                <a:latin typeface="Consolas" panose="020B0609020204030204" pitchFamily="49" charset="0"/>
              </a:rPr>
              <a:t>; </a:t>
            </a:r>
            <a:r>
              <a:rPr lang="tr-TR" dirty="0">
                <a:latin typeface="Times New Roman" panose="02020603050405020304" pitchFamily="18" charset="0"/>
                <a:cs typeface="Times New Roman" panose="02020603050405020304" pitchFamily="18" charset="0"/>
              </a:rPr>
              <a:t>bildirisi, kendinden sonra gelen tüm ifadelerin </a:t>
            </a:r>
            <a:r>
              <a:rPr lang="tr-TR" dirty="0" err="1">
                <a:solidFill>
                  <a:srgbClr val="000000"/>
                </a:solidFill>
                <a:latin typeface="Consolas" panose="020B0609020204030204" pitchFamily="49" charset="0"/>
              </a:rPr>
              <a:t>std</a:t>
            </a:r>
            <a:r>
              <a:rPr lang="tr-TR" dirty="0">
                <a:latin typeface="Times New Roman" panose="02020603050405020304" pitchFamily="18" charset="0"/>
                <a:cs typeface="Times New Roman" panose="02020603050405020304" pitchFamily="18" charset="0"/>
              </a:rPr>
              <a:t> isim uzayına ait olduğunu gösterir. Örneğin </a:t>
            </a:r>
            <a:r>
              <a:rPr lang="tr-TR" dirty="0" err="1">
                <a:solidFill>
                  <a:srgbClr val="000000"/>
                </a:solidFill>
                <a:latin typeface="Consolas" panose="020B0609020204030204" pitchFamily="49" charset="0"/>
              </a:rPr>
              <a:t>cout</a:t>
            </a:r>
            <a:r>
              <a:rPr lang="tr-TR" dirty="0">
                <a:latin typeface="Times New Roman" panose="02020603050405020304" pitchFamily="18" charset="0"/>
                <a:cs typeface="Times New Roman" panose="02020603050405020304" pitchFamily="18" charset="0"/>
              </a:rPr>
              <a:t>, </a:t>
            </a:r>
            <a:r>
              <a:rPr lang="tr-TR" dirty="0" err="1">
                <a:solidFill>
                  <a:srgbClr val="000000"/>
                </a:solidFill>
                <a:latin typeface="Consolas" panose="020B0609020204030204" pitchFamily="49" charset="0"/>
              </a:rPr>
              <a:t>std</a:t>
            </a:r>
            <a:r>
              <a:rPr lang="tr-TR" dirty="0">
                <a:latin typeface="Times New Roman" panose="02020603050405020304" pitchFamily="18" charset="0"/>
                <a:cs typeface="Times New Roman" panose="02020603050405020304" pitchFamily="18" charset="0"/>
              </a:rPr>
              <a:t> isim uzayında tanımlanmıştır. Bu yüzden bu bildirim yapılmazsa, </a:t>
            </a:r>
            <a:r>
              <a:rPr lang="tr-TR" dirty="0" err="1">
                <a:solidFill>
                  <a:srgbClr val="000000"/>
                </a:solidFill>
                <a:latin typeface="Consolas" panose="020B0609020204030204" pitchFamily="49" charset="0"/>
              </a:rPr>
              <a:t>cout</a:t>
            </a:r>
            <a:r>
              <a:rPr lang="tr-TR" dirty="0">
                <a:latin typeface="Times New Roman" panose="02020603050405020304" pitchFamily="18" charset="0"/>
                <a:cs typeface="Times New Roman" panose="02020603050405020304" pitchFamily="18" charset="0"/>
              </a:rPr>
              <a:t> komutunun kullanılması durumunda derleyici hata verir. </a:t>
            </a:r>
          </a:p>
          <a:p>
            <a:pPr marL="29718" indent="-285750" algn="just">
              <a:buFont typeface="Wingdings" panose="05000000000000000000" pitchFamily="2" charset="2"/>
              <a:buChar char="Ø"/>
            </a:pPr>
            <a:endParaRPr lang="tr-TR"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219282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625475"/>
          </a:xfrm>
        </p:spPr>
        <p:txBody>
          <a:bodyPr anchor="ctr">
            <a:normAutofit/>
          </a:bodyPr>
          <a:lstStyle/>
          <a:p>
            <a:pPr marL="0" indent="0">
              <a:buNone/>
            </a:pPr>
            <a:r>
              <a:rPr lang="tr-TR" sz="3000" b="1" dirty="0" err="1">
                <a:solidFill>
                  <a:srgbClr val="7030A0"/>
                </a:solidFill>
                <a:latin typeface="Consolas" panose="020B0609020204030204" pitchFamily="49" charset="0"/>
                <a:cs typeface="Times New Roman" panose="02020603050405020304" pitchFamily="18" charset="0"/>
              </a:rPr>
              <a:t>cout</a:t>
            </a:r>
            <a:r>
              <a:rPr lang="tr-TR" sz="3000" b="1" dirty="0">
                <a:solidFill>
                  <a:schemeClr val="tx1"/>
                </a:solidFill>
                <a:latin typeface="Times New Roman" panose="02020603050405020304" pitchFamily="18" charset="0"/>
                <a:cs typeface="Times New Roman" panose="02020603050405020304" pitchFamily="18" charset="0"/>
              </a:rPr>
              <a:t> ve </a:t>
            </a:r>
            <a:r>
              <a:rPr lang="tr-TR" sz="3000" b="1" dirty="0">
                <a:solidFill>
                  <a:srgbClr val="7030A0"/>
                </a:solidFill>
                <a:latin typeface="Consolas" panose="020B0609020204030204" pitchFamily="49" charset="0"/>
                <a:cs typeface="Times New Roman" panose="02020603050405020304" pitchFamily="18" charset="0"/>
              </a:rPr>
              <a:t>cin</a:t>
            </a:r>
            <a:r>
              <a:rPr lang="tr-TR" sz="3000" b="1" dirty="0">
                <a:solidFill>
                  <a:schemeClr val="tx1"/>
                </a:solidFill>
                <a:latin typeface="Times New Roman" panose="02020603050405020304" pitchFamily="18" charset="0"/>
                <a:cs typeface="Times New Roman" panose="02020603050405020304" pitchFamily="18" charset="0"/>
              </a:rPr>
              <a:t> işlemleri</a:t>
            </a:r>
          </a:p>
        </p:txBody>
      </p:sp>
      <p:sp>
        <p:nvSpPr>
          <p:cNvPr id="5" name="Metin kutusu 4">
            <a:extLst>
              <a:ext uri="{FF2B5EF4-FFF2-40B4-BE49-F238E27FC236}">
                <a16:creationId xmlns:a16="http://schemas.microsoft.com/office/drawing/2014/main" id="{06156F51-93C1-4F1A-A558-45D0F9025DCA}"/>
              </a:ext>
            </a:extLst>
          </p:cNvPr>
          <p:cNvSpPr txBox="1"/>
          <p:nvPr/>
        </p:nvSpPr>
        <p:spPr>
          <a:xfrm>
            <a:off x="0" y="625475"/>
            <a:ext cx="12191999" cy="4093428"/>
          </a:xfrm>
          <a:prstGeom prst="rect">
            <a:avLst/>
          </a:prstGeom>
          <a:noFill/>
        </p:spPr>
        <p:txBody>
          <a:bodyPr wrap="square">
            <a:spAutoFit/>
          </a:bodyPr>
          <a:lstStyle/>
          <a:p>
            <a:r>
              <a:rPr lang="tr-TR" sz="2000" dirty="0">
                <a:latin typeface="Times New Roman" panose="02020603050405020304" pitchFamily="18" charset="0"/>
                <a:cs typeface="Times New Roman" panose="02020603050405020304" pitchFamily="18" charset="0"/>
              </a:rPr>
              <a:t>C++ dilinde bilgisayar belleğine veri aktarılabilmesi (veri okutulması) için </a:t>
            </a:r>
            <a:r>
              <a:rPr lang="tr-TR" sz="2000" b="1" dirty="0">
                <a:solidFill>
                  <a:srgbClr val="7030A0"/>
                </a:solidFill>
                <a:latin typeface="Consolas" panose="020B0609020204030204" pitchFamily="49" charset="0"/>
                <a:cs typeface="Times New Roman" panose="02020603050405020304" pitchFamily="18" charset="0"/>
              </a:rPr>
              <a:t>cin</a:t>
            </a:r>
            <a:r>
              <a:rPr lang="tr-TR" sz="2000" dirty="0">
                <a:latin typeface="Times New Roman" panose="02020603050405020304" pitchFamily="18" charset="0"/>
                <a:cs typeface="Times New Roman" panose="02020603050405020304" pitchFamily="18" charset="0"/>
              </a:rPr>
              <a:t> (</a:t>
            </a:r>
            <a:r>
              <a:rPr lang="tr-TR" sz="2000" b="1" dirty="0" err="1">
                <a:latin typeface="Times New Roman" panose="02020603050405020304" pitchFamily="18" charset="0"/>
                <a:cs typeface="Times New Roman" panose="02020603050405020304" pitchFamily="18" charset="0"/>
              </a:rPr>
              <a:t>c</a:t>
            </a:r>
            <a:r>
              <a:rPr lang="tr-TR" sz="2000" dirty="0" err="1">
                <a:latin typeface="Times New Roman" panose="02020603050405020304" pitchFamily="18" charset="0"/>
                <a:cs typeface="Times New Roman" panose="02020603050405020304" pitchFamily="18" charset="0"/>
              </a:rPr>
              <a:t>onsol</a:t>
            </a:r>
            <a:r>
              <a:rPr lang="tr-TR" sz="2000" dirty="0">
                <a:latin typeface="Times New Roman" panose="02020603050405020304" pitchFamily="18" charset="0"/>
                <a:cs typeface="Times New Roman" panose="02020603050405020304" pitchFamily="18" charset="0"/>
              </a:rPr>
              <a:t> </a:t>
            </a:r>
            <a:r>
              <a:rPr lang="tr-TR" sz="2000" b="1" dirty="0" err="1">
                <a:latin typeface="Times New Roman" panose="02020603050405020304" pitchFamily="18" charset="0"/>
                <a:cs typeface="Times New Roman" panose="02020603050405020304" pitchFamily="18" charset="0"/>
              </a:rPr>
              <a:t>in</a:t>
            </a:r>
            <a:r>
              <a:rPr lang="tr-TR" sz="2000" dirty="0" err="1">
                <a:latin typeface="Times New Roman" panose="02020603050405020304" pitchFamily="18" charset="0"/>
                <a:cs typeface="Times New Roman" panose="02020603050405020304" pitchFamily="18" charset="0"/>
              </a:rPr>
              <a:t>put</a:t>
            </a:r>
            <a:r>
              <a:rPr lang="tr-TR" sz="2000" dirty="0">
                <a:latin typeface="Times New Roman" panose="02020603050405020304" pitchFamily="18" charset="0"/>
                <a:cs typeface="Times New Roman" panose="02020603050405020304" pitchFamily="18" charset="0"/>
              </a:rPr>
              <a:t>), verilerin ekrana aktarılması (veri yazdırılması) için </a:t>
            </a:r>
            <a:r>
              <a:rPr lang="tr-TR" sz="2000" b="1" dirty="0" err="1">
                <a:solidFill>
                  <a:srgbClr val="7030A0"/>
                </a:solidFill>
                <a:latin typeface="Consolas" panose="020B0609020204030204" pitchFamily="49" charset="0"/>
                <a:cs typeface="Times New Roman" panose="02020603050405020304" pitchFamily="18" charset="0"/>
              </a:rPr>
              <a:t>cout</a:t>
            </a:r>
            <a:r>
              <a:rPr lang="tr-TR" sz="2000" dirty="0">
                <a:latin typeface="Times New Roman" panose="02020603050405020304" pitchFamily="18" charset="0"/>
                <a:cs typeface="Times New Roman" panose="02020603050405020304" pitchFamily="18" charset="0"/>
              </a:rPr>
              <a:t> (</a:t>
            </a:r>
            <a:r>
              <a:rPr lang="tr-TR" sz="2000" b="1" dirty="0" err="1">
                <a:latin typeface="Times New Roman" panose="02020603050405020304" pitchFamily="18" charset="0"/>
                <a:cs typeface="Times New Roman" panose="02020603050405020304" pitchFamily="18" charset="0"/>
              </a:rPr>
              <a:t>c</a:t>
            </a:r>
            <a:r>
              <a:rPr lang="tr-TR" sz="2000" dirty="0" err="1">
                <a:latin typeface="Times New Roman" panose="02020603050405020304" pitchFamily="18" charset="0"/>
                <a:cs typeface="Times New Roman" panose="02020603050405020304" pitchFamily="18" charset="0"/>
              </a:rPr>
              <a:t>onsol</a:t>
            </a:r>
            <a:r>
              <a:rPr lang="tr-TR" sz="2000" dirty="0">
                <a:latin typeface="Times New Roman" panose="02020603050405020304" pitchFamily="18" charset="0"/>
                <a:cs typeface="Times New Roman" panose="02020603050405020304" pitchFamily="18" charset="0"/>
              </a:rPr>
              <a:t> </a:t>
            </a:r>
            <a:r>
              <a:rPr lang="tr-TR" sz="2000" b="1" dirty="0" err="1">
                <a:latin typeface="Times New Roman" panose="02020603050405020304" pitchFamily="18" charset="0"/>
                <a:cs typeface="Times New Roman" panose="02020603050405020304" pitchFamily="18" charset="0"/>
              </a:rPr>
              <a:t>out</a:t>
            </a:r>
            <a:r>
              <a:rPr lang="tr-TR" sz="2000" dirty="0" err="1">
                <a:latin typeface="Times New Roman" panose="02020603050405020304" pitchFamily="18" charset="0"/>
                <a:cs typeface="Times New Roman" panose="02020603050405020304" pitchFamily="18" charset="0"/>
              </a:rPr>
              <a:t>put</a:t>
            </a:r>
            <a:r>
              <a:rPr lang="tr-TR" sz="2000" dirty="0">
                <a:latin typeface="Times New Roman" panose="02020603050405020304" pitchFamily="18" charset="0"/>
                <a:cs typeface="Times New Roman" panose="02020603050405020304" pitchFamily="18" charset="0"/>
              </a:rPr>
              <a:t>) komutları kullanılır. </a:t>
            </a:r>
            <a:endParaRPr lang="tr-TR" sz="2000" b="1" u="sng" dirty="0">
              <a:solidFill>
                <a:schemeClr val="accent5">
                  <a:lumMod val="50000"/>
                </a:schemeClr>
              </a:solidFill>
              <a:latin typeface="Times New Roman" panose="02020603050405020304" pitchFamily="18" charset="0"/>
              <a:cs typeface="Times New Roman" panose="02020603050405020304" pitchFamily="18" charset="0"/>
            </a:endParaRPr>
          </a:p>
          <a:p>
            <a:endParaRPr lang="tr-TR" sz="2000" b="1" u="sng" dirty="0">
              <a:solidFill>
                <a:schemeClr val="accent5">
                  <a:lumMod val="50000"/>
                </a:schemeClr>
              </a:solidFill>
              <a:latin typeface="Times New Roman" panose="02020603050405020304" pitchFamily="18" charset="0"/>
              <a:cs typeface="Times New Roman" panose="02020603050405020304" pitchFamily="18" charset="0"/>
            </a:endParaRPr>
          </a:p>
          <a:p>
            <a:r>
              <a:rPr lang="tr-TR" sz="2000" b="1" u="sng" dirty="0" err="1">
                <a:solidFill>
                  <a:srgbClr val="7030A0"/>
                </a:solidFill>
                <a:latin typeface="Times New Roman" panose="02020603050405020304" pitchFamily="18" charset="0"/>
                <a:cs typeface="Times New Roman" panose="02020603050405020304" pitchFamily="18" charset="0"/>
              </a:rPr>
              <a:t>cout</a:t>
            </a:r>
            <a:endParaRPr lang="tr-TR" sz="2000" b="1" u="sng" dirty="0">
              <a:solidFill>
                <a:srgbClr val="7030A0"/>
              </a:solidFill>
              <a:latin typeface="Times New Roman" panose="02020603050405020304" pitchFamily="18" charset="0"/>
              <a:cs typeface="Times New Roman" panose="02020603050405020304" pitchFamily="18" charset="0"/>
            </a:endParaRPr>
          </a:p>
          <a:p>
            <a:r>
              <a:rPr lang="tr-TR" dirty="0">
                <a:latin typeface="Times New Roman" panose="02020603050405020304" pitchFamily="18" charset="0"/>
                <a:cs typeface="Times New Roman" panose="02020603050405020304" pitchFamily="18" charset="0"/>
              </a:rPr>
              <a:t>Standart çıkış aygıtına (burada genellikle ekrana) veri veya mesaj yollamak amacıyla kullanılır.</a:t>
            </a:r>
          </a:p>
          <a:p>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cout</a:t>
            </a:r>
            <a:r>
              <a:rPr lang="tr-TR" dirty="0">
                <a:latin typeface="Times New Roman" panose="02020603050405020304" pitchFamily="18" charset="0"/>
                <a:cs typeface="Times New Roman" panose="02020603050405020304" pitchFamily="18" charset="0"/>
              </a:rPr>
              <a:t>&lt;&lt;değişken;</a:t>
            </a:r>
          </a:p>
          <a:p>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cout</a:t>
            </a:r>
            <a:r>
              <a:rPr lang="tr-TR" dirty="0">
                <a:latin typeface="Times New Roman" panose="02020603050405020304" pitchFamily="18" charset="0"/>
                <a:cs typeface="Times New Roman" panose="02020603050405020304" pitchFamily="18" charset="0"/>
              </a:rPr>
              <a:t>&lt;&lt;"ifade";</a:t>
            </a:r>
          </a:p>
          <a:p>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cout</a:t>
            </a:r>
            <a:r>
              <a:rPr lang="tr-TR" dirty="0">
                <a:latin typeface="Times New Roman" panose="02020603050405020304" pitchFamily="18" charset="0"/>
                <a:cs typeface="Times New Roman" panose="02020603050405020304" pitchFamily="18" charset="0"/>
              </a:rPr>
              <a:t>&lt;&lt;biçimleyici&lt;&lt;değişken;</a:t>
            </a:r>
          </a:p>
          <a:p>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cout</a:t>
            </a:r>
            <a:r>
              <a:rPr lang="tr-TR" dirty="0">
                <a:latin typeface="Times New Roman" panose="02020603050405020304" pitchFamily="18" charset="0"/>
                <a:cs typeface="Times New Roman" panose="02020603050405020304" pitchFamily="18" charset="0"/>
              </a:rPr>
              <a:t>&lt;&lt;biçimleyici; gibi…</a:t>
            </a:r>
          </a:p>
          <a:p>
            <a:r>
              <a:rPr lang="tr-TR" sz="2000" b="1" u="sng" dirty="0">
                <a:solidFill>
                  <a:srgbClr val="7030A0"/>
                </a:solidFill>
                <a:latin typeface="Times New Roman" panose="02020603050405020304" pitchFamily="18" charset="0"/>
                <a:cs typeface="Times New Roman" panose="02020603050405020304" pitchFamily="18" charset="0"/>
              </a:rPr>
              <a:t>cin</a:t>
            </a:r>
          </a:p>
          <a:p>
            <a:r>
              <a:rPr lang="tr-TR" dirty="0">
                <a:latin typeface="Times New Roman" panose="02020603050405020304" pitchFamily="18" charset="0"/>
                <a:cs typeface="Times New Roman" panose="02020603050405020304" pitchFamily="18" charset="0"/>
              </a:rPr>
              <a:t>Girişi bir konsoldan okumak için (&gt;&gt;) ile birlikte kullanılır.</a:t>
            </a:r>
          </a:p>
          <a:p>
            <a:r>
              <a:rPr lang="tr-TR" dirty="0">
                <a:latin typeface="Times New Roman" panose="02020603050405020304" pitchFamily="18" charset="0"/>
                <a:cs typeface="Times New Roman" panose="02020603050405020304" pitchFamily="18" charset="0"/>
              </a:rPr>
              <a:t>	cin&gt;&gt;veri</a:t>
            </a:r>
          </a:p>
          <a:p>
            <a:r>
              <a:rPr lang="tr-TR" dirty="0">
                <a:latin typeface="Times New Roman" panose="02020603050405020304" pitchFamily="18" charset="0"/>
                <a:cs typeface="Times New Roman" panose="02020603050405020304" pitchFamily="18" charset="0"/>
              </a:rPr>
              <a:t>	cin&gt;&gt;veri1&gt;&gt;veri2; gibi…</a:t>
            </a:r>
          </a:p>
          <a:p>
            <a:endParaRPr lang="tr-TR" dirty="0">
              <a:latin typeface="Times New Roman" panose="02020603050405020304" pitchFamily="18" charset="0"/>
              <a:cs typeface="Times New Roman" panose="02020603050405020304" pitchFamily="18" charset="0"/>
            </a:endParaRPr>
          </a:p>
        </p:txBody>
      </p:sp>
      <p:sp>
        <p:nvSpPr>
          <p:cNvPr id="14" name="Metin kutusu 13">
            <a:extLst>
              <a:ext uri="{FF2B5EF4-FFF2-40B4-BE49-F238E27FC236}">
                <a16:creationId xmlns:a16="http://schemas.microsoft.com/office/drawing/2014/main" id="{824B38ED-BF18-467D-97A7-7D57B1F50220}"/>
              </a:ext>
            </a:extLst>
          </p:cNvPr>
          <p:cNvSpPr txBox="1"/>
          <p:nvPr/>
        </p:nvSpPr>
        <p:spPr>
          <a:xfrm>
            <a:off x="0" y="4777625"/>
            <a:ext cx="5905850" cy="646331"/>
          </a:xfrm>
          <a:prstGeom prst="rect">
            <a:avLst/>
          </a:prstGeom>
          <a:noFill/>
        </p:spPr>
        <p:txBody>
          <a:bodyPr wrap="square">
            <a:spAutoFit/>
          </a:bodyPr>
          <a:lstStyle/>
          <a:p>
            <a:r>
              <a:rPr lang="tr-TR" dirty="0">
                <a:solidFill>
                  <a:srgbClr val="7030A0"/>
                </a:solidFill>
                <a:latin typeface="Times New Roman" panose="02020603050405020304" pitchFamily="18" charset="0"/>
                <a:cs typeface="Times New Roman" panose="02020603050405020304" pitchFamily="18" charset="0"/>
              </a:rPr>
              <a:t>Standard </a:t>
            </a:r>
            <a:r>
              <a:rPr lang="tr-TR" dirty="0" err="1">
                <a:solidFill>
                  <a:srgbClr val="7030A0"/>
                </a:solidFill>
                <a:latin typeface="Times New Roman" panose="02020603050405020304" pitchFamily="18" charset="0"/>
                <a:cs typeface="Times New Roman" panose="02020603050405020304" pitchFamily="18" charset="0"/>
              </a:rPr>
              <a:t>end</a:t>
            </a:r>
            <a:r>
              <a:rPr lang="tr-TR" dirty="0">
                <a:solidFill>
                  <a:srgbClr val="7030A0"/>
                </a:solidFill>
                <a:latin typeface="Times New Roman" panose="02020603050405020304" pitchFamily="18" charset="0"/>
                <a:cs typeface="Times New Roman" panose="02020603050405020304" pitchFamily="18" charset="0"/>
              </a:rPr>
              <a:t> </a:t>
            </a:r>
            <a:r>
              <a:rPr lang="tr-TR" dirty="0" err="1">
                <a:solidFill>
                  <a:srgbClr val="7030A0"/>
                </a:solidFill>
                <a:latin typeface="Times New Roman" panose="02020603050405020304" pitchFamily="18" charset="0"/>
                <a:cs typeface="Times New Roman" panose="02020603050405020304" pitchFamily="18" charset="0"/>
              </a:rPr>
              <a:t>line</a:t>
            </a:r>
            <a:r>
              <a:rPr lang="tr-TR" dirty="0">
                <a:solidFill>
                  <a:srgbClr val="7030A0"/>
                </a:solidFill>
                <a:latin typeface="Times New Roman" panose="02020603050405020304" pitchFamily="18" charset="0"/>
                <a:cs typeface="Times New Roman" panose="02020603050405020304" pitchFamily="18" charset="0"/>
              </a:rPr>
              <a:t> (</a:t>
            </a:r>
            <a:r>
              <a:rPr lang="tr-TR" dirty="0" err="1">
                <a:solidFill>
                  <a:srgbClr val="7030A0"/>
                </a:solidFill>
                <a:latin typeface="Times New Roman" panose="02020603050405020304" pitchFamily="18" charset="0"/>
                <a:cs typeface="Times New Roman" panose="02020603050405020304" pitchFamily="18" charset="0"/>
              </a:rPr>
              <a:t>endl</a:t>
            </a:r>
            <a:r>
              <a:rPr lang="tr-TR" dirty="0">
                <a:solidFill>
                  <a:srgbClr val="7030A0"/>
                </a:solidFill>
                <a:latin typeface="Times New Roman" panose="02020603050405020304" pitchFamily="18" charset="0"/>
                <a:cs typeface="Times New Roman" panose="02020603050405020304" pitchFamily="18" charset="0"/>
              </a:rPr>
              <a:t>): </a:t>
            </a:r>
            <a:r>
              <a:rPr lang="tr-TR" dirty="0">
                <a:solidFill>
                  <a:schemeClr val="bg1"/>
                </a:solidFill>
                <a:latin typeface="Times New Roman" panose="02020603050405020304" pitchFamily="18" charset="0"/>
                <a:cs typeface="Times New Roman" panose="02020603050405020304" pitchFamily="18" charset="0"/>
              </a:rPr>
              <a:t>Yeni bir satır karakteri eklemek için kullanılır ve akışı temizler. Basit olarak:  </a:t>
            </a:r>
          </a:p>
        </p:txBody>
      </p:sp>
      <p:pic>
        <p:nvPicPr>
          <p:cNvPr id="18" name="Resim 17">
            <a:extLst>
              <a:ext uri="{FF2B5EF4-FFF2-40B4-BE49-F238E27FC236}">
                <a16:creationId xmlns:a16="http://schemas.microsoft.com/office/drawing/2014/main" id="{CC785808-ADF6-419F-98EB-20E50DB5426F}"/>
              </a:ext>
            </a:extLst>
          </p:cNvPr>
          <p:cNvPicPr>
            <a:picLocks noChangeAspect="1"/>
          </p:cNvPicPr>
          <p:nvPr/>
        </p:nvPicPr>
        <p:blipFill>
          <a:blip r:embed="rId2"/>
          <a:stretch>
            <a:fillRect/>
          </a:stretch>
        </p:blipFill>
        <p:spPr>
          <a:xfrm>
            <a:off x="6482869" y="4718903"/>
            <a:ext cx="5429497" cy="1436991"/>
          </a:xfrm>
          <a:prstGeom prst="rect">
            <a:avLst/>
          </a:prstGeom>
        </p:spPr>
      </p:pic>
    </p:spTree>
    <p:extLst>
      <p:ext uri="{BB962C8B-B14F-4D97-AF65-F5344CB8AC3E}">
        <p14:creationId xmlns:p14="http://schemas.microsoft.com/office/powerpoint/2010/main" val="9176146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625475"/>
          </a:xfrm>
        </p:spPr>
        <p:txBody>
          <a:bodyPr anchor="ctr">
            <a:normAutofit/>
          </a:bodyPr>
          <a:lstStyle/>
          <a:p>
            <a:r>
              <a:rPr lang="tr-TR" sz="3000" b="1" dirty="0">
                <a:solidFill>
                  <a:schemeClr val="tx1"/>
                </a:solidFill>
                <a:latin typeface="Times New Roman" panose="02020603050405020304" pitchFamily="18" charset="0"/>
                <a:cs typeface="Times New Roman" panose="02020603050405020304" pitchFamily="18" charset="0"/>
              </a:rPr>
              <a:t>İlk C++ Programımız ( Versiyon 1)</a:t>
            </a:r>
          </a:p>
        </p:txBody>
      </p:sp>
      <p:sp>
        <p:nvSpPr>
          <p:cNvPr id="8" name="Metin kutusu 7">
            <a:extLst>
              <a:ext uri="{FF2B5EF4-FFF2-40B4-BE49-F238E27FC236}">
                <a16:creationId xmlns:a16="http://schemas.microsoft.com/office/drawing/2014/main" id="{F82CEE49-FDB1-4F81-B35D-0420CDE4E18D}"/>
              </a:ext>
            </a:extLst>
          </p:cNvPr>
          <p:cNvSpPr txBox="1"/>
          <p:nvPr/>
        </p:nvSpPr>
        <p:spPr>
          <a:xfrm>
            <a:off x="-1" y="3085701"/>
            <a:ext cx="12191999" cy="2308324"/>
          </a:xfrm>
          <a:prstGeom prst="rect">
            <a:avLst/>
          </a:prstGeom>
          <a:noFill/>
        </p:spPr>
        <p:txBody>
          <a:bodyPr wrap="square">
            <a:spAutoFit/>
          </a:bodyPr>
          <a:lstStyle/>
          <a:p>
            <a:pPr indent="-256032" algn="just"/>
            <a:r>
              <a:rPr lang="tr-TR" b="1" i="1" dirty="0">
                <a:latin typeface="Times New Roman" panose="02020603050405020304" pitchFamily="18" charset="0"/>
                <a:cs typeface="Times New Roman" panose="02020603050405020304" pitchFamily="18" charset="0"/>
              </a:rPr>
              <a:t>Satır 1: </a:t>
            </a:r>
            <a:r>
              <a:rPr lang="tr-TR" dirty="0">
                <a:latin typeface="Times New Roman" panose="02020603050405020304" pitchFamily="18" charset="0"/>
                <a:cs typeface="Times New Roman" panose="02020603050405020304" pitchFamily="18" charset="0"/>
              </a:rPr>
              <a:t>#include &lt;</a:t>
            </a:r>
            <a:r>
              <a:rPr lang="tr-TR" dirty="0" err="1">
                <a:latin typeface="Times New Roman" panose="02020603050405020304" pitchFamily="18" charset="0"/>
                <a:cs typeface="Times New Roman" panose="02020603050405020304" pitchFamily="18" charset="0"/>
              </a:rPr>
              <a:t>iostream</a:t>
            </a:r>
            <a:r>
              <a:rPr lang="tr-TR" dirty="0">
                <a:latin typeface="Times New Roman" panose="02020603050405020304" pitchFamily="18" charset="0"/>
                <a:cs typeface="Times New Roman" panose="02020603050405020304" pitchFamily="18" charset="0"/>
              </a:rPr>
              <a:t>&gt; C++ </a:t>
            </a:r>
            <a:r>
              <a:rPr lang="tr-TR" dirty="0" err="1">
                <a:latin typeface="Times New Roman" panose="02020603050405020304" pitchFamily="18" charset="0"/>
                <a:cs typeface="Times New Roman" panose="02020603050405020304" pitchFamily="18" charset="0"/>
              </a:rPr>
              <a:t>önişlemci</a:t>
            </a:r>
            <a:r>
              <a:rPr lang="tr-TR" dirty="0">
                <a:latin typeface="Times New Roman" panose="02020603050405020304" pitchFamily="18" charset="0"/>
                <a:cs typeface="Times New Roman" panose="02020603050405020304" pitchFamily="18" charset="0"/>
              </a:rPr>
              <a:t> komut satırıdır. C’deki &lt;</a:t>
            </a:r>
            <a:r>
              <a:rPr lang="tr-TR" dirty="0" err="1">
                <a:latin typeface="Times New Roman" panose="02020603050405020304" pitchFamily="18" charset="0"/>
                <a:cs typeface="Times New Roman" panose="02020603050405020304" pitchFamily="18" charset="0"/>
              </a:rPr>
              <a:t>stdio.h</a:t>
            </a:r>
            <a:r>
              <a:rPr lang="tr-TR" dirty="0">
                <a:latin typeface="Times New Roman" panose="02020603050405020304" pitchFamily="18" charset="0"/>
                <a:cs typeface="Times New Roman" panose="02020603050405020304" pitchFamily="18" charset="0"/>
              </a:rPr>
              <a:t>&gt;’a karşılık gelir. Giriş çıkış işlemlerini kontrol eder. </a:t>
            </a:r>
          </a:p>
          <a:p>
            <a:pPr indent="-256032" algn="just"/>
            <a:endParaRPr lang="tr-TR" dirty="0">
              <a:latin typeface="Times New Roman" panose="02020603050405020304" pitchFamily="18" charset="0"/>
              <a:cs typeface="Times New Roman" panose="02020603050405020304" pitchFamily="18" charset="0"/>
            </a:endParaRPr>
          </a:p>
          <a:p>
            <a:pPr indent="-256032" algn="just"/>
            <a:r>
              <a:rPr lang="tr-TR" b="1" i="1" dirty="0">
                <a:latin typeface="Times New Roman" panose="02020603050405020304" pitchFamily="18" charset="0"/>
                <a:cs typeface="Times New Roman" panose="02020603050405020304" pitchFamily="18" charset="0"/>
              </a:rPr>
              <a:t>Satır 3: </a:t>
            </a:r>
            <a:r>
              <a:rPr lang="tr-TR" dirty="0">
                <a:latin typeface="Times New Roman" panose="02020603050405020304" pitchFamily="18" charset="0"/>
                <a:cs typeface="Times New Roman" panose="02020603050405020304" pitchFamily="18" charset="0"/>
              </a:rPr>
              <a:t>main() fonksiyonu önündeki </a:t>
            </a:r>
            <a:r>
              <a:rPr lang="tr-TR" b="1" dirty="0" err="1">
                <a:latin typeface="Times New Roman" panose="02020603050405020304" pitchFamily="18" charset="0"/>
                <a:cs typeface="Times New Roman" panose="02020603050405020304" pitchFamily="18" charset="0"/>
              </a:rPr>
              <a:t>int</a:t>
            </a:r>
            <a:r>
              <a:rPr lang="tr-TR" dirty="0">
                <a:latin typeface="Times New Roman" panose="02020603050405020304" pitchFamily="18" charset="0"/>
                <a:cs typeface="Times New Roman" panose="02020603050405020304" pitchFamily="18" charset="0"/>
              </a:rPr>
              <a:t>, main()’in bir tamsayı döndüreceğini işaret eder. C’de geri dönüş tipi belirtilmesi zorunlu değildi. Ancak C++’ta geri dönüş tipi </a:t>
            </a:r>
            <a:r>
              <a:rPr lang="tr-TR" u="sng" dirty="0">
                <a:latin typeface="Times New Roman" panose="02020603050405020304" pitchFamily="18" charset="0"/>
                <a:cs typeface="Times New Roman" panose="02020603050405020304" pitchFamily="18" charset="0"/>
              </a:rPr>
              <a:t>belirtilmedir.</a:t>
            </a:r>
            <a:r>
              <a:rPr lang="tr-TR" dirty="0">
                <a:latin typeface="Times New Roman" panose="02020603050405020304" pitchFamily="18" charset="0"/>
                <a:cs typeface="Times New Roman" panose="02020603050405020304" pitchFamily="18" charset="0"/>
              </a:rPr>
              <a:t> Aksi durumda derleyici hata verecektir.</a:t>
            </a:r>
          </a:p>
          <a:p>
            <a:pPr indent="-256032" algn="just"/>
            <a:endParaRPr lang="tr-TR" dirty="0">
              <a:latin typeface="Times New Roman" panose="02020603050405020304" pitchFamily="18" charset="0"/>
              <a:cs typeface="Times New Roman" panose="02020603050405020304" pitchFamily="18" charset="0"/>
            </a:endParaRPr>
          </a:p>
          <a:p>
            <a:pPr indent="-256032" algn="just"/>
            <a:r>
              <a:rPr lang="tr-TR" b="1" i="1" dirty="0">
                <a:latin typeface="Times New Roman" panose="02020603050405020304" pitchFamily="18" charset="0"/>
                <a:cs typeface="Times New Roman" panose="02020603050405020304" pitchFamily="18" charset="0"/>
              </a:rPr>
              <a:t>Satır 5:  </a:t>
            </a:r>
            <a:r>
              <a:rPr lang="tr-TR" dirty="0">
                <a:latin typeface="Times New Roman" panose="02020603050405020304" pitchFamily="18" charset="0"/>
                <a:cs typeface="Times New Roman" panose="02020603050405020304" pitchFamily="18" charset="0"/>
              </a:rPr>
              <a:t>Bir </a:t>
            </a:r>
            <a:r>
              <a:rPr lang="tr-TR" dirty="0" err="1">
                <a:latin typeface="Times New Roman" panose="02020603050405020304" pitchFamily="18" charset="0"/>
                <a:cs typeface="Times New Roman" panose="02020603050405020304" pitchFamily="18" charset="0"/>
              </a:rPr>
              <a:t>stringi</a:t>
            </a:r>
            <a:r>
              <a:rPr lang="tr-TR" dirty="0">
                <a:latin typeface="Times New Roman" panose="02020603050405020304" pitchFamily="18" charset="0"/>
                <a:cs typeface="Times New Roman" panose="02020603050405020304" pitchFamily="18" charset="0"/>
              </a:rPr>
              <a:t> yazdırmak için standart çıkış akışı </a:t>
            </a:r>
            <a:r>
              <a:rPr lang="tr-TR" b="1" dirty="0" err="1">
                <a:latin typeface="Times New Roman" panose="02020603050405020304" pitchFamily="18" charset="0"/>
                <a:cs typeface="Times New Roman" panose="02020603050405020304" pitchFamily="18" charset="0"/>
              </a:rPr>
              <a:t>cout</a:t>
            </a:r>
            <a:r>
              <a:rPr lang="tr-TR" dirty="0">
                <a:latin typeface="Times New Roman" panose="02020603050405020304" pitchFamily="18" charset="0"/>
                <a:cs typeface="Times New Roman" panose="02020603050405020304" pitchFamily="18" charset="0"/>
              </a:rPr>
              <a:t> ile birlikte akış ekleme operatörü olan </a:t>
            </a:r>
            <a:r>
              <a:rPr lang="tr-TR" b="1" dirty="0">
                <a:solidFill>
                  <a:srgbClr val="7030A0"/>
                </a:solidFill>
                <a:latin typeface="Times New Roman" panose="02020603050405020304" pitchFamily="18" charset="0"/>
                <a:cs typeface="Times New Roman" panose="02020603050405020304" pitchFamily="18" charset="0"/>
              </a:rPr>
              <a:t>&lt;&lt;</a:t>
            </a:r>
            <a:r>
              <a:rPr lang="tr-TR" dirty="0">
                <a:solidFill>
                  <a:srgbClr val="7030A0"/>
                </a:solidFill>
                <a:latin typeface="Times New Roman" panose="02020603050405020304" pitchFamily="18" charset="0"/>
                <a:cs typeface="Times New Roman" panose="02020603050405020304" pitchFamily="18" charset="0"/>
              </a:rPr>
              <a:t> </a:t>
            </a:r>
            <a:r>
              <a:rPr lang="tr-TR" dirty="0">
                <a:latin typeface="Times New Roman" panose="02020603050405020304" pitchFamily="18" charset="0"/>
                <a:cs typeface="Times New Roman" panose="02020603050405020304" pitchFamily="18" charset="0"/>
              </a:rPr>
              <a:t>kullanılır. C++’ta giriş ve çıkış işlemleri karakter akışı ile yapılır. </a:t>
            </a:r>
          </a:p>
          <a:p>
            <a:pPr indent="-256032" algn="just"/>
            <a:r>
              <a:rPr lang="tr-TR" b="1" dirty="0" err="1">
                <a:latin typeface="Times New Roman" panose="02020603050405020304" pitchFamily="18" charset="0"/>
                <a:cs typeface="Times New Roman" panose="02020603050405020304" pitchFamily="18" charset="0"/>
              </a:rPr>
              <a:t>std</a:t>
            </a:r>
            <a:r>
              <a:rPr lang="tr-TR" b="1" dirty="0">
                <a:latin typeface="Times New Roman" panose="02020603050405020304" pitchFamily="18" charset="0"/>
                <a:cs typeface="Times New Roman" panose="02020603050405020304" pitchFamily="18" charset="0"/>
              </a:rPr>
              <a:t>::</a:t>
            </a:r>
            <a:r>
              <a:rPr lang="tr-TR" b="1" dirty="0" err="1">
                <a:latin typeface="Times New Roman" panose="02020603050405020304" pitchFamily="18" charset="0"/>
                <a:cs typeface="Times New Roman" panose="02020603050405020304" pitchFamily="18" charset="0"/>
              </a:rPr>
              <a:t>cout</a:t>
            </a:r>
            <a:r>
              <a:rPr lang="tr-TR" dirty="0">
                <a:latin typeface="Times New Roman" panose="02020603050405020304" pitchFamily="18" charset="0"/>
                <a:cs typeface="Times New Roman" panose="02020603050405020304" pitchFamily="18" charset="0"/>
              </a:rPr>
              <a:t> ile akış nesnesi (</a:t>
            </a:r>
            <a:r>
              <a:rPr lang="tr-TR" dirty="0" err="1">
                <a:latin typeface="Times New Roman" panose="02020603050405020304" pitchFamily="18" charset="0"/>
                <a:cs typeface="Times New Roman" panose="02020603050405020304" pitchFamily="18" charset="0"/>
              </a:rPr>
              <a:t>string</a:t>
            </a:r>
            <a:r>
              <a:rPr lang="tr-TR" dirty="0">
                <a:latin typeface="Times New Roman" panose="02020603050405020304" pitchFamily="18" charset="0"/>
                <a:cs typeface="Times New Roman" panose="02020603050405020304" pitchFamily="18" charset="0"/>
              </a:rPr>
              <a:t>) </a:t>
            </a:r>
            <a:r>
              <a:rPr lang="tr-TR" b="1" dirty="0" err="1">
                <a:latin typeface="Times New Roman" panose="02020603050405020304" pitchFamily="18" charset="0"/>
                <a:cs typeface="Times New Roman" panose="02020603050405020304" pitchFamily="18" charset="0"/>
              </a:rPr>
              <a:t>cout’a</a:t>
            </a:r>
            <a:r>
              <a:rPr lang="tr-TR" dirty="0">
                <a:latin typeface="Times New Roman" panose="02020603050405020304" pitchFamily="18" charset="0"/>
                <a:cs typeface="Times New Roman" panose="02020603050405020304" pitchFamily="18" charset="0"/>
              </a:rPr>
              <a:t> gönderilir. </a:t>
            </a:r>
            <a:r>
              <a:rPr lang="tr-TR" b="1" dirty="0" err="1">
                <a:latin typeface="Times New Roman" panose="02020603050405020304" pitchFamily="18" charset="0"/>
                <a:cs typeface="Times New Roman" panose="02020603050405020304" pitchFamily="18" charset="0"/>
              </a:rPr>
              <a:t>cout</a:t>
            </a:r>
            <a:r>
              <a:rPr lang="tr-TR" dirty="0">
                <a:latin typeface="Times New Roman" panose="02020603050405020304" pitchFamily="18" charset="0"/>
                <a:cs typeface="Times New Roman" panose="02020603050405020304" pitchFamily="18" charset="0"/>
              </a:rPr>
              <a:t>, akış nesnesinden sonraki </a:t>
            </a:r>
            <a:r>
              <a:rPr lang="tr-TR" dirty="0" err="1">
                <a:latin typeface="Times New Roman" panose="02020603050405020304" pitchFamily="18" charset="0"/>
                <a:cs typeface="Times New Roman" panose="02020603050405020304" pitchFamily="18" charset="0"/>
              </a:rPr>
              <a:t>stringi</a:t>
            </a:r>
            <a:r>
              <a:rPr lang="tr-TR" dirty="0">
                <a:latin typeface="Times New Roman" panose="02020603050405020304" pitchFamily="18" charset="0"/>
                <a:cs typeface="Times New Roman" panose="02020603050405020304" pitchFamily="18" charset="0"/>
              </a:rPr>
              <a:t> alır ve ekranda gösterir.</a:t>
            </a:r>
          </a:p>
        </p:txBody>
      </p:sp>
      <p:sp>
        <p:nvSpPr>
          <p:cNvPr id="6" name="Metin kutusu 5">
            <a:extLst>
              <a:ext uri="{FF2B5EF4-FFF2-40B4-BE49-F238E27FC236}">
                <a16:creationId xmlns:a16="http://schemas.microsoft.com/office/drawing/2014/main" id="{2F60CDE0-7EAE-4B7C-A5B2-5FF4D589585A}"/>
              </a:ext>
            </a:extLst>
          </p:cNvPr>
          <p:cNvSpPr txBox="1"/>
          <p:nvPr/>
        </p:nvSpPr>
        <p:spPr>
          <a:xfrm>
            <a:off x="73404" y="779662"/>
            <a:ext cx="5329106" cy="1754326"/>
          </a:xfrm>
          <a:prstGeom prst="rect">
            <a:avLst/>
          </a:prstGeom>
          <a:noFill/>
        </p:spPr>
        <p:txBody>
          <a:bodyPr wrap="square">
            <a:spAutoFit/>
          </a:bodyPr>
          <a:lstStyle/>
          <a:p>
            <a:r>
              <a:rPr lang="tr-TR" sz="1800" dirty="0">
                <a:solidFill>
                  <a:schemeClr val="bg1"/>
                </a:solidFill>
                <a:latin typeface="Consolas" panose="020B0609020204030204" pitchFamily="49" charset="0"/>
              </a:rPr>
              <a:t>1. </a:t>
            </a:r>
            <a:r>
              <a:rPr lang="tr-TR" sz="1800" dirty="0">
                <a:solidFill>
                  <a:srgbClr val="808080"/>
                </a:solidFill>
                <a:latin typeface="Consolas" panose="020B0609020204030204" pitchFamily="49" charset="0"/>
              </a:rPr>
              <a:t>#include</a:t>
            </a:r>
            <a:r>
              <a:rPr lang="tr-TR" sz="1800" dirty="0">
                <a:solidFill>
                  <a:srgbClr val="000000"/>
                </a:solidFill>
                <a:latin typeface="Consolas" panose="020B0609020204030204" pitchFamily="49" charset="0"/>
              </a:rPr>
              <a:t> </a:t>
            </a:r>
            <a:r>
              <a:rPr lang="tr-TR" sz="1800" dirty="0">
                <a:solidFill>
                  <a:srgbClr val="A31515"/>
                </a:solidFill>
                <a:latin typeface="Consolas" panose="020B0609020204030204" pitchFamily="49" charset="0"/>
              </a:rPr>
              <a:t>&lt;</a:t>
            </a:r>
            <a:r>
              <a:rPr lang="tr-TR" sz="1800" dirty="0" err="1">
                <a:solidFill>
                  <a:srgbClr val="A31515"/>
                </a:solidFill>
                <a:latin typeface="Consolas" panose="020B0609020204030204" pitchFamily="49" charset="0"/>
              </a:rPr>
              <a:t>iostream</a:t>
            </a:r>
            <a:r>
              <a:rPr lang="tr-TR" sz="1800" dirty="0">
                <a:solidFill>
                  <a:srgbClr val="A31515"/>
                </a:solidFill>
                <a:latin typeface="Consolas" panose="020B0609020204030204" pitchFamily="49" charset="0"/>
              </a:rPr>
              <a:t>&gt; </a:t>
            </a:r>
            <a:endParaRPr lang="tr-TR" sz="1800" dirty="0">
              <a:solidFill>
                <a:srgbClr val="000000"/>
              </a:solidFill>
              <a:latin typeface="Consolas" panose="020B0609020204030204" pitchFamily="49" charset="0"/>
            </a:endParaRPr>
          </a:p>
          <a:p>
            <a:r>
              <a:rPr lang="tr-TR" sz="1800" dirty="0">
                <a:solidFill>
                  <a:srgbClr val="000000"/>
                </a:solidFill>
                <a:latin typeface="Consolas" panose="020B0609020204030204" pitchFamily="49" charset="0"/>
              </a:rPr>
              <a:t>2. </a:t>
            </a:r>
          </a:p>
          <a:p>
            <a:r>
              <a:rPr lang="tr-TR" sz="1800" dirty="0">
                <a:solidFill>
                  <a:schemeClr val="bg1"/>
                </a:solidFill>
                <a:latin typeface="Consolas" panose="020B0609020204030204" pitchFamily="49" charset="0"/>
              </a:rPr>
              <a:t>3. </a:t>
            </a:r>
            <a:r>
              <a:rPr lang="tr-TR" sz="1800" dirty="0" err="1">
                <a:solidFill>
                  <a:srgbClr val="0000FF"/>
                </a:solidFill>
                <a:latin typeface="Consolas" panose="020B0609020204030204" pitchFamily="49" charset="0"/>
              </a:rPr>
              <a:t>int</a:t>
            </a:r>
            <a:r>
              <a:rPr lang="tr-TR" sz="1800" dirty="0">
                <a:solidFill>
                  <a:srgbClr val="000000"/>
                </a:solidFill>
                <a:latin typeface="Consolas" panose="020B0609020204030204" pitchFamily="49" charset="0"/>
              </a:rPr>
              <a:t> main()</a:t>
            </a:r>
          </a:p>
          <a:p>
            <a:r>
              <a:rPr lang="tr-TR" sz="1800" dirty="0">
                <a:solidFill>
                  <a:srgbClr val="000000"/>
                </a:solidFill>
                <a:latin typeface="Consolas" panose="020B0609020204030204" pitchFamily="49" charset="0"/>
              </a:rPr>
              <a:t>4. {</a:t>
            </a:r>
          </a:p>
          <a:p>
            <a:r>
              <a:rPr lang="tr-TR" sz="1800" dirty="0">
                <a:solidFill>
                  <a:srgbClr val="000000"/>
                </a:solidFill>
                <a:latin typeface="Consolas" panose="020B0609020204030204" pitchFamily="49" charset="0"/>
              </a:rPr>
              <a:t>5. </a:t>
            </a:r>
            <a:r>
              <a:rPr lang="en-US" sz="1800" dirty="0">
                <a:solidFill>
                  <a:srgbClr val="000000"/>
                </a:solidFill>
                <a:latin typeface="Consolas" panose="020B0609020204030204" pitchFamily="49" charset="0"/>
              </a:rPr>
              <a:t>    std::</a:t>
            </a:r>
            <a:r>
              <a:rPr lang="en-US" sz="1800" dirty="0" err="1">
                <a:solidFill>
                  <a:srgbClr val="000000"/>
                </a:solidFill>
                <a:latin typeface="Consolas" panose="020B0609020204030204" pitchFamily="49" charset="0"/>
              </a:rPr>
              <a:t>cout</a:t>
            </a:r>
            <a:r>
              <a:rPr lang="en-US" sz="1800" dirty="0">
                <a:solidFill>
                  <a:srgbClr val="000000"/>
                </a:solidFill>
                <a:latin typeface="Consolas" panose="020B0609020204030204" pitchFamily="49" charset="0"/>
              </a:rPr>
              <a:t> </a:t>
            </a:r>
            <a:r>
              <a:rPr lang="en-US" sz="1800" dirty="0">
                <a:solidFill>
                  <a:srgbClr val="008080"/>
                </a:solidFill>
                <a:latin typeface="Consolas" panose="020B0609020204030204" pitchFamily="49" charset="0"/>
              </a:rPr>
              <a:t>&lt;&lt;</a:t>
            </a:r>
            <a:r>
              <a:rPr lang="en-US" sz="1800" dirty="0">
                <a:solidFill>
                  <a:srgbClr val="000000"/>
                </a:solidFill>
                <a:latin typeface="Consolas" panose="020B0609020204030204" pitchFamily="49" charset="0"/>
              </a:rPr>
              <a:t> </a:t>
            </a:r>
            <a:r>
              <a:rPr lang="en-US" sz="1800" dirty="0">
                <a:solidFill>
                  <a:srgbClr val="A31515"/>
                </a:solidFill>
                <a:latin typeface="Consolas" panose="020B0609020204030204" pitchFamily="49" charset="0"/>
              </a:rPr>
              <a:t>"Hello World!\n"</a:t>
            </a:r>
            <a:r>
              <a:rPr lang="en-US" sz="1800" dirty="0">
                <a:solidFill>
                  <a:srgbClr val="000000"/>
                </a:solidFill>
                <a:latin typeface="Consolas" panose="020B0609020204030204" pitchFamily="49" charset="0"/>
              </a:rPr>
              <a:t>;</a:t>
            </a:r>
          </a:p>
          <a:p>
            <a:r>
              <a:rPr lang="tr-TR" sz="1800" dirty="0">
                <a:solidFill>
                  <a:srgbClr val="000000"/>
                </a:solidFill>
                <a:latin typeface="Consolas" panose="020B0609020204030204" pitchFamily="49" charset="0"/>
              </a:rPr>
              <a:t>6. }</a:t>
            </a:r>
            <a:endParaRPr lang="tr-TR" dirty="0"/>
          </a:p>
        </p:txBody>
      </p:sp>
    </p:spTree>
    <p:extLst>
      <p:ext uri="{BB962C8B-B14F-4D97-AF65-F5344CB8AC3E}">
        <p14:creationId xmlns:p14="http://schemas.microsoft.com/office/powerpoint/2010/main" val="40825101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625475"/>
          </a:xfrm>
        </p:spPr>
        <p:txBody>
          <a:bodyPr anchor="ctr">
            <a:normAutofit/>
          </a:bodyPr>
          <a:lstStyle/>
          <a:p>
            <a:r>
              <a:rPr lang="tr-TR" sz="3000" b="1" dirty="0">
                <a:solidFill>
                  <a:schemeClr val="tx1"/>
                </a:solidFill>
                <a:latin typeface="Times New Roman" panose="02020603050405020304" pitchFamily="18" charset="0"/>
                <a:cs typeface="Times New Roman" panose="02020603050405020304" pitchFamily="18" charset="0"/>
              </a:rPr>
              <a:t>İlk C++ Programımız ( Versiyon 2)</a:t>
            </a:r>
          </a:p>
        </p:txBody>
      </p:sp>
      <p:sp>
        <p:nvSpPr>
          <p:cNvPr id="8" name="Metin kutusu 7">
            <a:extLst>
              <a:ext uri="{FF2B5EF4-FFF2-40B4-BE49-F238E27FC236}">
                <a16:creationId xmlns:a16="http://schemas.microsoft.com/office/drawing/2014/main" id="{F82CEE49-FDB1-4F81-B35D-0420CDE4E18D}"/>
              </a:ext>
            </a:extLst>
          </p:cNvPr>
          <p:cNvSpPr txBox="1"/>
          <p:nvPr/>
        </p:nvSpPr>
        <p:spPr>
          <a:xfrm>
            <a:off x="-1" y="3085701"/>
            <a:ext cx="12191999" cy="1754326"/>
          </a:xfrm>
          <a:prstGeom prst="rect">
            <a:avLst/>
          </a:prstGeom>
          <a:noFill/>
        </p:spPr>
        <p:txBody>
          <a:bodyPr wrap="square">
            <a:spAutoFit/>
          </a:bodyPr>
          <a:lstStyle/>
          <a:p>
            <a:pPr indent="-256032" algn="just"/>
            <a:r>
              <a:rPr lang="tr-TR" b="1" i="1" dirty="0">
                <a:latin typeface="Times New Roman" panose="02020603050405020304" pitchFamily="18" charset="0"/>
                <a:cs typeface="Times New Roman" panose="02020603050405020304" pitchFamily="18" charset="0"/>
              </a:rPr>
              <a:t>Satır 2:  </a:t>
            </a:r>
            <a:r>
              <a:rPr lang="tr-TR" dirty="0">
                <a:latin typeface="Times New Roman" panose="02020603050405020304" pitchFamily="18" charset="0"/>
                <a:cs typeface="Times New Roman" panose="02020603050405020304" pitchFamily="18" charset="0"/>
              </a:rPr>
              <a:t>Standart C++ kütüphanelerinin tüm elemanları bir isim uzayında (</a:t>
            </a:r>
            <a:r>
              <a:rPr lang="tr-TR" dirty="0" err="1">
                <a:latin typeface="Times New Roman" panose="02020603050405020304" pitchFamily="18" charset="0"/>
                <a:cs typeface="Times New Roman" panose="02020603050405020304" pitchFamily="18" charset="0"/>
              </a:rPr>
              <a:t>namespace</a:t>
            </a:r>
            <a:r>
              <a:rPr lang="tr-TR" dirty="0">
                <a:latin typeface="Times New Roman" panose="02020603050405020304" pitchFamily="18" charset="0"/>
                <a:cs typeface="Times New Roman" panose="02020603050405020304" pitchFamily="18" charset="0"/>
              </a:rPr>
              <a:t>) tanımlıdır. Kullanmak istediğimiz komutları belli bir alan içerisinde kullanmamız için programa eklenmesi gereklidir. Kullanılmaması durumunda tüm komutların kullanım alanı program içerisinde tek tek belirtilmelidir. Bu da programcılık açısından zahmetli ve hataya açık bir işlemdir. Bu satırı programlarda sıklıkla kullanacağız.</a:t>
            </a:r>
          </a:p>
          <a:p>
            <a:pPr indent="-256032" algn="just"/>
            <a:endParaRPr lang="tr-TR" dirty="0">
              <a:latin typeface="Times New Roman" panose="02020603050405020304" pitchFamily="18" charset="0"/>
              <a:cs typeface="Times New Roman" panose="02020603050405020304" pitchFamily="18" charset="0"/>
            </a:endParaRPr>
          </a:p>
          <a:p>
            <a:pPr indent="-256032" algn="just"/>
            <a:r>
              <a:rPr lang="tr-TR" b="1" i="1" dirty="0">
                <a:latin typeface="Times New Roman" panose="02020603050405020304" pitchFamily="18" charset="0"/>
                <a:cs typeface="Times New Roman" panose="02020603050405020304" pitchFamily="18" charset="0"/>
              </a:rPr>
              <a:t>Satır 5: </a:t>
            </a:r>
            <a:r>
              <a:rPr lang="tr-TR" dirty="0" err="1">
                <a:solidFill>
                  <a:srgbClr val="0000FF"/>
                </a:solidFill>
                <a:latin typeface="Consolas" panose="020B0609020204030204" pitchFamily="49" charset="0"/>
              </a:rPr>
              <a:t>using</a:t>
            </a:r>
            <a:r>
              <a:rPr lang="tr-TR" dirty="0">
                <a:solidFill>
                  <a:srgbClr val="000000"/>
                </a:solidFill>
                <a:latin typeface="Consolas" panose="020B0609020204030204" pitchFamily="49" charset="0"/>
              </a:rPr>
              <a:t> </a:t>
            </a:r>
            <a:r>
              <a:rPr lang="tr-TR" dirty="0" err="1">
                <a:solidFill>
                  <a:srgbClr val="0000FF"/>
                </a:solidFill>
                <a:latin typeface="Consolas" panose="020B0609020204030204" pitchFamily="49" charset="0"/>
              </a:rPr>
              <a:t>namespace</a:t>
            </a:r>
            <a:r>
              <a:rPr lang="tr-TR" dirty="0">
                <a:solidFill>
                  <a:srgbClr val="000000"/>
                </a:solidFill>
                <a:latin typeface="Consolas" panose="020B0609020204030204" pitchFamily="49" charset="0"/>
              </a:rPr>
              <a:t> </a:t>
            </a:r>
            <a:r>
              <a:rPr lang="tr-TR" dirty="0" err="1">
                <a:solidFill>
                  <a:srgbClr val="000000"/>
                </a:solidFill>
                <a:latin typeface="Consolas" panose="020B0609020204030204" pitchFamily="49" charset="0"/>
              </a:rPr>
              <a:t>std</a:t>
            </a:r>
            <a:r>
              <a:rPr lang="tr-TR" dirty="0">
                <a:solidFill>
                  <a:srgbClr val="000000"/>
                </a:solidFill>
                <a:latin typeface="Consolas" panose="020B0609020204030204" pitchFamily="49" charset="0"/>
              </a:rPr>
              <a:t>; </a:t>
            </a:r>
            <a:r>
              <a:rPr lang="tr-TR" dirty="0">
                <a:latin typeface="Times New Roman" panose="02020603050405020304" pitchFamily="18" charset="0"/>
                <a:cs typeface="Times New Roman" panose="02020603050405020304" pitchFamily="18" charset="0"/>
              </a:rPr>
              <a:t>satırının eklenmesi ile </a:t>
            </a:r>
            <a:r>
              <a:rPr lang="en-US" dirty="0" err="1">
                <a:solidFill>
                  <a:srgbClr val="000000"/>
                </a:solidFill>
                <a:latin typeface="Consolas" panose="020B0609020204030204" pitchFamily="49" charset="0"/>
              </a:rPr>
              <a:t>cout</a:t>
            </a:r>
            <a:r>
              <a:rPr lang="tr-TR" dirty="0">
                <a:latin typeface="Times New Roman" panose="02020603050405020304" pitchFamily="18" charset="0"/>
                <a:cs typeface="Times New Roman" panose="02020603050405020304" pitchFamily="18" charset="0"/>
              </a:rPr>
              <a:t> komutunu doğrudan bu şekilde kullanabilmekteyiz.</a:t>
            </a:r>
          </a:p>
        </p:txBody>
      </p:sp>
      <p:sp>
        <p:nvSpPr>
          <p:cNvPr id="6" name="Metin kutusu 5">
            <a:extLst>
              <a:ext uri="{FF2B5EF4-FFF2-40B4-BE49-F238E27FC236}">
                <a16:creationId xmlns:a16="http://schemas.microsoft.com/office/drawing/2014/main" id="{2F60CDE0-7EAE-4B7C-A5B2-5FF4D589585A}"/>
              </a:ext>
            </a:extLst>
          </p:cNvPr>
          <p:cNvSpPr txBox="1"/>
          <p:nvPr/>
        </p:nvSpPr>
        <p:spPr>
          <a:xfrm>
            <a:off x="73404" y="779662"/>
            <a:ext cx="5329106" cy="1754326"/>
          </a:xfrm>
          <a:prstGeom prst="rect">
            <a:avLst/>
          </a:prstGeom>
          <a:noFill/>
        </p:spPr>
        <p:txBody>
          <a:bodyPr wrap="square">
            <a:spAutoFit/>
          </a:bodyPr>
          <a:lstStyle/>
          <a:p>
            <a:r>
              <a:rPr lang="tr-TR" sz="1800" dirty="0">
                <a:solidFill>
                  <a:schemeClr val="bg1"/>
                </a:solidFill>
                <a:latin typeface="Consolas" panose="020B0609020204030204" pitchFamily="49" charset="0"/>
              </a:rPr>
              <a:t>1. </a:t>
            </a:r>
            <a:r>
              <a:rPr lang="tr-TR" sz="1800" dirty="0">
                <a:solidFill>
                  <a:srgbClr val="808080"/>
                </a:solidFill>
                <a:latin typeface="Consolas" panose="020B0609020204030204" pitchFamily="49" charset="0"/>
              </a:rPr>
              <a:t>#include</a:t>
            </a:r>
            <a:r>
              <a:rPr lang="tr-TR" sz="1800" dirty="0">
                <a:solidFill>
                  <a:srgbClr val="000000"/>
                </a:solidFill>
                <a:latin typeface="Consolas" panose="020B0609020204030204" pitchFamily="49" charset="0"/>
              </a:rPr>
              <a:t> </a:t>
            </a:r>
            <a:r>
              <a:rPr lang="tr-TR" sz="1800" dirty="0">
                <a:solidFill>
                  <a:srgbClr val="A31515"/>
                </a:solidFill>
                <a:latin typeface="Consolas" panose="020B0609020204030204" pitchFamily="49" charset="0"/>
              </a:rPr>
              <a:t>&lt;</a:t>
            </a:r>
            <a:r>
              <a:rPr lang="tr-TR" sz="1800" dirty="0" err="1">
                <a:solidFill>
                  <a:srgbClr val="A31515"/>
                </a:solidFill>
                <a:latin typeface="Consolas" panose="020B0609020204030204" pitchFamily="49" charset="0"/>
              </a:rPr>
              <a:t>iostream</a:t>
            </a:r>
            <a:r>
              <a:rPr lang="tr-TR" sz="1800" dirty="0">
                <a:solidFill>
                  <a:srgbClr val="A31515"/>
                </a:solidFill>
                <a:latin typeface="Consolas" panose="020B0609020204030204" pitchFamily="49" charset="0"/>
              </a:rPr>
              <a:t>&gt; </a:t>
            </a:r>
            <a:endParaRPr lang="tr-TR" sz="1800" dirty="0">
              <a:solidFill>
                <a:srgbClr val="000000"/>
              </a:solidFill>
              <a:latin typeface="Consolas" panose="020B0609020204030204" pitchFamily="49" charset="0"/>
            </a:endParaRPr>
          </a:p>
          <a:p>
            <a:r>
              <a:rPr lang="tr-TR" sz="1800" dirty="0">
                <a:solidFill>
                  <a:srgbClr val="000000"/>
                </a:solidFill>
                <a:latin typeface="Consolas" panose="020B0609020204030204" pitchFamily="49" charset="0"/>
              </a:rPr>
              <a:t>2. </a:t>
            </a:r>
            <a:r>
              <a:rPr lang="tr-TR" sz="1800" dirty="0" err="1">
                <a:solidFill>
                  <a:srgbClr val="0000FF"/>
                </a:solidFill>
                <a:latin typeface="Consolas" panose="020B0609020204030204" pitchFamily="49" charset="0"/>
              </a:rPr>
              <a:t>using</a:t>
            </a:r>
            <a:r>
              <a:rPr lang="tr-TR" sz="1800" dirty="0">
                <a:solidFill>
                  <a:srgbClr val="000000"/>
                </a:solidFill>
                <a:latin typeface="Consolas" panose="020B0609020204030204" pitchFamily="49" charset="0"/>
              </a:rPr>
              <a:t> </a:t>
            </a:r>
            <a:r>
              <a:rPr lang="tr-TR" sz="1800" dirty="0" err="1">
                <a:solidFill>
                  <a:srgbClr val="0000FF"/>
                </a:solidFill>
                <a:latin typeface="Consolas" panose="020B0609020204030204" pitchFamily="49" charset="0"/>
              </a:rPr>
              <a:t>namespace</a:t>
            </a:r>
            <a:r>
              <a:rPr lang="tr-TR" sz="1800" dirty="0">
                <a:solidFill>
                  <a:srgbClr val="000000"/>
                </a:solidFill>
                <a:latin typeface="Consolas" panose="020B0609020204030204" pitchFamily="49" charset="0"/>
              </a:rPr>
              <a:t> </a:t>
            </a:r>
            <a:r>
              <a:rPr lang="tr-TR" sz="1800" dirty="0" err="1">
                <a:solidFill>
                  <a:srgbClr val="000000"/>
                </a:solidFill>
                <a:latin typeface="Consolas" panose="020B0609020204030204" pitchFamily="49" charset="0"/>
              </a:rPr>
              <a:t>std</a:t>
            </a:r>
            <a:r>
              <a:rPr lang="tr-TR" sz="1800" dirty="0">
                <a:solidFill>
                  <a:srgbClr val="000000"/>
                </a:solidFill>
                <a:latin typeface="Consolas" panose="020B0609020204030204" pitchFamily="49" charset="0"/>
              </a:rPr>
              <a:t>;</a:t>
            </a:r>
          </a:p>
          <a:p>
            <a:r>
              <a:rPr lang="tr-TR" sz="1800" dirty="0">
                <a:solidFill>
                  <a:schemeClr val="bg1"/>
                </a:solidFill>
                <a:latin typeface="Consolas" panose="020B0609020204030204" pitchFamily="49" charset="0"/>
              </a:rPr>
              <a:t>3. </a:t>
            </a:r>
            <a:r>
              <a:rPr lang="tr-TR" sz="1800" dirty="0" err="1">
                <a:solidFill>
                  <a:srgbClr val="0000FF"/>
                </a:solidFill>
                <a:latin typeface="Consolas" panose="020B0609020204030204" pitchFamily="49" charset="0"/>
              </a:rPr>
              <a:t>int</a:t>
            </a:r>
            <a:r>
              <a:rPr lang="tr-TR" sz="1800" dirty="0">
                <a:solidFill>
                  <a:srgbClr val="000000"/>
                </a:solidFill>
                <a:latin typeface="Consolas" panose="020B0609020204030204" pitchFamily="49" charset="0"/>
              </a:rPr>
              <a:t> main()</a:t>
            </a:r>
          </a:p>
          <a:p>
            <a:r>
              <a:rPr lang="tr-TR" sz="1800" dirty="0">
                <a:solidFill>
                  <a:srgbClr val="000000"/>
                </a:solidFill>
                <a:latin typeface="Consolas" panose="020B0609020204030204" pitchFamily="49" charset="0"/>
              </a:rPr>
              <a:t>4. {</a:t>
            </a:r>
          </a:p>
          <a:p>
            <a:r>
              <a:rPr lang="tr-TR" sz="1800" dirty="0">
                <a:solidFill>
                  <a:srgbClr val="000000"/>
                </a:solidFill>
                <a:latin typeface="Consolas" panose="020B0609020204030204" pitchFamily="49" charset="0"/>
              </a:rPr>
              <a:t>5. 		</a:t>
            </a:r>
            <a:r>
              <a:rPr lang="en-US" sz="1800" dirty="0" err="1">
                <a:solidFill>
                  <a:srgbClr val="000000"/>
                </a:solidFill>
                <a:latin typeface="Consolas" panose="020B0609020204030204" pitchFamily="49" charset="0"/>
              </a:rPr>
              <a:t>cout</a:t>
            </a:r>
            <a:r>
              <a:rPr lang="en-US" sz="1800" dirty="0">
                <a:solidFill>
                  <a:srgbClr val="000000"/>
                </a:solidFill>
                <a:latin typeface="Consolas" panose="020B0609020204030204" pitchFamily="49" charset="0"/>
              </a:rPr>
              <a:t> </a:t>
            </a:r>
            <a:r>
              <a:rPr lang="en-US" sz="1800" dirty="0">
                <a:solidFill>
                  <a:srgbClr val="008080"/>
                </a:solidFill>
                <a:latin typeface="Consolas" panose="020B0609020204030204" pitchFamily="49" charset="0"/>
              </a:rPr>
              <a:t>&lt;&lt;</a:t>
            </a:r>
            <a:r>
              <a:rPr lang="en-US" sz="1800" dirty="0">
                <a:solidFill>
                  <a:srgbClr val="000000"/>
                </a:solidFill>
                <a:latin typeface="Consolas" panose="020B0609020204030204" pitchFamily="49" charset="0"/>
              </a:rPr>
              <a:t> </a:t>
            </a:r>
            <a:r>
              <a:rPr lang="en-US" sz="1800" dirty="0">
                <a:solidFill>
                  <a:srgbClr val="A31515"/>
                </a:solidFill>
                <a:latin typeface="Consolas" panose="020B0609020204030204" pitchFamily="49" charset="0"/>
              </a:rPr>
              <a:t>"Hello World!\n"</a:t>
            </a:r>
            <a:r>
              <a:rPr lang="en-US" sz="1800" dirty="0">
                <a:solidFill>
                  <a:srgbClr val="000000"/>
                </a:solidFill>
                <a:latin typeface="Consolas" panose="020B0609020204030204" pitchFamily="49" charset="0"/>
              </a:rPr>
              <a:t>;</a:t>
            </a:r>
          </a:p>
          <a:p>
            <a:r>
              <a:rPr lang="tr-TR" sz="1800" dirty="0">
                <a:solidFill>
                  <a:srgbClr val="000000"/>
                </a:solidFill>
                <a:latin typeface="Consolas" panose="020B0609020204030204" pitchFamily="49" charset="0"/>
              </a:rPr>
              <a:t>6. }</a:t>
            </a:r>
            <a:endParaRPr lang="tr-TR" dirty="0"/>
          </a:p>
        </p:txBody>
      </p:sp>
    </p:spTree>
    <p:extLst>
      <p:ext uri="{BB962C8B-B14F-4D97-AF65-F5344CB8AC3E}">
        <p14:creationId xmlns:p14="http://schemas.microsoft.com/office/powerpoint/2010/main" val="14728003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625475"/>
          </a:xfrm>
        </p:spPr>
        <p:txBody>
          <a:bodyPr anchor="ctr">
            <a:normAutofit/>
          </a:bodyPr>
          <a:lstStyle/>
          <a:p>
            <a:pPr marL="0" indent="0">
              <a:buNone/>
            </a:pPr>
            <a:r>
              <a:rPr lang="tr-TR" sz="3000" b="1" dirty="0">
                <a:solidFill>
                  <a:schemeClr val="tx1"/>
                </a:solidFill>
                <a:latin typeface="Times New Roman" panose="02020603050405020304" pitchFamily="18" charset="0"/>
                <a:cs typeface="Times New Roman" panose="02020603050405020304" pitchFamily="18" charset="0"/>
              </a:rPr>
              <a:t>C++ Anahtar Kelimeleri </a:t>
            </a:r>
          </a:p>
        </p:txBody>
      </p:sp>
      <p:graphicFrame>
        <p:nvGraphicFramePr>
          <p:cNvPr id="4" name="Tablo 3">
            <a:extLst>
              <a:ext uri="{FF2B5EF4-FFF2-40B4-BE49-F238E27FC236}">
                <a16:creationId xmlns:a16="http://schemas.microsoft.com/office/drawing/2014/main" id="{C102E290-0972-4C99-B712-919CFD47F98C}"/>
              </a:ext>
            </a:extLst>
          </p:cNvPr>
          <p:cNvGraphicFramePr>
            <a:graphicFrameLocks noGrp="1"/>
          </p:cNvGraphicFramePr>
          <p:nvPr>
            <p:extLst>
              <p:ext uri="{D42A27DB-BD31-4B8C-83A1-F6EECF244321}">
                <p14:modId xmlns:p14="http://schemas.microsoft.com/office/powerpoint/2010/main" val="635437983"/>
              </p:ext>
            </p:extLst>
          </p:nvPr>
        </p:nvGraphicFramePr>
        <p:xfrm>
          <a:off x="2558642" y="875679"/>
          <a:ext cx="6803468" cy="4006720"/>
        </p:xfrm>
        <a:graphic>
          <a:graphicData uri="http://schemas.openxmlformats.org/drawingml/2006/table">
            <a:tbl>
              <a:tblPr>
                <a:tableStyleId>{5DA37D80-6434-44D0-A028-1B22A696006F}</a:tableStyleId>
              </a:tblPr>
              <a:tblGrid>
                <a:gridCol w="1700867">
                  <a:extLst>
                    <a:ext uri="{9D8B030D-6E8A-4147-A177-3AD203B41FA5}">
                      <a16:colId xmlns:a16="http://schemas.microsoft.com/office/drawing/2014/main" val="2461932462"/>
                    </a:ext>
                  </a:extLst>
                </a:gridCol>
                <a:gridCol w="1700867">
                  <a:extLst>
                    <a:ext uri="{9D8B030D-6E8A-4147-A177-3AD203B41FA5}">
                      <a16:colId xmlns:a16="http://schemas.microsoft.com/office/drawing/2014/main" val="426158034"/>
                    </a:ext>
                  </a:extLst>
                </a:gridCol>
                <a:gridCol w="1700867">
                  <a:extLst>
                    <a:ext uri="{9D8B030D-6E8A-4147-A177-3AD203B41FA5}">
                      <a16:colId xmlns:a16="http://schemas.microsoft.com/office/drawing/2014/main" val="1136576368"/>
                    </a:ext>
                  </a:extLst>
                </a:gridCol>
                <a:gridCol w="1700867">
                  <a:extLst>
                    <a:ext uri="{9D8B030D-6E8A-4147-A177-3AD203B41FA5}">
                      <a16:colId xmlns:a16="http://schemas.microsoft.com/office/drawing/2014/main" val="3626731195"/>
                    </a:ext>
                  </a:extLst>
                </a:gridCol>
              </a:tblGrid>
              <a:tr h="250420">
                <a:tc>
                  <a:txBody>
                    <a:bodyPr/>
                    <a:lstStyle/>
                    <a:p>
                      <a:pPr algn="ctr" fontAlgn="base"/>
                      <a:r>
                        <a:rPr lang="tr-TR" sz="1400" b="0" dirty="0" err="1">
                          <a:effectLst/>
                          <a:latin typeface="Times New Roman" panose="02020603050405020304" pitchFamily="18" charset="0"/>
                          <a:cs typeface="Times New Roman" panose="02020603050405020304" pitchFamily="18" charset="0"/>
                        </a:rPr>
                        <a:t>asm</a:t>
                      </a:r>
                      <a:r>
                        <a:rPr lang="tr-TR" sz="1400" b="0" dirty="0">
                          <a:effectLst/>
                          <a:latin typeface="Times New Roman" panose="02020603050405020304" pitchFamily="18" charset="0"/>
                          <a:cs typeface="Times New Roman" panose="02020603050405020304" pitchFamily="18" charset="0"/>
                        </a:rPr>
                        <a:t> </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else</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new</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this</a:t>
                      </a:r>
                    </a:p>
                  </a:txBody>
                  <a:tcPr marL="10591" marR="10591" marT="7060" marB="7060" anchor="ctr"/>
                </a:tc>
                <a:extLst>
                  <a:ext uri="{0D108BD9-81ED-4DB2-BD59-A6C34878D82A}">
                    <a16:rowId xmlns:a16="http://schemas.microsoft.com/office/drawing/2014/main" val="2670112052"/>
                  </a:ext>
                </a:extLst>
              </a:tr>
              <a:tr h="250420">
                <a:tc>
                  <a:txBody>
                    <a:bodyPr/>
                    <a:lstStyle/>
                    <a:p>
                      <a:pPr algn="ctr" fontAlgn="base"/>
                      <a:r>
                        <a:rPr lang="tr-TR" sz="1400" b="0">
                          <a:effectLst/>
                          <a:latin typeface="Times New Roman" panose="02020603050405020304" pitchFamily="18" charset="0"/>
                          <a:cs typeface="Times New Roman" panose="02020603050405020304" pitchFamily="18" charset="0"/>
                        </a:rPr>
                        <a:t>auto</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enum</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operator</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throw</a:t>
                      </a:r>
                    </a:p>
                  </a:txBody>
                  <a:tcPr marL="10591" marR="10591" marT="7060" marB="7060" anchor="ctr"/>
                </a:tc>
                <a:extLst>
                  <a:ext uri="{0D108BD9-81ED-4DB2-BD59-A6C34878D82A}">
                    <a16:rowId xmlns:a16="http://schemas.microsoft.com/office/drawing/2014/main" val="1711907399"/>
                  </a:ext>
                </a:extLst>
              </a:tr>
              <a:tr h="250420">
                <a:tc>
                  <a:txBody>
                    <a:bodyPr/>
                    <a:lstStyle/>
                    <a:p>
                      <a:pPr algn="ctr" fontAlgn="base"/>
                      <a:r>
                        <a:rPr lang="tr-TR" sz="1400" b="0" dirty="0" err="1">
                          <a:effectLst/>
                          <a:latin typeface="Times New Roman" panose="02020603050405020304" pitchFamily="18" charset="0"/>
                          <a:cs typeface="Times New Roman" panose="02020603050405020304" pitchFamily="18" charset="0"/>
                        </a:rPr>
                        <a:t>bool</a:t>
                      </a:r>
                      <a:endParaRPr lang="tr-TR" sz="1400" b="0" dirty="0">
                        <a:effectLst/>
                        <a:latin typeface="Times New Roman" panose="02020603050405020304" pitchFamily="18" charset="0"/>
                        <a:cs typeface="Times New Roman" panose="02020603050405020304" pitchFamily="18" charset="0"/>
                      </a:endParaRPr>
                    </a:p>
                  </a:txBody>
                  <a:tcPr marL="10591" marR="10591" marT="7060" marB="7060" anchor="ctr"/>
                </a:tc>
                <a:tc>
                  <a:txBody>
                    <a:bodyPr/>
                    <a:lstStyle/>
                    <a:p>
                      <a:pPr algn="ctr" fontAlgn="base"/>
                      <a:r>
                        <a:rPr lang="tr-TR" sz="1400" b="0" dirty="0" err="1">
                          <a:effectLst/>
                          <a:latin typeface="Times New Roman" panose="02020603050405020304" pitchFamily="18" charset="0"/>
                          <a:cs typeface="Times New Roman" panose="02020603050405020304" pitchFamily="18" charset="0"/>
                        </a:rPr>
                        <a:t>explicit</a:t>
                      </a:r>
                      <a:endParaRPr lang="tr-TR" sz="1400" b="0" dirty="0">
                        <a:effectLst/>
                        <a:latin typeface="Times New Roman" panose="02020603050405020304" pitchFamily="18" charset="0"/>
                        <a:cs typeface="Times New Roman" panose="02020603050405020304" pitchFamily="18" charset="0"/>
                      </a:endParaRP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private</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true</a:t>
                      </a:r>
                    </a:p>
                  </a:txBody>
                  <a:tcPr marL="10591" marR="10591" marT="7060" marB="7060" anchor="ctr"/>
                </a:tc>
                <a:extLst>
                  <a:ext uri="{0D108BD9-81ED-4DB2-BD59-A6C34878D82A}">
                    <a16:rowId xmlns:a16="http://schemas.microsoft.com/office/drawing/2014/main" val="2483984674"/>
                  </a:ext>
                </a:extLst>
              </a:tr>
              <a:tr h="250420">
                <a:tc>
                  <a:txBody>
                    <a:bodyPr/>
                    <a:lstStyle/>
                    <a:p>
                      <a:pPr algn="ctr" fontAlgn="base"/>
                      <a:r>
                        <a:rPr lang="tr-TR" sz="1400" b="0">
                          <a:effectLst/>
                          <a:latin typeface="Times New Roman" panose="02020603050405020304" pitchFamily="18" charset="0"/>
                          <a:cs typeface="Times New Roman" panose="02020603050405020304" pitchFamily="18" charset="0"/>
                        </a:rPr>
                        <a:t>break</a:t>
                      </a:r>
                    </a:p>
                  </a:txBody>
                  <a:tcPr marL="10591" marR="10591" marT="7060" marB="7060" anchor="ctr"/>
                </a:tc>
                <a:tc>
                  <a:txBody>
                    <a:bodyPr/>
                    <a:lstStyle/>
                    <a:p>
                      <a:pPr algn="ctr" fontAlgn="base"/>
                      <a:r>
                        <a:rPr lang="tr-TR" sz="1400" b="0" dirty="0" err="1">
                          <a:effectLst/>
                          <a:latin typeface="Times New Roman" panose="02020603050405020304" pitchFamily="18" charset="0"/>
                          <a:cs typeface="Times New Roman" panose="02020603050405020304" pitchFamily="18" charset="0"/>
                        </a:rPr>
                        <a:t>export</a:t>
                      </a:r>
                      <a:endParaRPr lang="tr-TR" sz="1400" b="0" dirty="0">
                        <a:effectLst/>
                        <a:latin typeface="Times New Roman" panose="02020603050405020304" pitchFamily="18" charset="0"/>
                        <a:cs typeface="Times New Roman" panose="02020603050405020304" pitchFamily="18" charset="0"/>
                      </a:endParaRP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protected</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try</a:t>
                      </a:r>
                    </a:p>
                  </a:txBody>
                  <a:tcPr marL="10591" marR="10591" marT="7060" marB="7060" anchor="ctr"/>
                </a:tc>
                <a:extLst>
                  <a:ext uri="{0D108BD9-81ED-4DB2-BD59-A6C34878D82A}">
                    <a16:rowId xmlns:a16="http://schemas.microsoft.com/office/drawing/2014/main" val="3554917445"/>
                  </a:ext>
                </a:extLst>
              </a:tr>
              <a:tr h="250420">
                <a:tc>
                  <a:txBody>
                    <a:bodyPr/>
                    <a:lstStyle/>
                    <a:p>
                      <a:pPr algn="ctr" fontAlgn="base"/>
                      <a:r>
                        <a:rPr lang="tr-TR" sz="1400" b="0">
                          <a:effectLst/>
                          <a:latin typeface="Times New Roman" panose="02020603050405020304" pitchFamily="18" charset="0"/>
                          <a:cs typeface="Times New Roman" panose="02020603050405020304" pitchFamily="18" charset="0"/>
                        </a:rPr>
                        <a:t>case</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extern</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public</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typedef</a:t>
                      </a:r>
                    </a:p>
                  </a:txBody>
                  <a:tcPr marL="10591" marR="10591" marT="7060" marB="7060" anchor="ctr"/>
                </a:tc>
                <a:extLst>
                  <a:ext uri="{0D108BD9-81ED-4DB2-BD59-A6C34878D82A}">
                    <a16:rowId xmlns:a16="http://schemas.microsoft.com/office/drawing/2014/main" val="3546453261"/>
                  </a:ext>
                </a:extLst>
              </a:tr>
              <a:tr h="250420">
                <a:tc>
                  <a:txBody>
                    <a:bodyPr/>
                    <a:lstStyle/>
                    <a:p>
                      <a:pPr algn="ctr" fontAlgn="base"/>
                      <a:r>
                        <a:rPr lang="tr-TR" sz="1400" b="0">
                          <a:effectLst/>
                          <a:latin typeface="Times New Roman" panose="02020603050405020304" pitchFamily="18" charset="0"/>
                          <a:cs typeface="Times New Roman" panose="02020603050405020304" pitchFamily="18" charset="0"/>
                        </a:rPr>
                        <a:t>catch</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false</a:t>
                      </a:r>
                    </a:p>
                  </a:txBody>
                  <a:tcPr marL="10591" marR="10591" marT="7060" marB="7060" anchor="ctr"/>
                </a:tc>
                <a:tc>
                  <a:txBody>
                    <a:bodyPr/>
                    <a:lstStyle/>
                    <a:p>
                      <a:pPr algn="ctr" fontAlgn="base"/>
                      <a:r>
                        <a:rPr lang="tr-TR" sz="1400" b="0" dirty="0" err="1">
                          <a:effectLst/>
                          <a:latin typeface="Times New Roman" panose="02020603050405020304" pitchFamily="18" charset="0"/>
                          <a:cs typeface="Times New Roman" panose="02020603050405020304" pitchFamily="18" charset="0"/>
                        </a:rPr>
                        <a:t>register</a:t>
                      </a:r>
                      <a:endParaRPr lang="tr-TR" sz="1400" b="0" dirty="0">
                        <a:effectLst/>
                        <a:latin typeface="Times New Roman" panose="02020603050405020304" pitchFamily="18" charset="0"/>
                        <a:cs typeface="Times New Roman" panose="02020603050405020304" pitchFamily="18" charset="0"/>
                      </a:endParaRP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typeid</a:t>
                      </a:r>
                    </a:p>
                  </a:txBody>
                  <a:tcPr marL="10591" marR="10591" marT="7060" marB="7060" anchor="ctr"/>
                </a:tc>
                <a:extLst>
                  <a:ext uri="{0D108BD9-81ED-4DB2-BD59-A6C34878D82A}">
                    <a16:rowId xmlns:a16="http://schemas.microsoft.com/office/drawing/2014/main" val="1963232859"/>
                  </a:ext>
                </a:extLst>
              </a:tr>
              <a:tr h="250420">
                <a:tc>
                  <a:txBody>
                    <a:bodyPr/>
                    <a:lstStyle/>
                    <a:p>
                      <a:pPr algn="ctr" fontAlgn="base"/>
                      <a:r>
                        <a:rPr lang="tr-TR" sz="1400" b="0">
                          <a:effectLst/>
                          <a:latin typeface="Times New Roman" panose="02020603050405020304" pitchFamily="18" charset="0"/>
                          <a:cs typeface="Times New Roman" panose="02020603050405020304" pitchFamily="18" charset="0"/>
                        </a:rPr>
                        <a:t>char</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float</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reinterpret_cast</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typename</a:t>
                      </a:r>
                    </a:p>
                  </a:txBody>
                  <a:tcPr marL="10591" marR="10591" marT="7060" marB="7060" anchor="ctr"/>
                </a:tc>
                <a:extLst>
                  <a:ext uri="{0D108BD9-81ED-4DB2-BD59-A6C34878D82A}">
                    <a16:rowId xmlns:a16="http://schemas.microsoft.com/office/drawing/2014/main" val="3242335017"/>
                  </a:ext>
                </a:extLst>
              </a:tr>
              <a:tr h="250420">
                <a:tc>
                  <a:txBody>
                    <a:bodyPr/>
                    <a:lstStyle/>
                    <a:p>
                      <a:pPr algn="ctr" fontAlgn="base"/>
                      <a:r>
                        <a:rPr lang="tr-TR" sz="1400" b="0" dirty="0" err="1">
                          <a:effectLst/>
                          <a:latin typeface="Times New Roman" panose="02020603050405020304" pitchFamily="18" charset="0"/>
                          <a:cs typeface="Times New Roman" panose="02020603050405020304" pitchFamily="18" charset="0"/>
                        </a:rPr>
                        <a:t>class</a:t>
                      </a:r>
                      <a:endParaRPr lang="tr-TR" sz="1400" b="0" dirty="0">
                        <a:effectLst/>
                        <a:latin typeface="Times New Roman" panose="02020603050405020304" pitchFamily="18" charset="0"/>
                        <a:cs typeface="Times New Roman" panose="02020603050405020304" pitchFamily="18" charset="0"/>
                      </a:endParaRP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for</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return</a:t>
                      </a:r>
                    </a:p>
                  </a:txBody>
                  <a:tcPr marL="10591" marR="10591" marT="7060" marB="7060" anchor="ctr"/>
                </a:tc>
                <a:tc>
                  <a:txBody>
                    <a:bodyPr/>
                    <a:lstStyle/>
                    <a:p>
                      <a:pPr algn="ctr" fontAlgn="base"/>
                      <a:r>
                        <a:rPr lang="tr-TR" sz="1400" b="0" dirty="0" err="1">
                          <a:effectLst/>
                          <a:latin typeface="Times New Roman" panose="02020603050405020304" pitchFamily="18" charset="0"/>
                          <a:cs typeface="Times New Roman" panose="02020603050405020304" pitchFamily="18" charset="0"/>
                        </a:rPr>
                        <a:t>union</a:t>
                      </a:r>
                      <a:endParaRPr lang="tr-TR" sz="1400" b="0" dirty="0">
                        <a:effectLst/>
                        <a:latin typeface="Times New Roman" panose="02020603050405020304" pitchFamily="18" charset="0"/>
                        <a:cs typeface="Times New Roman" panose="02020603050405020304" pitchFamily="18" charset="0"/>
                      </a:endParaRPr>
                    </a:p>
                  </a:txBody>
                  <a:tcPr marL="10591" marR="10591" marT="7060" marB="7060" anchor="ctr"/>
                </a:tc>
                <a:extLst>
                  <a:ext uri="{0D108BD9-81ED-4DB2-BD59-A6C34878D82A}">
                    <a16:rowId xmlns:a16="http://schemas.microsoft.com/office/drawing/2014/main" val="2276018066"/>
                  </a:ext>
                </a:extLst>
              </a:tr>
              <a:tr h="250420">
                <a:tc>
                  <a:txBody>
                    <a:bodyPr/>
                    <a:lstStyle/>
                    <a:p>
                      <a:pPr algn="ctr" fontAlgn="base"/>
                      <a:r>
                        <a:rPr lang="tr-TR" sz="1400" b="0">
                          <a:effectLst/>
                          <a:latin typeface="Times New Roman" panose="02020603050405020304" pitchFamily="18" charset="0"/>
                          <a:cs typeface="Times New Roman" panose="02020603050405020304" pitchFamily="18" charset="0"/>
                        </a:rPr>
                        <a:t>const</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friend</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short</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unsigned</a:t>
                      </a:r>
                    </a:p>
                  </a:txBody>
                  <a:tcPr marL="10591" marR="10591" marT="7060" marB="7060" anchor="ctr"/>
                </a:tc>
                <a:extLst>
                  <a:ext uri="{0D108BD9-81ED-4DB2-BD59-A6C34878D82A}">
                    <a16:rowId xmlns:a16="http://schemas.microsoft.com/office/drawing/2014/main" val="4197165242"/>
                  </a:ext>
                </a:extLst>
              </a:tr>
              <a:tr h="250420">
                <a:tc>
                  <a:txBody>
                    <a:bodyPr/>
                    <a:lstStyle/>
                    <a:p>
                      <a:pPr algn="ctr" fontAlgn="base"/>
                      <a:r>
                        <a:rPr lang="tr-TR" sz="1400" b="0" dirty="0" err="1">
                          <a:effectLst/>
                          <a:latin typeface="Times New Roman" panose="02020603050405020304" pitchFamily="18" charset="0"/>
                          <a:cs typeface="Times New Roman" panose="02020603050405020304" pitchFamily="18" charset="0"/>
                        </a:rPr>
                        <a:t>const_cast</a:t>
                      </a:r>
                      <a:endParaRPr lang="tr-TR" sz="1400" b="0" dirty="0">
                        <a:effectLst/>
                        <a:latin typeface="Times New Roman" panose="02020603050405020304" pitchFamily="18" charset="0"/>
                        <a:cs typeface="Times New Roman" panose="02020603050405020304" pitchFamily="18" charset="0"/>
                      </a:endParaRP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goto</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signed</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using</a:t>
                      </a:r>
                    </a:p>
                  </a:txBody>
                  <a:tcPr marL="10591" marR="10591" marT="7060" marB="7060" anchor="ctr"/>
                </a:tc>
                <a:extLst>
                  <a:ext uri="{0D108BD9-81ED-4DB2-BD59-A6C34878D82A}">
                    <a16:rowId xmlns:a16="http://schemas.microsoft.com/office/drawing/2014/main" val="4004584049"/>
                  </a:ext>
                </a:extLst>
              </a:tr>
              <a:tr h="250420">
                <a:tc>
                  <a:txBody>
                    <a:bodyPr/>
                    <a:lstStyle/>
                    <a:p>
                      <a:pPr algn="ctr" fontAlgn="base"/>
                      <a:r>
                        <a:rPr lang="tr-TR" sz="1400" b="0">
                          <a:effectLst/>
                          <a:latin typeface="Times New Roman" panose="02020603050405020304" pitchFamily="18" charset="0"/>
                          <a:cs typeface="Times New Roman" panose="02020603050405020304" pitchFamily="18" charset="0"/>
                        </a:rPr>
                        <a:t>continue</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if</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sizeof</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virtual</a:t>
                      </a:r>
                    </a:p>
                  </a:txBody>
                  <a:tcPr marL="10591" marR="10591" marT="7060" marB="7060" anchor="ctr"/>
                </a:tc>
                <a:extLst>
                  <a:ext uri="{0D108BD9-81ED-4DB2-BD59-A6C34878D82A}">
                    <a16:rowId xmlns:a16="http://schemas.microsoft.com/office/drawing/2014/main" val="2696512769"/>
                  </a:ext>
                </a:extLst>
              </a:tr>
              <a:tr h="250420">
                <a:tc>
                  <a:txBody>
                    <a:bodyPr/>
                    <a:lstStyle/>
                    <a:p>
                      <a:pPr algn="ctr" fontAlgn="base"/>
                      <a:r>
                        <a:rPr lang="tr-TR" sz="1400" b="0">
                          <a:effectLst/>
                          <a:latin typeface="Times New Roman" panose="02020603050405020304" pitchFamily="18" charset="0"/>
                          <a:cs typeface="Times New Roman" panose="02020603050405020304" pitchFamily="18" charset="0"/>
                        </a:rPr>
                        <a:t>default</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inline</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static</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void</a:t>
                      </a:r>
                    </a:p>
                  </a:txBody>
                  <a:tcPr marL="10591" marR="10591" marT="7060" marB="7060" anchor="ctr"/>
                </a:tc>
                <a:extLst>
                  <a:ext uri="{0D108BD9-81ED-4DB2-BD59-A6C34878D82A}">
                    <a16:rowId xmlns:a16="http://schemas.microsoft.com/office/drawing/2014/main" val="3716874614"/>
                  </a:ext>
                </a:extLst>
              </a:tr>
              <a:tr h="250420">
                <a:tc>
                  <a:txBody>
                    <a:bodyPr/>
                    <a:lstStyle/>
                    <a:p>
                      <a:pPr algn="ctr" fontAlgn="base"/>
                      <a:r>
                        <a:rPr lang="tr-TR" sz="1400" b="0">
                          <a:effectLst/>
                          <a:latin typeface="Times New Roman" panose="02020603050405020304" pitchFamily="18" charset="0"/>
                          <a:cs typeface="Times New Roman" panose="02020603050405020304" pitchFamily="18" charset="0"/>
                        </a:rPr>
                        <a:t>delete</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int</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static_cast</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volatile</a:t>
                      </a:r>
                    </a:p>
                  </a:txBody>
                  <a:tcPr marL="10591" marR="10591" marT="7060" marB="7060" anchor="ctr"/>
                </a:tc>
                <a:extLst>
                  <a:ext uri="{0D108BD9-81ED-4DB2-BD59-A6C34878D82A}">
                    <a16:rowId xmlns:a16="http://schemas.microsoft.com/office/drawing/2014/main" val="2483950920"/>
                  </a:ext>
                </a:extLst>
              </a:tr>
              <a:tr h="250420">
                <a:tc>
                  <a:txBody>
                    <a:bodyPr/>
                    <a:lstStyle/>
                    <a:p>
                      <a:pPr algn="ctr" fontAlgn="base"/>
                      <a:r>
                        <a:rPr lang="tr-TR" sz="1400" b="0">
                          <a:effectLst/>
                          <a:latin typeface="Times New Roman" panose="02020603050405020304" pitchFamily="18" charset="0"/>
                          <a:cs typeface="Times New Roman" panose="02020603050405020304" pitchFamily="18" charset="0"/>
                        </a:rPr>
                        <a:t>do</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long</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struct</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wchar_t</a:t>
                      </a:r>
                    </a:p>
                  </a:txBody>
                  <a:tcPr marL="10591" marR="10591" marT="7060" marB="7060" anchor="ctr"/>
                </a:tc>
                <a:extLst>
                  <a:ext uri="{0D108BD9-81ED-4DB2-BD59-A6C34878D82A}">
                    <a16:rowId xmlns:a16="http://schemas.microsoft.com/office/drawing/2014/main" val="2957598483"/>
                  </a:ext>
                </a:extLst>
              </a:tr>
              <a:tr h="250420">
                <a:tc>
                  <a:txBody>
                    <a:bodyPr/>
                    <a:lstStyle/>
                    <a:p>
                      <a:pPr algn="ctr" fontAlgn="base"/>
                      <a:r>
                        <a:rPr lang="tr-TR" sz="1400" b="0">
                          <a:effectLst/>
                          <a:latin typeface="Times New Roman" panose="02020603050405020304" pitchFamily="18" charset="0"/>
                          <a:cs typeface="Times New Roman" panose="02020603050405020304" pitchFamily="18" charset="0"/>
                        </a:rPr>
                        <a:t>double</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mutable</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switch</a:t>
                      </a: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while</a:t>
                      </a:r>
                    </a:p>
                  </a:txBody>
                  <a:tcPr marL="10591" marR="10591" marT="7060" marB="7060" anchor="ctr"/>
                </a:tc>
                <a:extLst>
                  <a:ext uri="{0D108BD9-81ED-4DB2-BD59-A6C34878D82A}">
                    <a16:rowId xmlns:a16="http://schemas.microsoft.com/office/drawing/2014/main" val="409354351"/>
                  </a:ext>
                </a:extLst>
              </a:tr>
              <a:tr h="250420">
                <a:tc>
                  <a:txBody>
                    <a:bodyPr/>
                    <a:lstStyle/>
                    <a:p>
                      <a:pPr algn="ctr" fontAlgn="base"/>
                      <a:r>
                        <a:rPr lang="tr-TR" sz="1400" b="0">
                          <a:effectLst/>
                          <a:latin typeface="Times New Roman" panose="02020603050405020304" pitchFamily="18" charset="0"/>
                          <a:cs typeface="Times New Roman" panose="02020603050405020304" pitchFamily="18" charset="0"/>
                        </a:rPr>
                        <a:t>dynamic_cast</a:t>
                      </a:r>
                    </a:p>
                  </a:txBody>
                  <a:tcPr marL="10591" marR="10591" marT="7060" marB="7060" anchor="ctr"/>
                </a:tc>
                <a:tc>
                  <a:txBody>
                    <a:bodyPr/>
                    <a:lstStyle/>
                    <a:p>
                      <a:pPr algn="ctr" fontAlgn="base"/>
                      <a:r>
                        <a:rPr lang="tr-TR" sz="1400" b="0" dirty="0" err="1">
                          <a:effectLst/>
                          <a:latin typeface="Times New Roman" panose="02020603050405020304" pitchFamily="18" charset="0"/>
                          <a:cs typeface="Times New Roman" panose="02020603050405020304" pitchFamily="18" charset="0"/>
                        </a:rPr>
                        <a:t>namespace</a:t>
                      </a:r>
                      <a:endParaRPr lang="tr-TR" sz="1400" b="0" dirty="0">
                        <a:effectLst/>
                        <a:latin typeface="Times New Roman" panose="02020603050405020304" pitchFamily="18" charset="0"/>
                        <a:cs typeface="Times New Roman" panose="02020603050405020304" pitchFamily="18" charset="0"/>
                      </a:endParaRPr>
                    </a:p>
                  </a:txBody>
                  <a:tcPr marL="10591" marR="10591" marT="7060" marB="7060" anchor="ctr"/>
                </a:tc>
                <a:tc>
                  <a:txBody>
                    <a:bodyPr/>
                    <a:lstStyle/>
                    <a:p>
                      <a:pPr algn="ctr" fontAlgn="base"/>
                      <a:r>
                        <a:rPr lang="tr-TR" sz="1400" b="0">
                          <a:effectLst/>
                          <a:latin typeface="Times New Roman" panose="02020603050405020304" pitchFamily="18" charset="0"/>
                          <a:cs typeface="Times New Roman" panose="02020603050405020304" pitchFamily="18" charset="0"/>
                        </a:rPr>
                        <a:t>template</a:t>
                      </a:r>
                    </a:p>
                  </a:txBody>
                  <a:tcPr marL="10591" marR="10591" marT="7060" marB="7060" anchor="ctr"/>
                </a:tc>
                <a:tc>
                  <a:txBody>
                    <a:bodyPr/>
                    <a:lstStyle/>
                    <a:p>
                      <a:pPr algn="ctr"/>
                      <a:endParaRPr lang="tr-TR" sz="1400" dirty="0">
                        <a:latin typeface="Times New Roman" panose="02020603050405020304" pitchFamily="18" charset="0"/>
                        <a:cs typeface="Times New Roman" panose="02020603050405020304" pitchFamily="18" charset="0"/>
                      </a:endParaRPr>
                    </a:p>
                  </a:txBody>
                  <a:tcPr marL="6778" marR="6778" marT="3389" marB="3389"/>
                </a:tc>
                <a:extLst>
                  <a:ext uri="{0D108BD9-81ED-4DB2-BD59-A6C34878D82A}">
                    <a16:rowId xmlns:a16="http://schemas.microsoft.com/office/drawing/2014/main" val="869182732"/>
                  </a:ext>
                </a:extLst>
              </a:tr>
            </a:tbl>
          </a:graphicData>
        </a:graphic>
      </p:graphicFrame>
    </p:spTree>
    <p:extLst>
      <p:ext uri="{BB962C8B-B14F-4D97-AF65-F5344CB8AC3E}">
        <p14:creationId xmlns:p14="http://schemas.microsoft.com/office/powerpoint/2010/main" val="30289160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6858000"/>
          </a:xfrm>
        </p:spPr>
        <p:txBody>
          <a:bodyPr anchor="ctr">
            <a:normAutofit/>
          </a:bodyPr>
          <a:lstStyle/>
          <a:p>
            <a:pPr algn="ctr"/>
            <a:r>
              <a:rPr lang="tr-TR" sz="5000" dirty="0">
                <a:ln w="0"/>
                <a:solidFill>
                  <a:srgbClr val="7030A0"/>
                </a:solidFill>
                <a:effectLst>
                  <a:outerShdw blurRad="38100" dist="25400" dir="5400000" algn="ctr" rotWithShape="0">
                    <a:srgbClr val="6E747A">
                      <a:alpha val="43000"/>
                    </a:srgbClr>
                  </a:outerShdw>
                </a:effectLst>
                <a:latin typeface="Times New Roman" panose="02020603050405020304" pitchFamily="18" charset="0"/>
                <a:cs typeface="Times New Roman" panose="02020603050405020304" pitchFamily="18" charset="0"/>
              </a:rPr>
              <a:t>ÖRNEKLER</a:t>
            </a:r>
          </a:p>
        </p:txBody>
      </p:sp>
    </p:spTree>
    <p:extLst>
      <p:ext uri="{BB962C8B-B14F-4D97-AF65-F5344CB8AC3E}">
        <p14:creationId xmlns:p14="http://schemas.microsoft.com/office/powerpoint/2010/main" val="24056680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360727"/>
          </a:xfrm>
        </p:spPr>
        <p:txBody>
          <a:bodyPr anchor="ctr">
            <a:normAutofit/>
          </a:bodyPr>
          <a:lstStyle/>
          <a:p>
            <a:pPr algn="ctr"/>
            <a:r>
              <a:rPr lang="tr-TR" sz="1800" b="1" i="0" dirty="0">
                <a:solidFill>
                  <a:srgbClr val="444444"/>
                </a:solidFill>
                <a:effectLst/>
                <a:latin typeface="Times New Roman" panose="02020603050405020304" pitchFamily="18" charset="0"/>
                <a:cs typeface="Times New Roman" panose="02020603050405020304" pitchFamily="18" charset="0"/>
              </a:rPr>
              <a:t>Klavyeden girilen iki sayıyı toplayan ve gösteren C++ kodu: </a:t>
            </a:r>
            <a:endParaRPr lang="tr-TR" sz="1800" b="1" dirty="0">
              <a:solidFill>
                <a:schemeClr val="tx1"/>
              </a:solidFill>
              <a:latin typeface="Times New Roman" panose="02020603050405020304" pitchFamily="18" charset="0"/>
              <a:cs typeface="Times New Roman" panose="02020603050405020304" pitchFamily="18" charset="0"/>
            </a:endParaRPr>
          </a:p>
        </p:txBody>
      </p:sp>
      <p:pic>
        <p:nvPicPr>
          <p:cNvPr id="7" name="Resim 6">
            <a:extLst>
              <a:ext uri="{FF2B5EF4-FFF2-40B4-BE49-F238E27FC236}">
                <a16:creationId xmlns:a16="http://schemas.microsoft.com/office/drawing/2014/main" id="{3EE109B5-90C5-4DC2-949B-D9E9306F331B}"/>
              </a:ext>
            </a:extLst>
          </p:cNvPr>
          <p:cNvPicPr>
            <a:picLocks noChangeAspect="1"/>
          </p:cNvPicPr>
          <p:nvPr/>
        </p:nvPicPr>
        <p:blipFill>
          <a:blip r:embed="rId2"/>
          <a:stretch>
            <a:fillRect/>
          </a:stretch>
        </p:blipFill>
        <p:spPr>
          <a:xfrm>
            <a:off x="3199134" y="430125"/>
            <a:ext cx="5793732" cy="2614932"/>
          </a:xfrm>
          <a:prstGeom prst="rect">
            <a:avLst/>
          </a:prstGeom>
        </p:spPr>
      </p:pic>
      <p:sp>
        <p:nvSpPr>
          <p:cNvPr id="9" name="Alt Başlık 2">
            <a:extLst>
              <a:ext uri="{FF2B5EF4-FFF2-40B4-BE49-F238E27FC236}">
                <a16:creationId xmlns:a16="http://schemas.microsoft.com/office/drawing/2014/main" id="{A9C05B6A-7E44-4414-8745-CFB0773CBA81}"/>
              </a:ext>
            </a:extLst>
          </p:cNvPr>
          <p:cNvSpPr txBox="1">
            <a:spLocks/>
          </p:cNvSpPr>
          <p:nvPr/>
        </p:nvSpPr>
        <p:spPr>
          <a:xfrm>
            <a:off x="0" y="3114455"/>
            <a:ext cx="12192000" cy="360727"/>
          </a:xfrm>
          <a:prstGeom prst="rect">
            <a:avLst/>
          </a:prstGeom>
        </p:spPr>
        <p:txBody>
          <a:bodyPr vert="horz" lIns="0" tIns="45720" rIns="0" bIns="45720" rtlCol="0" anchor="ct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algn="ctr"/>
            <a:r>
              <a:rPr lang="tr-TR" sz="1800" b="1" dirty="0">
                <a:solidFill>
                  <a:srgbClr val="444444"/>
                </a:solidFill>
                <a:latin typeface="Times New Roman" panose="02020603050405020304" pitchFamily="18" charset="0"/>
                <a:cs typeface="Times New Roman" panose="02020603050405020304" pitchFamily="18" charset="0"/>
              </a:rPr>
              <a:t>Klavyeden girilen iki sayının ortalamasını hesaplayan C++ kodu: </a:t>
            </a:r>
            <a:endParaRPr lang="tr-TR" sz="1800" b="1" dirty="0">
              <a:solidFill>
                <a:schemeClr val="tx1"/>
              </a:solidFill>
              <a:latin typeface="Times New Roman" panose="02020603050405020304" pitchFamily="18" charset="0"/>
              <a:cs typeface="Times New Roman" panose="02020603050405020304" pitchFamily="18" charset="0"/>
            </a:endParaRPr>
          </a:p>
        </p:txBody>
      </p:sp>
      <p:pic>
        <p:nvPicPr>
          <p:cNvPr id="10" name="Resim 9">
            <a:extLst>
              <a:ext uri="{FF2B5EF4-FFF2-40B4-BE49-F238E27FC236}">
                <a16:creationId xmlns:a16="http://schemas.microsoft.com/office/drawing/2014/main" id="{2DCF3566-1E32-4147-9119-01985E7B2A8F}"/>
              </a:ext>
            </a:extLst>
          </p:cNvPr>
          <p:cNvPicPr>
            <a:picLocks noChangeAspect="1"/>
          </p:cNvPicPr>
          <p:nvPr/>
        </p:nvPicPr>
        <p:blipFill>
          <a:blip r:embed="rId3"/>
          <a:stretch>
            <a:fillRect/>
          </a:stretch>
        </p:blipFill>
        <p:spPr>
          <a:xfrm>
            <a:off x="2728294" y="3544580"/>
            <a:ext cx="6735412" cy="2520000"/>
          </a:xfrm>
          <a:prstGeom prst="rect">
            <a:avLst/>
          </a:prstGeom>
        </p:spPr>
      </p:pic>
    </p:spTree>
    <p:extLst>
      <p:ext uri="{BB962C8B-B14F-4D97-AF65-F5344CB8AC3E}">
        <p14:creationId xmlns:p14="http://schemas.microsoft.com/office/powerpoint/2010/main" val="42580658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lt Başlık 2">
            <a:extLst>
              <a:ext uri="{FF2B5EF4-FFF2-40B4-BE49-F238E27FC236}">
                <a16:creationId xmlns:a16="http://schemas.microsoft.com/office/drawing/2014/main" id="{CB41DA49-5670-4ECE-A68E-25663738BFB8}"/>
              </a:ext>
            </a:extLst>
          </p:cNvPr>
          <p:cNvSpPr>
            <a:spLocks noGrp="1"/>
          </p:cNvSpPr>
          <p:nvPr>
            <p:ph type="subTitle" idx="4294967295"/>
          </p:nvPr>
        </p:nvSpPr>
        <p:spPr>
          <a:xfrm>
            <a:off x="0" y="0"/>
            <a:ext cx="12192000" cy="360727"/>
          </a:xfrm>
        </p:spPr>
        <p:txBody>
          <a:bodyPr anchor="ctr">
            <a:normAutofit/>
          </a:bodyPr>
          <a:lstStyle/>
          <a:p>
            <a:pPr algn="ctr"/>
            <a:r>
              <a:rPr lang="tr-TR" sz="1800" b="1" i="0" dirty="0">
                <a:solidFill>
                  <a:srgbClr val="444444"/>
                </a:solidFill>
                <a:effectLst/>
                <a:latin typeface="Times New Roman" panose="02020603050405020304" pitchFamily="18" charset="0"/>
                <a:cs typeface="Times New Roman" panose="02020603050405020304" pitchFamily="18" charset="0"/>
              </a:rPr>
              <a:t>Girilen sayının tek veya çift olduğunu gösteren C++ kodu:</a:t>
            </a:r>
            <a:endParaRPr lang="tr-TR" sz="1800" b="1" dirty="0">
              <a:solidFill>
                <a:schemeClr val="tx1"/>
              </a:solidFill>
              <a:latin typeface="Times New Roman" panose="02020603050405020304" pitchFamily="18" charset="0"/>
              <a:cs typeface="Times New Roman" panose="02020603050405020304" pitchFamily="18" charset="0"/>
            </a:endParaRPr>
          </a:p>
        </p:txBody>
      </p:sp>
      <p:pic>
        <p:nvPicPr>
          <p:cNvPr id="4" name="Resim 3">
            <a:extLst>
              <a:ext uri="{FF2B5EF4-FFF2-40B4-BE49-F238E27FC236}">
                <a16:creationId xmlns:a16="http://schemas.microsoft.com/office/drawing/2014/main" id="{27BD7B09-D775-447E-86C2-29EB82928FF3}"/>
              </a:ext>
            </a:extLst>
          </p:cNvPr>
          <p:cNvPicPr>
            <a:picLocks noChangeAspect="1"/>
          </p:cNvPicPr>
          <p:nvPr/>
        </p:nvPicPr>
        <p:blipFill>
          <a:blip r:embed="rId2"/>
          <a:stretch>
            <a:fillRect/>
          </a:stretch>
        </p:blipFill>
        <p:spPr>
          <a:xfrm>
            <a:off x="3970351" y="430125"/>
            <a:ext cx="4251298" cy="2520000"/>
          </a:xfrm>
          <a:prstGeom prst="rect">
            <a:avLst/>
          </a:prstGeom>
        </p:spPr>
      </p:pic>
    </p:spTree>
    <p:extLst>
      <p:ext uri="{BB962C8B-B14F-4D97-AF65-F5344CB8AC3E}">
        <p14:creationId xmlns:p14="http://schemas.microsoft.com/office/powerpoint/2010/main" val="39520070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etin kutusu 2">
            <a:extLst>
              <a:ext uri="{FF2B5EF4-FFF2-40B4-BE49-F238E27FC236}">
                <a16:creationId xmlns:a16="http://schemas.microsoft.com/office/drawing/2014/main" id="{7A0EA809-8B51-429E-A152-9D8B2BA779DD}"/>
              </a:ext>
            </a:extLst>
          </p:cNvPr>
          <p:cNvSpPr txBox="1"/>
          <p:nvPr/>
        </p:nvSpPr>
        <p:spPr>
          <a:xfrm>
            <a:off x="0" y="0"/>
            <a:ext cx="6094602" cy="461665"/>
          </a:xfrm>
          <a:prstGeom prst="rect">
            <a:avLst/>
          </a:prstGeom>
          <a:noFill/>
        </p:spPr>
        <p:txBody>
          <a:bodyPr wrap="square">
            <a:spAutoFit/>
          </a:bodyPr>
          <a:lstStyle/>
          <a:p>
            <a:r>
              <a:rPr lang="tr-TR" sz="2400" dirty="0">
                <a:ln w="0"/>
                <a:solidFill>
                  <a:srgbClr val="7030A0"/>
                </a:solidFill>
                <a:effectLst>
                  <a:outerShdw blurRad="38100" dist="25400" dir="5400000" algn="ctr" rotWithShape="0">
                    <a:srgbClr val="6E747A">
                      <a:alpha val="43000"/>
                    </a:srgbClr>
                  </a:outerShdw>
                </a:effectLst>
                <a:latin typeface="Times New Roman" panose="02020603050405020304" pitchFamily="18" charset="0"/>
                <a:cs typeface="Times New Roman" panose="02020603050405020304" pitchFamily="18" charset="0"/>
              </a:rPr>
              <a:t>KAYNAKLAR</a:t>
            </a:r>
          </a:p>
        </p:txBody>
      </p:sp>
      <p:sp>
        <p:nvSpPr>
          <p:cNvPr id="5" name="Metin kutusu 4">
            <a:extLst>
              <a:ext uri="{FF2B5EF4-FFF2-40B4-BE49-F238E27FC236}">
                <a16:creationId xmlns:a16="http://schemas.microsoft.com/office/drawing/2014/main" id="{B22223A0-8994-47E7-BA54-4F1B5B6CD81E}"/>
              </a:ext>
            </a:extLst>
          </p:cNvPr>
          <p:cNvSpPr txBox="1"/>
          <p:nvPr/>
        </p:nvSpPr>
        <p:spPr>
          <a:xfrm>
            <a:off x="0" y="461665"/>
            <a:ext cx="12192000" cy="646331"/>
          </a:xfrm>
          <a:prstGeom prst="rect">
            <a:avLst/>
          </a:prstGeom>
          <a:noFill/>
        </p:spPr>
        <p:txBody>
          <a:bodyPr wrap="square">
            <a:spAutoFit/>
          </a:bodyPr>
          <a:lstStyle/>
          <a:p>
            <a:r>
              <a:rPr lang="tr-TR" dirty="0">
                <a:latin typeface="Times New Roman" panose="02020603050405020304" pitchFamily="18" charset="0"/>
                <a:cs typeface="Times New Roman" panose="02020603050405020304" pitchFamily="18" charset="0"/>
              </a:rPr>
              <a:t>[1] M. </a:t>
            </a:r>
            <a:r>
              <a:rPr lang="tr-TR" dirty="0" err="1">
                <a:latin typeface="Times New Roman" panose="02020603050405020304" pitchFamily="18" charset="0"/>
                <a:cs typeface="Times New Roman" panose="02020603050405020304" pitchFamily="18" charset="0"/>
              </a:rPr>
              <a:t>Zavrak</a:t>
            </a:r>
            <a:r>
              <a:rPr lang="tr-TR" dirty="0">
                <a:latin typeface="Times New Roman" panose="02020603050405020304" pitchFamily="18" charset="0"/>
                <a:cs typeface="Times New Roman" panose="02020603050405020304" pitchFamily="18" charset="0"/>
              </a:rPr>
              <a:t>, E. Aksoy, H. N. Karaca, </a:t>
            </a:r>
            <a:r>
              <a:rPr lang="tr-TR" b="1" i="1" dirty="0">
                <a:latin typeface="Times New Roman" panose="02020603050405020304" pitchFamily="18" charset="0"/>
                <a:cs typeface="Times New Roman" panose="02020603050405020304" pitchFamily="18" charset="0"/>
              </a:rPr>
              <a:t>C ve C++</a:t>
            </a:r>
            <a:r>
              <a:rPr lang="tr-TR" dirty="0">
                <a:latin typeface="Times New Roman" panose="02020603050405020304" pitchFamily="18" charset="0"/>
                <a:cs typeface="Times New Roman" panose="02020603050405020304" pitchFamily="18" charset="0"/>
              </a:rPr>
              <a:t>, Sistem Yayıncılık. </a:t>
            </a:r>
          </a:p>
          <a:p>
            <a:r>
              <a:rPr lang="tr-TR" dirty="0">
                <a:latin typeface="Times New Roman" panose="02020603050405020304" pitchFamily="18" charset="0"/>
                <a:cs typeface="Times New Roman" panose="02020603050405020304" pitchFamily="18" charset="0"/>
              </a:rPr>
              <a:t>[2] Prof. Dr. Mustafa Dikici,  C++ Programlama Dili, Seçkin Yayıncılık.</a:t>
            </a:r>
            <a:endParaRPr lang="tr-TR" dirty="0"/>
          </a:p>
        </p:txBody>
      </p:sp>
    </p:spTree>
    <p:extLst>
      <p:ext uri="{BB962C8B-B14F-4D97-AF65-F5344CB8AC3E}">
        <p14:creationId xmlns:p14="http://schemas.microsoft.com/office/powerpoint/2010/main" val="2804374844"/>
      </p:ext>
    </p:extLst>
  </p:cSld>
  <p:clrMapOvr>
    <a:masterClrMapping/>
  </p:clrMapOvr>
</p:sld>
</file>

<file path=ppt/theme/theme1.xml><?xml version="1.0" encoding="utf-8"?>
<a:theme xmlns:a="http://schemas.openxmlformats.org/drawingml/2006/main" name="Geçmişe bakış">
  <a:themeElements>
    <a:clrScheme name="Özel 1">
      <a:dk1>
        <a:srgbClr val="2D2D2D"/>
      </a:dk1>
      <a:lt1>
        <a:srgbClr val="2D2D2D"/>
      </a:lt1>
      <a:dk2>
        <a:srgbClr val="FFFFFF"/>
      </a:dk2>
      <a:lt2>
        <a:srgbClr val="FFFFFF"/>
      </a:lt2>
      <a:accent1>
        <a:srgbClr val="AD84C6"/>
      </a:accent1>
      <a:accent2>
        <a:srgbClr val="8784C7"/>
      </a:accent2>
      <a:accent3>
        <a:srgbClr val="5D739A"/>
      </a:accent3>
      <a:accent4>
        <a:srgbClr val="6997AF"/>
      </a:accent4>
      <a:accent5>
        <a:srgbClr val="84ACB6"/>
      </a:accent5>
      <a:accent6>
        <a:srgbClr val="F2F2F2"/>
      </a:accent6>
      <a:hlink>
        <a:srgbClr val="6B9F25"/>
      </a:hlink>
      <a:folHlink>
        <a:srgbClr val="B26B02"/>
      </a:folHlink>
    </a:clrScheme>
    <a:fontScheme name="Geçmişe bakış">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eçmişe bakış">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CA72677B-2F8C-4192-8EBE-D360BE3B20F6}"/>
    </a:ext>
  </a:extLst>
</a:theme>
</file>

<file path=docProps/app.xml><?xml version="1.0" encoding="utf-8"?>
<Properties xmlns="http://schemas.openxmlformats.org/officeDocument/2006/extended-properties" xmlns:vt="http://schemas.openxmlformats.org/officeDocument/2006/docPropsVTypes">
  <Template>Hafta1</Template>
  <TotalTime>1503</TotalTime>
  <Words>1754</Words>
  <Application>Microsoft Office PowerPoint</Application>
  <PresentationFormat>Geniş ekran</PresentationFormat>
  <Paragraphs>232</Paragraphs>
  <Slides>20</Slides>
  <Notes>0</Notes>
  <HiddenSlides>0</HiddenSlides>
  <MMClips>0</MMClips>
  <ScaleCrop>false</ScaleCrop>
  <HeadingPairs>
    <vt:vector size="6" baseType="variant">
      <vt:variant>
        <vt:lpstr>Kullanılan Yazı Tipleri</vt:lpstr>
      </vt:variant>
      <vt:variant>
        <vt:i4>6</vt:i4>
      </vt:variant>
      <vt:variant>
        <vt:lpstr>Tema</vt:lpstr>
      </vt:variant>
      <vt:variant>
        <vt:i4>1</vt:i4>
      </vt:variant>
      <vt:variant>
        <vt:lpstr>Slayt Başlıkları</vt:lpstr>
      </vt:variant>
      <vt:variant>
        <vt:i4>20</vt:i4>
      </vt:variant>
    </vt:vector>
  </HeadingPairs>
  <TitlesOfParts>
    <vt:vector size="27" baseType="lpstr">
      <vt:lpstr>Arial</vt:lpstr>
      <vt:lpstr>Calibri</vt:lpstr>
      <vt:lpstr>Calibri Light</vt:lpstr>
      <vt:lpstr>Consolas</vt:lpstr>
      <vt:lpstr>Times New Roman</vt:lpstr>
      <vt:lpstr>Wingdings</vt:lpstr>
      <vt:lpstr>Geçmişe bakış</vt:lpstr>
      <vt:lpstr>BİL102-ALGORİTMA ve PROGRAMLAMA II</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BİL102-ALGORİTMA ve PROGRAMLAMA I</dc:title>
  <dc:creator>FUNDA KUTLU ONAY</dc:creator>
  <cp:lastModifiedBy>FUNDA KUTLU ONAY</cp:lastModifiedBy>
  <cp:revision>32</cp:revision>
  <dcterms:created xsi:type="dcterms:W3CDTF">2021-02-24T12:37:41Z</dcterms:created>
  <dcterms:modified xsi:type="dcterms:W3CDTF">2024-02-15T06:57:33Z</dcterms:modified>
</cp:coreProperties>
</file>