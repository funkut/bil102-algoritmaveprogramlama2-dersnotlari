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sldIdLst>
    <p:sldId id="256" r:id="rId2"/>
    <p:sldId id="339" r:id="rId3"/>
    <p:sldId id="342" r:id="rId4"/>
    <p:sldId id="357" r:id="rId5"/>
    <p:sldId id="358" r:id="rId6"/>
    <p:sldId id="359" r:id="rId7"/>
    <p:sldId id="361" r:id="rId8"/>
    <p:sldId id="356" r:id="rId9"/>
    <p:sldId id="362" r:id="rId10"/>
    <p:sldId id="354" r:id="rId11"/>
    <p:sldId id="334" r:id="rId12"/>
    <p:sldId id="335" r:id="rId13"/>
    <p:sldId id="337" r:id="rId14"/>
    <p:sldId id="338" r:id="rId15"/>
    <p:sldId id="284" r:id="rId16"/>
    <p:sldId id="340" r:id="rId17"/>
    <p:sldId id="346" r:id="rId18"/>
    <p:sldId id="347" r:id="rId19"/>
    <p:sldId id="348" r:id="rId20"/>
    <p:sldId id="350" r:id="rId21"/>
    <p:sldId id="351" r:id="rId22"/>
    <p:sldId id="352" r:id="rId23"/>
    <p:sldId id="353" r:id="rId24"/>
    <p:sldId id="28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66FF33"/>
    <a:srgbClr val="33CC33"/>
    <a:srgbClr val="FF00FF"/>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Açık Stil 2 - Vurgu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Açık Stil 3 - Vurgu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ema Uygulanmış Stil 1 - Vurgu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Açık Stil 1 - Vurgu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24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8854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591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7423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28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92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239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724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3191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3/26/2026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576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02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68891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8320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985783"/>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F6194B-F41A-4525-AEB3-77447690ACBB}"/>
              </a:ext>
            </a:extLst>
          </p:cNvPr>
          <p:cNvSpPr>
            <a:spLocks noGrp="1"/>
          </p:cNvSpPr>
          <p:nvPr>
            <p:ph type="ctrTitle"/>
          </p:nvPr>
        </p:nvSpPr>
        <p:spPr>
          <a:xfrm>
            <a:off x="0" y="3162968"/>
            <a:ext cx="12192000" cy="823667"/>
          </a:xfrm>
        </p:spPr>
        <p:txBody>
          <a:bodyPr>
            <a:normAutofit/>
          </a:bodyPr>
          <a:lstStyle/>
          <a:p>
            <a:pPr algn="ctr"/>
            <a:r>
              <a:rPr lang="tr-TR" sz="4000" dirty="0">
                <a:solidFill>
                  <a:schemeClr val="bg1"/>
                </a:solidFill>
                <a:latin typeface="Times New Roman" panose="02020603050405020304" pitchFamily="18" charset="0"/>
                <a:cs typeface="Times New Roman" panose="02020603050405020304" pitchFamily="18" charset="0"/>
              </a:rPr>
              <a:t>BİL102-ALGORİTMA ve PROGRAMLAMA II</a:t>
            </a:r>
          </a:p>
        </p:txBody>
      </p:sp>
      <p:sp>
        <p:nvSpPr>
          <p:cNvPr id="3" name="Alt Başlık 2">
            <a:extLst>
              <a:ext uri="{FF2B5EF4-FFF2-40B4-BE49-F238E27FC236}">
                <a16:creationId xmlns:a16="http://schemas.microsoft.com/office/drawing/2014/main" id="{CB41DA49-5670-4ECE-A68E-25663738BFB8}"/>
              </a:ext>
            </a:extLst>
          </p:cNvPr>
          <p:cNvSpPr>
            <a:spLocks noGrp="1"/>
          </p:cNvSpPr>
          <p:nvPr>
            <p:ph type="subTitle" idx="1"/>
          </p:nvPr>
        </p:nvSpPr>
        <p:spPr>
          <a:xfrm>
            <a:off x="1" y="2036685"/>
            <a:ext cx="12192000" cy="1126283"/>
          </a:xfrm>
        </p:spPr>
        <p:txBody>
          <a:bodyPr>
            <a:normAutofit/>
          </a:bodyPr>
          <a:lstStyle/>
          <a:p>
            <a:pPr algn="ctr"/>
            <a:r>
              <a:rPr lang="tr-TR" sz="3000" dirty="0">
                <a:solidFill>
                  <a:schemeClr val="bg1"/>
                </a:solidFill>
                <a:latin typeface="Times New Roman" panose="02020603050405020304" pitchFamily="18" charset="0"/>
                <a:cs typeface="Times New Roman" panose="02020603050405020304" pitchFamily="18" charset="0"/>
              </a:rPr>
              <a:t>MÜHENDİSLİK FAKÜLTESİ </a:t>
            </a:r>
          </a:p>
          <a:p>
            <a:pPr algn="ctr"/>
            <a:r>
              <a:rPr lang="tr-TR" sz="3000" dirty="0">
                <a:solidFill>
                  <a:schemeClr val="bg1"/>
                </a:solidFill>
                <a:latin typeface="Times New Roman" panose="02020603050405020304" pitchFamily="18" charset="0"/>
                <a:cs typeface="Times New Roman" panose="02020603050405020304" pitchFamily="18" charset="0"/>
              </a:rPr>
              <a:t>BİLGİSAYAR MÜHENDİSLİĞİ BÖLÜMÜ</a:t>
            </a:r>
          </a:p>
        </p:txBody>
      </p:sp>
      <p:pic>
        <p:nvPicPr>
          <p:cNvPr id="1026" name="Picture 2" descr="Amasya Üniversitesi Logo Vector (.AI) Free Download">
            <a:extLst>
              <a:ext uri="{FF2B5EF4-FFF2-40B4-BE49-F238E27FC236}">
                <a16:creationId xmlns:a16="http://schemas.microsoft.com/office/drawing/2014/main" id="{D0EB15F1-5DFF-44D5-B2FF-50975D94D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9293" y="159026"/>
            <a:ext cx="1889990" cy="1656891"/>
          </a:xfrm>
          <a:prstGeom prst="rect">
            <a:avLst/>
          </a:prstGeom>
          <a:noFill/>
          <a:extLst>
            <a:ext uri="{909E8E84-426E-40DD-AFC4-6F175D3DCCD1}">
              <a14:hiddenFill xmlns:a14="http://schemas.microsoft.com/office/drawing/2010/main">
                <a:solidFill>
                  <a:srgbClr val="FFFFFF"/>
                </a:solidFill>
              </a14:hiddenFill>
            </a:ext>
          </a:extLst>
        </p:spPr>
      </p:pic>
      <p:sp>
        <p:nvSpPr>
          <p:cNvPr id="5" name="Başlık 1">
            <a:extLst>
              <a:ext uri="{FF2B5EF4-FFF2-40B4-BE49-F238E27FC236}">
                <a16:creationId xmlns:a16="http://schemas.microsoft.com/office/drawing/2014/main" id="{396A8088-FB20-4AC5-BF87-A4E322DF3AE5}"/>
              </a:ext>
            </a:extLst>
          </p:cNvPr>
          <p:cNvSpPr txBox="1">
            <a:spLocks/>
          </p:cNvSpPr>
          <p:nvPr/>
        </p:nvSpPr>
        <p:spPr>
          <a:xfrm>
            <a:off x="48288" y="4713321"/>
            <a:ext cx="12192000" cy="561431"/>
          </a:xfrm>
          <a:prstGeom prst="rect">
            <a:avLst/>
          </a:prstGeom>
        </p:spPr>
        <p:txBody>
          <a:bodyPr vert="horz" lIns="91440" tIns="45720" rIns="91440" bIns="45720" rtlCol="0" anchor="b">
            <a:norm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tr-TR" sz="2500" dirty="0">
                <a:solidFill>
                  <a:schemeClr val="bg1"/>
                </a:solidFill>
                <a:latin typeface="Times New Roman" panose="02020603050405020304" pitchFamily="18" charset="0"/>
                <a:cs typeface="Times New Roman" panose="02020603050405020304" pitchFamily="18" charset="0"/>
              </a:rPr>
              <a:t>Hafta 7</a:t>
            </a:r>
          </a:p>
        </p:txBody>
      </p:sp>
      <p:sp>
        <p:nvSpPr>
          <p:cNvPr id="6" name="Alt Başlık 2">
            <a:extLst>
              <a:ext uri="{FF2B5EF4-FFF2-40B4-BE49-F238E27FC236}">
                <a16:creationId xmlns:a16="http://schemas.microsoft.com/office/drawing/2014/main" id="{C01E9738-1494-44D7-B855-BBD35AF016D4}"/>
              </a:ext>
            </a:extLst>
          </p:cNvPr>
          <p:cNvSpPr txBox="1">
            <a:spLocks/>
          </p:cNvSpPr>
          <p:nvPr/>
        </p:nvSpPr>
        <p:spPr>
          <a:xfrm>
            <a:off x="48288" y="5536988"/>
            <a:ext cx="12191999" cy="78820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ctr"/>
            <a:r>
              <a:rPr lang="tr-TR" sz="2400" dirty="0">
                <a:solidFill>
                  <a:schemeClr val="bg1"/>
                </a:solidFill>
                <a:latin typeface="Times New Roman" panose="02020603050405020304" pitchFamily="18" charset="0"/>
                <a:cs typeface="Times New Roman" panose="02020603050405020304" pitchFamily="18" charset="0"/>
              </a:rPr>
              <a:t>Doç. Dr. Funda KUTLU ONAY</a:t>
            </a:r>
          </a:p>
        </p:txBody>
      </p:sp>
    </p:spTree>
    <p:extLst>
      <p:ext uri="{BB962C8B-B14F-4D97-AF65-F5344CB8AC3E}">
        <p14:creationId xmlns:p14="http://schemas.microsoft.com/office/powerpoint/2010/main" val="4251242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1"/>
            <a:ext cx="12099721" cy="1179443"/>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3600" b="1" dirty="0">
                <a:solidFill>
                  <a:srgbClr val="7030A0"/>
                </a:solidFill>
                <a:latin typeface="Times New Roman" panose="02020603050405020304" pitchFamily="18" charset="0"/>
                <a:cs typeface="Times New Roman" panose="02020603050405020304" pitchFamily="18" charset="0"/>
              </a:rPr>
              <a:t>Konu Başlıkları</a:t>
            </a: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278296" y="903276"/>
            <a:ext cx="11913704"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lgn="just">
              <a:lnSpc>
                <a:spcPct val="125000"/>
              </a:lnSpc>
              <a:buFont typeface="Wingdings" panose="05000000000000000000" pitchFamily="2" charset="2"/>
              <a:buChar char="ü"/>
            </a:pPr>
            <a:r>
              <a:rPr lang="tr-TR" sz="2000" dirty="0">
                <a:solidFill>
                  <a:srgbClr val="444444"/>
                </a:solidFill>
                <a:latin typeface="Times New Roman" panose="02020603050405020304" pitchFamily="18" charset="0"/>
                <a:cs typeface="Times New Roman" panose="02020603050405020304" pitchFamily="18" charset="0"/>
              </a:rPr>
              <a:t> Kopya yapıcı (</a:t>
            </a:r>
            <a:r>
              <a:rPr lang="tr-TR" sz="2000" dirty="0" err="1">
                <a:solidFill>
                  <a:srgbClr val="444444"/>
                </a:solidFill>
                <a:latin typeface="Times New Roman" panose="02020603050405020304" pitchFamily="18" charset="0"/>
                <a:cs typeface="Times New Roman" panose="02020603050405020304" pitchFamily="18" charset="0"/>
              </a:rPr>
              <a:t>Copy</a:t>
            </a:r>
            <a:r>
              <a:rPr lang="tr-TR" sz="2000" dirty="0">
                <a:solidFill>
                  <a:srgbClr val="444444"/>
                </a:solidFill>
                <a:latin typeface="Times New Roman" panose="02020603050405020304" pitchFamily="18" charset="0"/>
                <a:cs typeface="Times New Roman" panose="02020603050405020304" pitchFamily="18" charset="0"/>
              </a:rPr>
              <a:t> </a:t>
            </a:r>
            <a:r>
              <a:rPr lang="tr-TR" sz="2000" dirty="0" err="1">
                <a:solidFill>
                  <a:srgbClr val="444444"/>
                </a:solidFill>
                <a:latin typeface="Times New Roman" panose="02020603050405020304" pitchFamily="18" charset="0"/>
                <a:cs typeface="Times New Roman" panose="02020603050405020304" pitchFamily="18" charset="0"/>
              </a:rPr>
              <a:t>constructor</a:t>
            </a:r>
            <a:r>
              <a:rPr lang="tr-TR" sz="2000" dirty="0">
                <a:solidFill>
                  <a:srgbClr val="444444"/>
                </a:solidFill>
                <a:latin typeface="Times New Roman" panose="02020603050405020304" pitchFamily="18" charset="0"/>
                <a:cs typeface="Times New Roman" panose="02020603050405020304" pitchFamily="18" charset="0"/>
              </a:rPr>
              <a:t>) </a:t>
            </a:r>
          </a:p>
          <a:p>
            <a:pPr lvl="1" algn="just">
              <a:lnSpc>
                <a:spcPct val="125000"/>
              </a:lnSpc>
              <a:buFont typeface="Wingdings" panose="05000000000000000000" pitchFamily="2" charset="2"/>
              <a:buChar char="ü"/>
            </a:pPr>
            <a:r>
              <a:rPr lang="tr-TR" sz="2000" b="1" i="1" dirty="0">
                <a:solidFill>
                  <a:srgbClr val="FF6600"/>
                </a:solidFill>
                <a:latin typeface="Times New Roman" panose="02020603050405020304" pitchFamily="18" charset="0"/>
                <a:cs typeface="Times New Roman" panose="02020603050405020304" pitchFamily="18" charset="0"/>
              </a:rPr>
              <a:t> </a:t>
            </a:r>
            <a:r>
              <a:rPr lang="tr-TR" sz="2000" b="1" i="1" dirty="0" err="1">
                <a:solidFill>
                  <a:srgbClr val="FF6600"/>
                </a:solidFill>
                <a:latin typeface="Times New Roman" panose="02020603050405020304" pitchFamily="18" charset="0"/>
                <a:cs typeface="Times New Roman" panose="02020603050405020304" pitchFamily="18" charset="0"/>
              </a:rPr>
              <a:t>this</a:t>
            </a:r>
            <a:r>
              <a:rPr lang="tr-TR" sz="2000" b="1" i="1" dirty="0">
                <a:solidFill>
                  <a:srgbClr val="0070C0"/>
                </a:solidFill>
                <a:latin typeface="Times New Roman" panose="02020603050405020304" pitchFamily="18" charset="0"/>
                <a:cs typeface="Times New Roman" panose="02020603050405020304" pitchFamily="18" charset="0"/>
              </a:rPr>
              <a:t> </a:t>
            </a:r>
            <a:r>
              <a:rPr lang="tr-TR" sz="2000" dirty="0">
                <a:solidFill>
                  <a:srgbClr val="444444"/>
                </a:solidFill>
                <a:latin typeface="Times New Roman" panose="02020603050405020304" pitchFamily="18" charset="0"/>
                <a:cs typeface="Times New Roman" panose="02020603050405020304" pitchFamily="18" charset="0"/>
              </a:rPr>
              <a:t>Gizli İşaretçisi</a:t>
            </a:r>
          </a:p>
          <a:p>
            <a:pPr lvl="1" algn="just">
              <a:lnSpc>
                <a:spcPct val="125000"/>
              </a:lnSpc>
              <a:buFont typeface="Wingdings" panose="05000000000000000000" pitchFamily="2" charset="2"/>
              <a:buChar char="ü"/>
            </a:pPr>
            <a:r>
              <a:rPr lang="tr-TR" sz="2000" dirty="0">
                <a:solidFill>
                  <a:srgbClr val="444444"/>
                </a:solidFill>
                <a:latin typeface="Times New Roman" panose="02020603050405020304" pitchFamily="18" charset="0"/>
                <a:cs typeface="Times New Roman" panose="02020603050405020304" pitchFamily="18" charset="0"/>
              </a:rPr>
              <a:t> Dinamik Bellek Yönetimi: </a:t>
            </a:r>
            <a:r>
              <a:rPr lang="tr-TR" sz="2000" b="1" i="1" dirty="0" err="1">
                <a:solidFill>
                  <a:srgbClr val="0070C0"/>
                </a:solidFill>
                <a:latin typeface="Times New Roman" panose="02020603050405020304" pitchFamily="18" charset="0"/>
                <a:cs typeface="Times New Roman" panose="02020603050405020304" pitchFamily="18" charset="0"/>
              </a:rPr>
              <a:t>new</a:t>
            </a:r>
            <a:r>
              <a:rPr lang="tr-TR" sz="2000" dirty="0">
                <a:solidFill>
                  <a:srgbClr val="444444"/>
                </a:solidFill>
                <a:latin typeface="Times New Roman" panose="02020603050405020304" pitchFamily="18" charset="0"/>
                <a:cs typeface="Times New Roman" panose="02020603050405020304" pitchFamily="18" charset="0"/>
              </a:rPr>
              <a:t> ve </a:t>
            </a:r>
            <a:r>
              <a:rPr lang="tr-TR" sz="2000" b="1" i="1" dirty="0" err="1">
                <a:solidFill>
                  <a:srgbClr val="0070C0"/>
                </a:solidFill>
                <a:latin typeface="Times New Roman" panose="02020603050405020304" pitchFamily="18" charset="0"/>
                <a:cs typeface="Times New Roman" panose="02020603050405020304" pitchFamily="18" charset="0"/>
              </a:rPr>
              <a:t>delete</a:t>
            </a:r>
            <a:r>
              <a:rPr lang="tr-TR" sz="2000" dirty="0">
                <a:solidFill>
                  <a:srgbClr val="444444"/>
                </a:solidFill>
                <a:latin typeface="Times New Roman" panose="02020603050405020304" pitchFamily="18" charset="0"/>
                <a:cs typeface="Times New Roman" panose="02020603050405020304" pitchFamily="18" charset="0"/>
              </a:rPr>
              <a:t> operatörleri</a:t>
            </a:r>
          </a:p>
          <a:p>
            <a:pPr lvl="1" algn="just">
              <a:lnSpc>
                <a:spcPct val="125000"/>
              </a:lnSpc>
              <a:buFont typeface="Wingdings" panose="05000000000000000000" pitchFamily="2" charset="2"/>
              <a:buChar char="ü"/>
            </a:pPr>
            <a:r>
              <a:rPr lang="tr-TR" sz="2000" b="1" i="1" dirty="0">
                <a:solidFill>
                  <a:srgbClr val="00B050"/>
                </a:solidFill>
                <a:latin typeface="Times New Roman" panose="02020603050405020304" pitchFamily="18" charset="0"/>
                <a:cs typeface="Times New Roman" panose="02020603050405020304" pitchFamily="18" charset="0"/>
              </a:rPr>
              <a:t> </a:t>
            </a:r>
            <a:r>
              <a:rPr lang="tr-TR" sz="2000" b="1" i="1" dirty="0" err="1">
                <a:solidFill>
                  <a:srgbClr val="00B050"/>
                </a:solidFill>
                <a:latin typeface="Times New Roman" panose="02020603050405020304" pitchFamily="18" charset="0"/>
                <a:cs typeface="Times New Roman" panose="02020603050405020304" pitchFamily="18" charset="0"/>
              </a:rPr>
              <a:t>static</a:t>
            </a:r>
            <a:r>
              <a:rPr lang="tr-TR" sz="2000" dirty="0">
                <a:solidFill>
                  <a:srgbClr val="444444"/>
                </a:solidFill>
                <a:latin typeface="Times New Roman" panose="02020603050405020304" pitchFamily="18" charset="0"/>
                <a:cs typeface="Times New Roman" panose="02020603050405020304" pitchFamily="18" charset="0"/>
              </a:rPr>
              <a:t> üye değişkenleri ve üye fonksiyonları</a:t>
            </a:r>
          </a:p>
          <a:p>
            <a:pPr lvl="1" algn="just">
              <a:lnSpc>
                <a:spcPct val="125000"/>
              </a:lnSpc>
              <a:buFont typeface="Wingdings" panose="05000000000000000000" pitchFamily="2" charset="2"/>
              <a:buChar char="ü"/>
            </a:pPr>
            <a:r>
              <a:rPr lang="tr-TR" sz="2000" dirty="0">
                <a:solidFill>
                  <a:srgbClr val="444444"/>
                </a:solidFill>
                <a:latin typeface="Times New Roman" panose="02020603050405020304" pitchFamily="18" charset="0"/>
                <a:cs typeface="Times New Roman" panose="02020603050405020304" pitchFamily="18" charset="0"/>
              </a:rPr>
              <a:t> Arkadaş (</a:t>
            </a:r>
            <a:r>
              <a:rPr lang="tr-TR" sz="2000" dirty="0" err="1">
                <a:solidFill>
                  <a:srgbClr val="444444"/>
                </a:solidFill>
                <a:latin typeface="Times New Roman" panose="02020603050405020304" pitchFamily="18" charset="0"/>
                <a:cs typeface="Times New Roman" panose="02020603050405020304" pitchFamily="18" charset="0"/>
              </a:rPr>
              <a:t>Friend</a:t>
            </a:r>
            <a:r>
              <a:rPr lang="tr-TR" sz="2000" dirty="0">
                <a:solidFill>
                  <a:srgbClr val="444444"/>
                </a:solidFill>
                <a:latin typeface="Times New Roman" panose="02020603050405020304" pitchFamily="18" charset="0"/>
                <a:cs typeface="Times New Roman" panose="02020603050405020304" pitchFamily="18" charset="0"/>
              </a:rPr>
              <a:t>) Fonksiyonlar ve Sınıflar </a:t>
            </a:r>
          </a:p>
        </p:txBody>
      </p:sp>
    </p:spTree>
    <p:extLst>
      <p:ext uri="{BB962C8B-B14F-4D97-AF65-F5344CB8AC3E}">
        <p14:creationId xmlns:p14="http://schemas.microsoft.com/office/powerpoint/2010/main" val="342334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Kopya Yapıcı (</a:t>
            </a:r>
            <a:r>
              <a:rPr lang="tr-TR" sz="2000" b="1" dirty="0" err="1">
                <a:solidFill>
                  <a:srgbClr val="444444"/>
                </a:solidFill>
                <a:latin typeface="Times New Roman" panose="02020603050405020304" pitchFamily="18" charset="0"/>
                <a:cs typeface="Times New Roman" panose="02020603050405020304" pitchFamily="18" charset="0"/>
              </a:rPr>
              <a:t>Copy</a:t>
            </a:r>
            <a:r>
              <a:rPr lang="tr-TR" sz="2000" b="1" dirty="0">
                <a:solidFill>
                  <a:srgbClr val="444444"/>
                </a:solidFill>
                <a:latin typeface="Times New Roman" panose="02020603050405020304" pitchFamily="18" charset="0"/>
                <a:cs typeface="Times New Roman" panose="02020603050405020304" pitchFamily="18" charset="0"/>
              </a:rPr>
              <a:t> </a:t>
            </a:r>
            <a:r>
              <a:rPr lang="tr-TR" sz="2000" b="1" dirty="0" err="1">
                <a:solidFill>
                  <a:srgbClr val="444444"/>
                </a:solidFill>
                <a:latin typeface="Times New Roman" panose="02020603050405020304" pitchFamily="18" charset="0"/>
                <a:cs typeface="Times New Roman" panose="02020603050405020304" pitchFamily="18" charset="0"/>
              </a:rPr>
              <a:t>Constructor</a:t>
            </a:r>
            <a:r>
              <a:rPr lang="tr-TR" sz="2000" b="1" dirty="0">
                <a:solidFill>
                  <a:srgbClr val="444444"/>
                </a:solidFill>
                <a:latin typeface="Times New Roman" panose="02020603050405020304" pitchFamily="18" charset="0"/>
                <a:cs typeface="Times New Roman" panose="02020603050405020304" pitchFamily="18" charset="0"/>
              </a:rPr>
              <a:t>)</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8388" y="624980"/>
            <a:ext cx="12029812"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chemeClr val="bg1"/>
                </a:solidFill>
                <a:latin typeface="Times New Roman" panose="02020603050405020304" pitchFamily="18" charset="0"/>
                <a:cs typeface="Times New Roman" panose="02020603050405020304" pitchFamily="18" charset="0"/>
              </a:rPr>
              <a:t>Aynı sınıf tipinde başka bir nesneyi parametre olarak alan yapıcı fonksiyonlarıdır. Parametre olarak gelen nesneyi, içinde bulunduğu nesneye kopyalar.</a:t>
            </a:r>
          </a:p>
          <a:p>
            <a:pPr marL="201168" lvl="1" indent="0" algn="just">
              <a:lnSpc>
                <a:spcPct val="125000"/>
              </a:lnSpc>
              <a:buNone/>
            </a:pPr>
            <a:r>
              <a:rPr lang="tr-TR" dirty="0">
                <a:solidFill>
                  <a:schemeClr val="bg1"/>
                </a:solidFill>
                <a:latin typeface="Times New Roman" panose="02020603050405020304" pitchFamily="18" charset="0"/>
                <a:cs typeface="Times New Roman" panose="02020603050405020304" pitchFamily="18" charset="0"/>
              </a:rPr>
              <a:t>Bir başka ifadeyle, bir nesnenin sahip olduğu özellikleri başka bir nesneye aktarmak istediğimizde işimize yarayan bir </a:t>
            </a:r>
            <a:r>
              <a:rPr lang="tr-TR" dirty="0" err="1">
                <a:solidFill>
                  <a:schemeClr val="bg1"/>
                </a:solidFill>
                <a:latin typeface="Times New Roman" panose="02020603050405020304" pitchFamily="18" charset="0"/>
                <a:cs typeface="Times New Roman" panose="02020603050405020304" pitchFamily="18" charset="0"/>
              </a:rPr>
              <a:t>constructor</a:t>
            </a:r>
            <a:r>
              <a:rPr lang="tr-TR" dirty="0">
                <a:solidFill>
                  <a:schemeClr val="bg1"/>
                </a:solidFill>
                <a:latin typeface="Times New Roman" panose="02020603050405020304" pitchFamily="18" charset="0"/>
                <a:cs typeface="Times New Roman" panose="02020603050405020304" pitchFamily="18" charset="0"/>
              </a:rPr>
              <a:t> özelliğidir. </a:t>
            </a:r>
          </a:p>
          <a:p>
            <a:pPr marL="201168" lvl="1" indent="0" algn="just">
              <a:lnSpc>
                <a:spcPct val="125000"/>
              </a:lnSpc>
              <a:buNone/>
            </a:pPr>
            <a:r>
              <a:rPr lang="tr-TR" dirty="0">
                <a:solidFill>
                  <a:schemeClr val="bg1"/>
                </a:solidFill>
                <a:latin typeface="Times New Roman" panose="02020603050405020304" pitchFamily="18" charset="0"/>
                <a:cs typeface="Times New Roman" panose="02020603050405020304" pitchFamily="18" charset="0"/>
              </a:rPr>
              <a:t>Bu sayede veri kaybı olmaz. </a:t>
            </a:r>
            <a:r>
              <a:rPr lang="tr-TR" dirty="0" err="1">
                <a:solidFill>
                  <a:schemeClr val="bg1"/>
                </a:solidFill>
                <a:latin typeface="Times New Roman" panose="02020603050405020304" pitchFamily="18" charset="0"/>
                <a:cs typeface="Times New Roman" panose="02020603050405020304" pitchFamily="18" charset="0"/>
              </a:rPr>
              <a:t>RAM’de</a:t>
            </a:r>
            <a:r>
              <a:rPr lang="tr-TR" dirty="0">
                <a:solidFill>
                  <a:schemeClr val="bg1"/>
                </a:solidFill>
                <a:latin typeface="Times New Roman" panose="02020603050405020304" pitchFamily="18" charset="0"/>
                <a:cs typeface="Times New Roman" panose="02020603050405020304" pitchFamily="18" charset="0"/>
              </a:rPr>
              <a:t> kopya nesne için farklı bir yer ayrılır ve nesnenin içeriğini kendine kopyalar. </a:t>
            </a:r>
          </a:p>
          <a:p>
            <a:pPr marL="201168" lvl="1" indent="0" algn="just">
              <a:lnSpc>
                <a:spcPct val="125000"/>
              </a:lnSpc>
              <a:buNone/>
            </a:pPr>
            <a:r>
              <a:rPr lang="tr-TR" dirty="0">
                <a:solidFill>
                  <a:schemeClr val="bg1"/>
                </a:solidFill>
                <a:latin typeface="Times New Roman" panose="02020603050405020304" pitchFamily="18" charset="0"/>
                <a:cs typeface="Times New Roman" panose="02020603050405020304" pitchFamily="18" charset="0"/>
              </a:rPr>
              <a:t>Kopyalanan nesnede değişiklik yapıldığında diğer nesne bundan etkilenmez.</a:t>
            </a:r>
          </a:p>
          <a:p>
            <a:pPr marL="201168" lvl="1" indent="0" algn="just">
              <a:lnSpc>
                <a:spcPct val="125000"/>
              </a:lnSpc>
              <a:buNone/>
            </a:pPr>
            <a:endParaRPr lang="tr-TR" dirty="0">
              <a:solidFill>
                <a:schemeClr val="bg1"/>
              </a:solidFill>
              <a:latin typeface="Times New Roman" panose="02020603050405020304" pitchFamily="18" charset="0"/>
              <a:cs typeface="Times New Roman" panose="02020603050405020304" pitchFamily="18" charset="0"/>
            </a:endParaRPr>
          </a:p>
          <a:p>
            <a:pPr marL="201168" lvl="1" indent="0" algn="just">
              <a:lnSpc>
                <a:spcPct val="125000"/>
              </a:lnSpc>
              <a:buNone/>
            </a:pPr>
            <a:r>
              <a:rPr lang="tr-TR" dirty="0">
                <a:solidFill>
                  <a:schemeClr val="bg1"/>
                </a:solidFill>
                <a:latin typeface="Times New Roman" panose="02020603050405020304" pitchFamily="18" charset="0"/>
                <a:cs typeface="Times New Roman" panose="02020603050405020304" pitchFamily="18" charset="0"/>
              </a:rPr>
              <a:t>Genel prototipi şu şekildedir: </a:t>
            </a:r>
          </a:p>
          <a:p>
            <a:pPr marL="201168" lvl="1" indent="0" algn="just">
              <a:lnSpc>
                <a:spcPct val="125000"/>
              </a:lnSpc>
              <a:buNone/>
            </a:pPr>
            <a:r>
              <a:rPr lang="tr-TR" dirty="0" err="1">
                <a:solidFill>
                  <a:srgbClr val="0070C0"/>
                </a:solidFill>
                <a:latin typeface="Consolas" panose="020B0609020204030204" pitchFamily="49" charset="0"/>
                <a:cs typeface="Times New Roman" panose="02020603050405020304" pitchFamily="18" charset="0"/>
              </a:rPr>
              <a:t>sınıf_adı</a:t>
            </a:r>
            <a:r>
              <a:rPr lang="en-US" dirty="0">
                <a:solidFill>
                  <a:srgbClr val="0070C0"/>
                </a:solidFill>
                <a:latin typeface="Consolas" panose="020B0609020204030204" pitchFamily="49" charset="0"/>
                <a:cs typeface="Times New Roman" panose="02020603050405020304" pitchFamily="18" charset="0"/>
              </a:rPr>
              <a:t> (const </a:t>
            </a:r>
            <a:r>
              <a:rPr lang="tr-TR" dirty="0" err="1">
                <a:solidFill>
                  <a:srgbClr val="0070C0"/>
                </a:solidFill>
                <a:latin typeface="Consolas" panose="020B0609020204030204" pitchFamily="49" charset="0"/>
                <a:cs typeface="Times New Roman" panose="02020603050405020304" pitchFamily="18" charset="0"/>
              </a:rPr>
              <a:t>sınıf_adı</a:t>
            </a:r>
            <a:r>
              <a:rPr lang="en-US" dirty="0">
                <a:solidFill>
                  <a:srgbClr val="0070C0"/>
                </a:solidFill>
                <a:latin typeface="Consolas" panose="020B0609020204030204" pitchFamily="49" charset="0"/>
                <a:cs typeface="Times New Roman" panose="02020603050405020304" pitchFamily="18" charset="0"/>
              </a:rPr>
              <a:t> &amp;</a:t>
            </a:r>
            <a:r>
              <a:rPr lang="tr-TR" dirty="0" err="1">
                <a:solidFill>
                  <a:srgbClr val="0070C0"/>
                </a:solidFill>
                <a:latin typeface="Consolas" panose="020B0609020204030204" pitchFamily="49" charset="0"/>
                <a:cs typeface="Times New Roman" panose="02020603050405020304" pitchFamily="18" charset="0"/>
              </a:rPr>
              <a:t>kopya_nesne</a:t>
            </a:r>
            <a:r>
              <a:rPr lang="en-US" dirty="0">
                <a:solidFill>
                  <a:srgbClr val="0070C0"/>
                </a:solidFill>
                <a:latin typeface="Consolas" panose="020B0609020204030204" pitchFamily="49" charset="0"/>
                <a:cs typeface="Times New Roman" panose="02020603050405020304" pitchFamily="18" charset="0"/>
              </a:rPr>
              <a:t>); </a:t>
            </a:r>
            <a:endParaRPr lang="tr-TR" dirty="0">
              <a:solidFill>
                <a:srgbClr val="0070C0"/>
              </a:solidFill>
              <a:latin typeface="Consolas" panose="020B0609020204030204" pitchFamily="49" charset="0"/>
              <a:cs typeface="Times New Roman" panose="02020603050405020304" pitchFamily="18" charset="0"/>
            </a:endParaRPr>
          </a:p>
          <a:p>
            <a:pPr marL="201168" lvl="1" indent="0" algn="just">
              <a:lnSpc>
                <a:spcPct val="125000"/>
              </a:lnSpc>
              <a:buNone/>
            </a:pPr>
            <a:endParaRPr lang="tr-TR"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72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Kopya Yapıcı (</a:t>
            </a:r>
            <a:r>
              <a:rPr lang="tr-TR" sz="2000" b="1" dirty="0" err="1">
                <a:solidFill>
                  <a:srgbClr val="444444"/>
                </a:solidFill>
                <a:latin typeface="Times New Roman" panose="02020603050405020304" pitchFamily="18" charset="0"/>
                <a:cs typeface="Times New Roman" panose="02020603050405020304" pitchFamily="18" charset="0"/>
              </a:rPr>
              <a:t>Copy</a:t>
            </a:r>
            <a:r>
              <a:rPr lang="tr-TR" sz="2000" b="1" dirty="0">
                <a:solidFill>
                  <a:srgbClr val="444444"/>
                </a:solidFill>
                <a:latin typeface="Times New Roman" panose="02020603050405020304" pitchFamily="18" charset="0"/>
                <a:cs typeface="Times New Roman" panose="02020603050405020304" pitchFamily="18" charset="0"/>
              </a:rPr>
              <a:t> </a:t>
            </a:r>
            <a:r>
              <a:rPr lang="tr-TR" sz="2000" b="1" dirty="0" err="1">
                <a:solidFill>
                  <a:srgbClr val="444444"/>
                </a:solidFill>
                <a:latin typeface="Times New Roman" panose="02020603050405020304" pitchFamily="18" charset="0"/>
                <a:cs typeface="Times New Roman" panose="02020603050405020304" pitchFamily="18" charset="0"/>
              </a:rPr>
              <a:t>Constructor</a:t>
            </a:r>
            <a:r>
              <a:rPr lang="tr-TR" sz="2000" b="1" dirty="0">
                <a:solidFill>
                  <a:srgbClr val="444444"/>
                </a:solidFill>
                <a:latin typeface="Times New Roman" panose="02020603050405020304" pitchFamily="18" charset="0"/>
                <a:cs typeface="Times New Roman" panose="02020603050405020304" pitchFamily="18" charset="0"/>
              </a:rPr>
              <a:t>)</a:t>
            </a:r>
            <a:endParaRPr lang="tr-TR" sz="2000" b="1" dirty="0">
              <a:solidFill>
                <a:schemeClr val="tx1"/>
              </a:solidFill>
              <a:latin typeface="Times New Roman" panose="02020603050405020304" pitchFamily="18" charset="0"/>
              <a:cs typeface="Times New Roman" panose="02020603050405020304" pitchFamily="18" charset="0"/>
            </a:endParaRPr>
          </a:p>
        </p:txBody>
      </p:sp>
      <p:pic>
        <p:nvPicPr>
          <p:cNvPr id="12" name="Resim 11">
            <a:extLst>
              <a:ext uri="{FF2B5EF4-FFF2-40B4-BE49-F238E27FC236}">
                <a16:creationId xmlns:a16="http://schemas.microsoft.com/office/drawing/2014/main" id="{0EECE43C-CD1B-46F2-8DEB-421F175F9DC8}"/>
              </a:ext>
            </a:extLst>
          </p:cNvPr>
          <p:cNvPicPr>
            <a:picLocks noChangeAspect="1"/>
          </p:cNvPicPr>
          <p:nvPr/>
        </p:nvPicPr>
        <p:blipFill>
          <a:blip r:embed="rId2"/>
          <a:stretch>
            <a:fillRect/>
          </a:stretch>
        </p:blipFill>
        <p:spPr>
          <a:xfrm>
            <a:off x="246264" y="624980"/>
            <a:ext cx="7098718" cy="5603542"/>
          </a:xfrm>
          <a:prstGeom prst="rect">
            <a:avLst/>
          </a:prstGeom>
        </p:spPr>
      </p:pic>
      <p:pic>
        <p:nvPicPr>
          <p:cNvPr id="14" name="Resim 13">
            <a:extLst>
              <a:ext uri="{FF2B5EF4-FFF2-40B4-BE49-F238E27FC236}">
                <a16:creationId xmlns:a16="http://schemas.microsoft.com/office/drawing/2014/main" id="{25239EAB-D0A7-4F06-8685-FB2EEEE4EBC1}"/>
              </a:ext>
            </a:extLst>
          </p:cNvPr>
          <p:cNvPicPr>
            <a:picLocks noChangeAspect="1"/>
          </p:cNvPicPr>
          <p:nvPr/>
        </p:nvPicPr>
        <p:blipFill>
          <a:blip r:embed="rId3"/>
          <a:stretch>
            <a:fillRect/>
          </a:stretch>
        </p:blipFill>
        <p:spPr>
          <a:xfrm>
            <a:off x="4862151" y="790135"/>
            <a:ext cx="2375417" cy="826738"/>
          </a:xfrm>
          <a:prstGeom prst="rect">
            <a:avLst/>
          </a:prstGeom>
          <a:ln>
            <a:solidFill>
              <a:schemeClr val="accent1"/>
            </a:solidFill>
          </a:ln>
        </p:spPr>
      </p:pic>
      <p:sp>
        <p:nvSpPr>
          <p:cNvPr id="16" name="Metin kutusu 15">
            <a:extLst>
              <a:ext uri="{FF2B5EF4-FFF2-40B4-BE49-F238E27FC236}">
                <a16:creationId xmlns:a16="http://schemas.microsoft.com/office/drawing/2014/main" id="{9B0F7A8E-4363-4D82-8C2F-412ED3E603F3}"/>
              </a:ext>
            </a:extLst>
          </p:cNvPr>
          <p:cNvSpPr txBox="1"/>
          <p:nvPr/>
        </p:nvSpPr>
        <p:spPr>
          <a:xfrm>
            <a:off x="7474225" y="624980"/>
            <a:ext cx="4625495" cy="2585323"/>
          </a:xfrm>
          <a:prstGeom prst="rect">
            <a:avLst/>
          </a:prstGeom>
          <a:noFill/>
          <a:ln>
            <a:solidFill>
              <a:schemeClr val="accent1"/>
            </a:solidFill>
          </a:ln>
        </p:spPr>
        <p:txBody>
          <a:bodyPr wrap="square">
            <a:spAutoFit/>
          </a:bodyPr>
          <a:lstStyle/>
          <a:p>
            <a:r>
              <a:rPr lang="tr-TR" b="1" dirty="0">
                <a:latin typeface="Times New Roman" panose="02020603050405020304" pitchFamily="18" charset="0"/>
                <a:cs typeface="Times New Roman" panose="02020603050405020304" pitchFamily="18" charset="0"/>
              </a:rPr>
              <a:t>Kopya yapıcı ne zaman çağrılır?</a:t>
            </a:r>
          </a:p>
          <a:p>
            <a:pPr marL="285750" indent="-28575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Sınıfa ait nesne değer olarak döndürüldüğünde,</a:t>
            </a:r>
          </a:p>
          <a:p>
            <a:pPr marL="285750" indent="-28575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Sınıfın nesnesi argüman olarak bir fonksiyona iletildiğinde,</a:t>
            </a:r>
          </a:p>
          <a:p>
            <a:pPr marL="285750" indent="-28575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Bir nesne, aynı sınıftaki başka bir nesneye dayalı olarak oluşturulduğunda,</a:t>
            </a:r>
          </a:p>
          <a:p>
            <a:pPr marL="285750" indent="-28575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Derleyici geçici bir nesne oluşturduğunda çağrılır.</a:t>
            </a:r>
          </a:p>
        </p:txBody>
      </p:sp>
      <p:sp>
        <p:nvSpPr>
          <p:cNvPr id="17" name="Metin kutusu 16">
            <a:extLst>
              <a:ext uri="{FF2B5EF4-FFF2-40B4-BE49-F238E27FC236}">
                <a16:creationId xmlns:a16="http://schemas.microsoft.com/office/drawing/2014/main" id="{D1CCBC3E-351F-455C-A8E0-C1A70356D81D}"/>
              </a:ext>
            </a:extLst>
          </p:cNvPr>
          <p:cNvSpPr txBox="1"/>
          <p:nvPr/>
        </p:nvSpPr>
        <p:spPr>
          <a:xfrm>
            <a:off x="7474224" y="3361854"/>
            <a:ext cx="4625495" cy="2862322"/>
          </a:xfrm>
          <a:prstGeom prst="rect">
            <a:avLst/>
          </a:prstGeom>
          <a:noFill/>
          <a:ln>
            <a:solidFill>
              <a:schemeClr val="accent1"/>
            </a:solidFill>
          </a:ln>
        </p:spPr>
        <p:txBody>
          <a:bodyPr wrap="square">
            <a:spAutoFit/>
          </a:bodyPr>
          <a:lstStyle/>
          <a:p>
            <a:r>
              <a:rPr lang="tr-TR" b="1" dirty="0">
                <a:latin typeface="Times New Roman" panose="02020603050405020304" pitchFamily="18" charset="0"/>
                <a:cs typeface="Times New Roman" panose="02020603050405020304" pitchFamily="18" charset="0"/>
              </a:rPr>
              <a:t>Kopya yapıcı neden </a:t>
            </a:r>
            <a:r>
              <a:rPr lang="tr-TR" b="1" i="1" dirty="0" err="1">
                <a:solidFill>
                  <a:srgbClr val="0070C0"/>
                </a:solidFill>
                <a:latin typeface="Times New Roman" panose="02020603050405020304" pitchFamily="18" charset="0"/>
                <a:cs typeface="Times New Roman" panose="02020603050405020304" pitchFamily="18" charset="0"/>
              </a:rPr>
              <a:t>const</a:t>
            </a:r>
            <a:r>
              <a:rPr lang="tr-TR" b="1" dirty="0">
                <a:latin typeface="Times New Roman" panose="02020603050405020304" pitchFamily="18" charset="0"/>
                <a:cs typeface="Times New Roman" panose="02020603050405020304" pitchFamily="18" charset="0"/>
              </a:rPr>
              <a:t> referans alır?</a:t>
            </a:r>
          </a:p>
          <a:p>
            <a:pPr algn="just"/>
            <a:r>
              <a:rPr lang="tr-TR" dirty="0">
                <a:latin typeface="Times New Roman" panose="02020603050405020304" pitchFamily="18" charset="0"/>
                <a:cs typeface="Times New Roman" panose="02020603050405020304" pitchFamily="18" charset="0"/>
              </a:rPr>
              <a:t>Kopya yapıcılar, kopyaladığı nesneyi değiştirmemelidir. Bu nedenle </a:t>
            </a:r>
            <a:r>
              <a:rPr lang="tr-TR" dirty="0" err="1">
                <a:latin typeface="Times New Roman" panose="02020603050405020304" pitchFamily="18" charset="0"/>
                <a:cs typeface="Times New Roman" panose="02020603050405020304" pitchFamily="18" charset="0"/>
              </a:rPr>
              <a:t>const</a:t>
            </a:r>
            <a:r>
              <a:rPr lang="tr-TR" dirty="0">
                <a:latin typeface="Times New Roman" panose="02020603050405020304" pitchFamily="18" charset="0"/>
                <a:cs typeface="Times New Roman" panose="02020603050405020304" pitchFamily="18" charset="0"/>
              </a:rPr>
              <a:t> kullanımı tercih edilir. </a:t>
            </a:r>
          </a:p>
          <a:p>
            <a:pPr algn="just"/>
            <a:r>
              <a:rPr lang="tr-TR" dirty="0">
                <a:latin typeface="Times New Roman" panose="02020603050405020304" pitchFamily="18" charset="0"/>
                <a:cs typeface="Times New Roman" panose="02020603050405020304" pitchFamily="18" charset="0"/>
              </a:rPr>
              <a:t>Her ikisi de (</a:t>
            </a:r>
            <a:r>
              <a:rPr lang="tr-TR" dirty="0" err="1">
                <a:latin typeface="Times New Roman" panose="02020603050405020304" pitchFamily="18" charset="0"/>
                <a:cs typeface="Times New Roman" panose="02020603050405020304" pitchFamily="18" charset="0"/>
              </a:rPr>
              <a:t>const</a:t>
            </a:r>
            <a:r>
              <a:rPr lang="tr-TR" dirty="0">
                <a:latin typeface="Times New Roman" panose="02020603050405020304" pitchFamily="18" charset="0"/>
                <a:cs typeface="Times New Roman" panose="02020603050405020304" pitchFamily="18" charset="0"/>
              </a:rPr>
              <a:t> olmadan veya </a:t>
            </a:r>
            <a:r>
              <a:rPr lang="tr-TR" dirty="0" err="1">
                <a:latin typeface="Times New Roman" panose="02020603050405020304" pitchFamily="18" charset="0"/>
                <a:cs typeface="Times New Roman" panose="02020603050405020304" pitchFamily="18" charset="0"/>
              </a:rPr>
              <a:t>const</a:t>
            </a:r>
            <a:r>
              <a:rPr lang="tr-TR" dirty="0">
                <a:latin typeface="Times New Roman" panose="02020603050405020304" pitchFamily="18" charset="0"/>
                <a:cs typeface="Times New Roman" panose="02020603050405020304" pitchFamily="18" charset="0"/>
              </a:rPr>
              <a:t> eklenerek) çalışır, ancak kullanılması tercih edilir. </a:t>
            </a:r>
          </a:p>
          <a:p>
            <a:pPr algn="just"/>
            <a:r>
              <a:rPr lang="tr-TR" dirty="0">
                <a:latin typeface="Times New Roman" panose="02020603050405020304" pitchFamily="18" charset="0"/>
                <a:cs typeface="Times New Roman" panose="02020603050405020304" pitchFamily="18" charset="0"/>
              </a:rPr>
              <a:t>Çünkü iletilen nesnenin fonksiyon tarafından değiştirilmemesi gerektiğini açıkça belirtir, garanti eder. </a:t>
            </a:r>
          </a:p>
        </p:txBody>
      </p:sp>
    </p:spTree>
    <p:extLst>
      <p:ext uri="{BB962C8B-B14F-4D97-AF65-F5344CB8AC3E}">
        <p14:creationId xmlns:p14="http://schemas.microsoft.com/office/powerpoint/2010/main" val="96090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Kopya Yapıcı (</a:t>
            </a:r>
            <a:r>
              <a:rPr lang="tr-TR" sz="2000" b="1" dirty="0" err="1">
                <a:solidFill>
                  <a:srgbClr val="444444"/>
                </a:solidFill>
                <a:latin typeface="Times New Roman" panose="02020603050405020304" pitchFamily="18" charset="0"/>
                <a:cs typeface="Times New Roman" panose="02020603050405020304" pitchFamily="18" charset="0"/>
              </a:rPr>
              <a:t>Copy</a:t>
            </a:r>
            <a:r>
              <a:rPr lang="tr-TR" sz="2000" b="1" dirty="0">
                <a:solidFill>
                  <a:srgbClr val="444444"/>
                </a:solidFill>
                <a:latin typeface="Times New Roman" panose="02020603050405020304" pitchFamily="18" charset="0"/>
                <a:cs typeface="Times New Roman" panose="02020603050405020304" pitchFamily="18" charset="0"/>
              </a:rPr>
              <a:t> </a:t>
            </a:r>
            <a:r>
              <a:rPr lang="tr-TR" sz="2000" b="1" dirty="0" err="1">
                <a:solidFill>
                  <a:srgbClr val="444444"/>
                </a:solidFill>
                <a:latin typeface="Times New Roman" panose="02020603050405020304" pitchFamily="18" charset="0"/>
                <a:cs typeface="Times New Roman" panose="02020603050405020304" pitchFamily="18" charset="0"/>
              </a:rPr>
              <a:t>Constructor</a:t>
            </a:r>
            <a:r>
              <a:rPr lang="tr-TR" sz="2000" b="1" dirty="0">
                <a:solidFill>
                  <a:srgbClr val="444444"/>
                </a:solidFill>
                <a:latin typeface="Times New Roman" panose="02020603050405020304" pitchFamily="18" charset="0"/>
                <a:cs typeface="Times New Roman" panose="02020603050405020304" pitchFamily="18" charset="0"/>
              </a:rPr>
              <a:t>) vs. Atama Operatörü (</a:t>
            </a:r>
            <a:r>
              <a:rPr lang="tr-TR" sz="2000" b="1" dirty="0" err="1">
                <a:solidFill>
                  <a:srgbClr val="444444"/>
                </a:solidFill>
                <a:latin typeface="Times New Roman" panose="02020603050405020304" pitchFamily="18" charset="0"/>
                <a:cs typeface="Times New Roman" panose="02020603050405020304" pitchFamily="18" charset="0"/>
              </a:rPr>
              <a:t>Assignment</a:t>
            </a:r>
            <a:r>
              <a:rPr lang="tr-TR" sz="2000" b="1" dirty="0">
                <a:solidFill>
                  <a:srgbClr val="444444"/>
                </a:solidFill>
                <a:latin typeface="Times New Roman" panose="02020603050405020304" pitchFamily="18" charset="0"/>
                <a:cs typeface="Times New Roman" panose="02020603050405020304" pitchFamily="18" charset="0"/>
              </a:rPr>
              <a:t> </a:t>
            </a:r>
            <a:r>
              <a:rPr lang="tr-TR" sz="2000" b="1" dirty="0" err="1">
                <a:solidFill>
                  <a:srgbClr val="444444"/>
                </a:solidFill>
                <a:latin typeface="Times New Roman" panose="02020603050405020304" pitchFamily="18" charset="0"/>
                <a:cs typeface="Times New Roman" panose="02020603050405020304" pitchFamily="18" charset="0"/>
              </a:rPr>
              <a:t>Operator</a:t>
            </a:r>
            <a:r>
              <a:rPr lang="tr-TR" sz="2000" b="1" dirty="0">
                <a:solidFill>
                  <a:srgbClr val="444444"/>
                </a:solidFill>
                <a:latin typeface="Times New Roman" panose="02020603050405020304" pitchFamily="18" charset="0"/>
                <a:cs typeface="Times New Roman" panose="02020603050405020304" pitchFamily="18" charset="0"/>
              </a:rPr>
              <a:t>)</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16" name="Metin kutusu 15">
            <a:extLst>
              <a:ext uri="{FF2B5EF4-FFF2-40B4-BE49-F238E27FC236}">
                <a16:creationId xmlns:a16="http://schemas.microsoft.com/office/drawing/2014/main" id="{9B0F7A8E-4363-4D82-8C2F-412ED3E603F3}"/>
              </a:ext>
            </a:extLst>
          </p:cNvPr>
          <p:cNvSpPr txBox="1"/>
          <p:nvPr/>
        </p:nvSpPr>
        <p:spPr>
          <a:xfrm>
            <a:off x="251791" y="624980"/>
            <a:ext cx="11847929" cy="369332"/>
          </a:xfrm>
          <a:prstGeom prst="rect">
            <a:avLst/>
          </a:prstGeom>
          <a:noFill/>
          <a:ln>
            <a:noFill/>
          </a:ln>
        </p:spPr>
        <p:txBody>
          <a:bodyPr wrap="square">
            <a:spAutoFit/>
          </a:bodyPr>
          <a:lstStyle/>
          <a:p>
            <a:r>
              <a:rPr lang="tr-TR" dirty="0">
                <a:latin typeface="Times New Roman" panose="02020603050405020304" pitchFamily="18" charset="0"/>
                <a:cs typeface="Times New Roman" panose="02020603050405020304" pitchFamily="18" charset="0"/>
              </a:rPr>
              <a:t>Aşağıdaki iki ifadeden hangisi kopya oluşturucuyu, hangisi atama operatörünü çağırır?</a:t>
            </a:r>
          </a:p>
        </p:txBody>
      </p:sp>
      <p:sp>
        <p:nvSpPr>
          <p:cNvPr id="8" name="Metin kutusu 7">
            <a:extLst>
              <a:ext uri="{FF2B5EF4-FFF2-40B4-BE49-F238E27FC236}">
                <a16:creationId xmlns:a16="http://schemas.microsoft.com/office/drawing/2014/main" id="{C1C8F7D4-895E-4A2C-951E-C92CC4A36FE7}"/>
              </a:ext>
            </a:extLst>
          </p:cNvPr>
          <p:cNvSpPr txBox="1"/>
          <p:nvPr/>
        </p:nvSpPr>
        <p:spPr>
          <a:xfrm>
            <a:off x="2093843" y="1157627"/>
            <a:ext cx="6096000" cy="923330"/>
          </a:xfrm>
          <a:prstGeom prst="rect">
            <a:avLst/>
          </a:prstGeom>
          <a:noFill/>
        </p:spPr>
        <p:txBody>
          <a:bodyPr wrap="square">
            <a:spAutoFit/>
          </a:bodyPr>
          <a:lstStyle/>
          <a:p>
            <a:r>
              <a:rPr lang="fr-FR" dirty="0" err="1">
                <a:latin typeface="Consolas" panose="020B0609020204030204" pitchFamily="49" charset="0"/>
              </a:rPr>
              <a:t>MyClass</a:t>
            </a:r>
            <a:r>
              <a:rPr lang="fr-FR" dirty="0">
                <a:latin typeface="Consolas" panose="020B0609020204030204" pitchFamily="49" charset="0"/>
              </a:rPr>
              <a:t> t1, t2;</a:t>
            </a:r>
          </a:p>
          <a:p>
            <a:r>
              <a:rPr lang="fr-FR" dirty="0" err="1">
                <a:latin typeface="Consolas" panose="020B0609020204030204" pitchFamily="49" charset="0"/>
              </a:rPr>
              <a:t>MyClass</a:t>
            </a:r>
            <a:r>
              <a:rPr lang="fr-FR" dirty="0">
                <a:latin typeface="Consolas" panose="020B0609020204030204" pitchFamily="49" charset="0"/>
              </a:rPr>
              <a:t> t3 = t1;  // (1)</a:t>
            </a:r>
          </a:p>
          <a:p>
            <a:r>
              <a:rPr lang="fr-FR" dirty="0">
                <a:latin typeface="Consolas" panose="020B0609020204030204" pitchFamily="49" charset="0"/>
              </a:rPr>
              <a:t>t2 = t1;          // (2)</a:t>
            </a:r>
            <a:endParaRPr lang="tr-TR" dirty="0">
              <a:latin typeface="Consolas" panose="020B0609020204030204" pitchFamily="49" charset="0"/>
            </a:endParaRPr>
          </a:p>
        </p:txBody>
      </p:sp>
      <p:sp>
        <p:nvSpPr>
          <p:cNvPr id="10" name="Metin kutusu 9">
            <a:extLst>
              <a:ext uri="{FF2B5EF4-FFF2-40B4-BE49-F238E27FC236}">
                <a16:creationId xmlns:a16="http://schemas.microsoft.com/office/drawing/2014/main" id="{7971E6D6-235F-44D9-9345-8B503A2093E8}"/>
              </a:ext>
            </a:extLst>
          </p:cNvPr>
          <p:cNvSpPr txBox="1"/>
          <p:nvPr/>
        </p:nvSpPr>
        <p:spPr>
          <a:xfrm>
            <a:off x="251791" y="2244272"/>
            <a:ext cx="11847928" cy="1200329"/>
          </a:xfrm>
          <a:prstGeom prst="rect">
            <a:avLst/>
          </a:prstGeom>
          <a:noFill/>
        </p:spPr>
        <p:txBody>
          <a:bodyPr wrap="square">
            <a:spAutoFit/>
          </a:bodyPr>
          <a:lstStyle/>
          <a:p>
            <a:pPr algn="just"/>
            <a:r>
              <a:rPr lang="tr-TR" dirty="0" err="1">
                <a:latin typeface="Times New Roman" panose="02020603050405020304" pitchFamily="18" charset="0"/>
                <a:cs typeface="Times New Roman" panose="02020603050405020304" pitchFamily="18" charset="0"/>
              </a:rPr>
              <a:t>Copy</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constructor</a:t>
            </a:r>
            <a:r>
              <a:rPr lang="tr-TR" dirty="0">
                <a:latin typeface="Times New Roman" panose="02020603050405020304" pitchFamily="18" charset="0"/>
                <a:cs typeface="Times New Roman" panose="02020603050405020304" pitchFamily="18" charset="0"/>
              </a:rPr>
              <a:t>, mevcut bir nesneden yeni bir nesne oluşturulduğunda, mevcut nesnenin bir kopyası olarak çağrılır. </a:t>
            </a:r>
          </a:p>
          <a:p>
            <a:pPr algn="just"/>
            <a:r>
              <a:rPr lang="tr-TR" dirty="0">
                <a:latin typeface="Times New Roman" panose="02020603050405020304" pitchFamily="18" charset="0"/>
                <a:cs typeface="Times New Roman" panose="02020603050405020304" pitchFamily="18" charset="0"/>
              </a:rPr>
              <a:t>Atama operatörü, önceden başlatılmış bir nesneye başka bir mevcut nesneden yeni bir değer atandığında çağrılır. </a:t>
            </a:r>
          </a:p>
          <a:p>
            <a:pPr algn="just"/>
            <a:r>
              <a:rPr lang="tr-TR" dirty="0">
                <a:latin typeface="Times New Roman" panose="02020603050405020304" pitchFamily="18" charset="0"/>
                <a:cs typeface="Times New Roman" panose="02020603050405020304" pitchFamily="18" charset="0"/>
              </a:rPr>
              <a:t>Yukarıdaki örnekte (1) kopya oluşturucuyu ve (2) atama operatörünü çağırır. </a:t>
            </a:r>
          </a:p>
          <a:p>
            <a:pPr algn="just"/>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3906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Kopya yapıcının neden gerekli olduğuna dair bir örnek: </a:t>
            </a:r>
            <a:endParaRPr lang="tr-TR" sz="2000" b="1" dirty="0">
              <a:solidFill>
                <a:schemeClr val="tx1"/>
              </a:solidFill>
              <a:latin typeface="Times New Roman" panose="02020603050405020304" pitchFamily="18" charset="0"/>
              <a:cs typeface="Times New Roman" panose="02020603050405020304" pitchFamily="18" charset="0"/>
            </a:endParaRPr>
          </a:p>
        </p:txBody>
      </p:sp>
      <p:pic>
        <p:nvPicPr>
          <p:cNvPr id="5" name="Resim 4">
            <a:extLst>
              <a:ext uri="{FF2B5EF4-FFF2-40B4-BE49-F238E27FC236}">
                <a16:creationId xmlns:a16="http://schemas.microsoft.com/office/drawing/2014/main" id="{9029F3C4-A7AE-4C40-B33D-B3F06675E14B}"/>
              </a:ext>
            </a:extLst>
          </p:cNvPr>
          <p:cNvPicPr>
            <a:picLocks noChangeAspect="1"/>
          </p:cNvPicPr>
          <p:nvPr/>
        </p:nvPicPr>
        <p:blipFill>
          <a:blip r:embed="rId2"/>
          <a:stretch>
            <a:fillRect/>
          </a:stretch>
        </p:blipFill>
        <p:spPr>
          <a:xfrm>
            <a:off x="6362940" y="624978"/>
            <a:ext cx="5829060" cy="4329031"/>
          </a:xfrm>
          <a:prstGeom prst="rect">
            <a:avLst/>
          </a:prstGeom>
        </p:spPr>
      </p:pic>
      <p:pic>
        <p:nvPicPr>
          <p:cNvPr id="7" name="Resim 6">
            <a:extLst>
              <a:ext uri="{FF2B5EF4-FFF2-40B4-BE49-F238E27FC236}">
                <a16:creationId xmlns:a16="http://schemas.microsoft.com/office/drawing/2014/main" id="{08FF6B2F-BF31-4C4D-8A18-F77C87E01BED}"/>
              </a:ext>
            </a:extLst>
          </p:cNvPr>
          <p:cNvPicPr>
            <a:picLocks noChangeAspect="1"/>
          </p:cNvPicPr>
          <p:nvPr/>
        </p:nvPicPr>
        <p:blipFill>
          <a:blip r:embed="rId3"/>
          <a:stretch>
            <a:fillRect/>
          </a:stretch>
        </p:blipFill>
        <p:spPr>
          <a:xfrm>
            <a:off x="0" y="624978"/>
            <a:ext cx="6478630" cy="4993943"/>
          </a:xfrm>
          <a:prstGeom prst="rect">
            <a:avLst/>
          </a:prstGeom>
        </p:spPr>
      </p:pic>
      <p:pic>
        <p:nvPicPr>
          <p:cNvPr id="15" name="Resim 14">
            <a:extLst>
              <a:ext uri="{FF2B5EF4-FFF2-40B4-BE49-F238E27FC236}">
                <a16:creationId xmlns:a16="http://schemas.microsoft.com/office/drawing/2014/main" id="{5F2FD033-71BE-49B9-A3C8-2572C50E22E2}"/>
              </a:ext>
            </a:extLst>
          </p:cNvPr>
          <p:cNvPicPr>
            <a:picLocks noChangeAspect="1"/>
          </p:cNvPicPr>
          <p:nvPr/>
        </p:nvPicPr>
        <p:blipFill>
          <a:blip r:embed="rId4"/>
          <a:stretch>
            <a:fillRect/>
          </a:stretch>
        </p:blipFill>
        <p:spPr>
          <a:xfrm>
            <a:off x="3816627" y="3384763"/>
            <a:ext cx="2185836" cy="1633543"/>
          </a:xfrm>
          <a:prstGeom prst="rect">
            <a:avLst/>
          </a:prstGeom>
        </p:spPr>
      </p:pic>
    </p:spTree>
    <p:extLst>
      <p:ext uri="{BB962C8B-B14F-4D97-AF65-F5344CB8AC3E}">
        <p14:creationId xmlns:p14="http://schemas.microsoft.com/office/powerpoint/2010/main" val="3425685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Kopya yapıcının neden gerekli olduğuna dair bir örnek: </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13" name="Metin kutusu 12">
            <a:extLst>
              <a:ext uri="{FF2B5EF4-FFF2-40B4-BE49-F238E27FC236}">
                <a16:creationId xmlns:a16="http://schemas.microsoft.com/office/drawing/2014/main" id="{6BDAECBC-2A1E-42BB-8757-C6ECC4FAFF1C}"/>
              </a:ext>
            </a:extLst>
          </p:cNvPr>
          <p:cNvSpPr txBox="1"/>
          <p:nvPr/>
        </p:nvSpPr>
        <p:spPr>
          <a:xfrm>
            <a:off x="236509" y="624980"/>
            <a:ext cx="11462913" cy="1200329"/>
          </a:xfrm>
          <a:prstGeom prst="rect">
            <a:avLst/>
          </a:prstGeom>
          <a:noFill/>
          <a:ln>
            <a:solidFill>
              <a:srgbClr val="7030A0"/>
            </a:solidFill>
          </a:ln>
        </p:spPr>
        <p:txBody>
          <a:bodyPr wrap="square">
            <a:spAutoFit/>
          </a:bodyPr>
          <a:lstStyle/>
          <a:p>
            <a:pPr lvl="2"/>
            <a:r>
              <a:rPr lang="tr-TR" b="1" i="1" dirty="0">
                <a:latin typeface="Times New Roman" panose="02020603050405020304" pitchFamily="18" charset="0"/>
                <a:cs typeface="Times New Roman" panose="02020603050405020304" pitchFamily="18" charset="0"/>
              </a:rPr>
              <a:t>11. Satırdaki </a:t>
            </a:r>
            <a:r>
              <a:rPr lang="tr-TR" b="1" i="1" dirty="0" err="1">
                <a:latin typeface="Times New Roman" panose="02020603050405020304" pitchFamily="18" charset="0"/>
                <a:cs typeface="Times New Roman" panose="02020603050405020304" pitchFamily="18" charset="0"/>
              </a:rPr>
              <a:t>constructor</a:t>
            </a:r>
            <a:r>
              <a:rPr lang="tr-TR" b="1" i="1" dirty="0">
                <a:latin typeface="Times New Roman" panose="02020603050405020304" pitchFamily="18" charset="0"/>
                <a:cs typeface="Times New Roman" panose="02020603050405020304" pitchFamily="18" charset="0"/>
              </a:rPr>
              <a:t> için bir bilgilendirme: Neden </a:t>
            </a:r>
            <a:r>
              <a:rPr lang="tr-TR" b="1" i="1" dirty="0" err="1">
                <a:latin typeface="Times New Roman" panose="02020603050405020304" pitchFamily="18" charset="0"/>
                <a:cs typeface="Times New Roman" panose="02020603050405020304" pitchFamily="18" charset="0"/>
              </a:rPr>
              <a:t>char</a:t>
            </a:r>
            <a:r>
              <a:rPr lang="tr-TR" b="1" i="1" dirty="0">
                <a:latin typeface="Times New Roman" panose="02020603050405020304" pitchFamily="18" charset="0"/>
                <a:cs typeface="Times New Roman" panose="02020603050405020304" pitchFamily="18" charset="0"/>
              </a:rPr>
              <a:t>* değil de </a:t>
            </a:r>
            <a:r>
              <a:rPr lang="tr-TR" b="1" i="1" dirty="0" err="1">
                <a:latin typeface="Times New Roman" panose="02020603050405020304" pitchFamily="18" charset="0"/>
                <a:cs typeface="Times New Roman" panose="02020603050405020304" pitchFamily="18" charset="0"/>
              </a:rPr>
              <a:t>const</a:t>
            </a:r>
            <a:r>
              <a:rPr lang="tr-TR" b="1" i="1" dirty="0">
                <a:latin typeface="Times New Roman" panose="02020603050405020304" pitchFamily="18" charset="0"/>
                <a:cs typeface="Times New Roman" panose="02020603050405020304" pitchFamily="18" charset="0"/>
              </a:rPr>
              <a:t> </a:t>
            </a:r>
            <a:r>
              <a:rPr lang="tr-TR" b="1" i="1" dirty="0" err="1">
                <a:latin typeface="Times New Roman" panose="02020603050405020304" pitchFamily="18" charset="0"/>
                <a:cs typeface="Times New Roman" panose="02020603050405020304" pitchFamily="18" charset="0"/>
              </a:rPr>
              <a:t>char</a:t>
            </a:r>
            <a:r>
              <a:rPr lang="tr-TR" b="1" i="1" dirty="0">
                <a:latin typeface="Times New Roman" panose="02020603050405020304" pitchFamily="18" charset="0"/>
                <a:cs typeface="Times New Roman" panose="02020603050405020304" pitchFamily="18" charset="0"/>
              </a:rPr>
              <a:t>* ?</a:t>
            </a:r>
          </a:p>
          <a:p>
            <a:pPr lvl="2"/>
            <a:r>
              <a:rPr lang="tr-TR" dirty="0">
                <a:latin typeface="Times New Roman" panose="02020603050405020304" pitchFamily="18" charset="0"/>
                <a:cs typeface="Times New Roman" panose="02020603050405020304" pitchFamily="18" charset="0"/>
              </a:rPr>
              <a:t>Bir C++ dizgi deyimi (</a:t>
            </a:r>
            <a:r>
              <a:rPr lang="tr-TR" dirty="0" err="1">
                <a:latin typeface="Times New Roman" panose="02020603050405020304" pitchFamily="18" charset="0"/>
                <a:cs typeface="Times New Roman" panose="02020603050405020304" pitchFamily="18" charset="0"/>
              </a:rPr>
              <a:t>string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literal</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const</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char</a:t>
            </a:r>
            <a:r>
              <a:rPr lang="tr-TR" dirty="0">
                <a:latin typeface="Times New Roman" panose="02020603050405020304" pitchFamily="18" charset="0"/>
                <a:cs typeface="Times New Roman" panose="02020603050405020304" pitchFamily="18" charset="0"/>
              </a:rPr>
              <a:t> [] türündedir (C dilinde sadece </a:t>
            </a:r>
            <a:r>
              <a:rPr lang="tr-TR" dirty="0" err="1">
                <a:latin typeface="Times New Roman" panose="02020603050405020304" pitchFamily="18" charset="0"/>
                <a:cs typeface="Times New Roman" panose="02020603050405020304" pitchFamily="18" charset="0"/>
              </a:rPr>
              <a:t>char</a:t>
            </a:r>
            <a:r>
              <a:rPr lang="tr-TR" dirty="0">
                <a:latin typeface="Times New Roman" panose="02020603050405020304" pitchFamily="18" charset="0"/>
                <a:cs typeface="Times New Roman" panose="02020603050405020304" pitchFamily="18" charset="0"/>
              </a:rPr>
              <a:t>[] idi, </a:t>
            </a:r>
            <a:r>
              <a:rPr lang="tr-TR" dirty="0" err="1">
                <a:latin typeface="Times New Roman" panose="02020603050405020304" pitchFamily="18" charset="0"/>
                <a:cs typeface="Times New Roman" panose="02020603050405020304" pitchFamily="18" charset="0"/>
              </a:rPr>
              <a:t>const</a:t>
            </a:r>
            <a:r>
              <a:rPr lang="tr-TR" dirty="0">
                <a:latin typeface="Times New Roman" panose="02020603050405020304" pitchFamily="18" charset="0"/>
                <a:cs typeface="Times New Roman" panose="02020603050405020304" pitchFamily="18" charset="0"/>
              </a:rPr>
              <a:t> anahtarı kullanılmazdı). Bu yüzden bir dizgi kullanacaksak, yani bir dizgiyi başlatacaksak yapıcı içerisinde veri tipini </a:t>
            </a:r>
            <a:r>
              <a:rPr lang="tr-TR" dirty="0" err="1">
                <a:latin typeface="Times New Roman" panose="02020603050405020304" pitchFamily="18" charset="0"/>
                <a:cs typeface="Times New Roman" panose="02020603050405020304" pitchFamily="18" charset="0"/>
              </a:rPr>
              <a:t>const</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char</a:t>
            </a:r>
            <a:r>
              <a:rPr lang="tr-TR" dirty="0">
                <a:latin typeface="Times New Roman" panose="02020603050405020304" pitchFamily="18" charset="0"/>
                <a:cs typeface="Times New Roman" panose="02020603050405020304" pitchFamily="18" charset="0"/>
              </a:rPr>
              <a:t>* olarak yazmalıyız! </a:t>
            </a:r>
          </a:p>
        </p:txBody>
      </p:sp>
      <p:pic>
        <p:nvPicPr>
          <p:cNvPr id="14" name="Picture 2" descr="Red Exclamation Mark PNG Photo | PNG Mart">
            <a:extLst>
              <a:ext uri="{FF2B5EF4-FFF2-40B4-BE49-F238E27FC236}">
                <a16:creationId xmlns:a16="http://schemas.microsoft.com/office/drawing/2014/main" id="{E23DA4B0-200A-4198-BFA8-1D62692A8E8F}"/>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2279" y="507994"/>
            <a:ext cx="1431498" cy="1434299"/>
          </a:xfrm>
          <a:prstGeom prst="rect">
            <a:avLst/>
          </a:prstGeom>
          <a:noFill/>
          <a:extLst>
            <a:ext uri="{909E8E84-426E-40DD-AFC4-6F175D3DCCD1}">
              <a14:hiddenFill xmlns:a14="http://schemas.microsoft.com/office/drawing/2010/main">
                <a:solidFill>
                  <a:srgbClr val="FFFFFF"/>
                </a:solidFill>
              </a14:hiddenFill>
            </a:ext>
          </a:extLst>
        </p:spPr>
      </p:pic>
      <p:sp>
        <p:nvSpPr>
          <p:cNvPr id="8" name="Alt Başlık 2">
            <a:extLst>
              <a:ext uri="{FF2B5EF4-FFF2-40B4-BE49-F238E27FC236}">
                <a16:creationId xmlns:a16="http://schemas.microsoft.com/office/drawing/2014/main" id="{4F69BFEF-7C4D-455D-853E-4B5314663160}"/>
              </a:ext>
            </a:extLst>
          </p:cNvPr>
          <p:cNvSpPr txBox="1">
            <a:spLocks/>
          </p:cNvSpPr>
          <p:nvPr/>
        </p:nvSpPr>
        <p:spPr>
          <a:xfrm>
            <a:off x="0" y="1942293"/>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Bir önceki örnekte eğer kopya yapıcı kaldırılırsa ne olur?</a:t>
            </a:r>
            <a:endParaRPr lang="tr-TR" sz="2000" b="1" dirty="0">
              <a:solidFill>
                <a:schemeClr val="tx1"/>
              </a:solidFill>
              <a:latin typeface="Times New Roman" panose="02020603050405020304" pitchFamily="18" charset="0"/>
              <a:cs typeface="Times New Roman" panose="02020603050405020304" pitchFamily="18" charset="0"/>
            </a:endParaRPr>
          </a:p>
        </p:txBody>
      </p:sp>
      <p:pic>
        <p:nvPicPr>
          <p:cNvPr id="10" name="Resim 9">
            <a:extLst>
              <a:ext uri="{FF2B5EF4-FFF2-40B4-BE49-F238E27FC236}">
                <a16:creationId xmlns:a16="http://schemas.microsoft.com/office/drawing/2014/main" id="{57D8A72F-7918-40E2-8665-97AE7995C525}"/>
              </a:ext>
            </a:extLst>
          </p:cNvPr>
          <p:cNvPicPr>
            <a:picLocks noChangeAspect="1"/>
          </p:cNvPicPr>
          <p:nvPr/>
        </p:nvPicPr>
        <p:blipFill>
          <a:blip r:embed="rId3"/>
          <a:stretch>
            <a:fillRect/>
          </a:stretch>
        </p:blipFill>
        <p:spPr>
          <a:xfrm>
            <a:off x="465498" y="2601431"/>
            <a:ext cx="2753109" cy="2133898"/>
          </a:xfrm>
          <a:prstGeom prst="rect">
            <a:avLst/>
          </a:prstGeom>
          <a:ln>
            <a:solidFill>
              <a:srgbClr val="7030A0"/>
            </a:solidFill>
          </a:ln>
        </p:spPr>
      </p:pic>
    </p:spTree>
    <p:extLst>
      <p:ext uri="{BB962C8B-B14F-4D97-AF65-F5344CB8AC3E}">
        <p14:creationId xmlns:p14="http://schemas.microsoft.com/office/powerpoint/2010/main" val="2580047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chemeClr val="tx1"/>
                </a:solidFill>
                <a:latin typeface="Times New Roman" panose="02020603050405020304" pitchFamily="18" charset="0"/>
                <a:cs typeface="Times New Roman" panose="02020603050405020304" pitchFamily="18" charset="0"/>
              </a:rPr>
              <a:t>Kopya yapıcı gerekliliğini gösteren başka bir örnek:</a:t>
            </a:r>
          </a:p>
        </p:txBody>
      </p:sp>
      <p:pic>
        <p:nvPicPr>
          <p:cNvPr id="3" name="Resim 2">
            <a:extLst>
              <a:ext uri="{FF2B5EF4-FFF2-40B4-BE49-F238E27FC236}">
                <a16:creationId xmlns:a16="http://schemas.microsoft.com/office/drawing/2014/main" id="{21B515B6-B008-40BB-950D-0B78D15FC3F8}"/>
              </a:ext>
            </a:extLst>
          </p:cNvPr>
          <p:cNvPicPr>
            <a:picLocks noChangeAspect="1"/>
          </p:cNvPicPr>
          <p:nvPr/>
        </p:nvPicPr>
        <p:blipFill>
          <a:blip r:embed="rId2"/>
          <a:stretch>
            <a:fillRect/>
          </a:stretch>
        </p:blipFill>
        <p:spPr>
          <a:xfrm>
            <a:off x="1670539" y="624980"/>
            <a:ext cx="8758642" cy="5564805"/>
          </a:xfrm>
          <a:prstGeom prst="rect">
            <a:avLst/>
          </a:prstGeom>
        </p:spPr>
      </p:pic>
      <p:pic>
        <p:nvPicPr>
          <p:cNvPr id="5" name="Resim 4">
            <a:extLst>
              <a:ext uri="{FF2B5EF4-FFF2-40B4-BE49-F238E27FC236}">
                <a16:creationId xmlns:a16="http://schemas.microsoft.com/office/drawing/2014/main" id="{7C00F767-6789-4127-8568-F529139CEF02}"/>
              </a:ext>
            </a:extLst>
          </p:cNvPr>
          <p:cNvPicPr>
            <a:picLocks noChangeAspect="1"/>
          </p:cNvPicPr>
          <p:nvPr/>
        </p:nvPicPr>
        <p:blipFill>
          <a:blip r:embed="rId3"/>
          <a:stretch>
            <a:fillRect/>
          </a:stretch>
        </p:blipFill>
        <p:spPr>
          <a:xfrm>
            <a:off x="9061089" y="909803"/>
            <a:ext cx="1177467" cy="680314"/>
          </a:xfrm>
          <a:prstGeom prst="rect">
            <a:avLst/>
          </a:prstGeom>
        </p:spPr>
      </p:pic>
    </p:spTree>
    <p:extLst>
      <p:ext uri="{BB962C8B-B14F-4D97-AF65-F5344CB8AC3E}">
        <p14:creationId xmlns:p14="http://schemas.microsoft.com/office/powerpoint/2010/main" val="906257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chemeClr val="tx1"/>
                </a:solidFill>
                <a:latin typeface="Times New Roman" panose="02020603050405020304" pitchFamily="18" charset="0"/>
                <a:cs typeface="Times New Roman" panose="02020603050405020304" pitchFamily="18" charset="0"/>
              </a:rPr>
              <a:t>Aynı örnek için kopya nesnenin değerleri değiştirilmek istenirse;</a:t>
            </a:r>
          </a:p>
        </p:txBody>
      </p:sp>
      <p:pic>
        <p:nvPicPr>
          <p:cNvPr id="4" name="Resim 3">
            <a:extLst>
              <a:ext uri="{FF2B5EF4-FFF2-40B4-BE49-F238E27FC236}">
                <a16:creationId xmlns:a16="http://schemas.microsoft.com/office/drawing/2014/main" id="{EA5E3BAD-F8D1-44D7-ABD1-529D96B3F0FE}"/>
              </a:ext>
            </a:extLst>
          </p:cNvPr>
          <p:cNvPicPr>
            <a:picLocks noChangeAspect="1"/>
          </p:cNvPicPr>
          <p:nvPr/>
        </p:nvPicPr>
        <p:blipFill>
          <a:blip r:embed="rId2"/>
          <a:stretch>
            <a:fillRect/>
          </a:stretch>
        </p:blipFill>
        <p:spPr>
          <a:xfrm>
            <a:off x="279659" y="890024"/>
            <a:ext cx="6859811" cy="4702394"/>
          </a:xfrm>
          <a:prstGeom prst="rect">
            <a:avLst/>
          </a:prstGeom>
        </p:spPr>
      </p:pic>
      <p:pic>
        <p:nvPicPr>
          <p:cNvPr id="7" name="Resim 6">
            <a:extLst>
              <a:ext uri="{FF2B5EF4-FFF2-40B4-BE49-F238E27FC236}">
                <a16:creationId xmlns:a16="http://schemas.microsoft.com/office/drawing/2014/main" id="{3C0B777F-1573-4B0F-923F-CCDF14E0005B}"/>
              </a:ext>
            </a:extLst>
          </p:cNvPr>
          <p:cNvPicPr>
            <a:picLocks noChangeAspect="1"/>
          </p:cNvPicPr>
          <p:nvPr/>
        </p:nvPicPr>
        <p:blipFill>
          <a:blip r:embed="rId3"/>
          <a:stretch>
            <a:fillRect/>
          </a:stretch>
        </p:blipFill>
        <p:spPr>
          <a:xfrm>
            <a:off x="5839835" y="3288668"/>
            <a:ext cx="6072506" cy="2303750"/>
          </a:xfrm>
          <a:prstGeom prst="rect">
            <a:avLst/>
          </a:prstGeom>
        </p:spPr>
      </p:pic>
      <p:pic>
        <p:nvPicPr>
          <p:cNvPr id="10" name="Resim 9">
            <a:extLst>
              <a:ext uri="{FF2B5EF4-FFF2-40B4-BE49-F238E27FC236}">
                <a16:creationId xmlns:a16="http://schemas.microsoft.com/office/drawing/2014/main" id="{E0E6C4FE-1424-40A5-BFDB-6AE8524EEA25}"/>
              </a:ext>
            </a:extLst>
          </p:cNvPr>
          <p:cNvPicPr>
            <a:picLocks noChangeAspect="1"/>
          </p:cNvPicPr>
          <p:nvPr/>
        </p:nvPicPr>
        <p:blipFill rotWithShape="1">
          <a:blip r:embed="rId4"/>
          <a:srcRect t="4613"/>
          <a:stretch/>
        </p:blipFill>
        <p:spPr>
          <a:xfrm>
            <a:off x="8044737" y="890024"/>
            <a:ext cx="2682677" cy="1655762"/>
          </a:xfrm>
          <a:prstGeom prst="rect">
            <a:avLst/>
          </a:prstGeom>
          <a:ln>
            <a:solidFill>
              <a:srgbClr val="7030A0"/>
            </a:solidFill>
          </a:ln>
        </p:spPr>
      </p:pic>
    </p:spTree>
    <p:extLst>
      <p:ext uri="{BB962C8B-B14F-4D97-AF65-F5344CB8AC3E}">
        <p14:creationId xmlns:p14="http://schemas.microsoft.com/office/powerpoint/2010/main" val="1146273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FF0000"/>
                </a:solidFill>
                <a:latin typeface="Times New Roman" panose="02020603050405020304" pitchFamily="18" charset="0"/>
                <a:cs typeface="Times New Roman" panose="02020603050405020304" pitchFamily="18" charset="0"/>
              </a:rPr>
              <a:t>this</a:t>
            </a:r>
            <a:r>
              <a:rPr lang="tr-TR" sz="2000" b="1" dirty="0">
                <a:solidFill>
                  <a:srgbClr val="444444"/>
                </a:solidFill>
                <a:latin typeface="Times New Roman" panose="02020603050405020304" pitchFamily="18" charset="0"/>
                <a:cs typeface="Times New Roman" panose="02020603050405020304" pitchFamily="18" charset="0"/>
              </a:rPr>
              <a:t> Gizli İşaretçisi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8388" y="624980"/>
            <a:ext cx="12200388"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b="1" i="1" dirty="0">
                <a:solidFill>
                  <a:srgbClr val="444444"/>
                </a:solidFill>
                <a:latin typeface="Times New Roman" panose="02020603050405020304" pitchFamily="18" charset="0"/>
                <a:cs typeface="Times New Roman" panose="02020603050405020304" pitchFamily="18" charset="0"/>
              </a:rPr>
              <a:t>SORU	: </a:t>
            </a:r>
            <a:r>
              <a:rPr lang="tr-TR" dirty="0">
                <a:solidFill>
                  <a:srgbClr val="444444"/>
                </a:solidFill>
                <a:latin typeface="Times New Roman" panose="02020603050405020304" pitchFamily="18" charset="0"/>
                <a:cs typeface="Times New Roman" panose="02020603050405020304" pitchFamily="18" charset="0"/>
              </a:rPr>
              <a:t>Bir üye fonksiyon çağrıldığında, C++ hangi nesneye çağrıldığını nasıl anlar? </a:t>
            </a:r>
          </a:p>
          <a:p>
            <a:pPr marL="201168" lvl="1" indent="0" algn="just">
              <a:lnSpc>
                <a:spcPct val="125000"/>
              </a:lnSpc>
              <a:buNone/>
            </a:pPr>
            <a:r>
              <a:rPr lang="tr-TR" b="1" i="1" dirty="0">
                <a:solidFill>
                  <a:srgbClr val="444444"/>
                </a:solidFill>
                <a:latin typeface="Times New Roman" panose="02020603050405020304" pitchFamily="18" charset="0"/>
                <a:cs typeface="Times New Roman" panose="02020603050405020304" pitchFamily="18" charset="0"/>
              </a:rPr>
              <a:t>CEVAP: </a:t>
            </a:r>
            <a:r>
              <a:rPr lang="tr-TR" dirty="0">
                <a:solidFill>
                  <a:srgbClr val="444444"/>
                </a:solidFill>
                <a:latin typeface="Times New Roman" panose="02020603050405020304" pitchFamily="18" charset="0"/>
                <a:cs typeface="Times New Roman" panose="02020603050405020304" pitchFamily="18" charset="0"/>
              </a:rPr>
              <a:t>C++’</a:t>
            </a:r>
            <a:r>
              <a:rPr lang="tr-TR" dirty="0" err="1">
                <a:solidFill>
                  <a:srgbClr val="444444"/>
                </a:solidFill>
                <a:latin typeface="Times New Roman" panose="02020603050405020304" pitchFamily="18" charset="0"/>
                <a:cs typeface="Times New Roman" panose="02020603050405020304" pitchFamily="18" charset="0"/>
              </a:rPr>
              <a:t>ın</a:t>
            </a:r>
            <a:r>
              <a:rPr lang="tr-TR" dirty="0">
                <a:solidFill>
                  <a:srgbClr val="444444"/>
                </a:solidFill>
                <a:latin typeface="Times New Roman" panose="02020603050405020304" pitchFamily="18" charset="0"/>
                <a:cs typeface="Times New Roman" panose="02020603050405020304" pitchFamily="18" charset="0"/>
              </a:rPr>
              <a:t> </a:t>
            </a:r>
            <a:r>
              <a:rPr lang="tr-TR" b="1" dirty="0" err="1">
                <a:solidFill>
                  <a:srgbClr val="FF0000"/>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 adlı gizli bir işaretçisi vardır.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Aşağıdaki örnekte, </a:t>
            </a:r>
            <a:r>
              <a:rPr lang="tr-TR" dirty="0" err="1">
                <a:solidFill>
                  <a:srgbClr val="444444"/>
                </a:solidFill>
                <a:latin typeface="Times New Roman" panose="02020603050405020304" pitchFamily="18" charset="0"/>
                <a:cs typeface="Times New Roman" panose="02020603050405020304" pitchFamily="18" charset="0"/>
              </a:rPr>
              <a:t>private</a:t>
            </a:r>
            <a:r>
              <a:rPr lang="tr-TR" dirty="0">
                <a:solidFill>
                  <a:srgbClr val="444444"/>
                </a:solidFill>
                <a:latin typeface="Times New Roman" panose="02020603050405020304" pitchFamily="18" charset="0"/>
                <a:cs typeface="Times New Roman" panose="02020603050405020304" pitchFamily="18" charset="0"/>
              </a:rPr>
              <a:t> bir tamsayı değişkene sahip, bir yapıcı ve erişim fonksiyonları bulunan basit bir sınıf verilmiştir. </a:t>
            </a:r>
          </a:p>
        </p:txBody>
      </p:sp>
      <p:sp>
        <p:nvSpPr>
          <p:cNvPr id="13" name="Metin kutusu 12">
            <a:extLst>
              <a:ext uri="{FF2B5EF4-FFF2-40B4-BE49-F238E27FC236}">
                <a16:creationId xmlns:a16="http://schemas.microsoft.com/office/drawing/2014/main" id="{2BFF3B0C-DF56-4AB0-A608-8BCEF177F7A3}"/>
              </a:ext>
            </a:extLst>
          </p:cNvPr>
          <p:cNvSpPr txBox="1"/>
          <p:nvPr/>
        </p:nvSpPr>
        <p:spPr>
          <a:xfrm>
            <a:off x="3472820" y="1994505"/>
            <a:ext cx="8109580" cy="1785104"/>
          </a:xfrm>
          <a:prstGeom prst="rect">
            <a:avLst/>
          </a:prstGeom>
          <a:noFill/>
        </p:spPr>
        <p:txBody>
          <a:bodyPr wrap="square">
            <a:spAutoFit/>
          </a:bodyPr>
          <a:lstStyle/>
          <a:p>
            <a:pPr algn="just"/>
            <a:r>
              <a:rPr lang="tr-TR" dirty="0">
                <a:solidFill>
                  <a:schemeClr val="bg1"/>
                </a:solidFill>
                <a:latin typeface="Times New Roman" panose="02020603050405020304" pitchFamily="18" charset="0"/>
                <a:cs typeface="Times New Roman" panose="02020603050405020304" pitchFamily="18" charset="0"/>
              </a:rPr>
              <a:t>Burada, </a:t>
            </a:r>
            <a:r>
              <a:rPr lang="tr-TR" dirty="0" err="1">
                <a:solidFill>
                  <a:schemeClr val="bg1"/>
                </a:solidFill>
                <a:latin typeface="Times New Roman" panose="02020603050405020304" pitchFamily="18" charset="0"/>
                <a:cs typeface="Times New Roman" panose="02020603050405020304" pitchFamily="18" charset="0"/>
              </a:rPr>
              <a:t>myNum.setNum</a:t>
            </a:r>
            <a:r>
              <a:rPr lang="tr-TR" dirty="0">
                <a:solidFill>
                  <a:schemeClr val="bg1"/>
                </a:solidFill>
                <a:latin typeface="Times New Roman" panose="02020603050405020304" pitchFamily="18" charset="0"/>
                <a:cs typeface="Times New Roman" panose="02020603050405020304" pitchFamily="18" charset="0"/>
              </a:rPr>
              <a:t>(2) satırı gerçekleştiğinde, C++ </a:t>
            </a:r>
            <a:r>
              <a:rPr lang="tr-TR" dirty="0" err="1">
                <a:solidFill>
                  <a:schemeClr val="bg1"/>
                </a:solidFill>
                <a:latin typeface="Times New Roman" panose="02020603050405020304" pitchFamily="18" charset="0"/>
                <a:cs typeface="Times New Roman" panose="02020603050405020304" pitchFamily="18" charset="0"/>
              </a:rPr>
              <a:t>setNum</a:t>
            </a:r>
            <a:r>
              <a:rPr lang="tr-TR" dirty="0">
                <a:solidFill>
                  <a:schemeClr val="bg1"/>
                </a:solidFill>
                <a:latin typeface="Times New Roman" panose="02020603050405020304" pitchFamily="18" charset="0"/>
                <a:cs typeface="Times New Roman" panose="02020603050405020304" pitchFamily="18" charset="0"/>
              </a:rPr>
              <a:t>() fonksiyonunun </a:t>
            </a:r>
            <a:r>
              <a:rPr lang="tr-TR" dirty="0" err="1">
                <a:solidFill>
                  <a:schemeClr val="bg1"/>
                </a:solidFill>
                <a:latin typeface="Times New Roman" panose="02020603050405020304" pitchFamily="18" charset="0"/>
                <a:cs typeface="Times New Roman" panose="02020603050405020304" pitchFamily="18" charset="0"/>
              </a:rPr>
              <a:t>myNum</a:t>
            </a:r>
            <a:r>
              <a:rPr lang="tr-TR" dirty="0">
                <a:solidFill>
                  <a:schemeClr val="bg1"/>
                </a:solidFill>
                <a:latin typeface="Times New Roman" panose="02020603050405020304" pitchFamily="18" charset="0"/>
                <a:cs typeface="Times New Roman" panose="02020603050405020304" pitchFamily="18" charset="0"/>
              </a:rPr>
              <a:t> nesnesi üzerinde çalışması gerektiğini bilir ve bu </a:t>
            </a:r>
            <a:r>
              <a:rPr lang="tr-TR" dirty="0" err="1">
                <a:solidFill>
                  <a:schemeClr val="bg1"/>
                </a:solidFill>
                <a:latin typeface="Times New Roman" panose="02020603050405020304" pitchFamily="18" charset="0"/>
                <a:cs typeface="Times New Roman" panose="02020603050405020304" pitchFamily="18" charset="0"/>
              </a:rPr>
              <a:t>num</a:t>
            </a:r>
            <a:r>
              <a:rPr lang="tr-TR" dirty="0">
                <a:solidFill>
                  <a:schemeClr val="bg1"/>
                </a:solidFill>
                <a:latin typeface="Times New Roman" panose="02020603050405020304" pitchFamily="18" charset="0"/>
                <a:cs typeface="Times New Roman" panose="02020603050405020304" pitchFamily="18" charset="0"/>
              </a:rPr>
              <a:t> değişkeni aslında </a:t>
            </a:r>
            <a:r>
              <a:rPr lang="tr-TR" dirty="0" err="1">
                <a:solidFill>
                  <a:schemeClr val="bg1"/>
                </a:solidFill>
                <a:latin typeface="Times New Roman" panose="02020603050405020304" pitchFamily="18" charset="0"/>
                <a:cs typeface="Times New Roman" panose="02020603050405020304" pitchFamily="18" charset="0"/>
              </a:rPr>
              <a:t>myClass.num’ı</a:t>
            </a:r>
            <a:r>
              <a:rPr lang="tr-TR" dirty="0">
                <a:solidFill>
                  <a:schemeClr val="bg1"/>
                </a:solidFill>
                <a:latin typeface="Times New Roman" panose="02020603050405020304" pitchFamily="18" charset="0"/>
                <a:cs typeface="Times New Roman" panose="02020603050405020304" pitchFamily="18" charset="0"/>
              </a:rPr>
              <a:t> ifade eder. </a:t>
            </a:r>
          </a:p>
          <a:p>
            <a:pPr algn="just"/>
            <a:endParaRPr lang="tr-TR" dirty="0">
              <a:solidFill>
                <a:schemeClr val="bg1"/>
              </a:solidFill>
              <a:latin typeface="Times New Roman" panose="02020603050405020304" pitchFamily="18" charset="0"/>
              <a:cs typeface="Times New Roman" panose="02020603050405020304" pitchFamily="18" charset="0"/>
            </a:endParaRPr>
          </a:p>
          <a:p>
            <a:pPr algn="just"/>
            <a:r>
              <a:rPr lang="tr-TR" dirty="0">
                <a:solidFill>
                  <a:schemeClr val="bg1"/>
                </a:solidFill>
                <a:latin typeface="Times New Roman" panose="02020603050405020304" pitchFamily="18" charset="0"/>
                <a:cs typeface="Times New Roman" panose="02020603050405020304" pitchFamily="18" charset="0"/>
              </a:rPr>
              <a:t>Bunun nasıl çalıştığının arka plandaki mekanizmasını inceleyecek olursak:</a:t>
            </a:r>
          </a:p>
          <a:p>
            <a:pPr algn="just"/>
            <a:r>
              <a:rPr lang="tr-TR" sz="2000" b="1" dirty="0">
                <a:solidFill>
                  <a:srgbClr val="FF0000"/>
                </a:solidFill>
                <a:latin typeface="Times New Roman" panose="02020603050405020304" pitchFamily="18" charset="0"/>
                <a:cs typeface="Times New Roman" panose="02020603050405020304" pitchFamily="18" charset="0"/>
              </a:rPr>
              <a:t>*</a:t>
            </a:r>
            <a:r>
              <a:rPr lang="tr-TR" sz="2000" b="1" dirty="0" err="1">
                <a:solidFill>
                  <a:srgbClr val="FF0000"/>
                </a:solidFill>
                <a:latin typeface="Times New Roman" panose="02020603050405020304" pitchFamily="18" charset="0"/>
                <a:cs typeface="Times New Roman" panose="02020603050405020304" pitchFamily="18" charset="0"/>
              </a:rPr>
              <a:t>this</a:t>
            </a:r>
            <a:r>
              <a:rPr lang="tr-TR" sz="2000" b="1" dirty="0">
                <a:solidFill>
                  <a:srgbClr val="FF0000"/>
                </a:solidFill>
                <a:latin typeface="Times New Roman" panose="02020603050405020304" pitchFamily="18" charset="0"/>
                <a:cs typeface="Times New Roman" panose="02020603050405020304" pitchFamily="18" charset="0"/>
              </a:rPr>
              <a:t> </a:t>
            </a:r>
            <a:r>
              <a:rPr lang="tr-TR" dirty="0">
                <a:solidFill>
                  <a:schemeClr val="bg1"/>
                </a:solidFill>
                <a:latin typeface="Times New Roman" panose="02020603050405020304" pitchFamily="18" charset="0"/>
                <a:cs typeface="Times New Roman" panose="02020603050405020304" pitchFamily="18" charset="0"/>
              </a:rPr>
              <a:t>işaretçisi</a:t>
            </a:r>
            <a:endParaRPr lang="tr-TR" dirty="0">
              <a:solidFill>
                <a:schemeClr val="bg1"/>
              </a:solidFill>
            </a:endParaRPr>
          </a:p>
        </p:txBody>
      </p:sp>
      <p:pic>
        <p:nvPicPr>
          <p:cNvPr id="14" name="Resim 13">
            <a:extLst>
              <a:ext uri="{FF2B5EF4-FFF2-40B4-BE49-F238E27FC236}">
                <a16:creationId xmlns:a16="http://schemas.microsoft.com/office/drawing/2014/main" id="{CFEE3B98-BDF7-4693-820B-A38BA2668CAA}"/>
              </a:ext>
            </a:extLst>
          </p:cNvPr>
          <p:cNvPicPr>
            <a:picLocks noChangeAspect="1"/>
          </p:cNvPicPr>
          <p:nvPr/>
        </p:nvPicPr>
        <p:blipFill>
          <a:blip r:embed="rId2"/>
          <a:stretch>
            <a:fillRect/>
          </a:stretch>
        </p:blipFill>
        <p:spPr>
          <a:xfrm>
            <a:off x="223023" y="1855054"/>
            <a:ext cx="3152611" cy="4377966"/>
          </a:xfrm>
          <a:prstGeom prst="rect">
            <a:avLst/>
          </a:prstGeom>
        </p:spPr>
      </p:pic>
    </p:spTree>
    <p:extLst>
      <p:ext uri="{BB962C8B-B14F-4D97-AF65-F5344CB8AC3E}">
        <p14:creationId xmlns:p14="http://schemas.microsoft.com/office/powerpoint/2010/main" val="117258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FF0000"/>
                </a:solidFill>
                <a:latin typeface="Times New Roman" panose="02020603050405020304" pitchFamily="18" charset="0"/>
                <a:cs typeface="Times New Roman" panose="02020603050405020304" pitchFamily="18" charset="0"/>
              </a:rPr>
              <a:t>this</a:t>
            </a:r>
            <a:r>
              <a:rPr lang="tr-TR" sz="2000" b="1" dirty="0">
                <a:solidFill>
                  <a:srgbClr val="444444"/>
                </a:solidFill>
                <a:latin typeface="Times New Roman" panose="02020603050405020304" pitchFamily="18" charset="0"/>
                <a:cs typeface="Times New Roman" panose="02020603050405020304" pitchFamily="18" charset="0"/>
              </a:rPr>
              <a:t> Gizli İşaretçisi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8388" y="624980"/>
            <a:ext cx="12108109"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sz="1600" dirty="0" err="1">
                <a:solidFill>
                  <a:srgbClr val="0070C0"/>
                </a:solidFill>
                <a:latin typeface="Consolas" panose="020B0609020204030204" pitchFamily="49" charset="0"/>
                <a:cs typeface="Times New Roman" panose="02020603050405020304" pitchFamily="18" charset="0"/>
              </a:rPr>
              <a:t>myNum.setNum</a:t>
            </a:r>
            <a:r>
              <a:rPr lang="tr-TR" sz="1600" dirty="0">
                <a:solidFill>
                  <a:srgbClr val="0070C0"/>
                </a:solidFill>
                <a:latin typeface="Consolas" panose="020B0609020204030204" pitchFamily="49" charset="0"/>
                <a:cs typeface="Times New Roman" panose="02020603050405020304" pitchFamily="18" charset="0"/>
              </a:rPr>
              <a:t>(2); </a:t>
            </a:r>
            <a:r>
              <a:rPr lang="tr-TR" sz="1600" dirty="0">
                <a:solidFill>
                  <a:srgbClr val="444444"/>
                </a:solidFill>
                <a:latin typeface="Times New Roman" panose="02020603050405020304" pitchFamily="18" charset="0"/>
                <a:cs typeface="Times New Roman" panose="02020603050405020304" pitchFamily="18" charset="0"/>
              </a:rPr>
              <a:t>satırına bakalım:</a:t>
            </a:r>
          </a:p>
          <a:p>
            <a:pPr marL="201168" lvl="1" indent="0" algn="just">
              <a:lnSpc>
                <a:spcPct val="125000"/>
              </a:lnSpc>
              <a:buNone/>
            </a:pPr>
            <a:r>
              <a:rPr lang="tr-TR" sz="1600" dirty="0" err="1">
                <a:solidFill>
                  <a:srgbClr val="444444"/>
                </a:solidFill>
                <a:latin typeface="Times New Roman" panose="02020603050405020304" pitchFamily="18" charset="0"/>
                <a:cs typeface="Times New Roman" panose="02020603050405020304" pitchFamily="18" charset="0"/>
              </a:rPr>
              <a:t>setNum</a:t>
            </a:r>
            <a:r>
              <a:rPr lang="tr-TR" sz="1600" dirty="0">
                <a:solidFill>
                  <a:srgbClr val="444444"/>
                </a:solidFill>
                <a:latin typeface="Times New Roman" panose="02020603050405020304" pitchFamily="18" charset="0"/>
                <a:cs typeface="Times New Roman" panose="02020603050405020304" pitchFamily="18" charset="0"/>
              </a:rPr>
              <a:t>() fonksiyonuna yapılan çağrı sadece bir parametreye sahip gibi görünse de, aslında iki parametreye sahiptir. </a:t>
            </a:r>
          </a:p>
          <a:p>
            <a:pPr marL="201168" lvl="1" indent="0" algn="just">
              <a:lnSpc>
                <a:spcPct val="125000"/>
              </a:lnSpc>
              <a:buNone/>
            </a:pPr>
            <a:r>
              <a:rPr lang="tr-TR" sz="1600" dirty="0">
                <a:solidFill>
                  <a:srgbClr val="444444"/>
                </a:solidFill>
                <a:latin typeface="Times New Roman" panose="02020603050405020304" pitchFamily="18" charset="0"/>
                <a:cs typeface="Times New Roman" panose="02020603050405020304" pitchFamily="18" charset="0"/>
              </a:rPr>
              <a:t>Derleyici, kod derlendiğinde </a:t>
            </a:r>
            <a:r>
              <a:rPr lang="tr-TR" sz="1600" dirty="0" err="1">
                <a:solidFill>
                  <a:srgbClr val="0070C0"/>
                </a:solidFill>
                <a:latin typeface="Consolas" panose="020B0609020204030204" pitchFamily="49" charset="0"/>
                <a:cs typeface="Times New Roman" panose="02020603050405020304" pitchFamily="18" charset="0"/>
              </a:rPr>
              <a:t>myNum.setNum</a:t>
            </a:r>
            <a:r>
              <a:rPr lang="tr-TR" sz="1600" dirty="0">
                <a:solidFill>
                  <a:srgbClr val="0070C0"/>
                </a:solidFill>
                <a:latin typeface="Consolas" panose="020B0609020204030204" pitchFamily="49" charset="0"/>
                <a:cs typeface="Times New Roman" panose="02020603050405020304" pitchFamily="18" charset="0"/>
              </a:rPr>
              <a:t>(2); </a:t>
            </a:r>
            <a:r>
              <a:rPr lang="tr-TR" sz="1600" dirty="0">
                <a:solidFill>
                  <a:srgbClr val="444444"/>
                </a:solidFill>
                <a:latin typeface="Times New Roman" panose="02020603050405020304" pitchFamily="18" charset="0"/>
                <a:cs typeface="Times New Roman" panose="02020603050405020304" pitchFamily="18" charset="0"/>
              </a:rPr>
              <a:t>satırını aşağıdaki yapıya dönüştürür:</a:t>
            </a:r>
          </a:p>
          <a:p>
            <a:pPr marL="201168" lvl="1" indent="0" algn="just">
              <a:lnSpc>
                <a:spcPct val="125000"/>
              </a:lnSpc>
              <a:buNone/>
            </a:pPr>
            <a:r>
              <a:rPr lang="en-US" sz="1600" dirty="0">
                <a:solidFill>
                  <a:srgbClr val="7030A0"/>
                </a:solidFill>
                <a:latin typeface="Consolas" panose="020B0609020204030204" pitchFamily="49" charset="0"/>
                <a:cs typeface="Times New Roman" panose="02020603050405020304" pitchFamily="18" charset="0"/>
              </a:rPr>
              <a:t>set</a:t>
            </a:r>
            <a:r>
              <a:rPr lang="tr-TR" sz="1600" dirty="0" err="1">
                <a:solidFill>
                  <a:srgbClr val="7030A0"/>
                </a:solidFill>
                <a:latin typeface="Consolas" panose="020B0609020204030204" pitchFamily="49" charset="0"/>
                <a:cs typeface="Times New Roman" panose="02020603050405020304" pitchFamily="18" charset="0"/>
              </a:rPr>
              <a:t>Num</a:t>
            </a:r>
            <a:r>
              <a:rPr lang="en-US" sz="1600" dirty="0">
                <a:solidFill>
                  <a:srgbClr val="7030A0"/>
                </a:solidFill>
                <a:latin typeface="Consolas" panose="020B0609020204030204" pitchFamily="49" charset="0"/>
                <a:cs typeface="Times New Roman" panose="02020603050405020304" pitchFamily="18" charset="0"/>
              </a:rPr>
              <a:t>(&amp;</a:t>
            </a:r>
            <a:r>
              <a:rPr lang="tr-TR" sz="1600" dirty="0" err="1">
                <a:solidFill>
                  <a:srgbClr val="7030A0"/>
                </a:solidFill>
                <a:latin typeface="Consolas" panose="020B0609020204030204" pitchFamily="49" charset="0"/>
                <a:cs typeface="Times New Roman" panose="02020603050405020304" pitchFamily="18" charset="0"/>
              </a:rPr>
              <a:t>myNum</a:t>
            </a:r>
            <a:r>
              <a:rPr lang="en-US" sz="1600" dirty="0">
                <a:solidFill>
                  <a:srgbClr val="7030A0"/>
                </a:solidFill>
                <a:latin typeface="Consolas" panose="020B0609020204030204" pitchFamily="49" charset="0"/>
                <a:cs typeface="Times New Roman" panose="02020603050405020304" pitchFamily="18" charset="0"/>
              </a:rPr>
              <a:t>, 2); </a:t>
            </a:r>
            <a:r>
              <a:rPr lang="en-US" sz="1600" dirty="0">
                <a:solidFill>
                  <a:srgbClr val="444444"/>
                </a:solidFill>
                <a:latin typeface="Times New Roman" panose="02020603050405020304" pitchFamily="18" charset="0"/>
                <a:cs typeface="Times New Roman" panose="02020603050405020304" pitchFamily="18" charset="0"/>
              </a:rPr>
              <a:t>// </a:t>
            </a:r>
            <a:r>
              <a:rPr lang="tr-TR" sz="1600" dirty="0" err="1">
                <a:solidFill>
                  <a:srgbClr val="444444"/>
                </a:solidFill>
                <a:latin typeface="Consolas" panose="020B0609020204030204" pitchFamily="49" charset="0"/>
                <a:cs typeface="Times New Roman" panose="02020603050405020304" pitchFamily="18" charset="0"/>
              </a:rPr>
              <a:t>myNum</a:t>
            </a:r>
            <a:r>
              <a:rPr lang="tr-TR" sz="1600" dirty="0">
                <a:solidFill>
                  <a:srgbClr val="444444"/>
                </a:solidFill>
                <a:latin typeface="Consolas" panose="020B0609020204030204" pitchFamily="49" charset="0"/>
                <a:cs typeface="Times New Roman" panose="02020603050405020304" pitchFamily="18" charset="0"/>
              </a:rPr>
              <a:t> nesne önekinden, bağımsız bir fonksiyon değişkenine dönüştü</a:t>
            </a:r>
            <a:r>
              <a:rPr lang="tr-TR" sz="1600" dirty="0">
                <a:solidFill>
                  <a:srgbClr val="444444"/>
                </a:solidFill>
                <a:latin typeface="Times New Roman" panose="02020603050405020304" pitchFamily="18" charset="0"/>
                <a:cs typeface="Times New Roman" panose="02020603050405020304" pitchFamily="18" charset="0"/>
              </a:rPr>
              <a:t>. </a:t>
            </a:r>
          </a:p>
          <a:p>
            <a:pPr marL="201168" lvl="1" indent="0" algn="just">
              <a:lnSpc>
                <a:spcPct val="125000"/>
              </a:lnSpc>
              <a:buNone/>
            </a:pPr>
            <a:endParaRPr lang="tr-TR" sz="1600"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r>
              <a:rPr lang="tr-TR" sz="1600" dirty="0">
                <a:solidFill>
                  <a:srgbClr val="444444"/>
                </a:solidFill>
                <a:latin typeface="Times New Roman" panose="02020603050405020304" pitchFamily="18" charset="0"/>
                <a:cs typeface="Times New Roman" panose="02020603050405020304" pitchFamily="18" charset="0"/>
              </a:rPr>
              <a:t>Bu işlemin artık sadece standart bir fonksiyon çağrısı olduğunu ve </a:t>
            </a:r>
            <a:r>
              <a:rPr lang="tr-TR" sz="1600" dirty="0" err="1">
                <a:solidFill>
                  <a:srgbClr val="444444"/>
                </a:solidFill>
                <a:latin typeface="Times New Roman" panose="02020603050405020304" pitchFamily="18" charset="0"/>
                <a:cs typeface="Times New Roman" panose="02020603050405020304" pitchFamily="18" charset="0"/>
              </a:rPr>
              <a:t>myNum</a:t>
            </a:r>
            <a:r>
              <a:rPr lang="tr-TR" sz="1600" dirty="0">
                <a:solidFill>
                  <a:srgbClr val="444444"/>
                </a:solidFill>
                <a:latin typeface="Times New Roman" panose="02020603050405020304" pitchFamily="18" charset="0"/>
                <a:cs typeface="Times New Roman" panose="02020603050405020304" pitchFamily="18" charset="0"/>
              </a:rPr>
              <a:t> nesnesinin artık fonksiyona bir argüman olarak adres yoluyla iletildiğini görüyoruz. </a:t>
            </a:r>
          </a:p>
          <a:p>
            <a:pPr marL="201168" lvl="1" indent="0" algn="just">
              <a:lnSpc>
                <a:spcPct val="125000"/>
              </a:lnSpc>
              <a:buNone/>
            </a:pPr>
            <a:r>
              <a:rPr lang="tr-TR" sz="1600" dirty="0">
                <a:solidFill>
                  <a:srgbClr val="444444"/>
                </a:solidFill>
                <a:latin typeface="Times New Roman" panose="02020603050405020304" pitchFamily="18" charset="0"/>
                <a:cs typeface="Times New Roman" panose="02020603050405020304" pitchFamily="18" charset="0"/>
              </a:rPr>
              <a:t>Ama bu, cevabın sadece bir kısmını ifade eder. Fonksiyon çağrısının artık ek bir bağımsız değişkeni olduğundan, üye fonksiyon tanımının bu bağımsız değişkeni bir parametre olarak kabul etmesi (ve kullanması) için değiştirilmesi gerekir. Sonuç olarak, aşağıdaki üye fonksiyonu:</a:t>
            </a:r>
          </a:p>
          <a:p>
            <a:pPr marL="201168" lvl="1" indent="0" algn="just">
              <a:lnSpc>
                <a:spcPct val="125000"/>
              </a:lnSpc>
              <a:buNone/>
            </a:pPr>
            <a:r>
              <a:rPr lang="tr-TR" sz="1600" dirty="0" err="1">
                <a:solidFill>
                  <a:srgbClr val="0070C0"/>
                </a:solidFill>
                <a:latin typeface="Consolas" panose="020B0609020204030204" pitchFamily="49" charset="0"/>
                <a:cs typeface="Times New Roman" panose="02020603050405020304" pitchFamily="18" charset="0"/>
              </a:rPr>
              <a:t>void</a:t>
            </a:r>
            <a:r>
              <a:rPr lang="tr-TR" sz="1600" dirty="0">
                <a:solidFill>
                  <a:srgbClr val="0070C0"/>
                </a:solidFill>
                <a:latin typeface="Consolas" panose="020B0609020204030204" pitchFamily="49" charset="0"/>
                <a:cs typeface="Times New Roman" panose="02020603050405020304" pitchFamily="18" charset="0"/>
              </a:rPr>
              <a:t> </a:t>
            </a:r>
            <a:r>
              <a:rPr lang="tr-TR" sz="1600" dirty="0" err="1">
                <a:solidFill>
                  <a:srgbClr val="0070C0"/>
                </a:solidFill>
                <a:latin typeface="Consolas" panose="020B0609020204030204" pitchFamily="49" charset="0"/>
                <a:cs typeface="Times New Roman" panose="02020603050405020304" pitchFamily="18" charset="0"/>
              </a:rPr>
              <a:t>setNum</a:t>
            </a:r>
            <a:r>
              <a:rPr lang="tr-TR" sz="1600" dirty="0">
                <a:solidFill>
                  <a:srgbClr val="0070C0"/>
                </a:solidFill>
                <a:latin typeface="Consolas" panose="020B0609020204030204" pitchFamily="49" charset="0"/>
                <a:cs typeface="Times New Roman" panose="02020603050405020304" pitchFamily="18" charset="0"/>
              </a:rPr>
              <a:t>(</a:t>
            </a:r>
            <a:r>
              <a:rPr lang="tr-TR" sz="1600" dirty="0" err="1">
                <a:solidFill>
                  <a:srgbClr val="0070C0"/>
                </a:solidFill>
                <a:latin typeface="Consolas" panose="020B0609020204030204" pitchFamily="49" charset="0"/>
                <a:cs typeface="Times New Roman" panose="02020603050405020304" pitchFamily="18" charset="0"/>
              </a:rPr>
              <a:t>int</a:t>
            </a:r>
            <a:r>
              <a:rPr lang="tr-TR" sz="1600" dirty="0">
                <a:solidFill>
                  <a:srgbClr val="0070C0"/>
                </a:solidFill>
                <a:latin typeface="Consolas" panose="020B0609020204030204" pitchFamily="49" charset="0"/>
                <a:cs typeface="Times New Roman" panose="02020603050405020304" pitchFamily="18" charset="0"/>
              </a:rPr>
              <a:t> x) { </a:t>
            </a:r>
            <a:r>
              <a:rPr lang="tr-TR" sz="1600" dirty="0" err="1">
                <a:solidFill>
                  <a:srgbClr val="0070C0"/>
                </a:solidFill>
                <a:latin typeface="Consolas" panose="020B0609020204030204" pitchFamily="49" charset="0"/>
                <a:cs typeface="Times New Roman" panose="02020603050405020304" pitchFamily="18" charset="0"/>
              </a:rPr>
              <a:t>num</a:t>
            </a:r>
            <a:r>
              <a:rPr lang="tr-TR" sz="1600" dirty="0">
                <a:solidFill>
                  <a:srgbClr val="0070C0"/>
                </a:solidFill>
                <a:latin typeface="Consolas" panose="020B0609020204030204" pitchFamily="49" charset="0"/>
                <a:cs typeface="Times New Roman" panose="02020603050405020304" pitchFamily="18" charset="0"/>
              </a:rPr>
              <a:t> = x; } </a:t>
            </a:r>
          </a:p>
          <a:p>
            <a:pPr marL="201168" lvl="1" indent="0" algn="just">
              <a:lnSpc>
                <a:spcPct val="125000"/>
              </a:lnSpc>
              <a:buNone/>
            </a:pPr>
            <a:r>
              <a:rPr lang="tr-TR" sz="1600" dirty="0">
                <a:solidFill>
                  <a:srgbClr val="444444"/>
                </a:solidFill>
                <a:latin typeface="Times New Roman" panose="02020603050405020304" pitchFamily="18" charset="0"/>
                <a:cs typeface="Times New Roman" panose="02020603050405020304" pitchFamily="18" charset="0"/>
              </a:rPr>
              <a:t>derleyici tarafından aşağıdaki ifadeye dönüşür:</a:t>
            </a:r>
          </a:p>
          <a:p>
            <a:pPr marL="201168" lvl="1" indent="0" algn="just">
              <a:lnSpc>
                <a:spcPct val="125000"/>
              </a:lnSpc>
              <a:buNone/>
            </a:pPr>
            <a:r>
              <a:rPr lang="en-US" sz="1600" b="0" i="0" dirty="0">
                <a:solidFill>
                  <a:srgbClr val="800080"/>
                </a:solidFill>
                <a:effectLst/>
                <a:latin typeface="Consolas" panose="020B0609020204030204" pitchFamily="49" charset="0"/>
              </a:rPr>
              <a:t>void</a:t>
            </a:r>
            <a:r>
              <a:rPr lang="en-US" sz="1600" b="0" i="0" dirty="0">
                <a:solidFill>
                  <a:srgbClr val="006FE0"/>
                </a:solidFill>
                <a:effectLst/>
                <a:latin typeface="Consolas" panose="020B0609020204030204" pitchFamily="49" charset="0"/>
              </a:rPr>
              <a:t> </a:t>
            </a:r>
            <a:r>
              <a:rPr lang="tr-TR" sz="1600" b="0" i="0" dirty="0" err="1">
                <a:solidFill>
                  <a:srgbClr val="004ED0"/>
                </a:solidFill>
                <a:effectLst/>
                <a:latin typeface="Consolas" panose="020B0609020204030204" pitchFamily="49" charset="0"/>
              </a:rPr>
              <a:t>setNum</a:t>
            </a:r>
            <a:r>
              <a:rPr lang="en-US" sz="1600" b="0" i="0" dirty="0">
                <a:solidFill>
                  <a:srgbClr val="333333"/>
                </a:solidFill>
                <a:effectLst/>
                <a:latin typeface="Consolas" panose="020B0609020204030204" pitchFamily="49" charset="0"/>
              </a:rPr>
              <a:t>(</a:t>
            </a:r>
            <a:r>
              <a:rPr lang="tr-TR" sz="1600" b="0" i="0" dirty="0" err="1">
                <a:solidFill>
                  <a:srgbClr val="002D7A"/>
                </a:solidFill>
                <a:effectLst/>
                <a:latin typeface="Consolas" panose="020B0609020204030204" pitchFamily="49" charset="0"/>
              </a:rPr>
              <a:t>myNum</a:t>
            </a:r>
            <a:r>
              <a:rPr lang="en-US" sz="1600" b="0" i="0" dirty="0">
                <a:solidFill>
                  <a:srgbClr val="006FE0"/>
                </a:solidFill>
                <a:effectLst/>
                <a:latin typeface="Consolas" panose="020B0609020204030204" pitchFamily="49" charset="0"/>
              </a:rPr>
              <a:t>* </a:t>
            </a:r>
            <a:r>
              <a:rPr lang="en-US" sz="1600" b="0" i="0" dirty="0">
                <a:solidFill>
                  <a:srgbClr val="800080"/>
                </a:solidFill>
                <a:effectLst/>
                <a:latin typeface="Consolas" panose="020B0609020204030204" pitchFamily="49" charset="0"/>
              </a:rPr>
              <a:t>const</a:t>
            </a:r>
            <a:r>
              <a:rPr lang="en-US" sz="1600" b="0" i="0" dirty="0">
                <a:solidFill>
                  <a:srgbClr val="006FE0"/>
                </a:solidFill>
                <a:effectLst/>
                <a:latin typeface="Consolas" panose="020B0609020204030204" pitchFamily="49" charset="0"/>
              </a:rPr>
              <a:t> </a:t>
            </a:r>
            <a:r>
              <a:rPr lang="en-US" sz="1600" b="0" i="0" dirty="0">
                <a:solidFill>
                  <a:srgbClr val="800080"/>
                </a:solidFill>
                <a:effectLst/>
                <a:latin typeface="Consolas" panose="020B0609020204030204" pitchFamily="49" charset="0"/>
              </a:rPr>
              <a:t>this</a:t>
            </a:r>
            <a:r>
              <a:rPr lang="en-US" sz="1600" b="0" i="0" dirty="0">
                <a:solidFill>
                  <a:srgbClr val="333333"/>
                </a:solidFill>
                <a:effectLst/>
                <a:latin typeface="Consolas" panose="020B0609020204030204" pitchFamily="49" charset="0"/>
              </a:rPr>
              <a:t>,</a:t>
            </a:r>
            <a:r>
              <a:rPr lang="en-US" sz="1600" b="0" i="0" dirty="0">
                <a:solidFill>
                  <a:srgbClr val="006FE0"/>
                </a:solidFill>
                <a:effectLst/>
                <a:latin typeface="Consolas" panose="020B0609020204030204" pitchFamily="49" charset="0"/>
              </a:rPr>
              <a:t> </a:t>
            </a:r>
            <a:r>
              <a:rPr lang="en-US" sz="1600" b="0" i="0" dirty="0">
                <a:solidFill>
                  <a:srgbClr val="800080"/>
                </a:solidFill>
                <a:effectLst/>
                <a:latin typeface="Consolas" panose="020B0609020204030204" pitchFamily="49" charset="0"/>
              </a:rPr>
              <a:t>int</a:t>
            </a:r>
            <a:r>
              <a:rPr lang="en-US" sz="1600" b="0" i="0" dirty="0">
                <a:solidFill>
                  <a:srgbClr val="006FE0"/>
                </a:solidFill>
                <a:effectLst/>
                <a:latin typeface="Consolas" panose="020B0609020204030204" pitchFamily="49" charset="0"/>
              </a:rPr>
              <a:t> </a:t>
            </a:r>
            <a:r>
              <a:rPr lang="tr-TR" sz="1600" b="0" i="0" dirty="0">
                <a:solidFill>
                  <a:srgbClr val="002D7A"/>
                </a:solidFill>
                <a:effectLst/>
                <a:latin typeface="Consolas" panose="020B0609020204030204" pitchFamily="49" charset="0"/>
              </a:rPr>
              <a:t>x</a:t>
            </a:r>
            <a:r>
              <a:rPr lang="en-US" sz="1600" b="0" i="0" dirty="0">
                <a:solidFill>
                  <a:srgbClr val="333333"/>
                </a:solidFill>
                <a:effectLst/>
                <a:latin typeface="Consolas" panose="020B0609020204030204" pitchFamily="49" charset="0"/>
              </a:rPr>
              <a:t>)</a:t>
            </a:r>
            <a:r>
              <a:rPr lang="en-US" sz="1600" b="0" i="0" dirty="0">
                <a:solidFill>
                  <a:srgbClr val="006FE0"/>
                </a:solidFill>
                <a:effectLst/>
                <a:latin typeface="Consolas" panose="020B0609020204030204" pitchFamily="49" charset="0"/>
              </a:rPr>
              <a:t> </a:t>
            </a:r>
            <a:r>
              <a:rPr lang="en-US" sz="1600" b="0" i="0" dirty="0">
                <a:solidFill>
                  <a:srgbClr val="333333"/>
                </a:solidFill>
                <a:effectLst/>
                <a:latin typeface="Consolas" panose="020B0609020204030204" pitchFamily="49" charset="0"/>
              </a:rPr>
              <a:t>{</a:t>
            </a:r>
            <a:r>
              <a:rPr lang="en-US" sz="1600" b="0" i="0" dirty="0">
                <a:solidFill>
                  <a:srgbClr val="006FE0"/>
                </a:solidFill>
                <a:effectLst/>
                <a:latin typeface="Consolas" panose="020B0609020204030204" pitchFamily="49" charset="0"/>
              </a:rPr>
              <a:t> </a:t>
            </a:r>
            <a:r>
              <a:rPr lang="en-US" sz="1600" b="0" i="0" dirty="0">
                <a:solidFill>
                  <a:srgbClr val="800080"/>
                </a:solidFill>
                <a:effectLst/>
                <a:latin typeface="Consolas" panose="020B0609020204030204" pitchFamily="49" charset="0"/>
              </a:rPr>
              <a:t>this</a:t>
            </a:r>
            <a:r>
              <a:rPr lang="en-US" sz="1600" b="0" i="0" dirty="0">
                <a:solidFill>
                  <a:srgbClr val="006FE0"/>
                </a:solidFill>
                <a:effectLst/>
                <a:latin typeface="Consolas" panose="020B0609020204030204" pitchFamily="49" charset="0"/>
              </a:rPr>
              <a:t>-&gt;</a:t>
            </a:r>
            <a:r>
              <a:rPr lang="tr-TR" sz="1600" b="0" i="0" dirty="0">
                <a:solidFill>
                  <a:srgbClr val="006FE0"/>
                </a:solidFill>
                <a:effectLst/>
                <a:latin typeface="Consolas" panose="020B0609020204030204" pitchFamily="49" charset="0"/>
              </a:rPr>
              <a:t> </a:t>
            </a:r>
            <a:r>
              <a:rPr lang="tr-TR" sz="1600" dirty="0" err="1">
                <a:solidFill>
                  <a:srgbClr val="002D7A"/>
                </a:solidFill>
                <a:latin typeface="Consolas" panose="020B0609020204030204" pitchFamily="49" charset="0"/>
              </a:rPr>
              <a:t>num</a:t>
            </a:r>
            <a:r>
              <a:rPr lang="en-US" sz="1600" b="0" i="0" dirty="0">
                <a:solidFill>
                  <a:srgbClr val="006FE0"/>
                </a:solidFill>
                <a:effectLst/>
                <a:latin typeface="Consolas" panose="020B0609020204030204" pitchFamily="49" charset="0"/>
              </a:rPr>
              <a:t> = </a:t>
            </a:r>
            <a:r>
              <a:rPr lang="tr-TR" sz="1600" b="0" i="0" dirty="0">
                <a:solidFill>
                  <a:srgbClr val="002D7A"/>
                </a:solidFill>
                <a:effectLst/>
                <a:latin typeface="Consolas" panose="020B0609020204030204" pitchFamily="49" charset="0"/>
              </a:rPr>
              <a:t>x</a:t>
            </a:r>
            <a:r>
              <a:rPr lang="en-US" sz="1600" b="0" i="0" dirty="0">
                <a:solidFill>
                  <a:srgbClr val="333333"/>
                </a:solidFill>
                <a:effectLst/>
                <a:latin typeface="Consolas" panose="020B0609020204030204" pitchFamily="49" charset="0"/>
              </a:rPr>
              <a:t>;</a:t>
            </a:r>
            <a:r>
              <a:rPr lang="en-US" sz="1600" b="0" i="0" dirty="0">
                <a:solidFill>
                  <a:srgbClr val="006FE0"/>
                </a:solidFill>
                <a:effectLst/>
                <a:latin typeface="Consolas" panose="020B0609020204030204" pitchFamily="49" charset="0"/>
              </a:rPr>
              <a:t> </a:t>
            </a:r>
            <a:r>
              <a:rPr lang="en-US" sz="1600" b="0" i="0" dirty="0">
                <a:solidFill>
                  <a:srgbClr val="333333"/>
                </a:solidFill>
                <a:effectLst/>
                <a:latin typeface="Consolas" panose="020B0609020204030204" pitchFamily="49" charset="0"/>
              </a:rPr>
              <a:t>}</a:t>
            </a:r>
            <a:endParaRPr lang="tr-TR" sz="1600" b="0" i="0" dirty="0">
              <a:solidFill>
                <a:srgbClr val="333333"/>
              </a:solidFill>
              <a:effectLst/>
              <a:latin typeface="Consolas" panose="020B0609020204030204" pitchFamily="49" charset="0"/>
            </a:endParaRPr>
          </a:p>
          <a:p>
            <a:pPr marL="201168" lvl="1" indent="0" algn="just">
              <a:lnSpc>
                <a:spcPct val="125000"/>
              </a:lnSpc>
              <a:buNone/>
            </a:pPr>
            <a:r>
              <a:rPr lang="tr-TR" sz="1600" dirty="0">
                <a:solidFill>
                  <a:srgbClr val="444444"/>
                </a:solidFill>
                <a:latin typeface="Times New Roman" panose="02020603050405020304" pitchFamily="18" charset="0"/>
                <a:cs typeface="Times New Roman" panose="02020603050405020304" pitchFamily="18" charset="0"/>
              </a:rPr>
              <a:t>Derleyici normal bir üye fonksiyonu derlediğinde, fonksiyona kapalı (</a:t>
            </a:r>
            <a:r>
              <a:rPr lang="tr-TR" sz="1600" dirty="0" err="1">
                <a:solidFill>
                  <a:srgbClr val="444444"/>
                </a:solidFill>
                <a:latin typeface="Times New Roman" panose="02020603050405020304" pitchFamily="18" charset="0"/>
                <a:cs typeface="Times New Roman" panose="02020603050405020304" pitchFamily="18" charset="0"/>
              </a:rPr>
              <a:t>implicitly</a:t>
            </a:r>
            <a:r>
              <a:rPr lang="tr-TR" sz="1600" dirty="0">
                <a:solidFill>
                  <a:srgbClr val="444444"/>
                </a:solidFill>
                <a:latin typeface="Times New Roman" panose="02020603050405020304" pitchFamily="18" charset="0"/>
                <a:cs typeface="Times New Roman" panose="02020603050405020304" pitchFamily="18" charset="0"/>
              </a:rPr>
              <a:t>) olarak "</a:t>
            </a:r>
            <a:r>
              <a:rPr lang="tr-TR" sz="1600" dirty="0" err="1">
                <a:solidFill>
                  <a:srgbClr val="444444"/>
                </a:solidFill>
                <a:latin typeface="Times New Roman" panose="02020603050405020304" pitchFamily="18" charset="0"/>
                <a:cs typeface="Times New Roman" panose="02020603050405020304" pitchFamily="18" charset="0"/>
              </a:rPr>
              <a:t>this</a:t>
            </a:r>
            <a:r>
              <a:rPr lang="tr-TR" sz="1600" dirty="0">
                <a:solidFill>
                  <a:srgbClr val="444444"/>
                </a:solidFill>
                <a:latin typeface="Times New Roman" panose="02020603050405020304" pitchFamily="18" charset="0"/>
                <a:cs typeface="Times New Roman" panose="02020603050405020304" pitchFamily="18" charset="0"/>
              </a:rPr>
              <a:t>" adlı yeni bir parametre ekler.</a:t>
            </a:r>
          </a:p>
          <a:p>
            <a:pPr marL="201168" lvl="1" indent="0" algn="just">
              <a:lnSpc>
                <a:spcPct val="125000"/>
              </a:lnSpc>
              <a:buNone/>
            </a:pPr>
            <a:endParaRPr lang="tr-TR" sz="1600" dirty="0">
              <a:solidFill>
                <a:srgbClr val="444444"/>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1300801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FF0000"/>
                </a:solidFill>
                <a:latin typeface="Times New Roman" panose="02020603050405020304" pitchFamily="18" charset="0"/>
                <a:cs typeface="Times New Roman" panose="02020603050405020304" pitchFamily="18" charset="0"/>
              </a:rPr>
              <a:t>this</a:t>
            </a:r>
            <a:r>
              <a:rPr lang="tr-TR" sz="2000" b="1" dirty="0">
                <a:solidFill>
                  <a:srgbClr val="444444"/>
                </a:solidFill>
                <a:latin typeface="Times New Roman" panose="02020603050405020304" pitchFamily="18" charset="0"/>
                <a:cs typeface="Times New Roman" panose="02020603050405020304" pitchFamily="18" charset="0"/>
              </a:rPr>
              <a:t> Gizli İşaretçisi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8388" y="624980"/>
            <a:ext cx="12108109"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Burada dikkat edilmesi gereken bir durum daha vardır. Üye fonksiyon içinde herhangi bir sınıf üyesinin (fonksiyon veya değişkenler) de üye fonksiyonun çağrıldığı nesneyi işaret etmeleri için güncellenmeleri gerekir. Bu, her birine</a:t>
            </a:r>
            <a:r>
              <a:rPr lang="tr-TR" b="1" dirty="0">
                <a:solidFill>
                  <a:srgbClr val="FF0000"/>
                </a:solidFill>
                <a:latin typeface="Times New Roman" panose="02020603050405020304" pitchFamily="18" charset="0"/>
                <a:cs typeface="Times New Roman" panose="02020603050405020304" pitchFamily="18" charset="0"/>
              </a:rPr>
              <a:t> </a:t>
            </a:r>
            <a:r>
              <a:rPr lang="tr-TR" b="1" dirty="0" err="1">
                <a:solidFill>
                  <a:srgbClr val="FF0000"/>
                </a:solidFill>
                <a:latin typeface="Consolas" panose="020B0609020204030204" pitchFamily="49" charset="0"/>
                <a:cs typeface="Times New Roman" panose="02020603050405020304" pitchFamily="18" charset="0"/>
              </a:rPr>
              <a:t>this</a:t>
            </a:r>
            <a:r>
              <a:rPr lang="tr-TR" b="1" dirty="0">
                <a:solidFill>
                  <a:srgbClr val="FF0000"/>
                </a:solidFill>
                <a:latin typeface="Consolas" panose="020B0609020204030204" pitchFamily="49" charset="0"/>
                <a:cs typeface="Times New Roman" panose="02020603050405020304" pitchFamily="18" charset="0"/>
              </a:rPr>
              <a:t>-&gt; </a:t>
            </a:r>
            <a:r>
              <a:rPr lang="tr-TR" dirty="0">
                <a:solidFill>
                  <a:srgbClr val="444444"/>
                </a:solidFill>
                <a:latin typeface="Times New Roman" panose="02020603050405020304" pitchFamily="18" charset="0"/>
                <a:cs typeface="Times New Roman" panose="02020603050405020304" pitchFamily="18" charset="0"/>
              </a:rPr>
              <a:t>öneki eklenerek kolaylıkla gerçekleştirilebilir. </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Yani, </a:t>
            </a:r>
            <a:r>
              <a:rPr lang="tr-TR" dirty="0" err="1">
                <a:solidFill>
                  <a:srgbClr val="444444"/>
                </a:solidFill>
                <a:latin typeface="Times New Roman" panose="02020603050405020304" pitchFamily="18" charset="0"/>
                <a:cs typeface="Times New Roman" panose="02020603050405020304" pitchFamily="18" charset="0"/>
              </a:rPr>
              <a:t>setNum</a:t>
            </a:r>
            <a:r>
              <a:rPr lang="tr-TR" dirty="0">
                <a:solidFill>
                  <a:srgbClr val="444444"/>
                </a:solidFill>
                <a:latin typeface="Times New Roman" panose="02020603050405020304" pitchFamily="18" charset="0"/>
                <a:cs typeface="Times New Roman" panose="02020603050405020304" pitchFamily="18" charset="0"/>
              </a:rPr>
              <a:t>() fonksiyonunun gövdesinde sınıf üye değişeni olarak bulunan </a:t>
            </a:r>
            <a:r>
              <a:rPr lang="tr-TR" dirty="0" err="1">
                <a:solidFill>
                  <a:srgbClr val="0070C0"/>
                </a:solidFill>
                <a:latin typeface="Consolas" panose="020B0609020204030204" pitchFamily="49" charset="0"/>
                <a:cs typeface="Times New Roman" panose="02020603050405020304" pitchFamily="18" charset="0"/>
              </a:rPr>
              <a:t>num</a:t>
            </a:r>
            <a:r>
              <a:rPr lang="tr-TR" dirty="0">
                <a:solidFill>
                  <a:srgbClr val="444444"/>
                </a:solidFill>
                <a:latin typeface="Times New Roman" panose="02020603050405020304" pitchFamily="18" charset="0"/>
                <a:cs typeface="Times New Roman" panose="02020603050405020304" pitchFamily="18" charset="0"/>
              </a:rPr>
              <a:t>, </a:t>
            </a:r>
            <a:r>
              <a:rPr lang="tr-TR" dirty="0" err="1">
                <a:solidFill>
                  <a:srgbClr val="FF0000"/>
                </a:solidFill>
                <a:latin typeface="Consolas" panose="020B0609020204030204" pitchFamily="49" charset="0"/>
                <a:cs typeface="Times New Roman" panose="02020603050405020304" pitchFamily="18" charset="0"/>
              </a:rPr>
              <a:t>this</a:t>
            </a:r>
            <a:r>
              <a:rPr lang="tr-TR" dirty="0">
                <a:solidFill>
                  <a:srgbClr val="FF0000"/>
                </a:solidFill>
                <a:latin typeface="Consolas" panose="020B0609020204030204" pitchFamily="49" charset="0"/>
                <a:cs typeface="Times New Roman" panose="02020603050405020304" pitchFamily="18" charset="0"/>
              </a:rPr>
              <a:t> -&gt; </a:t>
            </a:r>
            <a:r>
              <a:rPr lang="tr-TR" dirty="0" err="1">
                <a:solidFill>
                  <a:srgbClr val="FF0000"/>
                </a:solidFill>
                <a:latin typeface="Consolas" panose="020B0609020204030204" pitchFamily="49" charset="0"/>
                <a:cs typeface="Times New Roman" panose="02020603050405020304" pitchFamily="18" charset="0"/>
              </a:rPr>
              <a:t>num</a:t>
            </a:r>
            <a:r>
              <a:rPr lang="tr-TR" dirty="0" err="1">
                <a:solidFill>
                  <a:srgbClr val="444444"/>
                </a:solidFill>
                <a:latin typeface="Times New Roman" panose="02020603050405020304" pitchFamily="18" charset="0"/>
                <a:cs typeface="Times New Roman" panose="02020603050405020304" pitchFamily="18" charset="0"/>
              </a:rPr>
              <a:t>’a</a:t>
            </a:r>
            <a:r>
              <a:rPr lang="tr-TR" dirty="0">
                <a:solidFill>
                  <a:srgbClr val="444444"/>
                </a:solidFill>
                <a:latin typeface="Times New Roman" panose="02020603050405020304" pitchFamily="18" charset="0"/>
                <a:cs typeface="Times New Roman" panose="02020603050405020304" pitchFamily="18" charset="0"/>
              </a:rPr>
              <a:t> dönüştürülmüştür.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Böylece "</a:t>
            </a:r>
            <a:r>
              <a:rPr lang="tr-TR" dirty="0" err="1">
                <a:solidFill>
                  <a:srgbClr val="444444"/>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 </a:t>
            </a:r>
            <a:r>
              <a:rPr lang="tr-TR" dirty="0" err="1">
                <a:solidFill>
                  <a:srgbClr val="444444"/>
                </a:solidFill>
                <a:latin typeface="Times New Roman" panose="02020603050405020304" pitchFamily="18" charset="0"/>
                <a:cs typeface="Times New Roman" panose="02020603050405020304" pitchFamily="18" charset="0"/>
              </a:rPr>
              <a:t>myNum’ın</a:t>
            </a:r>
            <a:r>
              <a:rPr lang="tr-TR" dirty="0">
                <a:solidFill>
                  <a:srgbClr val="444444"/>
                </a:solidFill>
                <a:latin typeface="Times New Roman" panose="02020603050405020304" pitchFamily="18" charset="0"/>
                <a:cs typeface="Times New Roman" panose="02020603050405020304" pitchFamily="18" charset="0"/>
              </a:rPr>
              <a:t> adresini gösterdiğinde, </a:t>
            </a:r>
            <a:r>
              <a:rPr lang="tr-TR" dirty="0" err="1">
                <a:solidFill>
                  <a:srgbClr val="444444"/>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-&gt; </a:t>
            </a:r>
            <a:r>
              <a:rPr lang="tr-TR" dirty="0" err="1">
                <a:solidFill>
                  <a:srgbClr val="444444"/>
                </a:solidFill>
                <a:latin typeface="Times New Roman" panose="02020603050405020304" pitchFamily="18" charset="0"/>
                <a:cs typeface="Times New Roman" panose="02020603050405020304" pitchFamily="18" charset="0"/>
              </a:rPr>
              <a:t>num</a:t>
            </a:r>
            <a:r>
              <a:rPr lang="tr-TR" dirty="0">
                <a:solidFill>
                  <a:srgbClr val="444444"/>
                </a:solidFill>
                <a:latin typeface="Times New Roman" panose="02020603050405020304" pitchFamily="18" charset="0"/>
                <a:cs typeface="Times New Roman" panose="02020603050405020304" pitchFamily="18" charset="0"/>
              </a:rPr>
              <a:t>,  </a:t>
            </a:r>
            <a:r>
              <a:rPr lang="tr-TR" dirty="0" err="1">
                <a:solidFill>
                  <a:srgbClr val="444444"/>
                </a:solidFill>
                <a:latin typeface="Times New Roman" panose="02020603050405020304" pitchFamily="18" charset="0"/>
                <a:cs typeface="Times New Roman" panose="02020603050405020304" pitchFamily="18" charset="0"/>
              </a:rPr>
              <a:t>myNum.num</a:t>
            </a:r>
            <a:r>
              <a:rPr lang="tr-TR" dirty="0">
                <a:solidFill>
                  <a:srgbClr val="444444"/>
                </a:solidFill>
                <a:latin typeface="Times New Roman" panose="02020603050405020304" pitchFamily="18" charset="0"/>
                <a:cs typeface="Times New Roman" panose="02020603050405020304" pitchFamily="18" charset="0"/>
              </a:rPr>
              <a:t> olarak çözümlenecektir.</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028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FF0000"/>
                </a:solidFill>
                <a:latin typeface="Times New Roman" panose="02020603050405020304" pitchFamily="18" charset="0"/>
                <a:cs typeface="Times New Roman" panose="02020603050405020304" pitchFamily="18" charset="0"/>
              </a:rPr>
              <a:t>this</a:t>
            </a:r>
            <a:r>
              <a:rPr lang="tr-TR" sz="2000" b="1" dirty="0">
                <a:solidFill>
                  <a:srgbClr val="444444"/>
                </a:solidFill>
                <a:latin typeface="Times New Roman" panose="02020603050405020304" pitchFamily="18" charset="0"/>
                <a:cs typeface="Times New Roman" panose="02020603050405020304" pitchFamily="18" charset="0"/>
              </a:rPr>
              <a:t> Gizli İşaretçisi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8388" y="624980"/>
            <a:ext cx="12108109"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err="1">
                <a:solidFill>
                  <a:srgbClr val="444444"/>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 işaretçisi, geçerli nesnenin adresini tutar.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Basit bir deyişle, bu işaretçinin sınıfın geçerli nesnesini gösterdiğini söyleyebiliriz.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Bu kavramı bir örnek ile açıklayacak olursak; </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p:txBody>
      </p:sp>
      <p:pic>
        <p:nvPicPr>
          <p:cNvPr id="3" name="Resim 2">
            <a:extLst>
              <a:ext uri="{FF2B5EF4-FFF2-40B4-BE49-F238E27FC236}">
                <a16:creationId xmlns:a16="http://schemas.microsoft.com/office/drawing/2014/main" id="{A329C56D-2176-4F0A-8F6F-C808BEB6A0F0}"/>
              </a:ext>
            </a:extLst>
          </p:cNvPr>
          <p:cNvPicPr>
            <a:picLocks noChangeAspect="1"/>
          </p:cNvPicPr>
          <p:nvPr/>
        </p:nvPicPr>
        <p:blipFill>
          <a:blip r:embed="rId2"/>
          <a:stretch>
            <a:fillRect/>
          </a:stretch>
        </p:blipFill>
        <p:spPr>
          <a:xfrm>
            <a:off x="192155" y="1984025"/>
            <a:ext cx="3412436" cy="4611694"/>
          </a:xfrm>
          <a:prstGeom prst="rect">
            <a:avLst/>
          </a:prstGeom>
        </p:spPr>
      </p:pic>
      <p:sp>
        <p:nvSpPr>
          <p:cNvPr id="8" name="Metin kutusu 7">
            <a:extLst>
              <a:ext uri="{FF2B5EF4-FFF2-40B4-BE49-F238E27FC236}">
                <a16:creationId xmlns:a16="http://schemas.microsoft.com/office/drawing/2014/main" id="{9ACAC0AA-2604-4C59-B553-ED84E5814DAD}"/>
              </a:ext>
            </a:extLst>
          </p:cNvPr>
          <p:cNvSpPr txBox="1"/>
          <p:nvPr/>
        </p:nvSpPr>
        <p:spPr>
          <a:xfrm>
            <a:off x="3949148" y="1984025"/>
            <a:ext cx="8150572" cy="3176126"/>
          </a:xfrm>
          <a:prstGeom prst="rect">
            <a:avLst/>
          </a:prstGeom>
          <a:noFill/>
        </p:spPr>
        <p:txBody>
          <a:bodyPr wrap="square">
            <a:spAutoFit/>
          </a:bodyPr>
          <a:lstStyle/>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Burada iki üye değişkeni var: </a:t>
            </a:r>
            <a:r>
              <a:rPr lang="tr-TR" dirty="0" err="1">
                <a:solidFill>
                  <a:srgbClr val="444444"/>
                </a:solidFill>
                <a:latin typeface="Times New Roman" panose="02020603050405020304" pitchFamily="18" charset="0"/>
                <a:cs typeface="Times New Roman" panose="02020603050405020304" pitchFamily="18" charset="0"/>
              </a:rPr>
              <a:t>num</a:t>
            </a:r>
            <a:r>
              <a:rPr lang="tr-TR" dirty="0">
                <a:solidFill>
                  <a:srgbClr val="444444"/>
                </a:solidFill>
                <a:latin typeface="Times New Roman" panose="02020603050405020304" pitchFamily="18" charset="0"/>
                <a:cs typeface="Times New Roman" panose="02020603050405020304" pitchFamily="18" charset="0"/>
              </a:rPr>
              <a:t> ve </a:t>
            </a:r>
            <a:r>
              <a:rPr lang="tr-TR" dirty="0" err="1">
                <a:solidFill>
                  <a:srgbClr val="444444"/>
                </a:solidFill>
                <a:latin typeface="Times New Roman" panose="02020603050405020304" pitchFamily="18" charset="0"/>
                <a:cs typeface="Times New Roman" panose="02020603050405020304" pitchFamily="18" charset="0"/>
              </a:rPr>
              <a:t>ch</a:t>
            </a:r>
            <a:r>
              <a:rPr lang="tr-TR" dirty="0">
                <a:solidFill>
                  <a:srgbClr val="444444"/>
                </a:solidFill>
                <a:latin typeface="Times New Roman" panose="02020603050405020304" pitchFamily="18" charset="0"/>
                <a:cs typeface="Times New Roman" panose="02020603050405020304" pitchFamily="18" charset="0"/>
              </a:rPr>
              <a:t>. </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r>
              <a:rPr lang="tr-TR" dirty="0" err="1">
                <a:solidFill>
                  <a:srgbClr val="444444"/>
                </a:solidFill>
                <a:latin typeface="Times New Roman" panose="02020603050405020304" pitchFamily="18" charset="0"/>
                <a:cs typeface="Times New Roman" panose="02020603050405020304" pitchFamily="18" charset="0"/>
              </a:rPr>
              <a:t>setMyValues</a:t>
            </a:r>
            <a:r>
              <a:rPr lang="tr-TR" dirty="0">
                <a:solidFill>
                  <a:srgbClr val="444444"/>
                </a:solidFill>
                <a:latin typeface="Times New Roman" panose="02020603050405020304" pitchFamily="18" charset="0"/>
                <a:cs typeface="Times New Roman" panose="02020603050405020304" pitchFamily="18" charset="0"/>
              </a:rPr>
              <a:t>() üye fonksiyonunda, üye değişkenleri ile aynı ada sahip lokal değişkenler var. Böyle bir durumda, lokal değişken değerlerini üye değişkenlere atamak için </a:t>
            </a:r>
            <a:r>
              <a:rPr lang="tr-TR" b="1" dirty="0" err="1">
                <a:solidFill>
                  <a:srgbClr val="FF0000"/>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 </a:t>
            </a:r>
            <a:r>
              <a:rPr lang="tr-TR" dirty="0" err="1">
                <a:solidFill>
                  <a:srgbClr val="444444"/>
                </a:solidFill>
                <a:latin typeface="Times New Roman" panose="02020603050405020304" pitchFamily="18" charset="0"/>
                <a:cs typeface="Times New Roman" panose="02020603050405020304" pitchFamily="18" charset="0"/>
              </a:rPr>
              <a:t>pointer’ını</a:t>
            </a:r>
            <a:r>
              <a:rPr lang="tr-TR" dirty="0">
                <a:solidFill>
                  <a:srgbClr val="444444"/>
                </a:solidFill>
                <a:latin typeface="Times New Roman" panose="02020603050405020304" pitchFamily="18" charset="0"/>
                <a:cs typeface="Times New Roman" panose="02020603050405020304" pitchFamily="18" charset="0"/>
              </a:rPr>
              <a:t> kullanmak zorundayız. Çünkü, derleyici </a:t>
            </a:r>
            <a:r>
              <a:rPr lang="tr-TR" b="1" dirty="0" err="1">
                <a:solidFill>
                  <a:srgbClr val="FF0000"/>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 kullanmadığımız zaman nesnenin üye değişkenlerini işaret ettiğimizi bilmez. </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Bu işaretçinin kullanımı için verilen örneklerden birisi budur. </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6DE4A1B6-5B0C-4602-BF4A-C9AA0BC370F4}"/>
              </a:ext>
            </a:extLst>
          </p:cNvPr>
          <p:cNvSpPr>
            <a:spLocks noChangeArrowheads="1"/>
          </p:cNvSpPr>
          <p:nvPr/>
        </p:nvSpPr>
        <p:spPr bwMode="auto">
          <a:xfrm>
            <a:off x="2966055" y="2076304"/>
            <a:ext cx="540543" cy="646331"/>
          </a:xfrm>
          <a:prstGeom prst="rect">
            <a:avLst/>
          </a:prstGeom>
          <a:solidFill>
            <a:srgbClr val="EEEEEE"/>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chemeClr val="tx1">
                    <a:lumMod val="90000"/>
                    <a:lumOff val="10000"/>
                  </a:schemeClr>
                </a:solidFill>
                <a:effectLst/>
                <a:latin typeface="Times New Roman" panose="02020603050405020304" pitchFamily="18" charset="0"/>
                <a:cs typeface="Times New Roman" panose="02020603050405020304" pitchFamily="18" charset="0"/>
              </a:rPr>
              <a:t>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chemeClr val="tx1">
                    <a:lumMod val="90000"/>
                    <a:lumOff val="10000"/>
                  </a:schemeClr>
                </a:solidFill>
                <a:effectLst/>
                <a:latin typeface="Times New Roman" panose="02020603050405020304" pitchFamily="18" charset="0"/>
                <a:cs typeface="Times New Roman" panose="02020603050405020304" pitchFamily="18" charset="0"/>
              </a:rPr>
              <a:t>A </a:t>
            </a:r>
          </a:p>
        </p:txBody>
      </p:sp>
    </p:spTree>
    <p:extLst>
      <p:ext uri="{BB962C8B-B14F-4D97-AF65-F5344CB8AC3E}">
        <p14:creationId xmlns:p14="http://schemas.microsoft.com/office/powerpoint/2010/main" val="468263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FF0000"/>
                </a:solidFill>
                <a:latin typeface="Times New Roman" panose="02020603050405020304" pitchFamily="18" charset="0"/>
                <a:cs typeface="Times New Roman" panose="02020603050405020304" pitchFamily="18" charset="0"/>
              </a:rPr>
              <a:t>this</a:t>
            </a:r>
            <a:r>
              <a:rPr lang="tr-TR" sz="2000" b="1" dirty="0">
                <a:solidFill>
                  <a:srgbClr val="444444"/>
                </a:solidFill>
                <a:latin typeface="Times New Roman" panose="02020603050405020304" pitchFamily="18" charset="0"/>
                <a:cs typeface="Times New Roman" panose="02020603050405020304" pitchFamily="18" charset="0"/>
              </a:rPr>
              <a:t> Gizli İşaretçisi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8388" y="624980"/>
            <a:ext cx="12108109"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Fonksiyon zincirleme için </a:t>
            </a:r>
            <a:r>
              <a:rPr lang="tr-TR" b="1" dirty="0" err="1">
                <a:solidFill>
                  <a:srgbClr val="FF0000"/>
                </a:solidFill>
                <a:latin typeface="Times New Roman" panose="02020603050405020304" pitchFamily="18" charset="0"/>
                <a:cs typeface="Times New Roman" panose="02020603050405020304" pitchFamily="18" charset="0"/>
              </a:rPr>
              <a:t>this</a:t>
            </a:r>
            <a:r>
              <a:rPr lang="tr-TR" dirty="0">
                <a:solidFill>
                  <a:srgbClr val="444444"/>
                </a:solidFill>
                <a:latin typeface="Times New Roman" panose="02020603050405020304" pitchFamily="18" charset="0"/>
                <a:cs typeface="Times New Roman" panose="02020603050405020304" pitchFamily="18" charset="0"/>
              </a:rPr>
              <a:t> işaretçisi</a:t>
            </a:r>
          </a:p>
        </p:txBody>
      </p:sp>
      <p:pic>
        <p:nvPicPr>
          <p:cNvPr id="4" name="Resim 3">
            <a:extLst>
              <a:ext uri="{FF2B5EF4-FFF2-40B4-BE49-F238E27FC236}">
                <a16:creationId xmlns:a16="http://schemas.microsoft.com/office/drawing/2014/main" id="{15809948-729E-46AB-A3C6-82995154CFCA}"/>
              </a:ext>
            </a:extLst>
          </p:cNvPr>
          <p:cNvPicPr>
            <a:picLocks noChangeAspect="1"/>
          </p:cNvPicPr>
          <p:nvPr/>
        </p:nvPicPr>
        <p:blipFill>
          <a:blip r:embed="rId2"/>
          <a:stretch>
            <a:fillRect/>
          </a:stretch>
        </p:blipFill>
        <p:spPr>
          <a:xfrm>
            <a:off x="211548" y="1118538"/>
            <a:ext cx="2902712" cy="5691345"/>
          </a:xfrm>
          <a:prstGeom prst="rect">
            <a:avLst/>
          </a:prstGeom>
        </p:spPr>
      </p:pic>
      <p:sp>
        <p:nvSpPr>
          <p:cNvPr id="11" name="Metin kutusu 10">
            <a:extLst>
              <a:ext uri="{FF2B5EF4-FFF2-40B4-BE49-F238E27FC236}">
                <a16:creationId xmlns:a16="http://schemas.microsoft.com/office/drawing/2014/main" id="{D350422E-5AD5-44B0-A2FC-8EA4AC9BAD4A}"/>
              </a:ext>
            </a:extLst>
          </p:cNvPr>
          <p:cNvSpPr txBox="1"/>
          <p:nvPr/>
        </p:nvSpPr>
        <p:spPr>
          <a:xfrm>
            <a:off x="3334196" y="1118538"/>
            <a:ext cx="8857804" cy="2862322"/>
          </a:xfrm>
          <a:prstGeom prst="rect">
            <a:avLst/>
          </a:prstGeom>
          <a:noFill/>
        </p:spPr>
        <p:txBody>
          <a:bodyPr wrap="square">
            <a:spAutoFit/>
          </a:bodyPr>
          <a:lstStyle/>
          <a:p>
            <a:pPr algn="just"/>
            <a:r>
              <a:rPr lang="tr-TR" dirty="0">
                <a:latin typeface="Times New Roman" panose="02020603050405020304" pitchFamily="18" charset="0"/>
                <a:cs typeface="Times New Roman" panose="02020603050405020304" pitchFamily="18" charset="0"/>
              </a:rPr>
              <a:t>Bu işaretçiyi kullanmanın başka bir örneği, geçerli nesnenin referansını döndürmektir. Böylece fonksiyon çağrılarını zincirleyebilir, bu şekilde geçerli nesne için tüm fonksiyonları tek seferde çağırabiliriz.</a:t>
            </a:r>
          </a:p>
          <a:p>
            <a:pPr algn="just"/>
            <a:endParaRPr lang="tr-TR" dirty="0">
              <a:latin typeface="Times New Roman" panose="02020603050405020304" pitchFamily="18" charset="0"/>
              <a:cs typeface="Times New Roman" panose="02020603050405020304" pitchFamily="18" charset="0"/>
            </a:endParaRPr>
          </a:p>
          <a:p>
            <a:pPr algn="just"/>
            <a:r>
              <a:rPr lang="tr-TR" dirty="0">
                <a:latin typeface="Times New Roman" panose="02020603050405020304" pitchFamily="18" charset="0"/>
                <a:cs typeface="Times New Roman" panose="02020603050405020304" pitchFamily="18" charset="0"/>
              </a:rPr>
              <a:t>Bu programda dikkat edilmesi gereken bir diğer önemli nokta da ikinci fonksiyonda nesnenin </a:t>
            </a:r>
            <a:r>
              <a:rPr lang="tr-TR" i="1" dirty="0" err="1">
                <a:latin typeface="Times New Roman" panose="02020603050405020304" pitchFamily="18" charset="0"/>
                <a:cs typeface="Times New Roman" panose="02020603050405020304" pitchFamily="18" charset="0"/>
              </a:rPr>
              <a:t>num</a:t>
            </a:r>
            <a:r>
              <a:rPr lang="tr-TR" dirty="0">
                <a:latin typeface="Times New Roman" panose="02020603050405020304" pitchFamily="18" charset="0"/>
                <a:cs typeface="Times New Roman" panose="02020603050405020304" pitchFamily="18" charset="0"/>
              </a:rPr>
              <a:t> değerini artırmış olması. Çıktıda da ilk fonksiyon çağrısında belirlenen değeri gerçekten 1 artırdığını görebiliriz. </a:t>
            </a:r>
          </a:p>
          <a:p>
            <a:pPr algn="just"/>
            <a:endParaRPr lang="tr-TR" dirty="0">
              <a:latin typeface="Times New Roman" panose="02020603050405020304" pitchFamily="18" charset="0"/>
              <a:cs typeface="Times New Roman" panose="02020603050405020304" pitchFamily="18" charset="0"/>
            </a:endParaRPr>
          </a:p>
          <a:p>
            <a:pPr algn="just"/>
            <a:r>
              <a:rPr lang="tr-TR" dirty="0">
                <a:latin typeface="Times New Roman" panose="02020603050405020304" pitchFamily="18" charset="0"/>
                <a:cs typeface="Times New Roman" panose="02020603050405020304" pitchFamily="18" charset="0"/>
              </a:rPr>
              <a:t>Bu durum, zincirlemenin sıralı olduğunu ve nesnenin üye değişkenlerinde yapılan değişikliklerin diğer zincirleme çağrıları için saklandığını gösterir.</a:t>
            </a:r>
          </a:p>
        </p:txBody>
      </p:sp>
      <p:sp>
        <p:nvSpPr>
          <p:cNvPr id="6" name="Rectangle 1">
            <a:extLst>
              <a:ext uri="{FF2B5EF4-FFF2-40B4-BE49-F238E27FC236}">
                <a16:creationId xmlns:a16="http://schemas.microsoft.com/office/drawing/2014/main" id="{DCB1CA3E-10D6-4E51-BD96-6348DD6E4C89}"/>
              </a:ext>
            </a:extLst>
          </p:cNvPr>
          <p:cNvSpPr>
            <a:spLocks noChangeArrowheads="1"/>
          </p:cNvSpPr>
          <p:nvPr/>
        </p:nvSpPr>
        <p:spPr bwMode="auto">
          <a:xfrm>
            <a:off x="2283385" y="1249960"/>
            <a:ext cx="755374" cy="64633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chemeClr val="tx1">
                    <a:lumMod val="90000"/>
                    <a:lumOff val="10000"/>
                  </a:schemeClr>
                </a:solidFill>
                <a:effectLst/>
                <a:latin typeface="Consolas" panose="020B0609020204030204" pitchFamily="49" charset="0"/>
              </a:rPr>
              <a:t>101 A</a:t>
            </a:r>
            <a:r>
              <a:rPr kumimoji="0" lang="tr-TR" altLang="tr-TR" b="0" i="0" u="none" strike="noStrike" cap="none" normalizeH="0" baseline="0" dirty="0">
                <a:ln>
                  <a:noFill/>
                </a:ln>
                <a:solidFill>
                  <a:schemeClr val="tx1">
                    <a:lumMod val="90000"/>
                    <a:lumOff val="10000"/>
                  </a:schemeClr>
                </a:solidFill>
                <a:effectLst/>
              </a:rPr>
              <a:t> </a:t>
            </a:r>
            <a:endParaRPr kumimoji="0" lang="tr-TR" altLang="tr-TR" b="0" i="0" u="none" strike="noStrike" cap="none" normalizeH="0" baseline="0" dirty="0">
              <a:ln>
                <a:noFill/>
              </a:ln>
              <a:solidFill>
                <a:schemeClr val="tx1">
                  <a:lumMod val="90000"/>
                  <a:lumOff val="10000"/>
                </a:schemeClr>
              </a:solidFill>
              <a:effectLst/>
              <a:latin typeface="Arial" panose="020B0604020202020204" pitchFamily="34" charset="0"/>
            </a:endParaRPr>
          </a:p>
        </p:txBody>
      </p:sp>
    </p:spTree>
    <p:extLst>
      <p:ext uri="{BB962C8B-B14F-4D97-AF65-F5344CB8AC3E}">
        <p14:creationId xmlns:p14="http://schemas.microsoft.com/office/powerpoint/2010/main" val="486119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Dinamik Bellek Yönetimi: </a:t>
            </a:r>
            <a:r>
              <a:rPr lang="tr-TR" sz="2000" b="1" i="1" dirty="0" err="1">
                <a:solidFill>
                  <a:srgbClr val="7030A0"/>
                </a:solidFill>
                <a:latin typeface="Times New Roman" panose="02020603050405020304" pitchFamily="18" charset="0"/>
                <a:cs typeface="Times New Roman" panose="02020603050405020304" pitchFamily="18" charset="0"/>
              </a:rPr>
              <a:t>new</a:t>
            </a:r>
            <a:r>
              <a:rPr lang="tr-TR" sz="2000" b="1" dirty="0">
                <a:solidFill>
                  <a:srgbClr val="444444"/>
                </a:solidFill>
                <a:latin typeface="Times New Roman" panose="02020603050405020304" pitchFamily="18" charset="0"/>
                <a:cs typeface="Times New Roman" panose="02020603050405020304" pitchFamily="18" charset="0"/>
              </a:rPr>
              <a:t> ve </a:t>
            </a:r>
            <a:r>
              <a:rPr lang="tr-TR" sz="2000" b="1" i="1" dirty="0" err="1">
                <a:solidFill>
                  <a:srgbClr val="7030A0"/>
                </a:solidFill>
                <a:latin typeface="Times New Roman" panose="02020603050405020304" pitchFamily="18" charset="0"/>
                <a:cs typeface="Times New Roman" panose="02020603050405020304" pitchFamily="18" charset="0"/>
              </a:rPr>
              <a:t>delete</a:t>
            </a:r>
            <a:r>
              <a:rPr lang="tr-TR" sz="2000" b="1" dirty="0">
                <a:solidFill>
                  <a:srgbClr val="444444"/>
                </a:solidFill>
                <a:latin typeface="Times New Roman" panose="02020603050405020304" pitchFamily="18" charset="0"/>
                <a:cs typeface="Times New Roman" panose="02020603050405020304" pitchFamily="18" charset="0"/>
              </a:rPr>
              <a:t> operatörleri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99722"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Şu ana kadar yaptığımız örneklerde kullandığımız değişkenler sayıca az ve küçük boyutlardaydı.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Ancak gerçek projelerimizde veya daha ileri konulara giriş yaptığımızda belleği etkin kullanmak gerekli olacaktır.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Bunun için de </a:t>
            </a:r>
            <a:r>
              <a:rPr lang="tr-TR" b="1" i="1" dirty="0" err="1">
                <a:solidFill>
                  <a:srgbClr val="7030A0"/>
                </a:solidFill>
                <a:latin typeface="Times New Roman" panose="02020603050405020304" pitchFamily="18" charset="0"/>
                <a:cs typeface="Times New Roman" panose="02020603050405020304" pitchFamily="18" charset="0"/>
              </a:rPr>
              <a:t>new</a:t>
            </a:r>
            <a:r>
              <a:rPr lang="tr-TR" dirty="0">
                <a:solidFill>
                  <a:srgbClr val="444444"/>
                </a:solidFill>
                <a:latin typeface="Times New Roman" panose="02020603050405020304" pitchFamily="18" charset="0"/>
                <a:cs typeface="Times New Roman" panose="02020603050405020304" pitchFamily="18" charset="0"/>
              </a:rPr>
              <a:t> ve </a:t>
            </a:r>
            <a:r>
              <a:rPr lang="tr-TR" b="1" i="1" dirty="0" err="1">
                <a:solidFill>
                  <a:srgbClr val="7030A0"/>
                </a:solidFill>
                <a:latin typeface="Times New Roman" panose="02020603050405020304" pitchFamily="18" charset="0"/>
                <a:cs typeface="Times New Roman" panose="02020603050405020304" pitchFamily="18" charset="0"/>
              </a:rPr>
              <a:t>delete</a:t>
            </a:r>
            <a:r>
              <a:rPr lang="tr-TR" dirty="0">
                <a:solidFill>
                  <a:srgbClr val="444444"/>
                </a:solidFill>
                <a:latin typeface="Times New Roman" panose="02020603050405020304" pitchFamily="18" charset="0"/>
                <a:cs typeface="Times New Roman" panose="02020603050405020304" pitchFamily="18" charset="0"/>
              </a:rPr>
              <a:t> operatörleri kullanılmaktadır. </a:t>
            </a: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C dilinde gördüğümüz </a:t>
            </a:r>
            <a:r>
              <a:rPr lang="tr-TR" b="1" dirty="0" err="1">
                <a:solidFill>
                  <a:srgbClr val="FF6600"/>
                </a:solidFill>
                <a:latin typeface="Times New Roman" panose="02020603050405020304" pitchFamily="18" charset="0"/>
                <a:cs typeface="Times New Roman" panose="02020603050405020304" pitchFamily="18" charset="0"/>
              </a:rPr>
              <a:t>malloc</a:t>
            </a:r>
            <a:r>
              <a:rPr lang="tr-TR" dirty="0">
                <a:solidFill>
                  <a:srgbClr val="444444"/>
                </a:solidFill>
                <a:latin typeface="Times New Roman" panose="02020603050405020304" pitchFamily="18" charset="0"/>
                <a:cs typeface="Times New Roman" panose="02020603050405020304" pitchFamily="18" charset="0"/>
              </a:rPr>
              <a:t>, </a:t>
            </a:r>
            <a:r>
              <a:rPr lang="tr-TR" b="1" dirty="0" err="1">
                <a:solidFill>
                  <a:srgbClr val="FF6600"/>
                </a:solidFill>
                <a:latin typeface="Times New Roman" panose="02020603050405020304" pitchFamily="18" charset="0"/>
                <a:cs typeface="Times New Roman" panose="02020603050405020304" pitchFamily="18" charset="0"/>
              </a:rPr>
              <a:t>calloc</a:t>
            </a:r>
            <a:r>
              <a:rPr lang="tr-TR" dirty="0">
                <a:solidFill>
                  <a:srgbClr val="444444"/>
                </a:solidFill>
                <a:latin typeface="Times New Roman" panose="02020603050405020304" pitchFamily="18" charset="0"/>
                <a:cs typeface="Times New Roman" panose="02020603050405020304" pitchFamily="18" charset="0"/>
              </a:rPr>
              <a:t>, </a:t>
            </a:r>
            <a:r>
              <a:rPr lang="tr-TR" b="1" dirty="0" err="1">
                <a:solidFill>
                  <a:srgbClr val="FF6600"/>
                </a:solidFill>
                <a:latin typeface="Times New Roman" panose="02020603050405020304" pitchFamily="18" charset="0"/>
                <a:cs typeface="Times New Roman" panose="02020603050405020304" pitchFamily="18" charset="0"/>
              </a:rPr>
              <a:t>realloc</a:t>
            </a:r>
            <a:r>
              <a:rPr lang="tr-TR" dirty="0">
                <a:solidFill>
                  <a:srgbClr val="444444"/>
                </a:solidFill>
                <a:latin typeface="Times New Roman" panose="02020603050405020304" pitchFamily="18" charset="0"/>
                <a:cs typeface="Times New Roman" panose="02020603050405020304" pitchFamily="18" charset="0"/>
              </a:rPr>
              <a:t> ve </a:t>
            </a:r>
            <a:r>
              <a:rPr lang="tr-TR" b="1" dirty="0" err="1">
                <a:solidFill>
                  <a:srgbClr val="FF6600"/>
                </a:solidFill>
                <a:latin typeface="Times New Roman" panose="02020603050405020304" pitchFamily="18" charset="0"/>
                <a:cs typeface="Times New Roman" panose="02020603050405020304" pitchFamily="18" charset="0"/>
              </a:rPr>
              <a:t>free</a:t>
            </a:r>
            <a:r>
              <a:rPr lang="tr-TR" dirty="0">
                <a:solidFill>
                  <a:srgbClr val="444444"/>
                </a:solidFill>
                <a:latin typeface="Times New Roman" panose="02020603050405020304" pitchFamily="18" charset="0"/>
                <a:cs typeface="Times New Roman" panose="02020603050405020304" pitchFamily="18" charset="0"/>
              </a:rPr>
              <a:t> fonksiyonlarının C++’ta da kullanılabilir. Ancak bu fonksiyonların </a:t>
            </a:r>
            <a:r>
              <a:rPr lang="tr-TR" dirty="0" err="1">
                <a:solidFill>
                  <a:srgbClr val="444444"/>
                </a:solidFill>
                <a:latin typeface="Times New Roman" panose="02020603050405020304" pitchFamily="18" charset="0"/>
                <a:cs typeface="Times New Roman" panose="02020603050405020304" pitchFamily="18" charset="0"/>
              </a:rPr>
              <a:t>default</a:t>
            </a:r>
            <a:r>
              <a:rPr lang="tr-TR" dirty="0">
                <a:solidFill>
                  <a:srgbClr val="444444"/>
                </a:solidFill>
                <a:latin typeface="Times New Roman" panose="02020603050405020304" pitchFamily="18" charset="0"/>
                <a:cs typeface="Times New Roman" panose="02020603050405020304" pitchFamily="18" charset="0"/>
              </a:rPr>
              <a:t> varsayılan değerleri </a:t>
            </a:r>
            <a:r>
              <a:rPr lang="tr-TR" b="1" dirty="0" err="1">
                <a:solidFill>
                  <a:srgbClr val="444444"/>
                </a:solidFill>
                <a:latin typeface="Times New Roman" panose="02020603050405020304" pitchFamily="18" charset="0"/>
                <a:cs typeface="Times New Roman" panose="02020603050405020304" pitchFamily="18" charset="0"/>
              </a:rPr>
              <a:t>void</a:t>
            </a:r>
            <a:r>
              <a:rPr lang="tr-TR" b="1" dirty="0">
                <a:solidFill>
                  <a:srgbClr val="444444"/>
                </a:solidFill>
                <a:latin typeface="Times New Roman" panose="02020603050405020304" pitchFamily="18" charset="0"/>
                <a:cs typeface="Times New Roman" panose="02020603050405020304" pitchFamily="18" charset="0"/>
              </a:rPr>
              <a:t>* </a:t>
            </a:r>
            <a:r>
              <a:rPr lang="tr-TR" dirty="0">
                <a:solidFill>
                  <a:srgbClr val="444444"/>
                </a:solidFill>
                <a:latin typeface="Times New Roman" panose="02020603050405020304" pitchFamily="18" charset="0"/>
                <a:cs typeface="Times New Roman" panose="02020603050405020304" pitchFamily="18" charset="0"/>
              </a:rPr>
              <a:t>olduğundan ötürü tip dönüşümüne ihtiyaç duyarlar.</a:t>
            </a:r>
          </a:p>
          <a:p>
            <a:pPr marL="201168" lvl="1" indent="0" algn="just">
              <a:lnSpc>
                <a:spcPct val="125000"/>
              </a:lnSpc>
              <a:buNone/>
            </a:pPr>
            <a:r>
              <a:rPr lang="tr-TR" sz="2000" b="1" i="1" dirty="0" err="1">
                <a:solidFill>
                  <a:srgbClr val="7030A0"/>
                </a:solidFill>
                <a:latin typeface="Times New Roman" panose="02020603050405020304" pitchFamily="18" charset="0"/>
                <a:cs typeface="Times New Roman" panose="02020603050405020304" pitchFamily="18" charset="0"/>
              </a:rPr>
              <a:t>new</a:t>
            </a:r>
            <a:r>
              <a:rPr lang="tr-TR" dirty="0">
                <a:solidFill>
                  <a:srgbClr val="444444"/>
                </a:solidFill>
                <a:latin typeface="Times New Roman" panose="02020603050405020304" pitchFamily="18" charset="0"/>
                <a:cs typeface="Times New Roman" panose="02020603050405020304" pitchFamily="18" charset="0"/>
              </a:rPr>
              <a:t> operatörü, bellekten bir değişken için yer tahsis etmek istenildiğinde kullanılır. </a:t>
            </a:r>
          </a:p>
          <a:p>
            <a:pPr marL="201168" lvl="1" indent="0" algn="just">
              <a:lnSpc>
                <a:spcPct val="125000"/>
              </a:lnSpc>
              <a:buNone/>
            </a:pPr>
            <a:r>
              <a:rPr lang="tr-TR" sz="2000" b="1" i="1" dirty="0" err="1">
                <a:solidFill>
                  <a:srgbClr val="7030A0"/>
                </a:solidFill>
                <a:latin typeface="Times New Roman" panose="02020603050405020304" pitchFamily="18" charset="0"/>
                <a:cs typeface="Times New Roman" panose="02020603050405020304" pitchFamily="18" charset="0"/>
              </a:rPr>
              <a:t>delete</a:t>
            </a:r>
            <a:r>
              <a:rPr lang="tr-TR" dirty="0">
                <a:solidFill>
                  <a:srgbClr val="444444"/>
                </a:solidFill>
                <a:latin typeface="Times New Roman" panose="02020603050405020304" pitchFamily="18" charset="0"/>
                <a:cs typeface="Times New Roman" panose="02020603050405020304" pitchFamily="18" charset="0"/>
              </a:rPr>
              <a:t> </a:t>
            </a:r>
            <a:r>
              <a:rPr lang="tr-TR" dirty="0" err="1">
                <a:solidFill>
                  <a:srgbClr val="444444"/>
                </a:solidFill>
                <a:latin typeface="Times New Roman" panose="02020603050405020304" pitchFamily="18" charset="0"/>
                <a:cs typeface="Times New Roman" panose="02020603050405020304" pitchFamily="18" charset="0"/>
              </a:rPr>
              <a:t>oparatörü</a:t>
            </a:r>
            <a:r>
              <a:rPr lang="tr-TR" dirty="0">
                <a:solidFill>
                  <a:srgbClr val="444444"/>
                </a:solidFill>
                <a:latin typeface="Times New Roman" panose="02020603050405020304" pitchFamily="18" charset="0"/>
                <a:cs typeface="Times New Roman" panose="02020603050405020304" pitchFamily="18" charset="0"/>
              </a:rPr>
              <a:t> ise, </a:t>
            </a:r>
            <a:r>
              <a:rPr lang="tr-TR" sz="2000" b="1" i="1" dirty="0" err="1">
                <a:solidFill>
                  <a:srgbClr val="7030A0"/>
                </a:solidFill>
                <a:latin typeface="Times New Roman" panose="02020603050405020304" pitchFamily="18" charset="0"/>
                <a:cs typeface="Times New Roman" panose="02020603050405020304" pitchFamily="18" charset="0"/>
              </a:rPr>
              <a:t>new</a:t>
            </a:r>
            <a:r>
              <a:rPr lang="tr-TR" dirty="0">
                <a:solidFill>
                  <a:srgbClr val="444444"/>
                </a:solidFill>
                <a:latin typeface="Times New Roman" panose="02020603050405020304" pitchFamily="18" charset="0"/>
                <a:cs typeface="Times New Roman" panose="02020603050405020304" pitchFamily="18" charset="0"/>
              </a:rPr>
              <a:t> ile bellekte mevcut değişken için tahsis edilen bellek alanını bırakmak için kullanılır. </a:t>
            </a: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a:p>
            <a:pPr marL="201168" lvl="1" indent="0" algn="just">
              <a:lnSpc>
                <a:spcPct val="125000"/>
              </a:lnSpc>
              <a:buNone/>
            </a:pPr>
            <a:r>
              <a:rPr lang="tr-TR" dirty="0">
                <a:solidFill>
                  <a:srgbClr val="444444"/>
                </a:solidFill>
                <a:latin typeface="Times New Roman" panose="02020603050405020304" pitchFamily="18" charset="0"/>
                <a:cs typeface="Times New Roman" panose="02020603050405020304" pitchFamily="18" charset="0"/>
              </a:rPr>
              <a:t> </a:t>
            </a:r>
          </a:p>
        </p:txBody>
      </p:sp>
      <p:sp>
        <p:nvSpPr>
          <p:cNvPr id="8" name="Metin kutusu 7">
            <a:extLst>
              <a:ext uri="{FF2B5EF4-FFF2-40B4-BE49-F238E27FC236}">
                <a16:creationId xmlns:a16="http://schemas.microsoft.com/office/drawing/2014/main" id="{2B0472FA-E1ED-424E-93E9-23B94F9E9E35}"/>
              </a:ext>
            </a:extLst>
          </p:cNvPr>
          <p:cNvSpPr txBox="1"/>
          <p:nvPr/>
        </p:nvSpPr>
        <p:spPr>
          <a:xfrm>
            <a:off x="7288696" y="3705495"/>
            <a:ext cx="2998304" cy="2308324"/>
          </a:xfrm>
          <a:prstGeom prst="rect">
            <a:avLst/>
          </a:prstGeom>
          <a:noFill/>
          <a:ln>
            <a:solidFill>
              <a:schemeClr val="accent1"/>
            </a:solidFill>
          </a:ln>
        </p:spPr>
        <p:txBody>
          <a:bodyPr wrap="square">
            <a:spAutoFit/>
          </a:bodyPr>
          <a:lstStyle/>
          <a:p>
            <a:r>
              <a:rPr lang="en-US" b="0" i="0" dirty="0">
                <a:solidFill>
                  <a:schemeClr val="bg1">
                    <a:lumMod val="90000"/>
                    <a:lumOff val="10000"/>
                  </a:schemeClr>
                </a:solidFill>
                <a:effectLst/>
                <a:latin typeface="Consolas" panose="020B0609020204030204" pitchFamily="49" charset="0"/>
              </a:rPr>
              <a:t>#include &lt;iostream&gt;</a:t>
            </a:r>
            <a:endParaRPr lang="tr-TR" b="0" i="0" dirty="0">
              <a:solidFill>
                <a:schemeClr val="bg1">
                  <a:lumMod val="90000"/>
                  <a:lumOff val="10000"/>
                </a:schemeClr>
              </a:solidFill>
              <a:effectLst/>
              <a:latin typeface="Consolas" panose="020B0609020204030204" pitchFamily="49" charset="0"/>
            </a:endParaRPr>
          </a:p>
          <a:p>
            <a:r>
              <a:rPr lang="en-US" b="0" i="0" dirty="0">
                <a:solidFill>
                  <a:schemeClr val="bg1">
                    <a:lumMod val="90000"/>
                    <a:lumOff val="10000"/>
                  </a:schemeClr>
                </a:solidFill>
                <a:effectLst/>
                <a:latin typeface="Consolas" panose="020B0609020204030204" pitchFamily="49" charset="0"/>
              </a:rPr>
              <a:t>int main() </a:t>
            </a:r>
            <a:endParaRPr lang="tr-TR" b="0" i="0" dirty="0">
              <a:solidFill>
                <a:schemeClr val="bg1">
                  <a:lumMod val="90000"/>
                  <a:lumOff val="10000"/>
                </a:schemeClr>
              </a:solidFill>
              <a:effectLst/>
              <a:latin typeface="Consolas" panose="020B0609020204030204" pitchFamily="49" charset="0"/>
            </a:endParaRPr>
          </a:p>
          <a:p>
            <a:r>
              <a:rPr lang="en-US" b="0" i="0" dirty="0">
                <a:solidFill>
                  <a:schemeClr val="bg1">
                    <a:lumMod val="90000"/>
                    <a:lumOff val="10000"/>
                  </a:schemeClr>
                </a:solidFill>
                <a:effectLst/>
                <a:latin typeface="Consolas" panose="020B0609020204030204" pitchFamily="49" charset="0"/>
              </a:rPr>
              <a:t>{ </a:t>
            </a:r>
            <a:endParaRPr lang="tr-TR" b="0" i="0" dirty="0">
              <a:solidFill>
                <a:schemeClr val="bg1">
                  <a:lumMod val="90000"/>
                  <a:lumOff val="10000"/>
                </a:schemeClr>
              </a:solidFill>
              <a:effectLst/>
              <a:latin typeface="Consolas" panose="020B0609020204030204" pitchFamily="49" charset="0"/>
            </a:endParaRPr>
          </a:p>
          <a:p>
            <a:r>
              <a:rPr lang="tr-TR" dirty="0">
                <a:solidFill>
                  <a:schemeClr val="bg1">
                    <a:lumMod val="90000"/>
                    <a:lumOff val="10000"/>
                  </a:schemeClr>
                </a:solidFill>
                <a:latin typeface="Consolas" panose="020B0609020204030204" pitchFamily="49" charset="0"/>
              </a:rPr>
              <a:t>	</a:t>
            </a:r>
            <a:r>
              <a:rPr lang="en-US" b="0" i="0" dirty="0">
                <a:solidFill>
                  <a:schemeClr val="bg1">
                    <a:lumMod val="90000"/>
                    <a:lumOff val="10000"/>
                  </a:schemeClr>
                </a:solidFill>
                <a:effectLst/>
                <a:latin typeface="Consolas" panose="020B0609020204030204" pitchFamily="49" charset="0"/>
              </a:rPr>
              <a:t>int *p; </a:t>
            </a:r>
            <a:endParaRPr lang="tr-TR" b="0" i="0" dirty="0">
              <a:solidFill>
                <a:schemeClr val="bg1">
                  <a:lumMod val="90000"/>
                  <a:lumOff val="10000"/>
                </a:schemeClr>
              </a:solidFill>
              <a:effectLst/>
              <a:latin typeface="Consolas" panose="020B0609020204030204" pitchFamily="49" charset="0"/>
            </a:endParaRPr>
          </a:p>
          <a:p>
            <a:r>
              <a:rPr lang="tr-TR" b="0" i="0" dirty="0">
                <a:solidFill>
                  <a:schemeClr val="bg1">
                    <a:lumMod val="90000"/>
                    <a:lumOff val="10000"/>
                  </a:schemeClr>
                </a:solidFill>
                <a:effectLst/>
                <a:latin typeface="Consolas" panose="020B0609020204030204" pitchFamily="49" charset="0"/>
              </a:rPr>
              <a:t>	</a:t>
            </a:r>
            <a:r>
              <a:rPr lang="en-US" b="0" i="0" dirty="0">
                <a:solidFill>
                  <a:schemeClr val="bg1">
                    <a:lumMod val="90000"/>
                    <a:lumOff val="10000"/>
                  </a:schemeClr>
                </a:solidFill>
                <a:effectLst/>
                <a:latin typeface="Consolas" panose="020B0609020204030204" pitchFamily="49" charset="0"/>
              </a:rPr>
              <a:t>int </a:t>
            </a:r>
            <a:r>
              <a:rPr lang="en-US" b="0" i="0" dirty="0" err="1">
                <a:solidFill>
                  <a:schemeClr val="bg1">
                    <a:lumMod val="90000"/>
                    <a:lumOff val="10000"/>
                  </a:schemeClr>
                </a:solidFill>
                <a:effectLst/>
                <a:latin typeface="Consolas" panose="020B0609020204030204" pitchFamily="49" charset="0"/>
              </a:rPr>
              <a:t>i</a:t>
            </a:r>
            <a:r>
              <a:rPr lang="en-US" b="0" i="0" dirty="0">
                <a:solidFill>
                  <a:schemeClr val="bg1">
                    <a:lumMod val="90000"/>
                    <a:lumOff val="10000"/>
                  </a:schemeClr>
                </a:solidFill>
                <a:effectLst/>
                <a:latin typeface="Consolas" panose="020B0609020204030204" pitchFamily="49" charset="0"/>
              </a:rPr>
              <a:t> = 0; </a:t>
            </a:r>
            <a:endParaRPr lang="tr-TR" b="0" i="0" dirty="0">
              <a:solidFill>
                <a:schemeClr val="bg1">
                  <a:lumMod val="90000"/>
                  <a:lumOff val="10000"/>
                </a:schemeClr>
              </a:solidFill>
              <a:effectLst/>
              <a:latin typeface="Consolas" panose="020B0609020204030204" pitchFamily="49" charset="0"/>
            </a:endParaRPr>
          </a:p>
          <a:p>
            <a:r>
              <a:rPr lang="tr-TR" b="0" i="0" dirty="0">
                <a:solidFill>
                  <a:schemeClr val="bg1">
                    <a:lumMod val="90000"/>
                    <a:lumOff val="10000"/>
                  </a:schemeClr>
                </a:solidFill>
                <a:effectLst/>
                <a:latin typeface="Consolas" panose="020B0609020204030204" pitchFamily="49" charset="0"/>
              </a:rPr>
              <a:t>	</a:t>
            </a:r>
            <a:r>
              <a:rPr lang="en-US" b="0" i="0" dirty="0">
                <a:solidFill>
                  <a:schemeClr val="bg1">
                    <a:lumMod val="90000"/>
                    <a:lumOff val="10000"/>
                  </a:schemeClr>
                </a:solidFill>
                <a:effectLst/>
                <a:latin typeface="Consolas" panose="020B0609020204030204" pitchFamily="49" charset="0"/>
              </a:rPr>
              <a:t>p = </a:t>
            </a:r>
            <a:r>
              <a:rPr lang="en-US" b="0" i="0" dirty="0">
                <a:solidFill>
                  <a:srgbClr val="0070C0"/>
                </a:solidFill>
                <a:effectLst/>
                <a:latin typeface="Consolas" panose="020B0609020204030204" pitchFamily="49" charset="0"/>
              </a:rPr>
              <a:t>new</a:t>
            </a:r>
            <a:r>
              <a:rPr lang="en-US" b="0" i="0" dirty="0">
                <a:solidFill>
                  <a:schemeClr val="bg1">
                    <a:lumMod val="90000"/>
                    <a:lumOff val="10000"/>
                  </a:schemeClr>
                </a:solidFill>
                <a:effectLst/>
                <a:latin typeface="Consolas" panose="020B0609020204030204" pitchFamily="49" charset="0"/>
              </a:rPr>
              <a:t> int[5]; </a:t>
            </a:r>
            <a:endParaRPr lang="tr-TR" b="0" i="0" dirty="0">
              <a:solidFill>
                <a:schemeClr val="bg1">
                  <a:lumMod val="90000"/>
                  <a:lumOff val="10000"/>
                </a:schemeClr>
              </a:solidFill>
              <a:effectLst/>
              <a:latin typeface="Consolas" panose="020B0609020204030204" pitchFamily="49" charset="0"/>
            </a:endParaRPr>
          </a:p>
          <a:p>
            <a:r>
              <a:rPr lang="tr-TR" b="0" i="0" dirty="0">
                <a:solidFill>
                  <a:schemeClr val="bg1">
                    <a:lumMod val="90000"/>
                    <a:lumOff val="10000"/>
                  </a:schemeClr>
                </a:solidFill>
                <a:effectLst/>
                <a:latin typeface="Consolas" panose="020B0609020204030204" pitchFamily="49" charset="0"/>
              </a:rPr>
              <a:t>	</a:t>
            </a:r>
            <a:r>
              <a:rPr lang="en-US" b="0" i="0" dirty="0">
                <a:solidFill>
                  <a:srgbClr val="0070C0"/>
                </a:solidFill>
                <a:effectLst/>
                <a:latin typeface="Consolas" panose="020B0609020204030204" pitchFamily="49" charset="0"/>
              </a:rPr>
              <a:t>delete</a:t>
            </a:r>
            <a:r>
              <a:rPr lang="en-US" b="0" i="0" dirty="0">
                <a:solidFill>
                  <a:schemeClr val="bg1">
                    <a:lumMod val="90000"/>
                    <a:lumOff val="10000"/>
                  </a:schemeClr>
                </a:solidFill>
                <a:effectLst/>
                <a:latin typeface="Consolas" panose="020B0609020204030204" pitchFamily="49" charset="0"/>
              </a:rPr>
              <a:t>[] p; </a:t>
            </a:r>
            <a:endParaRPr lang="tr-TR" b="0" i="0" dirty="0">
              <a:solidFill>
                <a:schemeClr val="bg1">
                  <a:lumMod val="90000"/>
                  <a:lumOff val="10000"/>
                </a:schemeClr>
              </a:solidFill>
              <a:effectLst/>
              <a:latin typeface="Consolas" panose="020B0609020204030204" pitchFamily="49" charset="0"/>
            </a:endParaRPr>
          </a:p>
          <a:p>
            <a:r>
              <a:rPr lang="en-US" b="0" i="0" dirty="0">
                <a:solidFill>
                  <a:schemeClr val="bg1">
                    <a:lumMod val="90000"/>
                    <a:lumOff val="10000"/>
                  </a:schemeClr>
                </a:solidFill>
                <a:effectLst/>
                <a:latin typeface="Consolas" panose="020B0609020204030204" pitchFamily="49" charset="0"/>
              </a:rPr>
              <a:t>}</a:t>
            </a:r>
            <a:endParaRPr lang="tr-TR" dirty="0">
              <a:solidFill>
                <a:schemeClr val="bg1">
                  <a:lumMod val="90000"/>
                  <a:lumOff val="10000"/>
                </a:schemeClr>
              </a:solidFill>
              <a:latin typeface="Consolas" panose="020B0609020204030204" pitchFamily="49" charset="0"/>
            </a:endParaRPr>
          </a:p>
        </p:txBody>
      </p:sp>
      <p:sp>
        <p:nvSpPr>
          <p:cNvPr id="10" name="Metin kutusu 9">
            <a:extLst>
              <a:ext uri="{FF2B5EF4-FFF2-40B4-BE49-F238E27FC236}">
                <a16:creationId xmlns:a16="http://schemas.microsoft.com/office/drawing/2014/main" id="{CCC5D593-6CD9-4108-9AF8-59F144152F04}"/>
              </a:ext>
            </a:extLst>
          </p:cNvPr>
          <p:cNvSpPr txBox="1"/>
          <p:nvPr/>
        </p:nvSpPr>
        <p:spPr>
          <a:xfrm>
            <a:off x="944460" y="3705495"/>
            <a:ext cx="5105400" cy="2308324"/>
          </a:xfrm>
          <a:prstGeom prst="rect">
            <a:avLst/>
          </a:prstGeom>
          <a:noFill/>
          <a:ln>
            <a:solidFill>
              <a:schemeClr val="accent1"/>
            </a:solidFill>
          </a:ln>
        </p:spPr>
        <p:txBody>
          <a:bodyPr wrap="square">
            <a:spAutoFit/>
          </a:bodyPr>
          <a:lstStyle/>
          <a:p>
            <a:r>
              <a:rPr lang="tr-TR" dirty="0">
                <a:latin typeface="Consolas" panose="020B0609020204030204" pitchFamily="49" charset="0"/>
              </a:rPr>
              <a:t>#include &lt;</a:t>
            </a:r>
            <a:r>
              <a:rPr lang="tr-TR" dirty="0" err="1">
                <a:latin typeface="Consolas" panose="020B0609020204030204" pitchFamily="49" charset="0"/>
              </a:rPr>
              <a:t>iostream</a:t>
            </a:r>
            <a:r>
              <a:rPr lang="tr-TR" dirty="0">
                <a:latin typeface="Consolas" panose="020B0609020204030204" pitchFamily="49" charset="0"/>
              </a:rPr>
              <a:t>&gt;</a:t>
            </a:r>
          </a:p>
          <a:p>
            <a:r>
              <a:rPr lang="tr-TR" dirty="0" err="1">
                <a:latin typeface="Consolas" panose="020B0609020204030204" pitchFamily="49" charset="0"/>
              </a:rPr>
              <a:t>int</a:t>
            </a:r>
            <a:r>
              <a:rPr lang="tr-TR" dirty="0">
                <a:latin typeface="Consolas" panose="020B0609020204030204" pitchFamily="49" charset="0"/>
              </a:rPr>
              <a:t> main()</a:t>
            </a:r>
          </a:p>
          <a:p>
            <a:r>
              <a:rPr lang="tr-TR" dirty="0">
                <a:latin typeface="Consolas" panose="020B0609020204030204" pitchFamily="49" charset="0"/>
              </a:rPr>
              <a:t>{</a:t>
            </a:r>
          </a:p>
          <a:p>
            <a:r>
              <a:rPr lang="tr-TR" dirty="0">
                <a:latin typeface="Consolas" panose="020B0609020204030204" pitchFamily="49" charset="0"/>
              </a:rPr>
              <a:t>    </a:t>
            </a:r>
            <a:r>
              <a:rPr lang="tr-TR" dirty="0" err="1">
                <a:latin typeface="Consolas" panose="020B0609020204030204" pitchFamily="49" charset="0"/>
              </a:rPr>
              <a:t>int</a:t>
            </a:r>
            <a:r>
              <a:rPr lang="tr-TR" dirty="0">
                <a:latin typeface="Consolas" panose="020B0609020204030204" pitchFamily="49" charset="0"/>
              </a:rPr>
              <a:t> *p;</a:t>
            </a:r>
          </a:p>
          <a:p>
            <a:r>
              <a:rPr lang="tr-TR" dirty="0">
                <a:latin typeface="Consolas" panose="020B0609020204030204" pitchFamily="49" charset="0"/>
              </a:rPr>
              <a:t>    </a:t>
            </a:r>
            <a:r>
              <a:rPr lang="tr-TR" dirty="0" err="1">
                <a:latin typeface="Consolas" panose="020B0609020204030204" pitchFamily="49" charset="0"/>
              </a:rPr>
              <a:t>int</a:t>
            </a:r>
            <a:r>
              <a:rPr lang="tr-TR" dirty="0">
                <a:latin typeface="Consolas" panose="020B0609020204030204" pitchFamily="49" charset="0"/>
              </a:rPr>
              <a:t> i = 0;</a:t>
            </a:r>
          </a:p>
          <a:p>
            <a:r>
              <a:rPr lang="tr-TR" dirty="0">
                <a:latin typeface="Consolas" panose="020B0609020204030204" pitchFamily="49" charset="0"/>
              </a:rPr>
              <a:t>    p = (</a:t>
            </a:r>
            <a:r>
              <a:rPr lang="tr-TR" dirty="0" err="1">
                <a:latin typeface="Consolas" panose="020B0609020204030204" pitchFamily="49" charset="0"/>
              </a:rPr>
              <a:t>int</a:t>
            </a:r>
            <a:r>
              <a:rPr lang="tr-TR" dirty="0">
                <a:latin typeface="Consolas" panose="020B0609020204030204" pitchFamily="49" charset="0"/>
              </a:rPr>
              <a:t>*) </a:t>
            </a:r>
            <a:r>
              <a:rPr lang="tr-TR" dirty="0" err="1">
                <a:solidFill>
                  <a:srgbClr val="0070C0"/>
                </a:solidFill>
                <a:latin typeface="Consolas" panose="020B0609020204030204" pitchFamily="49" charset="0"/>
              </a:rPr>
              <a:t>malloc</a:t>
            </a:r>
            <a:r>
              <a:rPr lang="tr-TR" dirty="0">
                <a:latin typeface="Consolas" panose="020B0609020204030204" pitchFamily="49" charset="0"/>
              </a:rPr>
              <a:t>(</a:t>
            </a:r>
            <a:r>
              <a:rPr lang="tr-TR" dirty="0" err="1">
                <a:latin typeface="Consolas" panose="020B0609020204030204" pitchFamily="49" charset="0"/>
              </a:rPr>
              <a:t>sizeof</a:t>
            </a:r>
            <a:r>
              <a:rPr lang="tr-TR" dirty="0">
                <a:latin typeface="Consolas" panose="020B0609020204030204" pitchFamily="49" charset="0"/>
              </a:rPr>
              <a:t>(</a:t>
            </a:r>
            <a:r>
              <a:rPr lang="tr-TR" dirty="0" err="1">
                <a:latin typeface="Consolas" panose="020B0609020204030204" pitchFamily="49" charset="0"/>
              </a:rPr>
              <a:t>int</a:t>
            </a:r>
            <a:r>
              <a:rPr lang="tr-TR" dirty="0">
                <a:latin typeface="Consolas" panose="020B0609020204030204" pitchFamily="49" charset="0"/>
              </a:rPr>
              <a:t>) * 5);</a:t>
            </a:r>
          </a:p>
          <a:p>
            <a:r>
              <a:rPr lang="tr-TR" dirty="0">
                <a:latin typeface="Consolas" panose="020B0609020204030204" pitchFamily="49" charset="0"/>
              </a:rPr>
              <a:t>    </a:t>
            </a:r>
            <a:r>
              <a:rPr lang="tr-TR" dirty="0" err="1">
                <a:solidFill>
                  <a:srgbClr val="0070C0"/>
                </a:solidFill>
                <a:latin typeface="Consolas" panose="020B0609020204030204" pitchFamily="49" charset="0"/>
              </a:rPr>
              <a:t>free</a:t>
            </a:r>
            <a:r>
              <a:rPr lang="tr-TR" dirty="0">
                <a:latin typeface="Consolas" panose="020B0609020204030204" pitchFamily="49" charset="0"/>
              </a:rPr>
              <a:t>(p);</a:t>
            </a:r>
          </a:p>
          <a:p>
            <a:r>
              <a:rPr lang="tr-TR" dirty="0">
                <a:latin typeface="Consolas" panose="020B0609020204030204" pitchFamily="49" charset="0"/>
              </a:rPr>
              <a:t>}</a:t>
            </a:r>
          </a:p>
        </p:txBody>
      </p:sp>
    </p:spTree>
    <p:extLst>
      <p:ext uri="{BB962C8B-B14F-4D97-AF65-F5344CB8AC3E}">
        <p14:creationId xmlns:p14="http://schemas.microsoft.com/office/powerpoint/2010/main" val="3952007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rgbClr val="444444"/>
                </a:solidFill>
                <a:latin typeface="Times New Roman" panose="02020603050405020304" pitchFamily="18" charset="0"/>
                <a:cs typeface="Times New Roman" panose="02020603050405020304" pitchFamily="18" charset="0"/>
              </a:rPr>
              <a:t>Dinamik Bellek Yönetimi: </a:t>
            </a:r>
            <a:r>
              <a:rPr lang="tr-TR" sz="2000" b="1" i="1" dirty="0" err="1">
                <a:solidFill>
                  <a:srgbClr val="7030A0"/>
                </a:solidFill>
                <a:latin typeface="Times New Roman" panose="02020603050405020304" pitchFamily="18" charset="0"/>
                <a:cs typeface="Times New Roman" panose="02020603050405020304" pitchFamily="18" charset="0"/>
              </a:rPr>
              <a:t>new</a:t>
            </a:r>
            <a:r>
              <a:rPr lang="tr-TR" sz="2000" b="1" dirty="0">
                <a:solidFill>
                  <a:srgbClr val="444444"/>
                </a:solidFill>
                <a:latin typeface="Times New Roman" panose="02020603050405020304" pitchFamily="18" charset="0"/>
                <a:cs typeface="Times New Roman" panose="02020603050405020304" pitchFamily="18" charset="0"/>
              </a:rPr>
              <a:t> ve </a:t>
            </a:r>
            <a:r>
              <a:rPr lang="tr-TR" sz="2000" b="1" i="1" dirty="0" err="1">
                <a:solidFill>
                  <a:srgbClr val="7030A0"/>
                </a:solidFill>
                <a:latin typeface="Times New Roman" panose="02020603050405020304" pitchFamily="18" charset="0"/>
                <a:cs typeface="Times New Roman" panose="02020603050405020304" pitchFamily="18" charset="0"/>
              </a:rPr>
              <a:t>delete</a:t>
            </a:r>
            <a:r>
              <a:rPr lang="tr-TR" sz="2000" b="1" dirty="0">
                <a:solidFill>
                  <a:srgbClr val="444444"/>
                </a:solidFill>
                <a:latin typeface="Times New Roman" panose="02020603050405020304" pitchFamily="18" charset="0"/>
                <a:cs typeface="Times New Roman" panose="02020603050405020304" pitchFamily="18" charset="0"/>
              </a:rPr>
              <a:t> operatörleri</a:t>
            </a:r>
            <a:endParaRPr lang="tr-TR" sz="2000" b="1" dirty="0">
              <a:solidFill>
                <a:schemeClr val="tx1"/>
              </a:solidFill>
              <a:latin typeface="Times New Roman" panose="02020603050405020304" pitchFamily="18" charset="0"/>
              <a:cs typeface="Times New Roman" panose="02020603050405020304" pitchFamily="18" charset="0"/>
            </a:endParaRP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99722"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endParaRPr lang="tr-TR" dirty="0">
              <a:solidFill>
                <a:srgbClr val="444444"/>
              </a:solidFill>
              <a:latin typeface="Times New Roman" panose="02020603050405020304" pitchFamily="18" charset="0"/>
              <a:cs typeface="Times New Roman" panose="02020603050405020304" pitchFamily="18" charset="0"/>
            </a:endParaRPr>
          </a:p>
        </p:txBody>
      </p:sp>
      <p:pic>
        <p:nvPicPr>
          <p:cNvPr id="13" name="Resim 12">
            <a:extLst>
              <a:ext uri="{FF2B5EF4-FFF2-40B4-BE49-F238E27FC236}">
                <a16:creationId xmlns:a16="http://schemas.microsoft.com/office/drawing/2014/main" id="{5444F3D2-C8B3-43B7-879B-9218A4700289}"/>
              </a:ext>
            </a:extLst>
          </p:cNvPr>
          <p:cNvPicPr>
            <a:picLocks noChangeAspect="1"/>
          </p:cNvPicPr>
          <p:nvPr/>
        </p:nvPicPr>
        <p:blipFill>
          <a:blip r:embed="rId2"/>
          <a:stretch>
            <a:fillRect/>
          </a:stretch>
        </p:blipFill>
        <p:spPr>
          <a:xfrm>
            <a:off x="5710787" y="1501651"/>
            <a:ext cx="2333951" cy="809738"/>
          </a:xfrm>
          <a:prstGeom prst="rect">
            <a:avLst/>
          </a:prstGeom>
        </p:spPr>
      </p:pic>
      <p:pic>
        <p:nvPicPr>
          <p:cNvPr id="15" name="Resim 14">
            <a:extLst>
              <a:ext uri="{FF2B5EF4-FFF2-40B4-BE49-F238E27FC236}">
                <a16:creationId xmlns:a16="http://schemas.microsoft.com/office/drawing/2014/main" id="{B348BC6B-631B-47E8-80D0-56D04BE35E4F}"/>
              </a:ext>
            </a:extLst>
          </p:cNvPr>
          <p:cNvPicPr>
            <a:picLocks noChangeAspect="1"/>
          </p:cNvPicPr>
          <p:nvPr/>
        </p:nvPicPr>
        <p:blipFill>
          <a:blip r:embed="rId3"/>
          <a:stretch>
            <a:fillRect/>
          </a:stretch>
        </p:blipFill>
        <p:spPr>
          <a:xfrm>
            <a:off x="242863" y="624980"/>
            <a:ext cx="4768962" cy="5508534"/>
          </a:xfrm>
          <a:prstGeom prst="rect">
            <a:avLst/>
          </a:prstGeom>
        </p:spPr>
      </p:pic>
      <p:pic>
        <p:nvPicPr>
          <p:cNvPr id="17" name="Resim 16">
            <a:extLst>
              <a:ext uri="{FF2B5EF4-FFF2-40B4-BE49-F238E27FC236}">
                <a16:creationId xmlns:a16="http://schemas.microsoft.com/office/drawing/2014/main" id="{CF4EC9D8-42DD-41A5-B8AE-F3148FE65108}"/>
              </a:ext>
            </a:extLst>
          </p:cNvPr>
          <p:cNvPicPr>
            <a:picLocks noChangeAspect="1"/>
          </p:cNvPicPr>
          <p:nvPr/>
        </p:nvPicPr>
        <p:blipFill>
          <a:blip r:embed="rId4"/>
          <a:stretch>
            <a:fillRect/>
          </a:stretch>
        </p:blipFill>
        <p:spPr>
          <a:xfrm>
            <a:off x="5710787" y="3168360"/>
            <a:ext cx="1469390" cy="649266"/>
          </a:xfrm>
          <a:prstGeom prst="rect">
            <a:avLst/>
          </a:prstGeom>
        </p:spPr>
      </p:pic>
      <p:sp>
        <p:nvSpPr>
          <p:cNvPr id="19" name="Metin kutusu 18">
            <a:extLst>
              <a:ext uri="{FF2B5EF4-FFF2-40B4-BE49-F238E27FC236}">
                <a16:creationId xmlns:a16="http://schemas.microsoft.com/office/drawing/2014/main" id="{5818DE7D-99CC-4D25-9613-CCEBE295F776}"/>
              </a:ext>
            </a:extLst>
          </p:cNvPr>
          <p:cNvSpPr txBox="1"/>
          <p:nvPr/>
        </p:nvSpPr>
        <p:spPr>
          <a:xfrm>
            <a:off x="5475712" y="912208"/>
            <a:ext cx="5931843" cy="369332"/>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Soldaki programın ekran çıktısı: </a:t>
            </a:r>
          </a:p>
        </p:txBody>
      </p:sp>
      <p:sp>
        <p:nvSpPr>
          <p:cNvPr id="21" name="Metin kutusu 20">
            <a:extLst>
              <a:ext uri="{FF2B5EF4-FFF2-40B4-BE49-F238E27FC236}">
                <a16:creationId xmlns:a16="http://schemas.microsoft.com/office/drawing/2014/main" id="{11407A49-3844-4528-B9C7-C315416938FE}"/>
              </a:ext>
            </a:extLst>
          </p:cNvPr>
          <p:cNvSpPr txBox="1"/>
          <p:nvPr/>
        </p:nvSpPr>
        <p:spPr>
          <a:xfrm>
            <a:off x="5475712" y="2701919"/>
            <a:ext cx="6096000" cy="369332"/>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Soldaki programın 23. satırı iptal edildiğinde ekran çıktısı: </a:t>
            </a:r>
          </a:p>
        </p:txBody>
      </p:sp>
      <p:sp>
        <p:nvSpPr>
          <p:cNvPr id="23" name="Metin kutusu 22">
            <a:extLst>
              <a:ext uri="{FF2B5EF4-FFF2-40B4-BE49-F238E27FC236}">
                <a16:creationId xmlns:a16="http://schemas.microsoft.com/office/drawing/2014/main" id="{3E8A4F95-89CE-4FC8-9FBE-84D201824F36}"/>
              </a:ext>
            </a:extLst>
          </p:cNvPr>
          <p:cNvSpPr txBox="1"/>
          <p:nvPr/>
        </p:nvSpPr>
        <p:spPr>
          <a:xfrm>
            <a:off x="6321773" y="4604276"/>
            <a:ext cx="5777948" cy="923330"/>
          </a:xfrm>
          <a:prstGeom prst="rect">
            <a:avLst/>
          </a:prstGeom>
          <a:noFill/>
        </p:spPr>
        <p:txBody>
          <a:bodyPr wrap="square">
            <a:spAutoFit/>
          </a:bodyPr>
          <a:lstStyle/>
          <a:p>
            <a:pPr algn="just"/>
            <a:r>
              <a:rPr lang="tr-TR" b="0" i="0" dirty="0">
                <a:solidFill>
                  <a:srgbClr val="212529"/>
                </a:solidFill>
                <a:effectLst/>
                <a:latin typeface="Times New Roman" panose="02020603050405020304" pitchFamily="18" charset="0"/>
                <a:cs typeface="Times New Roman" panose="02020603050405020304" pitchFamily="18" charset="0"/>
              </a:rPr>
              <a:t>C++ içerisinde yer alan </a:t>
            </a:r>
            <a:r>
              <a:rPr lang="tr-TR" b="0" i="0" dirty="0" err="1">
                <a:solidFill>
                  <a:srgbClr val="0070C0"/>
                </a:solidFill>
                <a:effectLst/>
                <a:latin typeface="Times New Roman" panose="02020603050405020304" pitchFamily="18" charset="0"/>
                <a:cs typeface="Times New Roman" panose="02020603050405020304" pitchFamily="18" charset="0"/>
              </a:rPr>
              <a:t>new</a:t>
            </a:r>
            <a:r>
              <a:rPr lang="tr-TR" b="0" i="0" dirty="0">
                <a:solidFill>
                  <a:srgbClr val="212529"/>
                </a:solidFill>
                <a:effectLst/>
                <a:latin typeface="Times New Roman" panose="02020603050405020304" pitchFamily="18" charset="0"/>
                <a:cs typeface="Times New Roman" panose="02020603050405020304" pitchFamily="18" charset="0"/>
              </a:rPr>
              <a:t> ve </a:t>
            </a:r>
            <a:r>
              <a:rPr lang="tr-TR" b="0" i="0" dirty="0" err="1">
                <a:solidFill>
                  <a:srgbClr val="0070C0"/>
                </a:solidFill>
                <a:effectLst/>
                <a:latin typeface="Times New Roman" panose="02020603050405020304" pitchFamily="18" charset="0"/>
                <a:cs typeface="Times New Roman" panose="02020603050405020304" pitchFamily="18" charset="0"/>
              </a:rPr>
              <a:t>delete</a:t>
            </a:r>
            <a:r>
              <a:rPr lang="tr-TR" b="0" i="0" dirty="0">
                <a:solidFill>
                  <a:srgbClr val="212529"/>
                </a:solidFill>
                <a:effectLst/>
                <a:latin typeface="Times New Roman" panose="02020603050405020304" pitchFamily="18" charset="0"/>
                <a:cs typeface="Times New Roman" panose="02020603050405020304" pitchFamily="18" charset="0"/>
              </a:rPr>
              <a:t> anahtar kelimeleri operatör olduğundan C içerisinde yer alan bellek yönetimi fonksiyonlarına göre daha hızlıdır.</a:t>
            </a:r>
            <a:endParaRPr lang="tr-TR" dirty="0">
              <a:latin typeface="Times New Roman" panose="02020603050405020304" pitchFamily="18" charset="0"/>
              <a:cs typeface="Times New Roman" panose="02020603050405020304" pitchFamily="18" charset="0"/>
            </a:endParaRPr>
          </a:p>
        </p:txBody>
      </p:sp>
      <p:pic>
        <p:nvPicPr>
          <p:cNvPr id="1026" name="Picture 2" descr="Red Exclamation Mark PNG Photo | PNG Mart">
            <a:extLst>
              <a:ext uri="{FF2B5EF4-FFF2-40B4-BE49-F238E27FC236}">
                <a16:creationId xmlns:a16="http://schemas.microsoft.com/office/drawing/2014/main" id="{950EAAEE-A145-4552-8C0B-7879CB76BA12}"/>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63494" y="4255322"/>
            <a:ext cx="1665011" cy="166826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Red Exclamation Mark PNG Photo | PNG Mart">
            <a:extLst>
              <a:ext uri="{FF2B5EF4-FFF2-40B4-BE49-F238E27FC236}">
                <a16:creationId xmlns:a16="http://schemas.microsoft.com/office/drawing/2014/main" id="{1567F1CF-0379-495C-81FE-E1A87FE04918}"/>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80471" y="4410036"/>
            <a:ext cx="1665011" cy="1668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893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7030A0"/>
                </a:solidFill>
                <a:latin typeface="Times New Roman" panose="02020603050405020304" pitchFamily="18" charset="0"/>
                <a:cs typeface="Times New Roman" panose="02020603050405020304" pitchFamily="18" charset="0"/>
              </a:rPr>
              <a:t>static</a:t>
            </a:r>
            <a:r>
              <a:rPr lang="tr-TR" sz="2000" b="1" dirty="0">
                <a:solidFill>
                  <a:srgbClr val="444444"/>
                </a:solidFill>
                <a:latin typeface="Times New Roman" panose="02020603050405020304" pitchFamily="18" charset="0"/>
                <a:cs typeface="Times New Roman" panose="02020603050405020304" pitchFamily="18" charset="0"/>
              </a:rPr>
              <a:t> Üye Değişkenleri ve Üye Fonksiyonları</a:t>
            </a: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07443"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Bazı durumlarda, sınıfın tüm nesnelerine erişilebilen bir veya daha fazla ortak veri alanının var olması istenebilir.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C ++’ta, </a:t>
            </a:r>
            <a:r>
              <a:rPr lang="tr-TR"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bir üye, sınıfın tüm nesneleri tarafından paylaşılır.</a:t>
            </a:r>
          </a:p>
          <a:p>
            <a:pPr marL="201168" lvl="1" indent="0" algn="just">
              <a:lnSpc>
                <a:spcPct val="125000"/>
              </a:lnSpc>
              <a:buNone/>
            </a:pPr>
            <a:r>
              <a:rPr lang="tr-TR"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değişkenlerin değerlerini koruduğunu ve kapsam dışına çıktıktan sonra bile yok edilmediğini daha önce öğrenmiştik. </a:t>
            </a:r>
          </a:p>
          <a:p>
            <a:pPr marL="201168" lvl="1" indent="0" algn="just">
              <a:lnSpc>
                <a:spcPct val="125000"/>
              </a:lnSpc>
              <a:buNone/>
            </a:pPr>
            <a:r>
              <a:rPr lang="tr-TR" u="sng" dirty="0">
                <a:solidFill>
                  <a:schemeClr val="tx1"/>
                </a:solidFill>
                <a:latin typeface="Times New Roman" panose="02020603050405020304" pitchFamily="18" charset="0"/>
                <a:cs typeface="Times New Roman" panose="02020603050405020304" pitchFamily="18" charset="0"/>
              </a:rPr>
              <a:t>Hatırlatma açısından aşağıdaki kodu inceleyecek olursak; </a:t>
            </a:r>
          </a:p>
          <a:p>
            <a:pPr marL="201168" lvl="1" indent="0" algn="just">
              <a:lnSpc>
                <a:spcPct val="125000"/>
              </a:lnSpc>
              <a:buNone/>
            </a:pPr>
            <a:endParaRPr lang="tr-TR" dirty="0">
              <a:solidFill>
                <a:schemeClr val="tx1"/>
              </a:solidFill>
              <a:latin typeface="Times New Roman" panose="02020603050405020304" pitchFamily="18" charset="0"/>
              <a:cs typeface="Times New Roman" panose="02020603050405020304" pitchFamily="18" charset="0"/>
            </a:endParaRPr>
          </a:p>
        </p:txBody>
      </p:sp>
      <p:pic>
        <p:nvPicPr>
          <p:cNvPr id="5" name="Resim 4">
            <a:extLst>
              <a:ext uri="{FF2B5EF4-FFF2-40B4-BE49-F238E27FC236}">
                <a16:creationId xmlns:a16="http://schemas.microsoft.com/office/drawing/2014/main" id="{A61EBC0D-38AC-4665-BC8A-2732FF768550}"/>
              </a:ext>
            </a:extLst>
          </p:cNvPr>
          <p:cNvPicPr>
            <a:picLocks noChangeAspect="1"/>
          </p:cNvPicPr>
          <p:nvPr/>
        </p:nvPicPr>
        <p:blipFill>
          <a:blip r:embed="rId2"/>
          <a:stretch>
            <a:fillRect/>
          </a:stretch>
        </p:blipFill>
        <p:spPr>
          <a:xfrm>
            <a:off x="265636" y="2361229"/>
            <a:ext cx="3425519" cy="3921970"/>
          </a:xfrm>
          <a:prstGeom prst="rect">
            <a:avLst/>
          </a:prstGeom>
        </p:spPr>
      </p:pic>
    </p:spTree>
    <p:extLst>
      <p:ext uri="{BB962C8B-B14F-4D97-AF65-F5344CB8AC3E}">
        <p14:creationId xmlns:p14="http://schemas.microsoft.com/office/powerpoint/2010/main" val="1184159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7030A0"/>
                </a:solidFill>
                <a:latin typeface="Times New Roman" panose="02020603050405020304" pitchFamily="18" charset="0"/>
                <a:cs typeface="Times New Roman" panose="02020603050405020304" pitchFamily="18" charset="0"/>
              </a:rPr>
              <a:t>static</a:t>
            </a:r>
            <a:r>
              <a:rPr lang="tr-TR" sz="2000" b="1" dirty="0">
                <a:solidFill>
                  <a:srgbClr val="444444"/>
                </a:solidFill>
                <a:latin typeface="Times New Roman" panose="02020603050405020304" pitchFamily="18" charset="0"/>
                <a:cs typeface="Times New Roman" panose="02020603050405020304" pitchFamily="18" charset="0"/>
              </a:rPr>
              <a:t> Üye Değişkenleri</a:t>
            </a: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07443"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Bir sınıfın veri üyesi (</a:t>
            </a:r>
            <a:r>
              <a:rPr lang="tr-TR" b="1" i="1" dirty="0" err="1">
                <a:solidFill>
                  <a:schemeClr val="tx1"/>
                </a:solidFill>
                <a:latin typeface="Times New Roman" panose="02020603050405020304" pitchFamily="18" charset="0"/>
                <a:cs typeface="Times New Roman" panose="02020603050405020304" pitchFamily="18" charset="0"/>
              </a:rPr>
              <a:t>public</a:t>
            </a:r>
            <a:r>
              <a:rPr lang="tr-TR" dirty="0">
                <a:solidFill>
                  <a:schemeClr val="tx1"/>
                </a:solidFill>
                <a:latin typeface="Times New Roman" panose="02020603050405020304" pitchFamily="18" charset="0"/>
                <a:cs typeface="Times New Roman" panose="02020603050405020304" pitchFamily="18" charset="0"/>
              </a:rPr>
              <a:t> veya </a:t>
            </a:r>
            <a:r>
              <a:rPr lang="tr-TR" b="1" i="1" dirty="0" err="1">
                <a:solidFill>
                  <a:schemeClr val="tx1"/>
                </a:solidFill>
                <a:latin typeface="Times New Roman" panose="02020603050405020304" pitchFamily="18" charset="0"/>
                <a:cs typeface="Times New Roman" panose="02020603050405020304" pitchFamily="18" charset="0"/>
              </a:rPr>
              <a:t>private</a:t>
            </a:r>
            <a:r>
              <a:rPr lang="tr-TR" dirty="0">
                <a:solidFill>
                  <a:schemeClr val="tx1"/>
                </a:solidFill>
                <a:latin typeface="Times New Roman" panose="02020603050405020304" pitchFamily="18" charset="0"/>
                <a:cs typeface="Times New Roman" panose="02020603050405020304" pitchFamily="18" charset="0"/>
              </a:rPr>
              <a:t> alanlarda olması </a:t>
            </a:r>
            <a:r>
              <a:rPr lang="tr-TR" dirty="0" err="1">
                <a:solidFill>
                  <a:schemeClr val="tx1"/>
                </a:solidFill>
                <a:latin typeface="Times New Roman" panose="02020603050405020304" pitchFamily="18" charset="0"/>
                <a:cs typeface="Times New Roman" panose="02020603050405020304" pitchFamily="18" charset="0"/>
              </a:rPr>
              <a:t>farketmez</a:t>
            </a:r>
            <a:r>
              <a:rPr lang="tr-TR" dirty="0">
                <a:solidFill>
                  <a:schemeClr val="tx1"/>
                </a:solidFill>
                <a:latin typeface="Times New Roman" panose="02020603050405020304" pitchFamily="18" charset="0"/>
                <a:cs typeface="Times New Roman" panose="02020603050405020304" pitchFamily="18" charset="0"/>
              </a:rPr>
              <a:t>)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olarak bildirilebilir.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Böyle bir veri üyesi yalnızca bir kez oluşturulur ve başlatılır. </a:t>
            </a:r>
          </a:p>
          <a:p>
            <a:pPr marL="201168" lvl="1" indent="0" algn="just">
              <a:lnSpc>
                <a:spcPct val="125000"/>
              </a:lnSpc>
              <a:buNone/>
            </a:pPr>
            <a:r>
              <a:rPr lang="tr-TR" b="1" i="1" dirty="0" err="1">
                <a:solidFill>
                  <a:schemeClr val="tx1"/>
                </a:solidFill>
                <a:latin typeface="Times New Roman" panose="02020603050405020304" pitchFamily="18" charset="0"/>
                <a:cs typeface="Times New Roman" panose="02020603050405020304" pitchFamily="18" charset="0"/>
              </a:rPr>
              <a:t>public</a:t>
            </a:r>
            <a:r>
              <a:rPr lang="tr-TR" dirty="0">
                <a:solidFill>
                  <a:schemeClr val="tx1"/>
                </a:solidFill>
                <a:latin typeface="Times New Roman" panose="02020603050405020304" pitchFamily="18" charset="0"/>
                <a:cs typeface="Times New Roman" panose="02020603050405020304" pitchFamily="18" charset="0"/>
              </a:rPr>
              <a:t> olarak bildirilen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veri üyelerine, sınıf adı ve kapsam çözümleme operatörü (::) kullanılarak erişilebilir.</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Farklı olarak sınıf bildirimine yalnızca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verilerin bildirimini dahil ediyoruz.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bir veri üyesinin başlatılması, sınıfın dışında yapılır.</a:t>
            </a:r>
          </a:p>
          <a:p>
            <a:pPr marL="201168" lvl="1" indent="0" algn="just">
              <a:lnSpc>
                <a:spcPct val="125000"/>
              </a:lnSpc>
              <a:buNone/>
            </a:pPr>
            <a:r>
              <a:rPr lang="tr-TR" u="sng" dirty="0">
                <a:solidFill>
                  <a:schemeClr val="tx1"/>
                </a:solidFill>
                <a:latin typeface="Times New Roman" panose="02020603050405020304" pitchFamily="18" charset="0"/>
                <a:cs typeface="Times New Roman" panose="02020603050405020304" pitchFamily="18" charset="0"/>
              </a:rPr>
              <a:t>Örneği inceleyelim: </a:t>
            </a:r>
          </a:p>
        </p:txBody>
      </p:sp>
    </p:spTree>
    <p:extLst>
      <p:ext uri="{BB962C8B-B14F-4D97-AF65-F5344CB8AC3E}">
        <p14:creationId xmlns:p14="http://schemas.microsoft.com/office/powerpoint/2010/main" val="1507324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7030A0"/>
                </a:solidFill>
                <a:latin typeface="Times New Roman" panose="02020603050405020304" pitchFamily="18" charset="0"/>
                <a:cs typeface="Times New Roman" panose="02020603050405020304" pitchFamily="18" charset="0"/>
              </a:rPr>
              <a:t>static</a:t>
            </a:r>
            <a:r>
              <a:rPr lang="tr-TR" sz="2000" b="1" dirty="0">
                <a:solidFill>
                  <a:srgbClr val="444444"/>
                </a:solidFill>
                <a:latin typeface="Times New Roman" panose="02020603050405020304" pitchFamily="18" charset="0"/>
                <a:cs typeface="Times New Roman" panose="02020603050405020304" pitchFamily="18" charset="0"/>
              </a:rPr>
              <a:t> Üye Değişkenleri</a:t>
            </a:r>
          </a:p>
        </p:txBody>
      </p:sp>
      <p:pic>
        <p:nvPicPr>
          <p:cNvPr id="3" name="Resim 2">
            <a:extLst>
              <a:ext uri="{FF2B5EF4-FFF2-40B4-BE49-F238E27FC236}">
                <a16:creationId xmlns:a16="http://schemas.microsoft.com/office/drawing/2014/main" id="{473C9FB6-C5EE-46B7-B4A0-0C2D67C29C1F}"/>
              </a:ext>
            </a:extLst>
          </p:cNvPr>
          <p:cNvPicPr>
            <a:picLocks noChangeAspect="1"/>
          </p:cNvPicPr>
          <p:nvPr/>
        </p:nvPicPr>
        <p:blipFill>
          <a:blip r:embed="rId2"/>
          <a:stretch>
            <a:fillRect/>
          </a:stretch>
        </p:blipFill>
        <p:spPr>
          <a:xfrm>
            <a:off x="337040" y="741813"/>
            <a:ext cx="4823746" cy="5526465"/>
          </a:xfrm>
          <a:prstGeom prst="rect">
            <a:avLst/>
          </a:prstGeom>
        </p:spPr>
      </p:pic>
      <p:sp>
        <p:nvSpPr>
          <p:cNvPr id="8" name="Metin kutusu 7">
            <a:extLst>
              <a:ext uri="{FF2B5EF4-FFF2-40B4-BE49-F238E27FC236}">
                <a16:creationId xmlns:a16="http://schemas.microsoft.com/office/drawing/2014/main" id="{CFEFDBEF-C0B9-4E37-904E-8E3DB3B0882D}"/>
              </a:ext>
            </a:extLst>
          </p:cNvPr>
          <p:cNvSpPr txBox="1"/>
          <p:nvPr/>
        </p:nvSpPr>
        <p:spPr>
          <a:xfrm>
            <a:off x="5367130" y="741813"/>
            <a:ext cx="6096000" cy="4214872"/>
          </a:xfrm>
          <a:prstGeom prst="rect">
            <a:avLst/>
          </a:prstGeom>
          <a:noFill/>
        </p:spPr>
        <p:txBody>
          <a:bodyPr wrap="square">
            <a:spAutoFit/>
          </a:bodyPr>
          <a:lstStyle/>
          <a:p>
            <a:pPr marL="201168" lvl="1" indent="0" algn="just">
              <a:lnSpc>
                <a:spcPct val="125000"/>
              </a:lnSpc>
              <a:buNone/>
            </a:pPr>
            <a:r>
              <a:rPr lang="tr-TR" dirty="0">
                <a:latin typeface="Times New Roman" panose="02020603050405020304" pitchFamily="18" charset="0"/>
                <a:cs typeface="Times New Roman" panose="02020603050405020304" pitchFamily="18" charset="0"/>
              </a:rPr>
              <a:t>Burada Daire sınıfına ait </a:t>
            </a:r>
            <a:r>
              <a:rPr lang="tr-TR" b="1" i="1" dirty="0" err="1">
                <a:latin typeface="Times New Roman" panose="02020603050405020304" pitchFamily="18" charset="0"/>
                <a:cs typeface="Times New Roman" panose="02020603050405020304" pitchFamily="18" charset="0"/>
              </a:rPr>
              <a:t>sayac</a:t>
            </a:r>
            <a:r>
              <a:rPr lang="tr-TR" dirty="0">
                <a:latin typeface="Times New Roman" panose="02020603050405020304" pitchFamily="18" charset="0"/>
                <a:cs typeface="Times New Roman" panose="02020603050405020304" pitchFamily="18" charset="0"/>
              </a:rPr>
              <a:t> adlı değişken </a:t>
            </a:r>
            <a:r>
              <a:rPr lang="tr-TR" b="1" i="1" dirty="0" err="1">
                <a:latin typeface="Times New Roman" panose="02020603050405020304" pitchFamily="18" charset="0"/>
                <a:cs typeface="Times New Roman" panose="02020603050405020304" pitchFamily="18" charset="0"/>
              </a:rPr>
              <a:t>static</a:t>
            </a:r>
            <a:r>
              <a:rPr lang="tr-TR" dirty="0">
                <a:latin typeface="Times New Roman" panose="02020603050405020304" pitchFamily="18" charset="0"/>
                <a:cs typeface="Times New Roman" panose="02020603050405020304" pitchFamily="18" charset="0"/>
              </a:rPr>
              <a:t> olarak tanımlanmıştır.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Çünkü her obje (nesne) oluşturma durumunda bu değerin 1 artması ve bu değeri de koruması beklenmektedir. </a:t>
            </a:r>
          </a:p>
          <a:p>
            <a:pPr marL="201168" lvl="1" indent="0" algn="just">
              <a:lnSpc>
                <a:spcPct val="125000"/>
              </a:lnSpc>
              <a:buNone/>
            </a:pPr>
            <a:r>
              <a:rPr lang="tr-TR" b="1" dirty="0" err="1">
                <a:latin typeface="Times New Roman" panose="02020603050405020304" pitchFamily="18" charset="0"/>
                <a:cs typeface="Times New Roman" panose="02020603050405020304" pitchFamily="18" charset="0"/>
              </a:rPr>
              <a:t>static</a:t>
            </a:r>
            <a:r>
              <a:rPr lang="tr-TR" b="1" dirty="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sayac</a:t>
            </a:r>
            <a:r>
              <a:rPr lang="tr-TR" b="1"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değişkeninin başlangıç değeri, sınıf adı ve kapsam çözümleme operatörü kullanılarak 0’a eşitlenmiştir.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	</a:t>
            </a:r>
          </a:p>
          <a:p>
            <a:pPr marL="201168" lvl="1" indent="0" algn="just">
              <a:lnSpc>
                <a:spcPct val="125000"/>
              </a:lnSpc>
              <a:buNone/>
            </a:pPr>
            <a:r>
              <a:rPr lang="tr-TR" dirty="0">
                <a:latin typeface="Times New Roman" panose="02020603050405020304" pitchFamily="18" charset="0"/>
                <a:cs typeface="Times New Roman" panose="02020603050405020304" pitchFamily="18" charset="0"/>
              </a:rPr>
              <a:t>	</a:t>
            </a:r>
            <a:r>
              <a:rPr lang="tr-TR" dirty="0" err="1">
                <a:latin typeface="Consolas" panose="020B0609020204030204" pitchFamily="49" charset="0"/>
                <a:cs typeface="Times New Roman" panose="02020603050405020304" pitchFamily="18" charset="0"/>
              </a:rPr>
              <a:t>int</a:t>
            </a:r>
            <a:r>
              <a:rPr lang="tr-TR" dirty="0">
                <a:latin typeface="Consolas" panose="020B0609020204030204" pitchFamily="49" charset="0"/>
                <a:cs typeface="Times New Roman" panose="02020603050405020304" pitchFamily="18" charset="0"/>
              </a:rPr>
              <a:t> Daire::sayaç=0;</a:t>
            </a:r>
          </a:p>
          <a:p>
            <a:pPr marL="201168" lvl="1" indent="0" algn="just">
              <a:lnSpc>
                <a:spcPct val="125000"/>
              </a:lnSpc>
              <a:buNone/>
            </a:pPr>
            <a:endParaRPr lang="tr-TR" dirty="0">
              <a:solidFill>
                <a:schemeClr val="tx1"/>
              </a:solidFill>
              <a:latin typeface="Consolas" panose="020B0609020204030204" pitchFamily="49" charset="0"/>
              <a:cs typeface="Times New Roman" panose="02020603050405020304" pitchFamily="18" charset="0"/>
            </a:endParaRPr>
          </a:p>
          <a:p>
            <a:pPr marL="201168" lvl="1" indent="0" algn="just">
              <a:lnSpc>
                <a:spcPct val="125000"/>
              </a:lnSpc>
              <a:buNone/>
            </a:pPr>
            <a:r>
              <a:rPr lang="tr-TR" dirty="0">
                <a:latin typeface="Times New Roman" panose="02020603050405020304" pitchFamily="18" charset="0"/>
                <a:cs typeface="Times New Roman" panose="02020603050405020304" pitchFamily="18" charset="0"/>
              </a:rPr>
              <a:t>Daha sonra farklı değerlerle objeler yaratılmış, her obje için </a:t>
            </a:r>
            <a:r>
              <a:rPr lang="tr-TR" b="1" i="1" dirty="0" err="1">
                <a:latin typeface="Times New Roman" panose="02020603050405020304" pitchFamily="18" charset="0"/>
                <a:cs typeface="Times New Roman" panose="02020603050405020304" pitchFamily="18" charset="0"/>
              </a:rPr>
              <a:t>sayac</a:t>
            </a:r>
            <a:r>
              <a:rPr lang="tr-TR" dirty="0">
                <a:latin typeface="Times New Roman" panose="02020603050405020304" pitchFamily="18" charset="0"/>
                <a:cs typeface="Times New Roman" panose="02020603050405020304" pitchFamily="18" charset="0"/>
              </a:rPr>
              <a:t> değeri 1 arttırılmış ve ekran çıktısı olarak toplam yaratılan obje sayısı gösterilmiştir. </a:t>
            </a:r>
          </a:p>
        </p:txBody>
      </p:sp>
    </p:spTree>
    <p:extLst>
      <p:ext uri="{BB962C8B-B14F-4D97-AF65-F5344CB8AC3E}">
        <p14:creationId xmlns:p14="http://schemas.microsoft.com/office/powerpoint/2010/main" val="809917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err="1">
                <a:solidFill>
                  <a:srgbClr val="7030A0"/>
                </a:solidFill>
                <a:latin typeface="Times New Roman" panose="02020603050405020304" pitchFamily="18" charset="0"/>
                <a:cs typeface="Times New Roman" panose="02020603050405020304" pitchFamily="18" charset="0"/>
              </a:rPr>
              <a:t>static</a:t>
            </a:r>
            <a:r>
              <a:rPr lang="tr-TR" sz="2000" b="1" dirty="0">
                <a:solidFill>
                  <a:srgbClr val="444444"/>
                </a:solidFill>
                <a:latin typeface="Times New Roman" panose="02020603050405020304" pitchFamily="18" charset="0"/>
                <a:cs typeface="Times New Roman" panose="02020603050405020304" pitchFamily="18" charset="0"/>
              </a:rPr>
              <a:t> Üye Fonksiyonları</a:t>
            </a: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07443"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fonksiyonlar yalnızca bir sınıfın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verilerine erişebilir. Benzer şekilde,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fonksiyonlar, sınıfın </a:t>
            </a: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olmayan fonksiyonlarını çağıramaz.</a:t>
            </a:r>
          </a:p>
          <a:p>
            <a:pPr marL="201168" lvl="1" indent="0" algn="just">
              <a:lnSpc>
                <a:spcPct val="125000"/>
              </a:lnSpc>
              <a:buNone/>
            </a:pPr>
            <a:r>
              <a:rPr lang="tr-TR" b="1" i="1" dirty="0" err="1">
                <a:solidFill>
                  <a:schemeClr val="tx1"/>
                </a:solidFill>
                <a:latin typeface="Times New Roman" panose="02020603050405020304" pitchFamily="18" charset="0"/>
                <a:cs typeface="Times New Roman" panose="02020603050405020304" pitchFamily="18" charset="0"/>
              </a:rPr>
              <a:t>static</a:t>
            </a:r>
            <a:r>
              <a:rPr lang="tr-TR" dirty="0">
                <a:solidFill>
                  <a:schemeClr val="tx1"/>
                </a:solidFill>
                <a:latin typeface="Times New Roman" panose="02020603050405020304" pitchFamily="18" charset="0"/>
                <a:cs typeface="Times New Roman" panose="02020603050405020304" pitchFamily="18" charset="0"/>
              </a:rPr>
              <a:t> olan ve bir sınıfın </a:t>
            </a:r>
            <a:r>
              <a:rPr lang="tr-TR" b="1" i="1" dirty="0" err="1">
                <a:solidFill>
                  <a:schemeClr val="tx1"/>
                </a:solidFill>
                <a:latin typeface="Times New Roman" panose="02020603050405020304" pitchFamily="18" charset="0"/>
                <a:cs typeface="Times New Roman" panose="02020603050405020304" pitchFamily="18" charset="0"/>
              </a:rPr>
              <a:t>public</a:t>
            </a:r>
            <a:r>
              <a:rPr lang="tr-TR" dirty="0">
                <a:solidFill>
                  <a:schemeClr val="tx1"/>
                </a:solidFill>
                <a:latin typeface="Times New Roman" panose="02020603050405020304" pitchFamily="18" charset="0"/>
                <a:cs typeface="Times New Roman" panose="02020603050405020304" pitchFamily="18" charset="0"/>
              </a:rPr>
              <a:t> bölümünde bildirilen fonksiyonlar, sınıfın bir nesnesi belirtilmeden çağrılabilir.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Bunu örnek üzerinde inceleyelim:</a:t>
            </a:r>
          </a:p>
        </p:txBody>
      </p:sp>
      <p:pic>
        <p:nvPicPr>
          <p:cNvPr id="3" name="Resim 2">
            <a:extLst>
              <a:ext uri="{FF2B5EF4-FFF2-40B4-BE49-F238E27FC236}">
                <a16:creationId xmlns:a16="http://schemas.microsoft.com/office/drawing/2014/main" id="{85B71CC5-D331-426C-A43C-1872BF3DB568}"/>
              </a:ext>
            </a:extLst>
          </p:cNvPr>
          <p:cNvPicPr>
            <a:picLocks noChangeAspect="1"/>
          </p:cNvPicPr>
          <p:nvPr/>
        </p:nvPicPr>
        <p:blipFill>
          <a:blip r:embed="rId2"/>
          <a:stretch>
            <a:fillRect/>
          </a:stretch>
        </p:blipFill>
        <p:spPr>
          <a:xfrm>
            <a:off x="761246" y="2419209"/>
            <a:ext cx="4843311" cy="4438791"/>
          </a:xfrm>
          <a:prstGeom prst="rect">
            <a:avLst/>
          </a:prstGeom>
        </p:spPr>
      </p:pic>
      <p:pic>
        <p:nvPicPr>
          <p:cNvPr id="5" name="Resim 4">
            <a:extLst>
              <a:ext uri="{FF2B5EF4-FFF2-40B4-BE49-F238E27FC236}">
                <a16:creationId xmlns:a16="http://schemas.microsoft.com/office/drawing/2014/main" id="{EA124770-AFE6-4C5B-88B5-3C33A72817F4}"/>
              </a:ext>
            </a:extLst>
          </p:cNvPr>
          <p:cNvPicPr>
            <a:picLocks noChangeAspect="1"/>
          </p:cNvPicPr>
          <p:nvPr/>
        </p:nvPicPr>
        <p:blipFill>
          <a:blip r:embed="rId3"/>
          <a:stretch>
            <a:fillRect/>
          </a:stretch>
        </p:blipFill>
        <p:spPr>
          <a:xfrm>
            <a:off x="5696835" y="2419209"/>
            <a:ext cx="5921224" cy="2307536"/>
          </a:xfrm>
          <a:prstGeom prst="rect">
            <a:avLst/>
          </a:prstGeom>
        </p:spPr>
      </p:pic>
      <p:sp>
        <p:nvSpPr>
          <p:cNvPr id="10" name="Metin kutusu 9">
            <a:extLst>
              <a:ext uri="{FF2B5EF4-FFF2-40B4-BE49-F238E27FC236}">
                <a16:creationId xmlns:a16="http://schemas.microsoft.com/office/drawing/2014/main" id="{1833EFD3-9694-4047-AC81-836B4A29DECE}"/>
              </a:ext>
            </a:extLst>
          </p:cNvPr>
          <p:cNvSpPr txBox="1"/>
          <p:nvPr/>
        </p:nvSpPr>
        <p:spPr>
          <a:xfrm>
            <a:off x="5491578" y="4818833"/>
            <a:ext cx="6700421" cy="1444883"/>
          </a:xfrm>
          <a:prstGeom prst="rect">
            <a:avLst/>
          </a:prstGeom>
          <a:noFill/>
        </p:spPr>
        <p:txBody>
          <a:bodyPr wrap="square">
            <a:spAutoFit/>
          </a:bodyPr>
          <a:lstStyle/>
          <a:p>
            <a:pPr marL="201168" lvl="1" indent="0" algn="just">
              <a:lnSpc>
                <a:spcPct val="125000"/>
              </a:lnSpc>
              <a:buNone/>
            </a:pPr>
            <a:r>
              <a:rPr lang="tr-TR" dirty="0">
                <a:latin typeface="Times New Roman" panose="02020603050405020304" pitchFamily="18" charset="0"/>
                <a:cs typeface="Times New Roman" panose="02020603050405020304" pitchFamily="18" charset="0"/>
              </a:rPr>
              <a:t>Burada Daire sınıfına ait </a:t>
            </a:r>
            <a:r>
              <a:rPr lang="tr-TR" b="1" i="1" dirty="0" err="1">
                <a:latin typeface="Times New Roman" panose="02020603050405020304" pitchFamily="18" charset="0"/>
                <a:cs typeface="Times New Roman" panose="02020603050405020304" pitchFamily="18" charset="0"/>
              </a:rPr>
              <a:t>sayac</a:t>
            </a:r>
            <a:r>
              <a:rPr lang="tr-TR" dirty="0">
                <a:latin typeface="Times New Roman" panose="02020603050405020304" pitchFamily="18" charset="0"/>
                <a:cs typeface="Times New Roman" panose="02020603050405020304" pitchFamily="18" charset="0"/>
              </a:rPr>
              <a:t> adlı değişken </a:t>
            </a:r>
            <a:r>
              <a:rPr lang="tr-TR" b="1" i="1" dirty="0" err="1">
                <a:latin typeface="Times New Roman" panose="02020603050405020304" pitchFamily="18" charset="0"/>
                <a:cs typeface="Times New Roman" panose="02020603050405020304" pitchFamily="18" charset="0"/>
              </a:rPr>
              <a:t>static</a:t>
            </a:r>
            <a:r>
              <a:rPr lang="tr-TR" dirty="0">
                <a:latin typeface="Times New Roman" panose="02020603050405020304" pitchFamily="18" charset="0"/>
                <a:cs typeface="Times New Roman" panose="02020603050405020304" pitchFamily="18" charset="0"/>
              </a:rPr>
              <a:t> olarak tanımlanmıştır. </a:t>
            </a:r>
            <a:r>
              <a:rPr lang="tr-TR" b="1" i="1" dirty="0" err="1">
                <a:latin typeface="Times New Roman" panose="02020603050405020304" pitchFamily="18" charset="0"/>
                <a:cs typeface="Times New Roman" panose="02020603050405020304" pitchFamily="18" charset="0"/>
              </a:rPr>
              <a:t>sayac</a:t>
            </a:r>
            <a:r>
              <a:rPr lang="tr-TR" dirty="0">
                <a:latin typeface="Times New Roman" panose="02020603050405020304" pitchFamily="18" charset="0"/>
                <a:cs typeface="Times New Roman" panose="02020603050405020304" pitchFamily="18" charset="0"/>
              </a:rPr>
              <a:t> değişkeninin değerini döndüren </a:t>
            </a:r>
            <a:r>
              <a:rPr lang="tr-TR" b="1" i="1" dirty="0" err="1">
                <a:latin typeface="Times New Roman" panose="02020603050405020304" pitchFamily="18" charset="0"/>
                <a:cs typeface="Times New Roman" panose="02020603050405020304" pitchFamily="18" charset="0"/>
              </a:rPr>
              <a:t>sayacGoster</a:t>
            </a:r>
            <a:r>
              <a:rPr lang="tr-TR" b="1" i="1" dirty="0">
                <a:latin typeface="Times New Roman" panose="02020603050405020304" pitchFamily="18" charset="0"/>
                <a:cs typeface="Times New Roman" panose="02020603050405020304" pitchFamily="18" charset="0"/>
              </a:rPr>
              <a:t>()</a:t>
            </a:r>
            <a:r>
              <a:rPr lang="tr-TR" i="1"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fonksiyonunun da bu değişkene erişebilmesi için </a:t>
            </a:r>
            <a:r>
              <a:rPr lang="tr-TR" b="1" i="1" dirty="0" err="1">
                <a:latin typeface="Times New Roman" panose="02020603050405020304" pitchFamily="18" charset="0"/>
                <a:cs typeface="Times New Roman" panose="02020603050405020304" pitchFamily="18" charset="0"/>
              </a:rPr>
              <a:t>static</a:t>
            </a:r>
            <a:r>
              <a:rPr lang="tr-TR" dirty="0">
                <a:latin typeface="Times New Roman" panose="02020603050405020304" pitchFamily="18" charset="0"/>
                <a:cs typeface="Times New Roman" panose="02020603050405020304" pitchFamily="18" charset="0"/>
              </a:rPr>
              <a:t> olarak tanımlanması gerekmektedir. </a:t>
            </a:r>
          </a:p>
        </p:txBody>
      </p:sp>
    </p:spTree>
    <p:extLst>
      <p:ext uri="{BB962C8B-B14F-4D97-AF65-F5344CB8AC3E}">
        <p14:creationId xmlns:p14="http://schemas.microsoft.com/office/powerpoint/2010/main" val="3352811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chemeClr val="tx1"/>
                </a:solidFill>
                <a:latin typeface="Times New Roman" panose="02020603050405020304" pitchFamily="18" charset="0"/>
                <a:cs typeface="Times New Roman" panose="02020603050405020304" pitchFamily="18" charset="0"/>
              </a:rPr>
              <a:t>Arkadaş (</a:t>
            </a:r>
            <a:r>
              <a:rPr lang="tr-TR" sz="2000" b="1" dirty="0" err="1">
                <a:solidFill>
                  <a:schemeClr val="tx1"/>
                </a:solidFill>
                <a:latin typeface="Times New Roman" panose="02020603050405020304" pitchFamily="18" charset="0"/>
                <a:cs typeface="Times New Roman" panose="02020603050405020304" pitchFamily="18" charset="0"/>
              </a:rPr>
              <a:t>Friend</a:t>
            </a:r>
            <a:r>
              <a:rPr lang="tr-TR" sz="2000" b="1" dirty="0">
                <a:solidFill>
                  <a:schemeClr val="tx1"/>
                </a:solidFill>
                <a:latin typeface="Times New Roman" panose="02020603050405020304" pitchFamily="18" charset="0"/>
                <a:cs typeface="Times New Roman" panose="02020603050405020304" pitchFamily="18" charset="0"/>
              </a:rPr>
              <a:t>) Fonksiyonlar</a:t>
            </a: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07443"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Önceki bölümlerde de gördüğümüz gibi, </a:t>
            </a:r>
            <a:r>
              <a:rPr lang="tr-TR" b="1" dirty="0" err="1">
                <a:solidFill>
                  <a:schemeClr val="tx1"/>
                </a:solidFill>
                <a:latin typeface="Times New Roman" panose="02020603050405020304" pitchFamily="18" charset="0"/>
                <a:cs typeface="Times New Roman" panose="02020603050405020304" pitchFamily="18" charset="0"/>
              </a:rPr>
              <a:t>private</a:t>
            </a:r>
            <a:r>
              <a:rPr lang="tr-TR" dirty="0">
                <a:solidFill>
                  <a:schemeClr val="tx1"/>
                </a:solidFill>
                <a:latin typeface="Times New Roman" panose="02020603050405020304" pitchFamily="18" charset="0"/>
                <a:cs typeface="Times New Roman" panose="02020603050405020304" pitchFamily="18" charset="0"/>
              </a:rPr>
              <a:t> ve </a:t>
            </a:r>
            <a:r>
              <a:rPr lang="tr-TR" b="1" dirty="0" err="1">
                <a:solidFill>
                  <a:schemeClr val="tx1"/>
                </a:solidFill>
                <a:latin typeface="Times New Roman" panose="02020603050405020304" pitchFamily="18" charset="0"/>
                <a:cs typeface="Times New Roman" panose="02020603050405020304" pitchFamily="18" charset="0"/>
              </a:rPr>
              <a:t>protected</a:t>
            </a:r>
            <a:r>
              <a:rPr lang="tr-TR" dirty="0">
                <a:solidFill>
                  <a:schemeClr val="tx1"/>
                </a:solidFill>
                <a:latin typeface="Times New Roman" panose="02020603050405020304" pitchFamily="18" charset="0"/>
                <a:cs typeface="Times New Roman" panose="02020603050405020304" pitchFamily="18" charset="0"/>
              </a:rPr>
              <a:t> değişken veya fonksiyon üyelerine normalde yalnızca aynı sınıfın parçası olan kodla erişilebilir.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Bununla birlikte, sınıfın </a:t>
            </a:r>
            <a:r>
              <a:rPr lang="tr-TR" b="1" dirty="0" err="1">
                <a:solidFill>
                  <a:schemeClr val="tx1"/>
                </a:solidFill>
                <a:latin typeface="Times New Roman" panose="02020603050405020304" pitchFamily="18" charset="0"/>
                <a:cs typeface="Times New Roman" panose="02020603050405020304" pitchFamily="18" charset="0"/>
              </a:rPr>
              <a:t>private</a:t>
            </a:r>
            <a:r>
              <a:rPr lang="tr-TR" dirty="0">
                <a:solidFill>
                  <a:schemeClr val="tx1"/>
                </a:solidFill>
                <a:latin typeface="Times New Roman" panose="02020603050405020304" pitchFamily="18" charset="0"/>
                <a:cs typeface="Times New Roman" panose="02020603050405020304" pitchFamily="18" charset="0"/>
              </a:rPr>
              <a:t> üyelerine diğer fonksiyonlara açık erişime izin verilmesinin istendiği durumlar ortaya çıkabilir.</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Bir dış fonksiyonu bir sınıfın arkadaşı olarak ilan etmek istiyorsak, bu fonksiyonun bu sınıfın </a:t>
            </a:r>
            <a:r>
              <a:rPr lang="tr-TR" b="1" dirty="0" err="1">
                <a:solidFill>
                  <a:schemeClr val="tx1"/>
                </a:solidFill>
                <a:latin typeface="Times New Roman" panose="02020603050405020304" pitchFamily="18" charset="0"/>
                <a:cs typeface="Times New Roman" panose="02020603050405020304" pitchFamily="18" charset="0"/>
              </a:rPr>
              <a:t>public</a:t>
            </a:r>
            <a:r>
              <a:rPr lang="tr-TR" dirty="0">
                <a:solidFill>
                  <a:schemeClr val="tx1"/>
                </a:solidFill>
                <a:latin typeface="Times New Roman" panose="02020603050405020304" pitchFamily="18" charset="0"/>
                <a:cs typeface="Times New Roman" panose="02020603050405020304" pitchFamily="18" charset="0"/>
              </a:rPr>
              <a:t> ve </a:t>
            </a:r>
            <a:r>
              <a:rPr lang="tr-TR" b="1" dirty="0" err="1">
                <a:solidFill>
                  <a:schemeClr val="tx1"/>
                </a:solidFill>
                <a:latin typeface="Times New Roman" panose="02020603050405020304" pitchFamily="18" charset="0"/>
                <a:cs typeface="Times New Roman" panose="02020603050405020304" pitchFamily="18" charset="0"/>
              </a:rPr>
              <a:t>private</a:t>
            </a:r>
            <a:r>
              <a:rPr lang="tr-TR" dirty="0">
                <a:solidFill>
                  <a:schemeClr val="tx1"/>
                </a:solidFill>
                <a:latin typeface="Times New Roman" panose="02020603050405020304" pitchFamily="18" charset="0"/>
                <a:cs typeface="Times New Roman" panose="02020603050405020304" pitchFamily="18" charset="0"/>
              </a:rPr>
              <a:t> üyelerine erişmesine izin verirsek, bunu sınıf içinde bu harici fonksiyonun bir prototipini bildirerek ve bundan önce </a:t>
            </a:r>
            <a:r>
              <a:rPr lang="tr-TR" b="1" i="1" dirty="0" err="1">
                <a:solidFill>
                  <a:srgbClr val="7030A0"/>
                </a:solidFill>
                <a:latin typeface="Times New Roman" panose="02020603050405020304" pitchFamily="18" charset="0"/>
                <a:cs typeface="Times New Roman" panose="02020603050405020304" pitchFamily="18" charset="0"/>
              </a:rPr>
              <a:t>friend</a:t>
            </a:r>
            <a:r>
              <a:rPr lang="tr-TR" dirty="0">
                <a:solidFill>
                  <a:schemeClr val="tx1"/>
                </a:solidFill>
                <a:latin typeface="Times New Roman" panose="02020603050405020304" pitchFamily="18" charset="0"/>
                <a:cs typeface="Times New Roman" panose="02020603050405020304" pitchFamily="18" charset="0"/>
              </a:rPr>
              <a:t> anahtar kelimesi kullanarak yapabiliriz.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Sadece sınıf ile fonksiyon arasında değil, sınıf ile sınıf arasında da arkadaşlık kurulabilir.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Arkadaşlık sınıf tarafından verilir ve fonksiyon veya bir başka sınıf tarafından alınır.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Güncel hayattan yorumlarsak, istediğimiz bir kişiyi o izin verdiği müddetçe arkadaş olarak ilan edebiliriz. Ancak bizim onayımız olmadan bir kişi bizi arkadaşı olarak ilan ettiyse, bu da geçersiz bir durum olur. </a:t>
            </a:r>
          </a:p>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A ve B arkadaş olsun, B ve C de kendi aralarında arkadaş olsun. Biz bu durumda A ve C arkadaştır diyemeyiz. </a:t>
            </a:r>
          </a:p>
        </p:txBody>
      </p:sp>
    </p:spTree>
    <p:extLst>
      <p:ext uri="{BB962C8B-B14F-4D97-AF65-F5344CB8AC3E}">
        <p14:creationId xmlns:p14="http://schemas.microsoft.com/office/powerpoint/2010/main" val="629186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chemeClr val="tx1"/>
                </a:solidFill>
                <a:latin typeface="Times New Roman" panose="02020603050405020304" pitchFamily="18" charset="0"/>
                <a:cs typeface="Times New Roman" panose="02020603050405020304" pitchFamily="18" charset="0"/>
              </a:rPr>
              <a:t>Arkadaş (</a:t>
            </a:r>
            <a:r>
              <a:rPr lang="tr-TR" sz="2000" b="1" dirty="0" err="1">
                <a:solidFill>
                  <a:schemeClr val="tx1"/>
                </a:solidFill>
                <a:latin typeface="Times New Roman" panose="02020603050405020304" pitchFamily="18" charset="0"/>
                <a:cs typeface="Times New Roman" panose="02020603050405020304" pitchFamily="18" charset="0"/>
              </a:rPr>
              <a:t>Friend</a:t>
            </a:r>
            <a:r>
              <a:rPr lang="tr-TR" sz="2000" b="1" dirty="0">
                <a:solidFill>
                  <a:schemeClr val="tx1"/>
                </a:solidFill>
                <a:latin typeface="Times New Roman" panose="02020603050405020304" pitchFamily="18" charset="0"/>
                <a:cs typeface="Times New Roman" panose="02020603050405020304" pitchFamily="18" charset="0"/>
              </a:rPr>
              <a:t>) Fonksiyonlar</a:t>
            </a:r>
          </a:p>
        </p:txBody>
      </p:sp>
      <p:pic>
        <p:nvPicPr>
          <p:cNvPr id="3" name="Resim 2">
            <a:extLst>
              <a:ext uri="{FF2B5EF4-FFF2-40B4-BE49-F238E27FC236}">
                <a16:creationId xmlns:a16="http://schemas.microsoft.com/office/drawing/2014/main" id="{C1F7D1C2-B538-4ECA-9EE0-DCA328D842F7}"/>
              </a:ext>
            </a:extLst>
          </p:cNvPr>
          <p:cNvPicPr>
            <a:picLocks noChangeAspect="1"/>
          </p:cNvPicPr>
          <p:nvPr/>
        </p:nvPicPr>
        <p:blipFill>
          <a:blip r:embed="rId2"/>
          <a:stretch>
            <a:fillRect/>
          </a:stretch>
        </p:blipFill>
        <p:spPr>
          <a:xfrm>
            <a:off x="317054" y="624980"/>
            <a:ext cx="6814071" cy="5608040"/>
          </a:xfrm>
          <a:prstGeom prst="rect">
            <a:avLst/>
          </a:prstGeom>
        </p:spPr>
      </p:pic>
      <p:pic>
        <p:nvPicPr>
          <p:cNvPr id="5" name="Resim 4">
            <a:extLst>
              <a:ext uri="{FF2B5EF4-FFF2-40B4-BE49-F238E27FC236}">
                <a16:creationId xmlns:a16="http://schemas.microsoft.com/office/drawing/2014/main" id="{4676777A-677A-47BD-A106-EF450209BB0B}"/>
              </a:ext>
            </a:extLst>
          </p:cNvPr>
          <p:cNvPicPr>
            <a:picLocks noChangeAspect="1"/>
          </p:cNvPicPr>
          <p:nvPr/>
        </p:nvPicPr>
        <p:blipFill>
          <a:blip r:embed="rId3"/>
          <a:stretch>
            <a:fillRect/>
          </a:stretch>
        </p:blipFill>
        <p:spPr>
          <a:xfrm>
            <a:off x="7260955" y="624980"/>
            <a:ext cx="3599852" cy="1653986"/>
          </a:xfrm>
          <a:prstGeom prst="rect">
            <a:avLst/>
          </a:prstGeom>
        </p:spPr>
      </p:pic>
      <p:sp>
        <p:nvSpPr>
          <p:cNvPr id="10" name="Metin kutusu 9">
            <a:extLst>
              <a:ext uri="{FF2B5EF4-FFF2-40B4-BE49-F238E27FC236}">
                <a16:creationId xmlns:a16="http://schemas.microsoft.com/office/drawing/2014/main" id="{E694634E-6E0B-4436-9456-266AB5F6FFA2}"/>
              </a:ext>
            </a:extLst>
          </p:cNvPr>
          <p:cNvSpPr txBox="1"/>
          <p:nvPr/>
        </p:nvSpPr>
        <p:spPr>
          <a:xfrm>
            <a:off x="7131125" y="3617432"/>
            <a:ext cx="4784685" cy="1200329"/>
          </a:xfrm>
          <a:prstGeom prst="rect">
            <a:avLst/>
          </a:prstGeom>
          <a:noFill/>
        </p:spPr>
        <p:txBody>
          <a:bodyPr wrap="square">
            <a:spAutoFit/>
          </a:bodyPr>
          <a:lstStyle/>
          <a:p>
            <a:pPr algn="just"/>
            <a:r>
              <a:rPr lang="tr-TR" b="1" i="1" dirty="0" err="1">
                <a:latin typeface="Times New Roman" panose="02020603050405020304" pitchFamily="18" charset="0"/>
                <a:cs typeface="Times New Roman" panose="02020603050405020304" pitchFamily="18" charset="0"/>
              </a:rPr>
              <a:t>getCost</a:t>
            </a:r>
            <a:r>
              <a:rPr lang="tr-TR" b="1" i="1"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fonksiyonu, </a:t>
            </a:r>
            <a:r>
              <a:rPr lang="tr-TR" b="1" i="1" dirty="0" err="1">
                <a:latin typeface="Times New Roman" panose="02020603050405020304" pitchFamily="18" charset="0"/>
                <a:cs typeface="Times New Roman" panose="02020603050405020304" pitchFamily="18" charset="0"/>
              </a:rPr>
              <a:t>Rectangle</a:t>
            </a:r>
            <a:r>
              <a:rPr lang="tr-TR" dirty="0">
                <a:latin typeface="Times New Roman" panose="02020603050405020304" pitchFamily="18" charset="0"/>
                <a:cs typeface="Times New Roman" panose="02020603050405020304" pitchFamily="18" charset="0"/>
              </a:rPr>
              <a:t> sınıfının arkadaş fonksiyonudur. Bu </a:t>
            </a:r>
            <a:r>
              <a:rPr lang="tr-TR" dirty="0" err="1">
                <a:latin typeface="Times New Roman" panose="02020603050405020304" pitchFamily="18" charset="0"/>
                <a:cs typeface="Times New Roman" panose="02020603050405020304" pitchFamily="18" charset="0"/>
              </a:rPr>
              <a:t>fonkiyon</a:t>
            </a:r>
            <a:r>
              <a:rPr lang="tr-TR" dirty="0">
                <a:latin typeface="Times New Roman" panose="02020603050405020304" pitchFamily="18" charset="0"/>
                <a:cs typeface="Times New Roman" panose="02020603050405020304" pitchFamily="18" charset="0"/>
              </a:rPr>
              <a:t> içinden, </a:t>
            </a:r>
            <a:r>
              <a:rPr lang="tr-TR" dirty="0" err="1">
                <a:latin typeface="Times New Roman" panose="02020603050405020304" pitchFamily="18" charset="0"/>
                <a:cs typeface="Times New Roman" panose="02020603050405020304" pitchFamily="18" charset="0"/>
              </a:rPr>
              <a:t>private</a:t>
            </a:r>
            <a:r>
              <a:rPr lang="tr-TR" dirty="0">
                <a:latin typeface="Times New Roman" panose="02020603050405020304" pitchFamily="18" charset="0"/>
                <a:cs typeface="Times New Roman" panose="02020603050405020304" pitchFamily="18" charset="0"/>
              </a:rPr>
              <a:t> üyeler olan </a:t>
            </a:r>
            <a:r>
              <a:rPr lang="tr-TR" b="1" i="1" dirty="0" err="1">
                <a:latin typeface="Times New Roman" panose="02020603050405020304" pitchFamily="18" charset="0"/>
                <a:cs typeface="Times New Roman" panose="02020603050405020304" pitchFamily="18" charset="0"/>
              </a:rPr>
              <a:t>length</a:t>
            </a:r>
            <a:r>
              <a:rPr lang="tr-TR" dirty="0">
                <a:latin typeface="Times New Roman" panose="02020603050405020304" pitchFamily="18" charset="0"/>
                <a:cs typeface="Times New Roman" panose="02020603050405020304" pitchFamily="18" charset="0"/>
              </a:rPr>
              <a:t> ve </a:t>
            </a:r>
            <a:r>
              <a:rPr lang="tr-TR" b="1" i="1" dirty="0" err="1">
                <a:latin typeface="Times New Roman" panose="02020603050405020304" pitchFamily="18" charset="0"/>
                <a:cs typeface="Times New Roman" panose="02020603050405020304" pitchFamily="18" charset="0"/>
              </a:rPr>
              <a:t>width</a:t>
            </a:r>
            <a:r>
              <a:rPr lang="tr-TR" dirty="0">
                <a:latin typeface="Times New Roman" panose="02020603050405020304" pitchFamily="18" charset="0"/>
                <a:cs typeface="Times New Roman" panose="02020603050405020304" pitchFamily="18" charset="0"/>
              </a:rPr>
              <a:t> üye değişkenlerine erişebildik.</a:t>
            </a:r>
          </a:p>
        </p:txBody>
      </p:sp>
      <p:sp>
        <p:nvSpPr>
          <p:cNvPr id="11" name="Metin kutusu 10">
            <a:extLst>
              <a:ext uri="{FF2B5EF4-FFF2-40B4-BE49-F238E27FC236}">
                <a16:creationId xmlns:a16="http://schemas.microsoft.com/office/drawing/2014/main" id="{51016923-77AB-4A58-83D3-F7C4FE629247}"/>
              </a:ext>
            </a:extLst>
          </p:cNvPr>
          <p:cNvSpPr txBox="1"/>
          <p:nvPr/>
        </p:nvSpPr>
        <p:spPr>
          <a:xfrm>
            <a:off x="7260955" y="2580780"/>
            <a:ext cx="1883045" cy="646331"/>
          </a:xfrm>
          <a:prstGeom prst="rect">
            <a:avLst/>
          </a:prstGeom>
          <a:noFill/>
          <a:ln>
            <a:solidFill>
              <a:schemeClr val="accent1"/>
            </a:solidFill>
          </a:ln>
        </p:spPr>
        <p:txBody>
          <a:bodyPr wrap="square">
            <a:spAutoFit/>
          </a:bodyPr>
          <a:lstStyle/>
          <a:p>
            <a:r>
              <a:rPr lang="tr-TR" dirty="0">
                <a:latin typeface="Times New Roman" panose="02020603050405020304" pitchFamily="18" charset="0"/>
                <a:cs typeface="Times New Roman" panose="02020603050405020304" pitchFamily="18" charset="0"/>
              </a:rPr>
              <a:t>Ekran çıktısı:</a:t>
            </a:r>
          </a:p>
          <a:p>
            <a:r>
              <a:rPr lang="tr-TR" dirty="0">
                <a:latin typeface="Times New Roman" panose="02020603050405020304" pitchFamily="18" charset="0"/>
                <a:cs typeface="Times New Roman" panose="02020603050405020304" pitchFamily="18" charset="0"/>
              </a:rPr>
              <a:t>300</a:t>
            </a:r>
            <a:endParaRPr lang="tr-TR" dirty="0"/>
          </a:p>
        </p:txBody>
      </p:sp>
    </p:spTree>
    <p:extLst>
      <p:ext uri="{BB962C8B-B14F-4D97-AF65-F5344CB8AC3E}">
        <p14:creationId xmlns:p14="http://schemas.microsoft.com/office/powerpoint/2010/main" val="2804006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lt Başlık 2">
            <a:extLst>
              <a:ext uri="{FF2B5EF4-FFF2-40B4-BE49-F238E27FC236}">
                <a16:creationId xmlns:a16="http://schemas.microsoft.com/office/drawing/2014/main" id="{A9C05B6A-7E44-4414-8745-CFB0773CBA81}"/>
              </a:ext>
            </a:extLst>
          </p:cNvPr>
          <p:cNvSpPr txBox="1">
            <a:spLocks/>
          </p:cNvSpPr>
          <p:nvPr/>
        </p:nvSpPr>
        <p:spPr>
          <a:xfrm>
            <a:off x="0" y="0"/>
            <a:ext cx="12099721" cy="624980"/>
          </a:xfrm>
          <a:prstGeom prst="rect">
            <a:avLst/>
          </a:prstGeom>
        </p:spPr>
        <p:txBody>
          <a:bodyPr vert="horz" lIns="0" tIns="45720" rIns="0" bIns="45720" rtlCol="0" anchor="ct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92608" lvl="1" indent="0">
              <a:buNone/>
            </a:pPr>
            <a:r>
              <a:rPr lang="tr-TR" sz="2000" b="1" dirty="0">
                <a:solidFill>
                  <a:schemeClr val="tx1"/>
                </a:solidFill>
                <a:latin typeface="Times New Roman" panose="02020603050405020304" pitchFamily="18" charset="0"/>
                <a:cs typeface="Times New Roman" panose="02020603050405020304" pitchFamily="18" charset="0"/>
              </a:rPr>
              <a:t>Arkadaş (</a:t>
            </a:r>
            <a:r>
              <a:rPr lang="tr-TR" sz="2000" b="1" dirty="0" err="1">
                <a:solidFill>
                  <a:schemeClr val="tx1"/>
                </a:solidFill>
                <a:latin typeface="Times New Roman" panose="02020603050405020304" pitchFamily="18" charset="0"/>
                <a:cs typeface="Times New Roman" panose="02020603050405020304" pitchFamily="18" charset="0"/>
              </a:rPr>
              <a:t>Friend</a:t>
            </a:r>
            <a:r>
              <a:rPr lang="tr-TR" sz="2000" b="1" dirty="0">
                <a:solidFill>
                  <a:schemeClr val="tx1"/>
                </a:solidFill>
                <a:latin typeface="Times New Roman" panose="02020603050405020304" pitchFamily="18" charset="0"/>
                <a:cs typeface="Times New Roman" panose="02020603050405020304" pitchFamily="18" charset="0"/>
              </a:rPr>
              <a:t>) Sınıflar</a:t>
            </a:r>
          </a:p>
        </p:txBody>
      </p:sp>
      <p:sp>
        <p:nvSpPr>
          <p:cNvPr id="7" name="Alt Başlık 2">
            <a:extLst>
              <a:ext uri="{FF2B5EF4-FFF2-40B4-BE49-F238E27FC236}">
                <a16:creationId xmlns:a16="http://schemas.microsoft.com/office/drawing/2014/main" id="{8BE7DD02-D975-4ECE-AA43-BCE8EFA4380F}"/>
              </a:ext>
            </a:extLst>
          </p:cNvPr>
          <p:cNvSpPr txBox="1">
            <a:spLocks/>
          </p:cNvSpPr>
          <p:nvPr/>
        </p:nvSpPr>
        <p:spPr>
          <a:xfrm>
            <a:off x="92278" y="624980"/>
            <a:ext cx="12007443" cy="5608040"/>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lgn="just">
              <a:lnSpc>
                <a:spcPct val="125000"/>
              </a:lnSpc>
              <a:buNone/>
            </a:pPr>
            <a:r>
              <a:rPr lang="tr-TR" dirty="0">
                <a:solidFill>
                  <a:schemeClr val="tx1"/>
                </a:solidFill>
                <a:latin typeface="Times New Roman" panose="02020603050405020304" pitchFamily="18" charset="0"/>
                <a:cs typeface="Times New Roman" panose="02020603050405020304" pitchFamily="18" charset="0"/>
              </a:rPr>
              <a:t>Bir sınıf üyesi fonksiyonu, diğer bir sınıfın </a:t>
            </a:r>
            <a:r>
              <a:rPr lang="tr-TR" b="1" i="1" dirty="0" err="1">
                <a:solidFill>
                  <a:schemeClr val="tx1"/>
                </a:solidFill>
                <a:latin typeface="Times New Roman" panose="02020603050405020304" pitchFamily="18" charset="0"/>
                <a:cs typeface="Times New Roman" panose="02020603050405020304" pitchFamily="18" charset="0"/>
              </a:rPr>
              <a:t>private</a:t>
            </a:r>
            <a:r>
              <a:rPr lang="tr-TR" dirty="0">
                <a:solidFill>
                  <a:schemeClr val="tx1"/>
                </a:solidFill>
                <a:latin typeface="Times New Roman" panose="02020603050405020304" pitchFamily="18" charset="0"/>
                <a:cs typeface="Times New Roman" panose="02020603050405020304" pitchFamily="18" charset="0"/>
              </a:rPr>
              <a:t> ve </a:t>
            </a:r>
            <a:r>
              <a:rPr lang="tr-TR" b="1" i="1" dirty="0" err="1">
                <a:solidFill>
                  <a:schemeClr val="tx1"/>
                </a:solidFill>
                <a:latin typeface="Times New Roman" panose="02020603050405020304" pitchFamily="18" charset="0"/>
                <a:cs typeface="Times New Roman" panose="02020603050405020304" pitchFamily="18" charset="0"/>
              </a:rPr>
              <a:t>protected</a:t>
            </a:r>
            <a:r>
              <a:rPr lang="tr-TR" dirty="0">
                <a:solidFill>
                  <a:schemeClr val="tx1"/>
                </a:solidFill>
                <a:latin typeface="Times New Roman" panose="02020603050405020304" pitchFamily="18" charset="0"/>
                <a:cs typeface="Times New Roman" panose="02020603050405020304" pitchFamily="18" charset="0"/>
              </a:rPr>
              <a:t> üyelerine erişebilir. Bunu, bir sınıfı diğer sınıfın arkadaşı olarak ilan ederek yapıyoruz. </a:t>
            </a:r>
          </a:p>
        </p:txBody>
      </p:sp>
      <p:pic>
        <p:nvPicPr>
          <p:cNvPr id="3" name="Resim 2">
            <a:extLst>
              <a:ext uri="{FF2B5EF4-FFF2-40B4-BE49-F238E27FC236}">
                <a16:creationId xmlns:a16="http://schemas.microsoft.com/office/drawing/2014/main" id="{0FCBC715-17A4-444C-B00D-6B0A54DDD329}"/>
              </a:ext>
            </a:extLst>
          </p:cNvPr>
          <p:cNvPicPr>
            <a:picLocks noChangeAspect="1"/>
          </p:cNvPicPr>
          <p:nvPr/>
        </p:nvPicPr>
        <p:blipFill>
          <a:blip r:embed="rId2"/>
          <a:stretch>
            <a:fillRect/>
          </a:stretch>
        </p:blipFill>
        <p:spPr>
          <a:xfrm>
            <a:off x="323512" y="1405472"/>
            <a:ext cx="6315827" cy="4463350"/>
          </a:xfrm>
          <a:prstGeom prst="rect">
            <a:avLst/>
          </a:prstGeom>
        </p:spPr>
      </p:pic>
      <p:pic>
        <p:nvPicPr>
          <p:cNvPr id="5" name="Resim 4">
            <a:extLst>
              <a:ext uri="{FF2B5EF4-FFF2-40B4-BE49-F238E27FC236}">
                <a16:creationId xmlns:a16="http://schemas.microsoft.com/office/drawing/2014/main" id="{510098E4-FA36-4AF0-BC22-3BD11ECB74BF}"/>
              </a:ext>
            </a:extLst>
          </p:cNvPr>
          <p:cNvPicPr>
            <a:picLocks noChangeAspect="1"/>
          </p:cNvPicPr>
          <p:nvPr/>
        </p:nvPicPr>
        <p:blipFill>
          <a:blip r:embed="rId3"/>
          <a:stretch>
            <a:fillRect/>
          </a:stretch>
        </p:blipFill>
        <p:spPr>
          <a:xfrm>
            <a:off x="5025069" y="1405472"/>
            <a:ext cx="7129036" cy="3882148"/>
          </a:xfrm>
          <a:prstGeom prst="rect">
            <a:avLst/>
          </a:prstGeom>
        </p:spPr>
      </p:pic>
      <p:sp>
        <p:nvSpPr>
          <p:cNvPr id="11" name="Metin kutusu 10">
            <a:extLst>
              <a:ext uri="{FF2B5EF4-FFF2-40B4-BE49-F238E27FC236}">
                <a16:creationId xmlns:a16="http://schemas.microsoft.com/office/drawing/2014/main" id="{22FF3F2C-0AE4-485F-AB87-E649E1931172}"/>
              </a:ext>
            </a:extLst>
          </p:cNvPr>
          <p:cNvSpPr txBox="1"/>
          <p:nvPr/>
        </p:nvSpPr>
        <p:spPr>
          <a:xfrm>
            <a:off x="7646506" y="5533681"/>
            <a:ext cx="4307443" cy="646331"/>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Üstte boş bir sınıf bildirimi gereklidir.</a:t>
            </a:r>
          </a:p>
          <a:p>
            <a:r>
              <a:rPr lang="tr-TR" dirty="0" err="1">
                <a:latin typeface="Consolas" panose="020B0609020204030204" pitchFamily="49" charset="0"/>
                <a:cs typeface="Times New Roman" panose="02020603050405020304" pitchFamily="18" charset="0"/>
              </a:rPr>
              <a:t>class</a:t>
            </a:r>
            <a:r>
              <a:rPr lang="tr-TR" dirty="0">
                <a:latin typeface="Consolas" panose="020B0609020204030204" pitchFamily="49" charset="0"/>
                <a:cs typeface="Times New Roman" panose="02020603050405020304" pitchFamily="18" charset="0"/>
              </a:rPr>
              <a:t> </a:t>
            </a:r>
            <a:r>
              <a:rPr lang="tr-TR" dirty="0" err="1">
                <a:latin typeface="Consolas" panose="020B0609020204030204" pitchFamily="49" charset="0"/>
                <a:cs typeface="Times New Roman" panose="02020603050405020304" pitchFamily="18" charset="0"/>
              </a:rPr>
              <a:t>CostCalculator</a:t>
            </a:r>
            <a:r>
              <a:rPr lang="tr-TR" dirty="0">
                <a:latin typeface="Consolas" panose="020B0609020204030204" pitchFamily="49" charset="0"/>
                <a:cs typeface="Times New Roman" panose="02020603050405020304" pitchFamily="18" charset="0"/>
              </a:rPr>
              <a:t>();</a:t>
            </a:r>
          </a:p>
        </p:txBody>
      </p:sp>
      <p:sp>
        <p:nvSpPr>
          <p:cNvPr id="12" name="Metin kutusu 11">
            <a:extLst>
              <a:ext uri="{FF2B5EF4-FFF2-40B4-BE49-F238E27FC236}">
                <a16:creationId xmlns:a16="http://schemas.microsoft.com/office/drawing/2014/main" id="{76EC0E7D-9494-4819-BB68-7EE48F28E011}"/>
              </a:ext>
            </a:extLst>
          </p:cNvPr>
          <p:cNvSpPr txBox="1"/>
          <p:nvPr/>
        </p:nvSpPr>
        <p:spPr>
          <a:xfrm>
            <a:off x="9985443" y="4345562"/>
            <a:ext cx="1883045" cy="646331"/>
          </a:xfrm>
          <a:prstGeom prst="rect">
            <a:avLst/>
          </a:prstGeom>
          <a:solidFill>
            <a:schemeClr val="bg2"/>
          </a:solidFill>
          <a:ln>
            <a:solidFill>
              <a:schemeClr val="accent1"/>
            </a:solidFill>
          </a:ln>
        </p:spPr>
        <p:txBody>
          <a:bodyPr wrap="square">
            <a:spAutoFit/>
          </a:bodyPr>
          <a:lstStyle/>
          <a:p>
            <a:r>
              <a:rPr lang="tr-TR" dirty="0">
                <a:latin typeface="Times New Roman" panose="02020603050405020304" pitchFamily="18" charset="0"/>
                <a:cs typeface="Times New Roman" panose="02020603050405020304" pitchFamily="18" charset="0"/>
              </a:rPr>
              <a:t>Ekran çıktısı:</a:t>
            </a:r>
          </a:p>
          <a:p>
            <a:r>
              <a:rPr lang="tr-TR" dirty="0">
                <a:latin typeface="Times New Roman" panose="02020603050405020304" pitchFamily="18" charset="0"/>
                <a:cs typeface="Times New Roman" panose="02020603050405020304" pitchFamily="18" charset="0"/>
              </a:rPr>
              <a:t>300</a:t>
            </a:r>
            <a:endParaRPr lang="tr-TR" dirty="0"/>
          </a:p>
        </p:txBody>
      </p:sp>
      <p:pic>
        <p:nvPicPr>
          <p:cNvPr id="13" name="Picture 2" descr="Red Exclamation Mark PNG Photo | PNG Mart">
            <a:extLst>
              <a:ext uri="{FF2B5EF4-FFF2-40B4-BE49-F238E27FC236}">
                <a16:creationId xmlns:a16="http://schemas.microsoft.com/office/drawing/2014/main" id="{AFF9B76C-81FC-4D03-8791-968284914737}"/>
              </a:ext>
            </a:extLst>
          </p:cNvPr>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24801" y="5279976"/>
            <a:ext cx="1155039" cy="1157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133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7A0EA809-8B51-429E-A152-9D8B2BA779DD}"/>
              </a:ext>
            </a:extLst>
          </p:cNvPr>
          <p:cNvSpPr txBox="1"/>
          <p:nvPr/>
        </p:nvSpPr>
        <p:spPr>
          <a:xfrm>
            <a:off x="0" y="0"/>
            <a:ext cx="6094602" cy="461665"/>
          </a:xfrm>
          <a:prstGeom prst="rect">
            <a:avLst/>
          </a:prstGeom>
          <a:noFill/>
        </p:spPr>
        <p:txBody>
          <a:bodyPr wrap="square">
            <a:spAutoFit/>
          </a:bodyPr>
          <a:lstStyle/>
          <a:p>
            <a:r>
              <a:rPr lang="tr-TR" sz="2400" dirty="0">
                <a:ln w="0"/>
                <a:solidFill>
                  <a:srgbClr val="7030A0"/>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KAYNAKLAR</a:t>
            </a:r>
          </a:p>
        </p:txBody>
      </p:sp>
      <p:sp>
        <p:nvSpPr>
          <p:cNvPr id="5" name="Metin kutusu 4">
            <a:extLst>
              <a:ext uri="{FF2B5EF4-FFF2-40B4-BE49-F238E27FC236}">
                <a16:creationId xmlns:a16="http://schemas.microsoft.com/office/drawing/2014/main" id="{B22223A0-8994-47E7-BA54-4F1B5B6CD81E}"/>
              </a:ext>
            </a:extLst>
          </p:cNvPr>
          <p:cNvSpPr txBox="1"/>
          <p:nvPr/>
        </p:nvSpPr>
        <p:spPr>
          <a:xfrm>
            <a:off x="0" y="461665"/>
            <a:ext cx="12192000" cy="923330"/>
          </a:xfrm>
          <a:prstGeom prst="rect">
            <a:avLst/>
          </a:prstGeom>
          <a:noFill/>
        </p:spPr>
        <p:txBody>
          <a:bodyPr wrap="square">
            <a:spAutoFit/>
          </a:bodyPr>
          <a:lstStyle/>
          <a:p>
            <a:r>
              <a:rPr lang="tr-TR" dirty="0">
                <a:latin typeface="Times New Roman" panose="02020603050405020304" pitchFamily="18" charset="0"/>
                <a:cs typeface="Times New Roman" panose="02020603050405020304" pitchFamily="18" charset="0"/>
              </a:rPr>
              <a:t>[1] M. </a:t>
            </a:r>
            <a:r>
              <a:rPr lang="tr-TR" dirty="0" err="1">
                <a:latin typeface="Times New Roman" panose="02020603050405020304" pitchFamily="18" charset="0"/>
                <a:cs typeface="Times New Roman" panose="02020603050405020304" pitchFamily="18" charset="0"/>
              </a:rPr>
              <a:t>Zavrak</a:t>
            </a:r>
            <a:r>
              <a:rPr lang="tr-TR" dirty="0">
                <a:latin typeface="Times New Roman" panose="02020603050405020304" pitchFamily="18" charset="0"/>
                <a:cs typeface="Times New Roman" panose="02020603050405020304" pitchFamily="18" charset="0"/>
              </a:rPr>
              <a:t>, E. Aksoy, H. N. Karaca, </a:t>
            </a:r>
            <a:r>
              <a:rPr lang="tr-TR" b="1" i="1" dirty="0">
                <a:latin typeface="Times New Roman" panose="02020603050405020304" pitchFamily="18" charset="0"/>
                <a:cs typeface="Times New Roman" panose="02020603050405020304" pitchFamily="18" charset="0"/>
              </a:rPr>
              <a:t>C ve C++</a:t>
            </a:r>
            <a:r>
              <a:rPr lang="tr-TR" dirty="0">
                <a:latin typeface="Times New Roman" panose="02020603050405020304" pitchFamily="18" charset="0"/>
                <a:cs typeface="Times New Roman" panose="02020603050405020304" pitchFamily="18" charset="0"/>
              </a:rPr>
              <a:t>, Sistem Yayıncılık. </a:t>
            </a:r>
          </a:p>
          <a:p>
            <a:r>
              <a:rPr lang="tr-TR" dirty="0">
                <a:latin typeface="Times New Roman" panose="02020603050405020304" pitchFamily="18" charset="0"/>
                <a:cs typeface="Times New Roman" panose="02020603050405020304" pitchFamily="18" charset="0"/>
              </a:rPr>
              <a:t>[2] Prof. Dr. Mustafa Dikici,  </a:t>
            </a:r>
            <a:r>
              <a:rPr lang="tr-TR" b="1" i="1" dirty="0">
                <a:latin typeface="Times New Roman" panose="02020603050405020304" pitchFamily="18" charset="0"/>
                <a:cs typeface="Times New Roman" panose="02020603050405020304" pitchFamily="18" charset="0"/>
              </a:rPr>
              <a:t>C++ Programlama Dili</a:t>
            </a:r>
            <a:r>
              <a:rPr lang="tr-TR" dirty="0">
                <a:latin typeface="Times New Roman" panose="02020603050405020304" pitchFamily="18" charset="0"/>
                <a:cs typeface="Times New Roman" panose="02020603050405020304" pitchFamily="18" charset="0"/>
              </a:rPr>
              <a:t>, Seçkin Yayıncılık.</a:t>
            </a:r>
          </a:p>
          <a:p>
            <a:r>
              <a:rPr lang="tr-TR" dirty="0">
                <a:latin typeface="Times New Roman" panose="02020603050405020304" pitchFamily="18" charset="0"/>
                <a:cs typeface="Times New Roman" panose="02020603050405020304" pitchFamily="18" charset="0"/>
              </a:rPr>
              <a:t>[3] M. Mastar, S. Eriş, </a:t>
            </a:r>
            <a:r>
              <a:rPr lang="tr-TR" b="1" i="1" dirty="0">
                <a:latin typeface="Times New Roman" panose="02020603050405020304" pitchFamily="18" charset="0"/>
                <a:cs typeface="Times New Roman" panose="02020603050405020304" pitchFamily="18" charset="0"/>
              </a:rPr>
              <a:t>C++, </a:t>
            </a:r>
            <a:r>
              <a:rPr lang="tr-TR" dirty="0" err="1">
                <a:latin typeface="Times New Roman" panose="02020603050405020304" pitchFamily="18" charset="0"/>
                <a:cs typeface="Times New Roman" panose="02020603050405020304" pitchFamily="18" charset="0"/>
              </a:rPr>
              <a:t>Kodlab</a:t>
            </a:r>
            <a:r>
              <a:rPr lang="tr-TR" dirty="0">
                <a:latin typeface="Times New Roman" panose="02020603050405020304" pitchFamily="18" charset="0"/>
                <a:cs typeface="Times New Roman" panose="02020603050405020304" pitchFamily="18" charset="0"/>
              </a:rPr>
              <a:t> Yayın Dağıtım.</a:t>
            </a:r>
            <a:endParaRPr lang="tr-TR" dirty="0"/>
          </a:p>
        </p:txBody>
      </p:sp>
    </p:spTree>
    <p:extLst>
      <p:ext uri="{BB962C8B-B14F-4D97-AF65-F5344CB8AC3E}">
        <p14:creationId xmlns:p14="http://schemas.microsoft.com/office/powerpoint/2010/main" val="2804374844"/>
      </p:ext>
    </p:extLst>
  </p:cSld>
  <p:clrMapOvr>
    <a:masterClrMapping/>
  </p:clrMapOvr>
</p:sld>
</file>

<file path=ppt/theme/theme1.xml><?xml version="1.0" encoding="utf-8"?>
<a:theme xmlns:a="http://schemas.openxmlformats.org/drawingml/2006/main"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CA72677B-2F8C-4192-8EBE-D360BE3B20F6}"/>
    </a:ext>
  </a:extLst>
</a:theme>
</file>

<file path=docProps/app.xml><?xml version="1.0" encoding="utf-8"?>
<Properties xmlns="http://schemas.openxmlformats.org/officeDocument/2006/extended-properties" xmlns:vt="http://schemas.openxmlformats.org/officeDocument/2006/docPropsVTypes">
  <Template>Hafta1</Template>
  <TotalTime>6796</TotalTime>
  <Words>1828</Words>
  <Application>Microsoft Office PowerPoint</Application>
  <PresentationFormat>Geniş ekran</PresentationFormat>
  <Paragraphs>165</Paragraphs>
  <Slides>24</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24</vt:i4>
      </vt:variant>
    </vt:vector>
  </HeadingPairs>
  <TitlesOfParts>
    <vt:vector size="31" baseType="lpstr">
      <vt:lpstr>Arial</vt:lpstr>
      <vt:lpstr>Calibri</vt:lpstr>
      <vt:lpstr>Calibri Light</vt:lpstr>
      <vt:lpstr>Consolas</vt:lpstr>
      <vt:lpstr>Times New Roman</vt:lpstr>
      <vt:lpstr>Wingdings</vt:lpstr>
      <vt:lpstr>Geçmişe bakış</vt:lpstr>
      <vt:lpstr>BİL102-ALGORİTMA ve PROGRAMLAMA II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BİL102-ALGORİTMA ve PROGRAMLAMA I</dc:title>
  <dc:creator>FUNDA KUTLU ONAY</dc:creator>
  <cp:lastModifiedBy>FUNDA KUTLU ONAY</cp:lastModifiedBy>
  <cp:revision>128</cp:revision>
  <dcterms:created xsi:type="dcterms:W3CDTF">2021-02-24T12:37:41Z</dcterms:created>
  <dcterms:modified xsi:type="dcterms:W3CDTF">2026-03-26T14:48:20Z</dcterms:modified>
</cp:coreProperties>
</file>